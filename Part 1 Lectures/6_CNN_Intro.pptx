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66" r:id="rId1"/>
  </p:sldMasterIdLst>
  <p:notesMasterIdLst>
    <p:notesMasterId r:id="rId46"/>
  </p:notesMasterIdLst>
  <p:sldIdLst>
    <p:sldId id="397" r:id="rId2"/>
    <p:sldId id="430" r:id="rId3"/>
    <p:sldId id="443" r:id="rId4"/>
    <p:sldId id="431" r:id="rId5"/>
    <p:sldId id="432" r:id="rId6"/>
    <p:sldId id="433" r:id="rId7"/>
    <p:sldId id="444" r:id="rId8"/>
    <p:sldId id="445" r:id="rId9"/>
    <p:sldId id="434" r:id="rId10"/>
    <p:sldId id="435" r:id="rId11"/>
    <p:sldId id="436" r:id="rId12"/>
    <p:sldId id="442" r:id="rId13"/>
    <p:sldId id="437" r:id="rId14"/>
    <p:sldId id="438" r:id="rId15"/>
    <p:sldId id="441" r:id="rId16"/>
    <p:sldId id="440" r:id="rId17"/>
    <p:sldId id="398" r:id="rId18"/>
    <p:sldId id="399" r:id="rId19"/>
    <p:sldId id="400" r:id="rId20"/>
    <p:sldId id="401" r:id="rId21"/>
    <p:sldId id="402" r:id="rId22"/>
    <p:sldId id="410" r:id="rId23"/>
    <p:sldId id="404" r:id="rId24"/>
    <p:sldId id="405" r:id="rId25"/>
    <p:sldId id="403" r:id="rId26"/>
    <p:sldId id="406" r:id="rId27"/>
    <p:sldId id="408" r:id="rId28"/>
    <p:sldId id="411" r:id="rId29"/>
    <p:sldId id="412" r:id="rId30"/>
    <p:sldId id="417" r:id="rId31"/>
    <p:sldId id="407" r:id="rId32"/>
    <p:sldId id="415" r:id="rId33"/>
    <p:sldId id="421" r:id="rId34"/>
    <p:sldId id="422" r:id="rId35"/>
    <p:sldId id="423" r:id="rId36"/>
    <p:sldId id="409" r:id="rId37"/>
    <p:sldId id="416" r:id="rId38"/>
    <p:sldId id="420" r:id="rId39"/>
    <p:sldId id="425" r:id="rId40"/>
    <p:sldId id="424" r:id="rId41"/>
    <p:sldId id="426" r:id="rId42"/>
    <p:sldId id="427" r:id="rId43"/>
    <p:sldId id="428" r:id="rId44"/>
    <p:sldId id="413" r:id="rId45"/>
  </p:sldIdLst>
  <p:sldSz cx="10083800" cy="5670550"/>
  <p:notesSz cx="10083800" cy="567055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D1A1A19-F963-437F-A43B-F9F18B08D8E9}" v="1" dt="2025-09-28T18:43:03.410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815" autoAdjust="0"/>
    <p:restoredTop sz="94660"/>
  </p:normalViewPr>
  <p:slideViewPr>
    <p:cSldViewPr>
      <p:cViewPr varScale="1">
        <p:scale>
          <a:sx n="75" d="100"/>
          <a:sy n="75" d="100"/>
        </p:scale>
        <p:origin x="54" y="948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microsoft.com/office/2016/11/relationships/changesInfo" Target="changesInfos/changesInfo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srael Trejo" userId="94abe8331a44785d" providerId="LiveId" clId="{C64EC362-DB82-4CB5-B399-A3CE20D8262C}"/>
    <pc:docChg chg="delSld modSld">
      <pc:chgData name="Israel Trejo" userId="94abe8331a44785d" providerId="LiveId" clId="{C64EC362-DB82-4CB5-B399-A3CE20D8262C}" dt="2025-09-28T18:43:03.405" v="1" actId="1076"/>
      <pc:docMkLst>
        <pc:docMk/>
      </pc:docMkLst>
      <pc:sldChg chg="modSp">
        <pc:chgData name="Israel Trejo" userId="94abe8331a44785d" providerId="LiveId" clId="{C64EC362-DB82-4CB5-B399-A3CE20D8262C}" dt="2025-09-28T18:43:03.405" v="1" actId="1076"/>
        <pc:sldMkLst>
          <pc:docMk/>
          <pc:sldMk cId="0" sldId="435"/>
        </pc:sldMkLst>
        <pc:picChg chg="mod">
          <ac:chgData name="Israel Trejo" userId="94abe8331a44785d" providerId="LiveId" clId="{C64EC362-DB82-4CB5-B399-A3CE20D8262C}" dt="2025-09-28T18:43:03.405" v="1" actId="1076"/>
          <ac:picMkLst>
            <pc:docMk/>
            <pc:sldMk cId="0" sldId="435"/>
            <ac:picMk id="23560" creationId="{AAEFC6CF-CDAA-3344-4CA7-A14FAE8F0DAB}"/>
          </ac:picMkLst>
        </pc:picChg>
      </pc:sldChg>
      <pc:sldChg chg="del">
        <pc:chgData name="Israel Trejo" userId="94abe8331a44785d" providerId="LiveId" clId="{C64EC362-DB82-4CB5-B399-A3CE20D8262C}" dt="2025-09-20T21:00:45.523" v="0" actId="2696"/>
        <pc:sldMkLst>
          <pc:docMk/>
          <pc:sldMk cId="0" sldId="439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370388" cy="2841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711825" y="0"/>
            <a:ext cx="4370388" cy="2841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C78DA6D-BA35-47CD-BB0B-F04D34A1F301}" type="datetimeFigureOut">
              <a:rPr lang="en-US" smtClean="0"/>
              <a:t>9/28/2025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341688" y="709613"/>
            <a:ext cx="3400425" cy="191293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008063" y="2728913"/>
            <a:ext cx="8067675" cy="223361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5386388"/>
            <a:ext cx="4370388" cy="28416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711825" y="5386388"/>
            <a:ext cx="4370388" cy="28416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985266-2D54-415F-8771-9E66301722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94828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F3F9DA-D544-4AE5-AE86-499652E014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60475" y="928028"/>
            <a:ext cx="7562850" cy="1974191"/>
          </a:xfrm>
          <a:prstGeom prst="rect">
            <a:avLst/>
          </a:prstGeom>
        </p:spPr>
        <p:txBody>
          <a:bodyPr anchor="b"/>
          <a:lstStyle>
            <a:lvl1pPr algn="ctr">
              <a:defRPr sz="496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883D6C9-D247-4063-8D2B-AEB523003A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60475" y="2978352"/>
            <a:ext cx="7562850" cy="136907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985"/>
            </a:lvl1pPr>
            <a:lvl2pPr marL="378059" indent="0" algn="ctr">
              <a:buNone/>
              <a:defRPr sz="1654"/>
            </a:lvl2pPr>
            <a:lvl3pPr marL="756117" indent="0" algn="ctr">
              <a:buNone/>
              <a:defRPr sz="1488"/>
            </a:lvl3pPr>
            <a:lvl4pPr marL="1134176" indent="0" algn="ctr">
              <a:buNone/>
              <a:defRPr sz="1323"/>
            </a:lvl4pPr>
            <a:lvl5pPr marL="1512235" indent="0" algn="ctr">
              <a:buNone/>
              <a:defRPr sz="1323"/>
            </a:lvl5pPr>
            <a:lvl6pPr marL="1890293" indent="0" algn="ctr">
              <a:buNone/>
              <a:defRPr sz="1323"/>
            </a:lvl6pPr>
            <a:lvl7pPr marL="2268352" indent="0" algn="ctr">
              <a:buNone/>
              <a:defRPr sz="1323"/>
            </a:lvl7pPr>
            <a:lvl8pPr marL="2646411" indent="0" algn="ctr">
              <a:buNone/>
              <a:defRPr sz="1323"/>
            </a:lvl8pPr>
            <a:lvl9pPr marL="3024469" indent="0" algn="ctr">
              <a:buNone/>
              <a:defRPr sz="1323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5023A3-3CC5-42AC-A5A0-A9EF34CBB5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756117"/>
            <a:fld id="{E01CCCCC-388D-4F94-9868-71B320C71ACD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 defTabSz="756117"/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760871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149F77-C56E-49A5-9748-7C52B6AEBC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261" y="301905"/>
            <a:ext cx="8697278" cy="109604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117523-2951-4793-9233-9143C1E43C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3261" y="1509521"/>
            <a:ext cx="8697278" cy="359791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CD2773-D27C-4765-B0E8-2D408B2678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756117"/>
            <a:fld id="{E01CCCCC-388D-4F94-9868-71B320C71ACD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 defTabSz="756117"/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508483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ED698C-16A5-4884-BD84-1F07BB8C2C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8009" y="1413700"/>
            <a:ext cx="8697278" cy="2358791"/>
          </a:xfrm>
          <a:prstGeom prst="rect">
            <a:avLst/>
          </a:prstGeom>
        </p:spPr>
        <p:txBody>
          <a:bodyPr anchor="b"/>
          <a:lstStyle>
            <a:lvl1pPr>
              <a:defRPr sz="496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EE61F2-F6C6-4EC4-8168-F008402A11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8009" y="3794807"/>
            <a:ext cx="8697278" cy="124043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985">
                <a:solidFill>
                  <a:schemeClr val="tx1">
                    <a:tint val="75000"/>
                  </a:schemeClr>
                </a:solidFill>
              </a:defRPr>
            </a:lvl1pPr>
            <a:lvl2pPr marL="378059" indent="0">
              <a:buNone/>
              <a:defRPr sz="1654">
                <a:solidFill>
                  <a:schemeClr val="tx1">
                    <a:tint val="75000"/>
                  </a:schemeClr>
                </a:solidFill>
              </a:defRPr>
            </a:lvl2pPr>
            <a:lvl3pPr marL="756117" indent="0">
              <a:buNone/>
              <a:defRPr sz="1488">
                <a:solidFill>
                  <a:schemeClr val="tx1">
                    <a:tint val="75000"/>
                  </a:schemeClr>
                </a:solidFill>
              </a:defRPr>
            </a:lvl3pPr>
            <a:lvl4pPr marL="1134176" indent="0">
              <a:buNone/>
              <a:defRPr sz="1323">
                <a:solidFill>
                  <a:schemeClr val="tx1">
                    <a:tint val="75000"/>
                  </a:schemeClr>
                </a:solidFill>
              </a:defRPr>
            </a:lvl4pPr>
            <a:lvl5pPr marL="1512235" indent="0">
              <a:buNone/>
              <a:defRPr sz="1323">
                <a:solidFill>
                  <a:schemeClr val="tx1">
                    <a:tint val="75000"/>
                  </a:schemeClr>
                </a:solidFill>
              </a:defRPr>
            </a:lvl5pPr>
            <a:lvl6pPr marL="1890293" indent="0">
              <a:buNone/>
              <a:defRPr sz="1323">
                <a:solidFill>
                  <a:schemeClr val="tx1">
                    <a:tint val="75000"/>
                  </a:schemeClr>
                </a:solidFill>
              </a:defRPr>
            </a:lvl6pPr>
            <a:lvl7pPr marL="2268352" indent="0">
              <a:buNone/>
              <a:defRPr sz="1323">
                <a:solidFill>
                  <a:schemeClr val="tx1">
                    <a:tint val="75000"/>
                  </a:schemeClr>
                </a:solidFill>
              </a:defRPr>
            </a:lvl7pPr>
            <a:lvl8pPr marL="2646411" indent="0">
              <a:buNone/>
              <a:defRPr sz="1323">
                <a:solidFill>
                  <a:schemeClr val="tx1">
                    <a:tint val="75000"/>
                  </a:schemeClr>
                </a:solidFill>
              </a:defRPr>
            </a:lvl8pPr>
            <a:lvl9pPr marL="3024469" indent="0">
              <a:buNone/>
              <a:defRPr sz="132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EA83EC-4419-4129-A10F-3DB8A14302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756117"/>
            <a:fld id="{E01CCCCC-388D-4F94-9868-71B320C71ACD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 defTabSz="756117"/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726876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91A5C-61A7-4517-8770-1DCCAF6EA7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6285" y="196895"/>
            <a:ext cx="8697278" cy="109604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BA7721-920E-451D-8A5A-8242178522D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93261" y="1509521"/>
            <a:ext cx="4285615" cy="359791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977AB5D-D468-4927-80AC-04CC77B4F5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104924" y="1509521"/>
            <a:ext cx="4285615" cy="359791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0AD16D4-A4EE-48FA-B00A-6F0CF601AC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756117"/>
            <a:fld id="{E01CCCCC-388D-4F94-9868-71B320C71ACD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 defTabSz="756117"/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749889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109566-4C43-42BC-9134-C4624C16DB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2134" y="196895"/>
            <a:ext cx="8697278" cy="1096044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DAA08B-D1FE-4C42-A3A7-85391660EC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4575" y="1390073"/>
            <a:ext cx="4265920" cy="681253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1985" b="1"/>
            </a:lvl1pPr>
            <a:lvl2pPr marL="378059" indent="0">
              <a:buNone/>
              <a:defRPr sz="1654" b="1"/>
            </a:lvl2pPr>
            <a:lvl3pPr marL="756117" indent="0">
              <a:buNone/>
              <a:defRPr sz="1488" b="1"/>
            </a:lvl3pPr>
            <a:lvl4pPr marL="1134176" indent="0">
              <a:buNone/>
              <a:defRPr sz="1323" b="1"/>
            </a:lvl4pPr>
            <a:lvl5pPr marL="1512235" indent="0">
              <a:buNone/>
              <a:defRPr sz="1323" b="1"/>
            </a:lvl5pPr>
            <a:lvl6pPr marL="1890293" indent="0">
              <a:buNone/>
              <a:defRPr sz="1323" b="1"/>
            </a:lvl6pPr>
            <a:lvl7pPr marL="2268352" indent="0">
              <a:buNone/>
              <a:defRPr sz="1323" b="1"/>
            </a:lvl7pPr>
            <a:lvl8pPr marL="2646411" indent="0">
              <a:buNone/>
              <a:defRPr sz="1323" b="1"/>
            </a:lvl8pPr>
            <a:lvl9pPr marL="3024469" indent="0">
              <a:buNone/>
              <a:defRPr sz="132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2293804-F74C-44BD-8767-75C411DBFE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94575" y="2071326"/>
            <a:ext cx="4265920" cy="304660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8BE2B3F-DE27-4AF0-9C77-83862E8A160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104924" y="1390073"/>
            <a:ext cx="4286928" cy="681253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1985" b="1"/>
            </a:lvl1pPr>
            <a:lvl2pPr marL="378059" indent="0">
              <a:buNone/>
              <a:defRPr sz="1654" b="1"/>
            </a:lvl2pPr>
            <a:lvl3pPr marL="756117" indent="0">
              <a:buNone/>
              <a:defRPr sz="1488" b="1"/>
            </a:lvl3pPr>
            <a:lvl4pPr marL="1134176" indent="0">
              <a:buNone/>
              <a:defRPr sz="1323" b="1"/>
            </a:lvl4pPr>
            <a:lvl5pPr marL="1512235" indent="0">
              <a:buNone/>
              <a:defRPr sz="1323" b="1"/>
            </a:lvl5pPr>
            <a:lvl6pPr marL="1890293" indent="0">
              <a:buNone/>
              <a:defRPr sz="1323" b="1"/>
            </a:lvl6pPr>
            <a:lvl7pPr marL="2268352" indent="0">
              <a:buNone/>
              <a:defRPr sz="1323" b="1"/>
            </a:lvl7pPr>
            <a:lvl8pPr marL="2646411" indent="0">
              <a:buNone/>
              <a:defRPr sz="1323" b="1"/>
            </a:lvl8pPr>
            <a:lvl9pPr marL="3024469" indent="0">
              <a:buNone/>
              <a:defRPr sz="132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C803ED6-FA5C-42BE-AD02-725C1CA146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104924" y="2071326"/>
            <a:ext cx="4286928" cy="304660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6F1231-C6EE-418B-95BC-A51AE425B4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756117"/>
            <a:fld id="{E01CCCCC-388D-4F94-9868-71B320C71ACD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 defTabSz="756117"/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629789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B1146B-9C23-46CB-BF79-87BDF88583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261" y="301905"/>
            <a:ext cx="8697278" cy="1096044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592E703-9736-4BEE-855C-50F9BF02D2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93261" y="5255760"/>
            <a:ext cx="2268855" cy="301904"/>
          </a:xfrm>
          <a:prstGeom prst="rect">
            <a:avLst/>
          </a:prstGeom>
        </p:spPr>
        <p:txBody>
          <a:bodyPr/>
          <a:lstStyle/>
          <a:p>
            <a:pPr defTabSz="756117"/>
            <a:fld id="{C9E90480-6D2B-4DC5-8F84-E5A1E18C92B8}" type="datetimeFigureOut">
              <a:rPr lang="en-US" sz="1488" smtClean="0">
                <a:solidFill>
                  <a:prstClr val="black"/>
                </a:solidFill>
              </a:rPr>
              <a:pPr defTabSz="756117"/>
              <a:t>9/28/2025</a:t>
            </a:fld>
            <a:endParaRPr lang="en-US" sz="1488">
              <a:solidFill>
                <a:prstClr val="black"/>
              </a:solidFill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503929-9BCA-4DA3-842C-5B3A2A75B5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40259" y="5255760"/>
            <a:ext cx="3403283" cy="301904"/>
          </a:xfrm>
          <a:prstGeom prst="rect">
            <a:avLst/>
          </a:prstGeom>
        </p:spPr>
        <p:txBody>
          <a:bodyPr/>
          <a:lstStyle/>
          <a:p>
            <a:pPr defTabSz="756117"/>
            <a:endParaRPr lang="en-US" sz="1488">
              <a:solidFill>
                <a:prstClr val="black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F0AD8C-314A-44F0-80B1-F3ECD7389E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756117"/>
            <a:fld id="{E01CCCCC-388D-4F94-9868-71B320C71ACD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 defTabSz="756117"/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736737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871024-34DA-4B13-BFC6-7E5815769A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756117"/>
            <a:fld id="{E01CCCCC-388D-4F94-9868-71B320C71ACD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 defTabSz="756117"/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118886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920FDB-F273-4FDA-8843-71FE3133B1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4575" y="378037"/>
            <a:ext cx="3252288" cy="1323128"/>
          </a:xfrm>
          <a:prstGeom prst="rect">
            <a:avLst/>
          </a:prstGeom>
        </p:spPr>
        <p:txBody>
          <a:bodyPr anchor="b"/>
          <a:lstStyle>
            <a:lvl1pPr>
              <a:defRPr sz="2646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9D8A2D-26E3-4111-9DE8-96C6A142F7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6928" y="816455"/>
            <a:ext cx="5104924" cy="4029766"/>
          </a:xfrm>
          <a:prstGeom prst="rect">
            <a:avLst/>
          </a:prstGeom>
        </p:spPr>
        <p:txBody>
          <a:bodyPr/>
          <a:lstStyle>
            <a:lvl1pPr>
              <a:defRPr sz="2646"/>
            </a:lvl1pPr>
            <a:lvl2pPr>
              <a:defRPr sz="2315"/>
            </a:lvl2pPr>
            <a:lvl3pPr>
              <a:defRPr sz="1985"/>
            </a:lvl3pPr>
            <a:lvl4pPr>
              <a:defRPr sz="1654"/>
            </a:lvl4pPr>
            <a:lvl5pPr>
              <a:defRPr sz="1654"/>
            </a:lvl5pPr>
            <a:lvl6pPr>
              <a:defRPr sz="1654"/>
            </a:lvl6pPr>
            <a:lvl7pPr>
              <a:defRPr sz="1654"/>
            </a:lvl7pPr>
            <a:lvl8pPr>
              <a:defRPr sz="1654"/>
            </a:lvl8pPr>
            <a:lvl9pPr>
              <a:defRPr sz="165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9FEA8F-DF81-4C1A-A7B2-021D68A66C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94575" y="1701165"/>
            <a:ext cx="3252288" cy="315161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323"/>
            </a:lvl1pPr>
            <a:lvl2pPr marL="378059" indent="0">
              <a:buNone/>
              <a:defRPr sz="1158"/>
            </a:lvl2pPr>
            <a:lvl3pPr marL="756117" indent="0">
              <a:buNone/>
              <a:defRPr sz="992"/>
            </a:lvl3pPr>
            <a:lvl4pPr marL="1134176" indent="0">
              <a:buNone/>
              <a:defRPr sz="827"/>
            </a:lvl4pPr>
            <a:lvl5pPr marL="1512235" indent="0">
              <a:buNone/>
              <a:defRPr sz="827"/>
            </a:lvl5pPr>
            <a:lvl6pPr marL="1890293" indent="0">
              <a:buNone/>
              <a:defRPr sz="827"/>
            </a:lvl6pPr>
            <a:lvl7pPr marL="2268352" indent="0">
              <a:buNone/>
              <a:defRPr sz="827"/>
            </a:lvl7pPr>
            <a:lvl8pPr marL="2646411" indent="0">
              <a:buNone/>
              <a:defRPr sz="827"/>
            </a:lvl8pPr>
            <a:lvl9pPr marL="3024469" indent="0">
              <a:buNone/>
              <a:defRPr sz="82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7F734DF-22E0-4AB9-B1B1-BED86737EB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756117"/>
            <a:fld id="{E01CCCCC-388D-4F94-9868-71B320C71ACD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 defTabSz="756117"/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754791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E9D5C9-6CC8-449F-A926-7F6BAA18F9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4575" y="378037"/>
            <a:ext cx="3252288" cy="1323128"/>
          </a:xfrm>
          <a:prstGeom prst="rect">
            <a:avLst/>
          </a:prstGeom>
        </p:spPr>
        <p:txBody>
          <a:bodyPr anchor="b"/>
          <a:lstStyle>
            <a:lvl1pPr>
              <a:defRPr sz="2646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5356DC5-B21D-4C96-A945-A256E84C91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286928" y="816455"/>
            <a:ext cx="5104924" cy="402976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646"/>
            </a:lvl1pPr>
            <a:lvl2pPr marL="378059" indent="0">
              <a:buNone/>
              <a:defRPr sz="2315"/>
            </a:lvl2pPr>
            <a:lvl3pPr marL="756117" indent="0">
              <a:buNone/>
              <a:defRPr sz="1985"/>
            </a:lvl3pPr>
            <a:lvl4pPr marL="1134176" indent="0">
              <a:buNone/>
              <a:defRPr sz="1654"/>
            </a:lvl4pPr>
            <a:lvl5pPr marL="1512235" indent="0">
              <a:buNone/>
              <a:defRPr sz="1654"/>
            </a:lvl5pPr>
            <a:lvl6pPr marL="1890293" indent="0">
              <a:buNone/>
              <a:defRPr sz="1654"/>
            </a:lvl6pPr>
            <a:lvl7pPr marL="2268352" indent="0">
              <a:buNone/>
              <a:defRPr sz="1654"/>
            </a:lvl7pPr>
            <a:lvl8pPr marL="2646411" indent="0">
              <a:buNone/>
              <a:defRPr sz="1654"/>
            </a:lvl8pPr>
            <a:lvl9pPr marL="3024469" indent="0">
              <a:buNone/>
              <a:defRPr sz="1654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EDB7F75-9770-4AFB-834D-1C1F4854C15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94575" y="1701165"/>
            <a:ext cx="3252288" cy="315161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323"/>
            </a:lvl1pPr>
            <a:lvl2pPr marL="378059" indent="0">
              <a:buNone/>
              <a:defRPr sz="1158"/>
            </a:lvl2pPr>
            <a:lvl3pPr marL="756117" indent="0">
              <a:buNone/>
              <a:defRPr sz="992"/>
            </a:lvl3pPr>
            <a:lvl4pPr marL="1134176" indent="0">
              <a:buNone/>
              <a:defRPr sz="827"/>
            </a:lvl4pPr>
            <a:lvl5pPr marL="1512235" indent="0">
              <a:buNone/>
              <a:defRPr sz="827"/>
            </a:lvl5pPr>
            <a:lvl6pPr marL="1890293" indent="0">
              <a:buNone/>
              <a:defRPr sz="827"/>
            </a:lvl6pPr>
            <a:lvl7pPr marL="2268352" indent="0">
              <a:buNone/>
              <a:defRPr sz="827"/>
            </a:lvl7pPr>
            <a:lvl8pPr marL="2646411" indent="0">
              <a:buNone/>
              <a:defRPr sz="827"/>
            </a:lvl8pPr>
            <a:lvl9pPr marL="3024469" indent="0">
              <a:buNone/>
              <a:defRPr sz="82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47443-A469-4D0A-977A-8F63F52FA9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756117"/>
            <a:fld id="{E01CCCCC-388D-4F94-9868-71B320C71ACD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 defTabSz="756117"/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01228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B76EB3-4CB4-42EE-BA12-413DC4CA6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261" y="301905"/>
            <a:ext cx="8697278" cy="1096044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342E597-37ED-491C-9AC6-FE25FA4336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93261" y="1509521"/>
            <a:ext cx="8697278" cy="3597912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83D747-4472-4B75-9994-5D69784D2D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756117"/>
            <a:fld id="{E01CCCCC-388D-4F94-9868-71B320C71ACD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 defTabSz="756117"/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164251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7B699AC-E01A-4929-9445-276F94EECBB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7216220" y="301904"/>
            <a:ext cx="2174319" cy="4805529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FAF5439-6ED1-4203-BEE2-4AFDB71C91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93261" y="301904"/>
            <a:ext cx="6396911" cy="4805529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A5CF74-1DB8-4B55-BDE0-6CDA288217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756117"/>
            <a:fld id="{E01CCCCC-388D-4F94-9868-71B320C71ACD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 defTabSz="756117"/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731497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1BB922-B92C-4BA4-BA65-EA3025B0BC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665264" y="5171751"/>
            <a:ext cx="2268855" cy="30190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9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defTabSz="756117"/>
            <a:fld id="{E01CCCCC-388D-4F94-9868-71B320C71ACD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 defTabSz="756117"/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FE5D4FA-4801-4BDA-AFAF-7C5F82906C7A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0" y="126012"/>
            <a:ext cx="9587488" cy="5347643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8F568DA6-4B78-463E-8077-A701B45E7694}"/>
              </a:ext>
            </a:extLst>
          </p:cNvPr>
          <p:cNvSpPr/>
          <p:nvPr userDrawn="1"/>
        </p:nvSpPr>
        <p:spPr>
          <a:xfrm>
            <a:off x="7944932" y="5338776"/>
            <a:ext cx="1441668" cy="16539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75611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88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A6D3598-85E1-4F91-A630-D7B2DD6761F7}"/>
              </a:ext>
            </a:extLst>
          </p:cNvPr>
          <p:cNvSpPr txBox="1"/>
          <p:nvPr userDrawn="1"/>
        </p:nvSpPr>
        <p:spPr>
          <a:xfrm flipH="1">
            <a:off x="7944932" y="5322702"/>
            <a:ext cx="2472631" cy="2196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75611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27" b="0" i="0" u="none" strike="noStrike" kern="1200" cap="none" spc="0" normalizeH="0" baseline="0" noProof="0" dirty="0">
                <a:ln>
                  <a:noFill/>
                </a:ln>
                <a:solidFill>
                  <a:srgbClr val="4472C4">
                    <a:lumMod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COSC 4337 Data Science II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8643691-6277-72A9-A123-4633283B046C}"/>
              </a:ext>
            </a:extLst>
          </p:cNvPr>
          <p:cNvSpPr txBox="1"/>
          <p:nvPr userDrawn="1"/>
        </p:nvSpPr>
        <p:spPr>
          <a:xfrm>
            <a:off x="4163937" y="5242690"/>
            <a:ext cx="3048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FF0000"/>
                </a:solidFill>
              </a:rPr>
              <a:t>CNN  I</a:t>
            </a:r>
          </a:p>
        </p:txBody>
      </p:sp>
    </p:spTree>
    <p:extLst>
      <p:ext uri="{BB962C8B-B14F-4D97-AF65-F5344CB8AC3E}">
        <p14:creationId xmlns:p14="http://schemas.microsoft.com/office/powerpoint/2010/main" val="22866447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</p:sldLayoutIdLst>
  <p:txStyles>
    <p:titleStyle>
      <a:lvl1pPr algn="l" defTabSz="756117" rtl="0" eaLnBrk="1" latinLnBrk="0" hangingPunct="1">
        <a:lnSpc>
          <a:spcPct val="90000"/>
        </a:lnSpc>
        <a:spcBef>
          <a:spcPct val="0"/>
        </a:spcBef>
        <a:buNone/>
        <a:defRPr sz="3638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9029" indent="-189029" algn="l" defTabSz="756117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2315" kern="1200">
          <a:solidFill>
            <a:schemeClr val="tx1"/>
          </a:solidFill>
          <a:latin typeface="+mn-lt"/>
          <a:ea typeface="+mn-ea"/>
          <a:cs typeface="+mn-cs"/>
        </a:defRPr>
      </a:lvl1pPr>
      <a:lvl2pPr marL="567088" indent="-189029" algn="l" defTabSz="756117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2pPr>
      <a:lvl3pPr marL="945147" indent="-189029" algn="l" defTabSz="756117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654" kern="1200">
          <a:solidFill>
            <a:schemeClr val="tx1"/>
          </a:solidFill>
          <a:latin typeface="+mn-lt"/>
          <a:ea typeface="+mn-ea"/>
          <a:cs typeface="+mn-cs"/>
        </a:defRPr>
      </a:lvl3pPr>
      <a:lvl4pPr marL="1323205" indent="-189029" algn="l" defTabSz="756117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4pPr>
      <a:lvl5pPr marL="1701264" indent="-189029" algn="l" defTabSz="756117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5pPr>
      <a:lvl6pPr marL="2079323" indent="-189029" algn="l" defTabSz="756117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6pPr>
      <a:lvl7pPr marL="2457381" indent="-189029" algn="l" defTabSz="756117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7pPr>
      <a:lvl8pPr marL="2835440" indent="-189029" algn="l" defTabSz="756117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8pPr>
      <a:lvl9pPr marL="3213499" indent="-189029" algn="l" defTabSz="756117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56117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1pPr>
      <a:lvl2pPr marL="378059" algn="l" defTabSz="756117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2pPr>
      <a:lvl3pPr marL="756117" algn="l" defTabSz="756117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3pPr>
      <a:lvl4pPr marL="1134176" algn="l" defTabSz="756117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4pPr>
      <a:lvl5pPr marL="1512235" algn="l" defTabSz="756117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5pPr>
      <a:lvl6pPr marL="1890293" algn="l" defTabSz="756117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6pPr>
      <a:lvl7pPr marL="2268352" algn="l" defTabSz="756117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7pPr>
      <a:lvl8pPr marL="2646411" algn="l" defTabSz="756117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8pPr>
      <a:lvl9pPr marL="3024469" algn="l" defTabSz="756117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e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emf"/><Relationship Id="rId2" Type="http://schemas.openxmlformats.org/officeDocument/2006/relationships/oleObject" Target="../embeddings/oleObject2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emf"/><Relationship Id="rId4" Type="http://schemas.openxmlformats.org/officeDocument/2006/relationships/oleObject" Target="../embeddings/oleObject3.bin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emf"/><Relationship Id="rId2" Type="http://schemas.openxmlformats.org/officeDocument/2006/relationships/oleObject" Target="../embeddings/oleObject4.bin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emf"/><Relationship Id="rId2" Type="http://schemas.openxmlformats.org/officeDocument/2006/relationships/oleObject" Target="../embeddings/oleObject5.bin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4.emf"/><Relationship Id="rId4" Type="http://schemas.openxmlformats.org/officeDocument/2006/relationships/oleObject" Target="../embeddings/oleObject6.bin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emf"/><Relationship Id="rId2" Type="http://schemas.openxmlformats.org/officeDocument/2006/relationships/oleObject" Target="../embeddings/oleObject7.bin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7.png"/><Relationship Id="rId5" Type="http://schemas.openxmlformats.org/officeDocument/2006/relationships/image" Target="../media/image26.emf"/><Relationship Id="rId4" Type="http://schemas.openxmlformats.org/officeDocument/2006/relationships/oleObject" Target="../embeddings/oleObject8.bin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emf"/><Relationship Id="rId2" Type="http://schemas.openxmlformats.org/officeDocument/2006/relationships/oleObject" Target="../embeddings/oleObject9.bin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emf"/><Relationship Id="rId2" Type="http://schemas.openxmlformats.org/officeDocument/2006/relationships/oleObject" Target="../embeddings/oleObject10.bin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4.bin"/><Relationship Id="rId3" Type="http://schemas.openxmlformats.org/officeDocument/2006/relationships/image" Target="../media/image30.emf"/><Relationship Id="rId7" Type="http://schemas.openxmlformats.org/officeDocument/2006/relationships/image" Target="../media/image32.emf"/><Relationship Id="rId2" Type="http://schemas.openxmlformats.org/officeDocument/2006/relationships/oleObject" Target="../embeddings/oleObject11.bin"/><Relationship Id="rId1" Type="http://schemas.openxmlformats.org/officeDocument/2006/relationships/slideLayout" Target="../slideLayouts/slideLayout7.xml"/><Relationship Id="rId6" Type="http://schemas.openxmlformats.org/officeDocument/2006/relationships/oleObject" Target="../embeddings/oleObject13.bin"/><Relationship Id="rId5" Type="http://schemas.openxmlformats.org/officeDocument/2006/relationships/image" Target="../media/image31.emf"/><Relationship Id="rId4" Type="http://schemas.openxmlformats.org/officeDocument/2006/relationships/oleObject" Target="../embeddings/oleObject12.bin"/><Relationship Id="rId9" Type="http://schemas.openxmlformats.org/officeDocument/2006/relationships/image" Target="../media/image33.emf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8.bin"/><Relationship Id="rId3" Type="http://schemas.openxmlformats.org/officeDocument/2006/relationships/image" Target="../media/image34.emf"/><Relationship Id="rId7" Type="http://schemas.openxmlformats.org/officeDocument/2006/relationships/image" Target="../media/image36.emf"/><Relationship Id="rId2" Type="http://schemas.openxmlformats.org/officeDocument/2006/relationships/oleObject" Target="../embeddings/oleObject15.bin"/><Relationship Id="rId1" Type="http://schemas.openxmlformats.org/officeDocument/2006/relationships/slideLayout" Target="../slideLayouts/slideLayout7.xml"/><Relationship Id="rId6" Type="http://schemas.openxmlformats.org/officeDocument/2006/relationships/oleObject" Target="../embeddings/oleObject17.bin"/><Relationship Id="rId11" Type="http://schemas.openxmlformats.org/officeDocument/2006/relationships/image" Target="../media/image38.emf"/><Relationship Id="rId5" Type="http://schemas.openxmlformats.org/officeDocument/2006/relationships/image" Target="../media/image35.emf"/><Relationship Id="rId10" Type="http://schemas.openxmlformats.org/officeDocument/2006/relationships/oleObject" Target="../embeddings/oleObject19.bin"/><Relationship Id="rId4" Type="http://schemas.openxmlformats.org/officeDocument/2006/relationships/oleObject" Target="../embeddings/oleObject16.bin"/><Relationship Id="rId9" Type="http://schemas.openxmlformats.org/officeDocument/2006/relationships/image" Target="../media/image37.emf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jpe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jpeg"/><Relationship Id="rId2" Type="http://schemas.openxmlformats.org/officeDocument/2006/relationships/image" Target="../media/image40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2.jpe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jpeg"/><Relationship Id="rId2" Type="http://schemas.openxmlformats.org/officeDocument/2006/relationships/image" Target="../media/image45.jpe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jpeg"/><Relationship Id="rId2" Type="http://schemas.openxmlformats.org/officeDocument/2006/relationships/image" Target="../media/image47.jpe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jpe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jpe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jpe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jpe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Text Placeholder 2">
            <a:extLst>
              <a:ext uri="{FF2B5EF4-FFF2-40B4-BE49-F238E27FC236}">
                <a16:creationId xmlns:a16="http://schemas.microsoft.com/office/drawing/2014/main" id="{24B37640-EAF8-8F2C-7F50-6E29D8E9067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2899692" y="189018"/>
            <a:ext cx="5418526" cy="1240433"/>
          </a:xfrm>
        </p:spPr>
        <p:txBody>
          <a:bodyPr/>
          <a:lstStyle/>
          <a:p>
            <a:r>
              <a:rPr lang="en-US" altLang="en-US" sz="4135" b="1">
                <a:solidFill>
                  <a:srgbClr val="000000"/>
                </a:solidFill>
                <a:latin typeface="Roboto" panose="02000000000000000000" pitchFamily="2" charset="0"/>
              </a:rPr>
              <a:t>NN     vs      CNN</a:t>
            </a:r>
            <a:endParaRPr lang="en-US" altLang="en-US" sz="4135"/>
          </a:p>
        </p:txBody>
      </p:sp>
      <p:pic>
        <p:nvPicPr>
          <p:cNvPr id="14339" name="Picture 3">
            <a:extLst>
              <a:ext uri="{FF2B5EF4-FFF2-40B4-BE49-F238E27FC236}">
                <a16:creationId xmlns:a16="http://schemas.microsoft.com/office/drawing/2014/main" id="{FD7E646E-ED0E-6740-768E-AD1DB616CE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50552" y="1625032"/>
            <a:ext cx="3591348" cy="261606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4340" name="Picture 4">
            <a:extLst>
              <a:ext uri="{FF2B5EF4-FFF2-40B4-BE49-F238E27FC236}">
                <a16:creationId xmlns:a16="http://schemas.microsoft.com/office/drawing/2014/main" id="{190E8366-31CC-C053-3770-3598B66321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56930" y="1625032"/>
            <a:ext cx="3460086" cy="232728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1975D27A-DAEB-13C2-3B47-3B9344C335C8}"/>
              </a:ext>
            </a:extLst>
          </p:cNvPr>
          <p:cNvSpPr txBox="1">
            <a:spLocks/>
          </p:cNvSpPr>
          <p:nvPr/>
        </p:nvSpPr>
        <p:spPr bwMode="auto">
          <a:xfrm>
            <a:off x="4377710" y="3620226"/>
            <a:ext cx="5418526" cy="1240433"/>
          </a:xfrm>
          <a:prstGeom prst="rect">
            <a:avLst/>
          </a:prstGeom>
          <a:noFill/>
          <a:ln>
            <a:noFill/>
          </a:ln>
        </p:spPr>
        <p:txBody>
          <a:bodyPr anchor="b"/>
          <a:lstStyle>
            <a:lvl1pPr marL="0" indent="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None/>
              <a:defRPr sz="2000">
                <a:solidFill>
                  <a:schemeClr val="tx1"/>
                </a:solidFill>
                <a:latin typeface="+mn-lt"/>
                <a:ea typeface="MS PGothic" panose="020B0600070205080204" pitchFamily="34" charset="-128"/>
                <a:cs typeface="+mn-cs"/>
              </a:defRPr>
            </a:lvl1pPr>
            <a:lvl2pPr marL="457200" indent="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None/>
              <a:defRPr sz="1800">
                <a:solidFill>
                  <a:schemeClr val="tx1"/>
                </a:solidFill>
                <a:latin typeface="+mn-lt"/>
                <a:ea typeface="Arial" charset="0"/>
                <a:cs typeface="+mn-cs"/>
              </a:defRPr>
            </a:lvl2pPr>
            <a:lvl3pPr marL="914400" indent="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None/>
              <a:defRPr sz="1600">
                <a:solidFill>
                  <a:schemeClr val="tx1"/>
                </a:solidFill>
                <a:latin typeface="+mn-lt"/>
                <a:ea typeface="Arial" charset="0"/>
                <a:cs typeface="+mn-cs"/>
              </a:defRPr>
            </a:lvl3pPr>
            <a:lvl4pPr marL="1371600" indent="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None/>
              <a:defRPr sz="1400">
                <a:solidFill>
                  <a:schemeClr val="tx1"/>
                </a:solidFill>
                <a:latin typeface="+mn-lt"/>
                <a:ea typeface="Arial" charset="0"/>
                <a:cs typeface="+mn-cs"/>
              </a:defRPr>
            </a:lvl4pPr>
            <a:lvl5pPr marL="1828800" indent="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None/>
              <a:defRPr sz="1400">
                <a:solidFill>
                  <a:schemeClr val="tx1"/>
                </a:solidFill>
                <a:latin typeface="+mn-lt"/>
                <a:ea typeface="Arial" charset="0"/>
                <a:cs typeface="+mn-cs"/>
              </a:defRPr>
            </a:lvl5pPr>
            <a:lvl6pPr marL="2286000" indent="0" algn="l" rtl="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itchFamily="2" charset="2"/>
              <a:buNone/>
              <a:defRPr sz="1400">
                <a:solidFill>
                  <a:schemeClr val="tx1"/>
                </a:solidFill>
                <a:latin typeface="+mn-lt"/>
                <a:cs typeface="+mn-cs"/>
              </a:defRPr>
            </a:lvl6pPr>
            <a:lvl7pPr marL="2743200" indent="0" algn="l" rtl="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itchFamily="2" charset="2"/>
              <a:buNone/>
              <a:defRPr sz="1400">
                <a:solidFill>
                  <a:schemeClr val="tx1"/>
                </a:solidFill>
                <a:latin typeface="+mn-lt"/>
                <a:cs typeface="+mn-cs"/>
              </a:defRPr>
            </a:lvl7pPr>
            <a:lvl8pPr marL="3200400" indent="0" algn="l" rtl="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itchFamily="2" charset="2"/>
              <a:buNone/>
              <a:defRPr sz="1400">
                <a:solidFill>
                  <a:schemeClr val="tx1"/>
                </a:solidFill>
                <a:latin typeface="+mn-lt"/>
                <a:cs typeface="+mn-cs"/>
              </a:defRPr>
            </a:lvl8pPr>
            <a:lvl9pPr marL="3657600" indent="0" algn="l" rtl="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itchFamily="2" charset="2"/>
              <a:buNone/>
              <a:defRPr sz="1400">
                <a:solidFill>
                  <a:schemeClr val="tx1"/>
                </a:solidFill>
                <a:latin typeface="+mn-lt"/>
                <a:cs typeface="+mn-cs"/>
              </a:defRPr>
            </a:lvl9pPr>
          </a:lstStyle>
          <a:p>
            <a:pPr>
              <a:defRPr/>
            </a:pPr>
            <a:r>
              <a:rPr lang="en-US" sz="1158" b="1" kern="0" dirty="0">
                <a:solidFill>
                  <a:srgbClr val="000000"/>
                </a:solidFill>
                <a:latin typeface="Roboto" panose="02000000000000000000" pitchFamily="2" charset="0"/>
              </a:rPr>
              <a:t>Convolutional Layer</a:t>
            </a:r>
            <a:r>
              <a:rPr lang="en-US" sz="1158" kern="0" dirty="0">
                <a:solidFill>
                  <a:srgbClr val="000000"/>
                </a:solidFill>
                <a:latin typeface="Roboto" panose="02000000000000000000" pitchFamily="2" charset="0"/>
              </a:rPr>
              <a:t>, </a:t>
            </a:r>
            <a:r>
              <a:rPr lang="en-US" sz="1158" b="1" kern="0" dirty="0">
                <a:solidFill>
                  <a:srgbClr val="000000"/>
                </a:solidFill>
                <a:latin typeface="Roboto" panose="02000000000000000000" pitchFamily="2" charset="0"/>
              </a:rPr>
              <a:t>Pooling Layer</a:t>
            </a:r>
            <a:r>
              <a:rPr lang="en-US" sz="1158" kern="0" dirty="0">
                <a:solidFill>
                  <a:srgbClr val="000000"/>
                </a:solidFill>
                <a:latin typeface="Roboto" panose="02000000000000000000" pitchFamily="2" charset="0"/>
              </a:rPr>
              <a:t>, and </a:t>
            </a:r>
            <a:r>
              <a:rPr lang="en-US" sz="1158" b="1" kern="0" dirty="0">
                <a:solidFill>
                  <a:srgbClr val="000000"/>
                </a:solidFill>
                <a:latin typeface="Roboto" panose="02000000000000000000" pitchFamily="2" charset="0"/>
              </a:rPr>
              <a:t>Fully-Connected Layer</a:t>
            </a:r>
          </a:p>
          <a:p>
            <a:pPr>
              <a:defRPr/>
            </a:pPr>
            <a:r>
              <a:rPr lang="en-US" sz="1158" b="1" kern="0" dirty="0">
                <a:solidFill>
                  <a:srgbClr val="000000"/>
                </a:solidFill>
                <a:latin typeface="Roboto" panose="02000000000000000000" pitchFamily="2" charset="0"/>
              </a:rPr>
              <a:t>  </a:t>
            </a:r>
            <a:r>
              <a:rPr lang="en-US" sz="1158" b="1" kern="0" dirty="0">
                <a:solidFill>
                  <a:srgbClr val="FF0000"/>
                </a:solidFill>
                <a:latin typeface="Roboto" panose="02000000000000000000" pitchFamily="2" charset="0"/>
              </a:rPr>
              <a:t>Break it                       Identifying pieces          Connecting</a:t>
            </a:r>
            <a:r>
              <a:rPr lang="en-US" sz="1158" kern="0" dirty="0">
                <a:solidFill>
                  <a:srgbClr val="FF0000"/>
                </a:solidFill>
                <a:latin typeface="Roboto" panose="02000000000000000000" pitchFamily="2" charset="0"/>
              </a:rPr>
              <a:t> </a:t>
            </a:r>
            <a:endParaRPr lang="en-US" sz="1158" kern="0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TextBox 2">
            <a:extLst>
              <a:ext uri="{FF2B5EF4-FFF2-40B4-BE49-F238E27FC236}">
                <a16:creationId xmlns:a16="http://schemas.microsoft.com/office/drawing/2014/main" id="{BA8D56DB-8DDF-0CEF-3EF8-8EED01A3F50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89473" y="320675"/>
            <a:ext cx="3780367" cy="1237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l"/>
              <a:defRPr sz="3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¡"/>
              <a:defRPr sz="27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1"/>
              </a:buClr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1488" dirty="0">
                <a:solidFill>
                  <a:srgbClr val="FF0000"/>
                </a:solidFill>
                <a:latin typeface="charter"/>
              </a:rPr>
              <a:t>Multilayer perceptron (MLP) 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1488" dirty="0">
                <a:solidFill>
                  <a:srgbClr val="FF0000"/>
                </a:solidFill>
                <a:latin typeface="charter"/>
              </a:rPr>
              <a:t>Very common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1488" dirty="0">
                <a:solidFill>
                  <a:srgbClr val="292929"/>
                </a:solidFill>
                <a:latin typeface="charter"/>
              </a:rPr>
              <a:t>Provide very good results (great accuracy)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1488" dirty="0">
                <a:solidFill>
                  <a:srgbClr val="292929"/>
                </a:solidFill>
                <a:latin typeface="charter"/>
              </a:rPr>
              <a:t> the training time remains reasonable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1488" dirty="0">
                <a:solidFill>
                  <a:srgbClr val="292929"/>
                </a:solidFill>
                <a:latin typeface="charter"/>
              </a:rPr>
              <a:t>Good for small to average datasets</a:t>
            </a:r>
            <a:endParaRPr lang="en-US" altLang="en-US" sz="1488" dirty="0"/>
          </a:p>
        </p:txBody>
      </p:sp>
      <p:sp>
        <p:nvSpPr>
          <p:cNvPr id="15363" name="TextBox 4">
            <a:extLst>
              <a:ext uri="{FF2B5EF4-FFF2-40B4-BE49-F238E27FC236}">
                <a16:creationId xmlns:a16="http://schemas.microsoft.com/office/drawing/2014/main" id="{F3EBB5AF-DBCF-2C04-B755-9E6567DEB9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48833" y="2016196"/>
            <a:ext cx="3780367" cy="1008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l"/>
              <a:defRPr sz="3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¡"/>
              <a:defRPr sz="27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1"/>
              </a:buClr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1488" dirty="0">
                <a:solidFill>
                  <a:srgbClr val="292929"/>
                </a:solidFill>
                <a:latin typeface="charter"/>
              </a:rPr>
              <a:t>For larger datasets with larger images, the number of parameters for the model increases exponentially, therefore, </a:t>
            </a:r>
            <a:r>
              <a:rPr lang="en-US" altLang="en-US" sz="1488" dirty="0">
                <a:solidFill>
                  <a:srgbClr val="FF0000"/>
                </a:solidFill>
                <a:latin typeface="charter"/>
              </a:rPr>
              <a:t>training becomes longer and performance poorer</a:t>
            </a:r>
            <a:endParaRPr lang="en-US" altLang="en-US" sz="1488" dirty="0">
              <a:solidFill>
                <a:srgbClr val="FF0000"/>
              </a:solidFill>
            </a:endParaRPr>
          </a:p>
        </p:txBody>
      </p:sp>
      <p:sp>
        <p:nvSpPr>
          <p:cNvPr id="15364" name="TextBox 6">
            <a:extLst>
              <a:ext uri="{FF2B5EF4-FFF2-40B4-BE49-F238E27FC236}">
                <a16:creationId xmlns:a16="http://schemas.microsoft.com/office/drawing/2014/main" id="{682D8A30-5D71-F5DF-2CE9-34CD004595D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17607" y="3134554"/>
            <a:ext cx="3780367" cy="7792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l"/>
              <a:defRPr sz="3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¡"/>
              <a:defRPr sz="27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1"/>
              </a:buClr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1488">
                <a:solidFill>
                  <a:srgbClr val="292929"/>
                </a:solidFill>
                <a:latin typeface="charter"/>
              </a:rPr>
              <a:t>MLPs are extremely efficient to solve several categories of problem such as classification, estimation, approximation, recognition, etc</a:t>
            </a:r>
            <a:endParaRPr lang="en-US" altLang="en-US" sz="1488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386" name="Picture 2">
            <a:extLst>
              <a:ext uri="{FF2B5EF4-FFF2-40B4-BE49-F238E27FC236}">
                <a16:creationId xmlns:a16="http://schemas.microsoft.com/office/drawing/2014/main" id="{4721766A-94FF-3A91-9BEA-BA156A32DC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47927" y="504049"/>
            <a:ext cx="7187947" cy="39221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6387" name="TextBox 3">
            <a:extLst>
              <a:ext uri="{FF2B5EF4-FFF2-40B4-BE49-F238E27FC236}">
                <a16:creationId xmlns:a16="http://schemas.microsoft.com/office/drawing/2014/main" id="{CE89833D-8BE0-1898-8BD1-A60379A537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28035" y="4273915"/>
            <a:ext cx="2037737" cy="32130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l"/>
              <a:defRPr sz="3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¡"/>
              <a:defRPr sz="27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1"/>
              </a:buClr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1488"/>
              <a:t>Space between pixels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Title 1">
            <a:extLst>
              <a:ext uri="{FF2B5EF4-FFF2-40B4-BE49-F238E27FC236}">
                <a16:creationId xmlns:a16="http://schemas.microsoft.com/office/drawing/2014/main" id="{1C78FF26-004C-D3F8-3C1F-21ACCACF5F9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>
                <a:solidFill>
                  <a:srgbClr val="292929"/>
                </a:solidFill>
                <a:latin typeface="charter"/>
              </a:rPr>
              <a:t>Create a Deep Learning model to perform a cat or dog </a:t>
            </a:r>
            <a:r>
              <a:rPr lang="en-US" altLang="en-US" dirty="0">
                <a:solidFill>
                  <a:srgbClr val="FF0000"/>
                </a:solidFill>
                <a:latin typeface="charter"/>
              </a:rPr>
              <a:t>classification task</a:t>
            </a:r>
            <a:endParaRPr lang="en-US" altLang="en-US" dirty="0">
              <a:solidFill>
                <a:srgbClr val="FF0000"/>
              </a:solidFill>
            </a:endParaRPr>
          </a:p>
        </p:txBody>
      </p:sp>
      <p:sp>
        <p:nvSpPr>
          <p:cNvPr id="17411" name="TextBox 3">
            <a:extLst>
              <a:ext uri="{FF2B5EF4-FFF2-40B4-BE49-F238E27FC236}">
                <a16:creationId xmlns:a16="http://schemas.microsoft.com/office/drawing/2014/main" id="{959A0048-B017-D824-F7D6-96ADD1391F1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39570" y="1260123"/>
            <a:ext cx="3780367" cy="70326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l"/>
              <a:defRPr sz="3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¡"/>
              <a:defRPr sz="27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1"/>
              </a:buClr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1985">
                <a:solidFill>
                  <a:srgbClr val="292929"/>
                </a:solidFill>
                <a:latin typeface="charter"/>
              </a:rPr>
              <a:t>Dataset of images sized 420x420px grayscale</a:t>
            </a:r>
            <a:endParaRPr lang="en-US" altLang="en-US" sz="1985"/>
          </a:p>
        </p:txBody>
      </p:sp>
      <p:sp>
        <p:nvSpPr>
          <p:cNvPr id="17412" name="TextBox 5">
            <a:extLst>
              <a:ext uri="{FF2B5EF4-FFF2-40B4-BE49-F238E27FC236}">
                <a16:creationId xmlns:a16="http://schemas.microsoft.com/office/drawing/2014/main" id="{116E34B2-CA74-709C-4F85-99D78BD774C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52882" y="1737919"/>
            <a:ext cx="3780367" cy="10087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l"/>
              <a:defRPr sz="3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¡"/>
              <a:defRPr sz="27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1"/>
              </a:buClr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1985">
                <a:solidFill>
                  <a:srgbClr val="292929"/>
                </a:solidFill>
                <a:latin typeface="charter"/>
              </a:rPr>
              <a:t>After the training, the model is supposed to classify the  image as a dog or cat</a:t>
            </a:r>
            <a:endParaRPr lang="en-US" altLang="en-US" sz="1985"/>
          </a:p>
        </p:txBody>
      </p:sp>
      <p:sp>
        <p:nvSpPr>
          <p:cNvPr id="17413" name="TextBox 7">
            <a:extLst>
              <a:ext uri="{FF2B5EF4-FFF2-40B4-BE49-F238E27FC236}">
                <a16:creationId xmlns:a16="http://schemas.microsoft.com/office/drawing/2014/main" id="{9C37DC54-B6D6-6D63-D138-D0FEC219F7D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76564" y="2429674"/>
            <a:ext cx="3780367" cy="31470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l"/>
              <a:defRPr sz="3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¡"/>
              <a:defRPr sz="27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1"/>
              </a:buClr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1985" dirty="0">
                <a:solidFill>
                  <a:srgbClr val="292929"/>
                </a:solidFill>
                <a:latin typeface="charter"/>
              </a:rPr>
              <a:t>Multilayer perceptron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1985" dirty="0">
                <a:solidFill>
                  <a:srgbClr val="292929"/>
                </a:solidFill>
                <a:latin typeface="charter"/>
              </a:rPr>
              <a:t>Input layer of 128 neurons 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1985" dirty="0">
                <a:solidFill>
                  <a:srgbClr val="292929"/>
                </a:solidFill>
                <a:latin typeface="charter"/>
              </a:rPr>
              <a:t>each neuron of the layer receives the 420x420 pixels values as input and assigns a weight per pixel value, which is 420x420 = 176400 weights per neuron 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1985" dirty="0">
                <a:solidFill>
                  <a:srgbClr val="292929"/>
                </a:solidFill>
                <a:latin typeface="charter"/>
              </a:rPr>
              <a:t>Multiplied by total 128 neurons 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1985" dirty="0">
                <a:solidFill>
                  <a:srgbClr val="292929"/>
                </a:solidFill>
                <a:latin typeface="charter"/>
              </a:rPr>
              <a:t>add 128 bias (one bias per neuron)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endParaRPr lang="en-US" altLang="en-US" sz="1985" dirty="0">
              <a:solidFill>
                <a:srgbClr val="292929"/>
              </a:solidFill>
              <a:latin typeface="charter"/>
            </a:endParaRPr>
          </a:p>
        </p:txBody>
      </p:sp>
      <p:sp>
        <p:nvSpPr>
          <p:cNvPr id="17414" name="TextBox 9">
            <a:extLst>
              <a:ext uri="{FF2B5EF4-FFF2-40B4-BE49-F238E27FC236}">
                <a16:creationId xmlns:a16="http://schemas.microsoft.com/office/drawing/2014/main" id="{8C4D1145-7B8E-A47E-7888-5DAB815AAE7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93924" y="3717360"/>
            <a:ext cx="3780367" cy="131420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l"/>
              <a:defRPr sz="3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¡"/>
              <a:defRPr sz="27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1"/>
              </a:buClr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1985" dirty="0">
                <a:solidFill>
                  <a:srgbClr val="292929"/>
                </a:solidFill>
                <a:latin typeface="charter"/>
              </a:rPr>
              <a:t>This tiny model will have to learn more than </a:t>
            </a:r>
            <a:r>
              <a:rPr lang="en-US" altLang="en-US" sz="1985" dirty="0">
                <a:solidFill>
                  <a:srgbClr val="FF0000"/>
                </a:solidFill>
                <a:latin typeface="charter"/>
              </a:rPr>
              <a:t>22 million parameters, for only 128 neurons and a single intermediate layer.</a:t>
            </a:r>
            <a:endParaRPr lang="en-US" altLang="en-US" sz="1985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extBox 2">
            <a:extLst>
              <a:ext uri="{FF2B5EF4-FFF2-40B4-BE49-F238E27FC236}">
                <a16:creationId xmlns:a16="http://schemas.microsoft.com/office/drawing/2014/main" id="{29C79D13-6AAC-058D-D6B3-18BAC64089D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52882" y="1972879"/>
            <a:ext cx="3780367" cy="16196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l"/>
              <a:defRPr sz="3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¡"/>
              <a:defRPr sz="27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1"/>
              </a:buClr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1985">
                <a:solidFill>
                  <a:srgbClr val="292929"/>
                </a:solidFill>
                <a:latin typeface="charter"/>
              </a:rPr>
              <a:t>By flattening the image, we lose this information, it becomes more difficult for the network to interpret the data during the training phase</a:t>
            </a:r>
            <a:endParaRPr lang="en-US" altLang="en-US" sz="1985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0BBA5714-F64C-84E9-1C76-AA53201BF98A}"/>
              </a:ext>
            </a:extLst>
          </p:cNvPr>
          <p:cNvSpPr txBox="1">
            <a:spLocks/>
          </p:cNvSpPr>
          <p:nvPr/>
        </p:nvSpPr>
        <p:spPr>
          <a:xfrm>
            <a:off x="1639570" y="227085"/>
            <a:ext cx="6804660" cy="945092"/>
          </a:xfrm>
          <a:prstGeom prst="rect">
            <a:avLst/>
          </a:prstGeom>
        </p:spPr>
        <p:txBody>
          <a:bodyPr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+mj-lt"/>
                <a:ea typeface="MS PGothic" panose="020B0600070205080204" pitchFamily="34" charset="-128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ea typeface="MS PGothic" panose="020B0600070205080204" pitchFamily="34" charset="-128"/>
                <a:cs typeface="Arial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ea typeface="MS PGothic" panose="020B0600070205080204" pitchFamily="34" charset="-128"/>
                <a:cs typeface="Arial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ea typeface="MS PGothic" panose="020B0600070205080204" pitchFamily="34" charset="-128"/>
                <a:cs typeface="Arial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ea typeface="MS PGothic" panose="020B0600070205080204" pitchFamily="34" charset="-128"/>
                <a:cs typeface="Arial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cs typeface="Arial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cs typeface="Arial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cs typeface="Arial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cs typeface="Arial" charset="0"/>
              </a:defRPr>
            </a:lvl9pPr>
          </a:lstStyle>
          <a:p>
            <a:pPr>
              <a:defRPr/>
            </a:pPr>
            <a:r>
              <a:rPr lang="en-US" sz="3142" kern="0" dirty="0">
                <a:solidFill>
                  <a:srgbClr val="292929"/>
                </a:solidFill>
                <a:latin typeface="charter"/>
              </a:rPr>
              <a:t>Need for another Network</a:t>
            </a:r>
            <a:endParaRPr lang="en-US" sz="3142" kern="0" dirty="0"/>
          </a:p>
        </p:txBody>
      </p:sp>
      <p:sp>
        <p:nvSpPr>
          <p:cNvPr id="18436" name="TextBox 5">
            <a:extLst>
              <a:ext uri="{FF2B5EF4-FFF2-40B4-BE49-F238E27FC236}">
                <a16:creationId xmlns:a16="http://schemas.microsoft.com/office/drawing/2014/main" id="{B521BF23-7B45-BBD8-134A-5796DE03EB4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54600" y="1008098"/>
            <a:ext cx="3780367" cy="10087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l"/>
              <a:defRPr sz="3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¡"/>
              <a:defRPr sz="27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1"/>
              </a:buClr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1985">
                <a:solidFill>
                  <a:srgbClr val="292929"/>
                </a:solidFill>
                <a:latin typeface="charter"/>
              </a:rPr>
              <a:t>Training a multilayer perceptron requires to provide input data as a vector (a one-dimension array)</a:t>
            </a:r>
            <a:endParaRPr lang="en-US" altLang="en-US" sz="1985"/>
          </a:p>
        </p:txBody>
      </p:sp>
      <p:sp>
        <p:nvSpPr>
          <p:cNvPr id="18437" name="TextBox 7">
            <a:extLst>
              <a:ext uri="{FF2B5EF4-FFF2-40B4-BE49-F238E27FC236}">
                <a16:creationId xmlns:a16="http://schemas.microsoft.com/office/drawing/2014/main" id="{F8899A96-FD6B-312B-9BF2-0345DD9D7A5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34853" y="3749675"/>
            <a:ext cx="5776384" cy="10087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l"/>
              <a:defRPr sz="3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¡"/>
              <a:defRPr sz="27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1"/>
              </a:buClr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1985" dirty="0">
                <a:solidFill>
                  <a:srgbClr val="FF0000"/>
                </a:solidFill>
                <a:latin typeface="charter"/>
              </a:rPr>
              <a:t>The convolution is a kind of product operation of a filter with a matrix of image to extract from it some pre-determined characteristics.</a:t>
            </a:r>
            <a:endParaRPr lang="en-US" altLang="en-US" sz="1985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458" name="Picture 2">
            <a:extLst>
              <a:ext uri="{FF2B5EF4-FFF2-40B4-BE49-F238E27FC236}">
                <a16:creationId xmlns:a16="http://schemas.microsoft.com/office/drawing/2014/main" id="{1AFEC0A6-0F6B-C61A-AFD4-3E71A73848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30863" y="413478"/>
            <a:ext cx="7222075" cy="48435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82" name="Picture 4">
            <a:extLst>
              <a:ext uri="{FF2B5EF4-FFF2-40B4-BE49-F238E27FC236}">
                <a16:creationId xmlns:a16="http://schemas.microsoft.com/office/drawing/2014/main" id="{BDB10F87-5509-2D1F-2759-7676AA62B9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43619" y="1134111"/>
            <a:ext cx="6497505" cy="28273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6" name="Picture 4">
            <a:extLst>
              <a:ext uri="{FF2B5EF4-FFF2-40B4-BE49-F238E27FC236}">
                <a16:creationId xmlns:a16="http://schemas.microsoft.com/office/drawing/2014/main" id="{0A1025EA-25D7-ACAE-88D0-21A8995A52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77507" y="1153800"/>
            <a:ext cx="5528786" cy="336295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6AE991-6427-5372-4B27-9AC524E873CB}"/>
              </a:ext>
            </a:extLst>
          </p:cNvPr>
          <p:cNvSpPr txBox="1">
            <a:spLocks/>
          </p:cNvSpPr>
          <p:nvPr/>
        </p:nvSpPr>
        <p:spPr>
          <a:xfrm>
            <a:off x="1639570" y="160140"/>
            <a:ext cx="6804660" cy="945092"/>
          </a:xfrm>
          <a:prstGeom prst="rect">
            <a:avLst/>
          </a:prstGeom>
        </p:spPr>
        <p:txBody>
          <a:bodyPr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+mj-lt"/>
                <a:ea typeface="MS PGothic" panose="020B0600070205080204" pitchFamily="34" charset="-128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ea typeface="MS PGothic" panose="020B0600070205080204" pitchFamily="34" charset="-128"/>
                <a:cs typeface="Arial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ea typeface="MS PGothic" panose="020B0600070205080204" pitchFamily="34" charset="-128"/>
                <a:cs typeface="Arial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ea typeface="MS PGothic" panose="020B0600070205080204" pitchFamily="34" charset="-128"/>
                <a:cs typeface="Arial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ea typeface="MS PGothic" panose="020B0600070205080204" pitchFamily="34" charset="-128"/>
                <a:cs typeface="Arial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cs typeface="Arial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cs typeface="Arial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cs typeface="Arial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cs typeface="Arial" charset="0"/>
              </a:defRPr>
            </a:lvl9pPr>
          </a:lstStyle>
          <a:p>
            <a:pPr>
              <a:defRPr/>
            </a:pPr>
            <a:r>
              <a:rPr lang="en-US" sz="3142" kern="0" dirty="0">
                <a:solidFill>
                  <a:srgbClr val="292929"/>
                </a:solidFill>
                <a:latin typeface="charter"/>
              </a:rPr>
              <a:t>Each filter extracts  a feature </a:t>
            </a:r>
            <a:endParaRPr lang="en-US" sz="3142" kern="0" dirty="0"/>
          </a:p>
        </p:txBody>
      </p:sp>
      <p:pic>
        <p:nvPicPr>
          <p:cNvPr id="22531" name="Picture 3">
            <a:extLst>
              <a:ext uri="{FF2B5EF4-FFF2-40B4-BE49-F238E27FC236}">
                <a16:creationId xmlns:a16="http://schemas.microsoft.com/office/drawing/2014/main" id="{6EF19048-7899-065F-79C1-1445AFFFFF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00228" y="632686"/>
            <a:ext cx="7560733" cy="2580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2532" name="Picture 5">
            <a:extLst>
              <a:ext uri="{FF2B5EF4-FFF2-40B4-BE49-F238E27FC236}">
                <a16:creationId xmlns:a16="http://schemas.microsoft.com/office/drawing/2014/main" id="{5D0883D3-9F60-BECB-D1B9-5CB6DD5D7C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24539" y="3063875"/>
            <a:ext cx="7560733" cy="284315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5CF7C405-01E3-B36B-7C3E-20F502DC282F}"/>
              </a:ext>
            </a:extLst>
          </p:cNvPr>
          <p:cNvSpPr txBox="1">
            <a:spLocks/>
          </p:cNvSpPr>
          <p:nvPr/>
        </p:nvSpPr>
        <p:spPr>
          <a:xfrm>
            <a:off x="1639570" y="160140"/>
            <a:ext cx="6804660" cy="945092"/>
          </a:xfrm>
          <a:prstGeom prst="rect">
            <a:avLst/>
          </a:prstGeom>
        </p:spPr>
        <p:txBody>
          <a:bodyPr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+mj-lt"/>
                <a:ea typeface="MS PGothic" panose="020B0600070205080204" pitchFamily="34" charset="-128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ea typeface="MS PGothic" panose="020B0600070205080204" pitchFamily="34" charset="-128"/>
                <a:cs typeface="Arial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ea typeface="MS PGothic" panose="020B0600070205080204" pitchFamily="34" charset="-128"/>
                <a:cs typeface="Arial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ea typeface="MS PGothic" panose="020B0600070205080204" pitchFamily="34" charset="-128"/>
                <a:cs typeface="Arial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ea typeface="MS PGothic" panose="020B0600070205080204" pitchFamily="34" charset="-128"/>
                <a:cs typeface="Arial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cs typeface="Arial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cs typeface="Arial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cs typeface="Arial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cs typeface="Arial" charset="0"/>
              </a:defRPr>
            </a:lvl9pPr>
          </a:lstStyle>
          <a:p>
            <a:pPr>
              <a:defRPr/>
            </a:pPr>
            <a:r>
              <a:rPr lang="en-US" sz="3142" kern="0" dirty="0">
                <a:solidFill>
                  <a:srgbClr val="292929"/>
                </a:solidFill>
                <a:latin typeface="charter"/>
              </a:rPr>
              <a:t>Applying  filter </a:t>
            </a:r>
            <a:r>
              <a:rPr lang="en-US" sz="3142" kern="0" dirty="0">
                <a:solidFill>
                  <a:srgbClr val="292929"/>
                </a:solidFill>
                <a:latin typeface="charter"/>
                <a:sym typeface="Wingdings" panose="05000000000000000000" pitchFamily="2" charset="2"/>
              </a:rPr>
              <a:t>feature map</a:t>
            </a:r>
            <a:endParaRPr lang="en-US" sz="3142" kern="0" dirty="0"/>
          </a:p>
        </p:txBody>
      </p:sp>
      <p:pic>
        <p:nvPicPr>
          <p:cNvPr id="23555" name="Picture 5">
            <a:extLst>
              <a:ext uri="{FF2B5EF4-FFF2-40B4-BE49-F238E27FC236}">
                <a16:creationId xmlns:a16="http://schemas.microsoft.com/office/drawing/2014/main" id="{034A53F3-FA48-61C4-D89B-3D5FF26598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39570" y="1197117"/>
            <a:ext cx="3268442" cy="10632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3556" name="TextBox 7">
            <a:extLst>
              <a:ext uri="{FF2B5EF4-FFF2-40B4-BE49-F238E27FC236}">
                <a16:creationId xmlns:a16="http://schemas.microsoft.com/office/drawing/2014/main" id="{A57E43AC-1CB6-2F75-462A-54DFF390F9A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41900" y="992347"/>
            <a:ext cx="3780367" cy="1008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l"/>
              <a:defRPr sz="3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¡"/>
              <a:defRPr sz="27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1"/>
              </a:buClr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1488" b="1" dirty="0">
                <a:solidFill>
                  <a:srgbClr val="292929"/>
                </a:solidFill>
                <a:latin typeface="charter"/>
              </a:rPr>
              <a:t>n</a:t>
            </a:r>
            <a:r>
              <a:rPr lang="en-US" altLang="en-US" sz="1488" dirty="0">
                <a:solidFill>
                  <a:srgbClr val="292929"/>
                </a:solidFill>
                <a:latin typeface="charter"/>
              </a:rPr>
              <a:t>  the dimension of the input image 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1488" b="1" dirty="0">
                <a:solidFill>
                  <a:srgbClr val="292929"/>
                </a:solidFill>
                <a:latin typeface="charter"/>
              </a:rPr>
              <a:t>p</a:t>
            </a:r>
            <a:r>
              <a:rPr lang="en-US" altLang="en-US" sz="1488" dirty="0">
                <a:solidFill>
                  <a:srgbClr val="292929"/>
                </a:solidFill>
                <a:latin typeface="charter"/>
              </a:rPr>
              <a:t> the size of the filter. For example, for an initial 120x120px image and with a 5x5 kernel, the featured is sized 116x116px, </a:t>
            </a:r>
            <a:endParaRPr lang="en-US" altLang="en-US" sz="1488" dirty="0"/>
          </a:p>
        </p:txBody>
      </p:sp>
      <p:sp>
        <p:nvSpPr>
          <p:cNvPr id="23557" name="TextBox 9">
            <a:extLst>
              <a:ext uri="{FF2B5EF4-FFF2-40B4-BE49-F238E27FC236}">
                <a16:creationId xmlns:a16="http://schemas.microsoft.com/office/drawing/2014/main" id="{00863285-4E6A-C818-A62C-7F4E4F40324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39570" y="2354854"/>
            <a:ext cx="3780367" cy="55027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l"/>
              <a:defRPr sz="3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¡"/>
              <a:defRPr sz="27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1"/>
              </a:buClr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1488" dirty="0">
                <a:solidFill>
                  <a:srgbClr val="292929"/>
                </a:solidFill>
                <a:latin typeface="charter"/>
              </a:rPr>
              <a:t>What If we want to output a feature map with the same size as the input image</a:t>
            </a:r>
            <a:endParaRPr lang="en-US" altLang="en-US" sz="1488" dirty="0"/>
          </a:p>
        </p:txBody>
      </p:sp>
      <p:sp>
        <p:nvSpPr>
          <p:cNvPr id="23558" name="TextBox 11">
            <a:extLst>
              <a:ext uri="{FF2B5EF4-FFF2-40B4-BE49-F238E27FC236}">
                <a16:creationId xmlns:a16="http://schemas.microsoft.com/office/drawing/2014/main" id="{008E243B-9733-D696-1417-BD6E286958B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50737" y="2806398"/>
            <a:ext cx="3784305" cy="7792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l"/>
              <a:defRPr sz="3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¡"/>
              <a:defRPr sz="27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1"/>
              </a:buClr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1488" dirty="0">
                <a:solidFill>
                  <a:srgbClr val="292929"/>
                </a:solidFill>
                <a:latin typeface="charter"/>
              </a:rPr>
              <a:t>Padding </a:t>
            </a:r>
            <a:r>
              <a:rPr lang="en-US" altLang="en-US" sz="1488" dirty="0">
                <a:solidFill>
                  <a:srgbClr val="292929"/>
                </a:solidFill>
                <a:latin typeface="charter"/>
                <a:sym typeface="Wingdings" panose="05000000000000000000" pitchFamily="2" charset="2"/>
              </a:rPr>
              <a:t> </a:t>
            </a:r>
            <a:r>
              <a:rPr lang="en-US" altLang="en-US" sz="1488" dirty="0">
                <a:solidFill>
                  <a:srgbClr val="292929"/>
                </a:solidFill>
                <a:latin typeface="charter"/>
              </a:rPr>
              <a:t>add zeros around the input image before the convolution, the input image is “padded with zeros”</a:t>
            </a:r>
            <a:endParaRPr lang="en-US" altLang="en-US" sz="1488" dirty="0"/>
          </a:p>
        </p:txBody>
      </p:sp>
      <p:sp>
        <p:nvSpPr>
          <p:cNvPr id="23559" name="TextBox 13">
            <a:extLst>
              <a:ext uri="{FF2B5EF4-FFF2-40B4-BE49-F238E27FC236}">
                <a16:creationId xmlns:a16="http://schemas.microsoft.com/office/drawing/2014/main" id="{BBBE6E4A-59BA-5747-9861-0080B8A0B08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33007" y="3747552"/>
            <a:ext cx="3784304" cy="16951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l"/>
              <a:defRPr sz="3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¡"/>
              <a:defRPr sz="27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1"/>
              </a:buClr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1488" dirty="0">
                <a:solidFill>
                  <a:srgbClr val="292929"/>
                </a:solidFill>
                <a:latin typeface="charter"/>
              </a:rPr>
              <a:t>6x6px with a 3x3 convolution filter. In the equation given above we then have p = 3, m = 6 so it comes that n = 6 + 3–1 = 8. Thus, it is necessary to have an input image sized 8x8px, which means we must add zeros all around the original matrix image to reach a size of 8x8px</a:t>
            </a:r>
            <a:endParaRPr lang="en-US" altLang="en-US" sz="1488" dirty="0"/>
          </a:p>
        </p:txBody>
      </p:sp>
      <p:pic>
        <p:nvPicPr>
          <p:cNvPr id="23560" name="Picture 15">
            <a:extLst>
              <a:ext uri="{FF2B5EF4-FFF2-40B4-BE49-F238E27FC236}">
                <a16:creationId xmlns:a16="http://schemas.microsoft.com/office/drawing/2014/main" id="{AAEFC6CF-CDAA-3344-4CA7-A14FAE8F0D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42889" y="3394454"/>
            <a:ext cx="2055574" cy="227609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C5E739D-0869-E1EB-954E-A2C83B393E6B}"/>
              </a:ext>
            </a:extLst>
          </p:cNvPr>
          <p:cNvSpPr txBox="1"/>
          <p:nvPr/>
        </p:nvSpPr>
        <p:spPr>
          <a:xfrm>
            <a:off x="1639570" y="315031"/>
            <a:ext cx="4977483" cy="575863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eaLnBrk="1" hangingPunct="1">
              <a:defRPr/>
            </a:pPr>
            <a:r>
              <a:rPr lang="en-US" sz="3142" kern="0" dirty="0">
                <a:solidFill>
                  <a:srgbClr val="292929"/>
                </a:solidFill>
                <a:latin typeface="charter"/>
                <a:cs typeface="+mj-cs"/>
              </a:rPr>
              <a:t>Activation function RELU</a:t>
            </a:r>
          </a:p>
        </p:txBody>
      </p:sp>
      <p:sp>
        <p:nvSpPr>
          <p:cNvPr id="24579" name="TextBox 4">
            <a:extLst>
              <a:ext uri="{FF2B5EF4-FFF2-40B4-BE49-F238E27FC236}">
                <a16:creationId xmlns:a16="http://schemas.microsoft.com/office/drawing/2014/main" id="{3682218E-1F58-76CE-EF22-5FBECAE0D74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5" y="1701165"/>
            <a:ext cx="4725458" cy="27647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l"/>
              <a:defRPr sz="3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¡"/>
              <a:defRPr sz="27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1"/>
              </a:buClr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481">
                <a:solidFill>
                  <a:srgbClr val="292929"/>
                </a:solidFill>
                <a:latin typeface="charter"/>
              </a:rPr>
              <a:t>During training, the coefficients of filters are updated  </a:t>
            </a:r>
            <a:r>
              <a:rPr lang="en-US" altLang="en-US" sz="2481">
                <a:solidFill>
                  <a:srgbClr val="292929"/>
                </a:solidFill>
                <a:latin typeface="charter"/>
                <a:sym typeface="Wingdings" panose="05000000000000000000" pitchFamily="2" charset="2"/>
              </a:rPr>
              <a:t></a:t>
            </a:r>
            <a:r>
              <a:rPr lang="en-US" altLang="en-US" sz="2481">
                <a:solidFill>
                  <a:srgbClr val="292929"/>
                </a:solidFill>
                <a:latin typeface="charter"/>
              </a:rPr>
              <a:t> the coefficients of the feature map , some might be negative 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endParaRPr lang="en-US" altLang="en-US" sz="2481">
              <a:solidFill>
                <a:srgbClr val="292929"/>
              </a:solidFill>
              <a:latin typeface="charter"/>
            </a:endParaRP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481">
                <a:solidFill>
                  <a:srgbClr val="292929"/>
                </a:solidFill>
                <a:latin typeface="charter"/>
                <a:sym typeface="Wingdings" panose="05000000000000000000" pitchFamily="2" charset="2"/>
              </a:rPr>
              <a:t>RELU </a:t>
            </a:r>
            <a:r>
              <a:rPr lang="en-US" altLang="en-US" sz="2481">
                <a:solidFill>
                  <a:srgbClr val="292929"/>
                </a:solidFill>
                <a:latin typeface="charter"/>
              </a:rPr>
              <a:t>replace the negative values with zeros</a:t>
            </a:r>
            <a:endParaRPr lang="en-US" altLang="en-US" sz="2481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602" name="Picture 2">
            <a:extLst>
              <a:ext uri="{FF2B5EF4-FFF2-40B4-BE49-F238E27FC236}">
                <a16:creationId xmlns:a16="http://schemas.microsoft.com/office/drawing/2014/main" id="{4CA3ACF0-D92B-F339-F7CE-0783BDEACC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14391" y="992346"/>
            <a:ext cx="6655020" cy="368585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34B3DA-5FE3-BAD6-4169-C558769D52AD}"/>
              </a:ext>
            </a:extLst>
          </p:cNvPr>
          <p:cNvSpPr txBox="1">
            <a:spLocks/>
          </p:cNvSpPr>
          <p:nvPr/>
        </p:nvSpPr>
        <p:spPr>
          <a:xfrm>
            <a:off x="1639570" y="160140"/>
            <a:ext cx="6804660" cy="945092"/>
          </a:xfrm>
          <a:prstGeom prst="rect">
            <a:avLst/>
          </a:prstGeom>
        </p:spPr>
        <p:txBody>
          <a:bodyPr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+mj-lt"/>
                <a:ea typeface="MS PGothic" panose="020B0600070205080204" pitchFamily="34" charset="-128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ea typeface="MS PGothic" panose="020B0600070205080204" pitchFamily="34" charset="-128"/>
                <a:cs typeface="Arial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ea typeface="MS PGothic" panose="020B0600070205080204" pitchFamily="34" charset="-128"/>
                <a:cs typeface="Arial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ea typeface="MS PGothic" panose="020B0600070205080204" pitchFamily="34" charset="-128"/>
                <a:cs typeface="Arial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ea typeface="MS PGothic" panose="020B0600070205080204" pitchFamily="34" charset="-128"/>
                <a:cs typeface="Arial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cs typeface="Arial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cs typeface="Arial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cs typeface="Arial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cs typeface="Arial" charset="0"/>
              </a:defRPr>
            </a:lvl9pPr>
          </a:lstStyle>
          <a:p>
            <a:pPr>
              <a:defRPr/>
            </a:pPr>
            <a:r>
              <a:rPr lang="en-US" sz="3142" kern="0" dirty="0">
                <a:solidFill>
                  <a:srgbClr val="292929"/>
                </a:solidFill>
                <a:latin typeface="charter"/>
              </a:rPr>
              <a:t>What is a convolution layer?</a:t>
            </a:r>
            <a:endParaRPr lang="en-US" sz="3142" kern="0" dirty="0"/>
          </a:p>
        </p:txBody>
      </p:sp>
      <p:sp>
        <p:nvSpPr>
          <p:cNvPr id="26627" name="TextBox 3">
            <a:extLst>
              <a:ext uri="{FF2B5EF4-FFF2-40B4-BE49-F238E27FC236}">
                <a16:creationId xmlns:a16="http://schemas.microsoft.com/office/drawing/2014/main" id="{0A3CE78C-FB81-97B4-61C2-250328DB1B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27100" y="1012564"/>
            <a:ext cx="3780367" cy="1008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l"/>
              <a:defRPr sz="3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¡"/>
              <a:defRPr sz="27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1"/>
              </a:buClr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1488" dirty="0">
                <a:solidFill>
                  <a:srgbClr val="292929"/>
                </a:solidFill>
                <a:latin typeface="charter"/>
              </a:rPr>
              <a:t>Convolution is to apply a filter or kernel to an input image, we then </a:t>
            </a:r>
            <a:r>
              <a:rPr lang="en-US" altLang="en-US" sz="1488" dirty="0">
                <a:solidFill>
                  <a:srgbClr val="FF0000"/>
                </a:solidFill>
                <a:latin typeface="charter"/>
              </a:rPr>
              <a:t>get a feature map that highlights characteristics or “features</a:t>
            </a:r>
            <a:r>
              <a:rPr lang="en-US" altLang="en-US" sz="1488" dirty="0">
                <a:solidFill>
                  <a:srgbClr val="292929"/>
                </a:solidFill>
                <a:latin typeface="charter"/>
              </a:rPr>
              <a:t>” of the input image:</a:t>
            </a:r>
            <a:endParaRPr lang="en-US" altLang="en-US" sz="1488" dirty="0"/>
          </a:p>
        </p:txBody>
      </p:sp>
      <p:sp>
        <p:nvSpPr>
          <p:cNvPr id="26628" name="TextBox 5">
            <a:extLst>
              <a:ext uri="{FF2B5EF4-FFF2-40B4-BE49-F238E27FC236}">
                <a16:creationId xmlns:a16="http://schemas.microsoft.com/office/drawing/2014/main" id="{B0C9020F-51B6-DD71-5B9F-2F2375E58BD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23985" y="1946627"/>
            <a:ext cx="3780367" cy="32130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l"/>
              <a:defRPr sz="3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¡"/>
              <a:defRPr sz="27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1"/>
              </a:buClr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1488">
                <a:solidFill>
                  <a:srgbClr val="292929"/>
                </a:solidFill>
                <a:latin typeface="charter"/>
              </a:rPr>
              <a:t>To solve our classification problem</a:t>
            </a:r>
            <a:endParaRPr lang="en-US" altLang="en-US" sz="1488"/>
          </a:p>
        </p:txBody>
      </p:sp>
      <p:sp>
        <p:nvSpPr>
          <p:cNvPr id="26629" name="TextBox 7">
            <a:extLst>
              <a:ext uri="{FF2B5EF4-FFF2-40B4-BE49-F238E27FC236}">
                <a16:creationId xmlns:a16="http://schemas.microsoft.com/office/drawing/2014/main" id="{8C896848-8D3E-0B3D-5790-35E4CDDC9F2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23985" y="2267933"/>
            <a:ext cx="3780367" cy="1008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l"/>
              <a:defRPr sz="3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¡"/>
              <a:defRPr sz="27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1"/>
              </a:buClr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1488" dirty="0">
                <a:solidFill>
                  <a:srgbClr val="292929"/>
                </a:solidFill>
                <a:latin typeface="charter"/>
              </a:rPr>
              <a:t>use several filters (as shape of ears, eyes and contours)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1488" dirty="0">
                <a:solidFill>
                  <a:srgbClr val="FF0000"/>
                </a:solidFill>
                <a:latin typeface="charter"/>
              </a:rPr>
              <a:t>combining the features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endParaRPr lang="en-US" altLang="en-US" sz="1488" dirty="0"/>
          </a:p>
        </p:txBody>
      </p:sp>
      <p:sp>
        <p:nvSpPr>
          <p:cNvPr id="26630" name="TextBox 9">
            <a:extLst>
              <a:ext uri="{FF2B5EF4-FFF2-40B4-BE49-F238E27FC236}">
                <a16:creationId xmlns:a16="http://schemas.microsoft.com/office/drawing/2014/main" id="{83273FC3-F8CF-4BA4-CEC8-DE1766F5370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03300" y="2804372"/>
            <a:ext cx="3780367" cy="1008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l"/>
              <a:defRPr sz="3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¡"/>
              <a:defRPr sz="27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1"/>
              </a:buClr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1488" dirty="0">
                <a:solidFill>
                  <a:srgbClr val="292929"/>
                </a:solidFill>
                <a:latin typeface="charter"/>
              </a:rPr>
              <a:t>Convolution Layer is: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1488" dirty="0">
                <a:solidFill>
                  <a:srgbClr val="292929"/>
                </a:solidFill>
                <a:latin typeface="charter"/>
              </a:rPr>
              <a:t>How many filters to use? 64, 128, 256 … Which activation function? </a:t>
            </a:r>
            <a:r>
              <a:rPr lang="en-US" altLang="en-US" sz="1488" dirty="0" err="1">
                <a:solidFill>
                  <a:srgbClr val="292929"/>
                </a:solidFill>
                <a:latin typeface="charter"/>
              </a:rPr>
              <a:t>relu</a:t>
            </a:r>
            <a:r>
              <a:rPr lang="en-US" altLang="en-US" sz="1488" dirty="0">
                <a:solidFill>
                  <a:srgbClr val="292929"/>
                </a:solidFill>
                <a:latin typeface="charter"/>
              </a:rPr>
              <a:t>, sigmoid, tanh … With or without padding?</a:t>
            </a:r>
            <a:endParaRPr lang="en-US" altLang="en-US" sz="1488" dirty="0"/>
          </a:p>
        </p:txBody>
      </p:sp>
      <p:sp>
        <p:nvSpPr>
          <p:cNvPr id="26631" name="TextBox 11">
            <a:extLst>
              <a:ext uri="{FF2B5EF4-FFF2-40B4-BE49-F238E27FC236}">
                <a16:creationId xmlns:a16="http://schemas.microsoft.com/office/drawing/2014/main" id="{9DFCC0BF-6A97-E599-F0A1-8DA7448F29D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20167" y="3673475"/>
            <a:ext cx="4224035" cy="146617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l"/>
              <a:defRPr sz="3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¡"/>
              <a:defRPr sz="27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1"/>
              </a:buClr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1488" dirty="0">
                <a:solidFill>
                  <a:srgbClr val="292929"/>
                </a:solidFill>
                <a:latin typeface="charter"/>
              </a:rPr>
              <a:t>128 filers </a:t>
            </a:r>
            <a:r>
              <a:rPr lang="en-US" altLang="en-US" sz="1488" dirty="0">
                <a:solidFill>
                  <a:srgbClr val="292929"/>
                </a:solidFill>
                <a:latin typeface="charter"/>
                <a:sym typeface="Wingdings" panose="05000000000000000000" pitchFamily="2" charset="2"/>
              </a:rPr>
              <a:t></a:t>
            </a:r>
            <a:r>
              <a:rPr lang="en-US" altLang="en-US" sz="1488" dirty="0">
                <a:solidFill>
                  <a:srgbClr val="292929"/>
                </a:solidFill>
                <a:latin typeface="charter"/>
              </a:rPr>
              <a:t>a feature map per filter so 128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endParaRPr lang="en-US" altLang="en-US" sz="1488" dirty="0">
              <a:solidFill>
                <a:srgbClr val="292929"/>
              </a:solidFill>
              <a:latin typeface="charter"/>
            </a:endParaRP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1488" dirty="0">
                <a:solidFill>
                  <a:srgbClr val="292929"/>
                </a:solidFill>
                <a:latin typeface="charter"/>
              </a:rPr>
              <a:t>As a </a:t>
            </a:r>
            <a:r>
              <a:rPr lang="en-US" altLang="en-US" sz="1488" b="1" dirty="0">
                <a:solidFill>
                  <a:srgbClr val="292929"/>
                </a:solidFill>
                <a:latin typeface="charter"/>
              </a:rPr>
              <a:t>RGB </a:t>
            </a:r>
            <a:r>
              <a:rPr lang="en-US" altLang="en-US" sz="1488" dirty="0">
                <a:solidFill>
                  <a:srgbClr val="292929"/>
                </a:solidFill>
                <a:latin typeface="charter"/>
              </a:rPr>
              <a:t>image contains three channels (red, green and blue), a convolutional layer with 128 filters provides a single feature map but with 128 channels. </a:t>
            </a:r>
            <a:endParaRPr lang="en-US" altLang="en-US" sz="1488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650" name="Picture 3">
            <a:extLst>
              <a:ext uri="{FF2B5EF4-FFF2-40B4-BE49-F238E27FC236}">
                <a16:creationId xmlns:a16="http://schemas.microsoft.com/office/drawing/2014/main" id="{BB6B2FAA-3755-5FCF-ADD9-3334A050B6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39570" y="504049"/>
            <a:ext cx="4812092" cy="3097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7651" name="Title 1">
            <a:extLst>
              <a:ext uri="{FF2B5EF4-FFF2-40B4-BE49-F238E27FC236}">
                <a16:creationId xmlns:a16="http://schemas.microsoft.com/office/drawing/2014/main" id="{DE9CDF12-DA0F-267A-26EF-F980F50F3E3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Max Pooling Algorithm</a:t>
            </a:r>
          </a:p>
        </p:txBody>
      </p:sp>
      <p:sp>
        <p:nvSpPr>
          <p:cNvPr id="27652" name="TextBox 5">
            <a:extLst>
              <a:ext uri="{FF2B5EF4-FFF2-40B4-BE49-F238E27FC236}">
                <a16:creationId xmlns:a16="http://schemas.microsoft.com/office/drawing/2014/main" id="{7824BEED-982D-F91E-CBFC-36C1E6F4A7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98085" y="897837"/>
            <a:ext cx="2520244" cy="16196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l"/>
              <a:defRPr sz="3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¡"/>
              <a:defRPr sz="27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1"/>
              </a:buClr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1985" dirty="0">
                <a:solidFill>
                  <a:srgbClr val="292929"/>
                </a:solidFill>
                <a:latin typeface="charter"/>
              </a:rPr>
              <a:t>Pooling is not just about resizing but also </a:t>
            </a:r>
            <a:r>
              <a:rPr lang="en-US" altLang="en-US" sz="1985" dirty="0">
                <a:solidFill>
                  <a:srgbClr val="FF0000"/>
                </a:solidFill>
                <a:latin typeface="charter"/>
              </a:rPr>
              <a:t>keeping only the meaningful features </a:t>
            </a:r>
            <a:r>
              <a:rPr lang="en-US" altLang="en-US" sz="1985" dirty="0">
                <a:solidFill>
                  <a:srgbClr val="292929"/>
                </a:solidFill>
                <a:latin typeface="charter"/>
              </a:rPr>
              <a:t>of the input image.</a:t>
            </a:r>
            <a:endParaRPr lang="en-US" altLang="en-US" sz="1985" dirty="0"/>
          </a:p>
        </p:txBody>
      </p:sp>
      <p:pic>
        <p:nvPicPr>
          <p:cNvPr id="27653" name="Picture 7">
            <a:extLst>
              <a:ext uri="{FF2B5EF4-FFF2-40B4-BE49-F238E27FC236}">
                <a16:creationId xmlns:a16="http://schemas.microsoft.com/office/drawing/2014/main" id="{D405AE2C-79F7-0563-4934-7E22AA6A2B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50552" y="3213311"/>
            <a:ext cx="7560733" cy="26055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74" name="Picture 2">
            <a:extLst>
              <a:ext uri="{FF2B5EF4-FFF2-40B4-BE49-F238E27FC236}">
                <a16:creationId xmlns:a16="http://schemas.microsoft.com/office/drawing/2014/main" id="{E04F50BF-9CBB-AA34-4BEE-D3EAFE6322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33968" y="429230"/>
            <a:ext cx="3807932" cy="23509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CC86BDD-5526-9C8D-7B7C-79FE1917A3DB}"/>
              </a:ext>
            </a:extLst>
          </p:cNvPr>
          <p:cNvSpPr txBox="1"/>
          <p:nvPr/>
        </p:nvSpPr>
        <p:spPr>
          <a:xfrm>
            <a:off x="1639570" y="2626"/>
            <a:ext cx="4977483" cy="575863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eaLnBrk="1" hangingPunct="1">
              <a:defRPr/>
            </a:pPr>
            <a:r>
              <a:rPr lang="en-US" sz="3142" kern="0" dirty="0">
                <a:solidFill>
                  <a:srgbClr val="FF0000"/>
                </a:solidFill>
                <a:latin typeface="charter"/>
                <a:cs typeface="+mj-cs"/>
              </a:rPr>
              <a:t>Neurons</a:t>
            </a:r>
            <a:r>
              <a:rPr lang="en-US" sz="3142" kern="0" dirty="0">
                <a:solidFill>
                  <a:srgbClr val="292929"/>
                </a:solidFill>
                <a:latin typeface="charter"/>
                <a:cs typeface="+mj-cs"/>
              </a:rPr>
              <a:t> from feature map</a:t>
            </a:r>
          </a:p>
        </p:txBody>
      </p:sp>
      <p:pic>
        <p:nvPicPr>
          <p:cNvPr id="28676" name="Picture 5">
            <a:extLst>
              <a:ext uri="{FF2B5EF4-FFF2-40B4-BE49-F238E27FC236}">
                <a16:creationId xmlns:a16="http://schemas.microsoft.com/office/drawing/2014/main" id="{2D217CEB-6518-77A9-C5EF-64F3E2F8A2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94554" y="2730265"/>
            <a:ext cx="1693289" cy="13638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8677" name="Picture 7">
            <a:extLst>
              <a:ext uri="{FF2B5EF4-FFF2-40B4-BE49-F238E27FC236}">
                <a16:creationId xmlns:a16="http://schemas.microsoft.com/office/drawing/2014/main" id="{C9B3846F-BF18-DBED-BE0E-64DC387D45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24539" y="2583251"/>
            <a:ext cx="1417638" cy="174579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8678" name="TextBox 9">
            <a:extLst>
              <a:ext uri="{FF2B5EF4-FFF2-40B4-BE49-F238E27FC236}">
                <a16:creationId xmlns:a16="http://schemas.microsoft.com/office/drawing/2014/main" id="{B69F151E-1E29-9016-452E-D44013D8147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67912" y="607747"/>
            <a:ext cx="3780367" cy="3755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l"/>
              <a:defRPr sz="3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¡"/>
              <a:defRPr sz="27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1"/>
              </a:buClr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endParaRPr lang="en-US" altLang="en-US" sz="1488" b="1" dirty="0">
              <a:solidFill>
                <a:srgbClr val="292929"/>
              </a:solidFill>
              <a:latin typeface="charter"/>
            </a:endParaRP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1488" dirty="0">
                <a:solidFill>
                  <a:srgbClr val="292929"/>
                </a:solidFill>
                <a:latin typeface="charter"/>
              </a:rPr>
              <a:t>Each pixel of the feature map is linked to one neuron, we then use m ** 2 neurons and each of them observes a field of size </a:t>
            </a:r>
            <a:r>
              <a:rPr lang="en-US" altLang="en-US" sz="1488" b="1" dirty="0" err="1">
                <a:solidFill>
                  <a:srgbClr val="292929"/>
                </a:solidFill>
                <a:latin typeface="charter"/>
              </a:rPr>
              <a:t>pxp</a:t>
            </a:r>
            <a:r>
              <a:rPr lang="en-US" altLang="en-US" sz="1488" dirty="0">
                <a:solidFill>
                  <a:srgbClr val="292929"/>
                </a:solidFill>
                <a:latin typeface="charter"/>
              </a:rPr>
              <a:t> with p ** 2 weights (one per filter coefficient) and one bias. </a:t>
            </a:r>
            <a:r>
              <a:rPr lang="en-US" altLang="en-US" sz="1488" dirty="0">
                <a:solidFill>
                  <a:srgbClr val="292929"/>
                </a:solidFill>
                <a:latin typeface="charter"/>
                <a:sym typeface="Wingdings" panose="05000000000000000000" pitchFamily="2" charset="2"/>
              </a:rPr>
              <a:t>There are </a:t>
            </a:r>
            <a:r>
              <a:rPr lang="en-US" altLang="en-US" sz="1488" b="1" dirty="0">
                <a:solidFill>
                  <a:srgbClr val="292929"/>
                </a:solidFill>
                <a:latin typeface="charter"/>
              </a:rPr>
              <a:t>p ** 2 + 1</a:t>
            </a:r>
            <a:r>
              <a:rPr lang="en-US" altLang="en-US" sz="1488" dirty="0">
                <a:solidFill>
                  <a:srgbClr val="292929"/>
                </a:solidFill>
                <a:latin typeface="charter"/>
              </a:rPr>
              <a:t> parameters for the m ** 2 neurons.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endParaRPr lang="en-US" altLang="en-US" sz="1488" dirty="0">
              <a:solidFill>
                <a:srgbClr val="292929"/>
              </a:solidFill>
              <a:latin typeface="charter"/>
            </a:endParaRP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endParaRPr lang="en-US" altLang="en-US" sz="1488" dirty="0">
              <a:solidFill>
                <a:srgbClr val="292929"/>
              </a:solidFill>
              <a:latin typeface="charter"/>
            </a:endParaRP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1488" dirty="0">
                <a:solidFill>
                  <a:srgbClr val="292929"/>
                </a:solidFill>
                <a:latin typeface="charter"/>
              </a:rPr>
              <a:t>For example, with an input image sized 420x420px grayscale and a kernel sized 5 * 5 we will have a feature map with size m = 420–5 + 1 = 416 therefore 416 * 416 = 173056 neurons for one convolution! 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endParaRPr lang="en-US" altLang="en-US" sz="1488" dirty="0">
              <a:solidFill>
                <a:srgbClr val="292929"/>
              </a:solidFill>
              <a:latin typeface="charter"/>
            </a:endParaRP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1488" dirty="0">
                <a:solidFill>
                  <a:srgbClr val="292929"/>
                </a:solidFill>
                <a:latin typeface="charter"/>
              </a:rPr>
              <a:t>With only </a:t>
            </a:r>
            <a:r>
              <a:rPr lang="en-US" altLang="en-US" sz="1488" b="1" dirty="0">
                <a:solidFill>
                  <a:srgbClr val="292929"/>
                </a:solidFill>
                <a:latin typeface="charter"/>
              </a:rPr>
              <a:t>26(5*5 + 1) parameters to learn</a:t>
            </a:r>
            <a:r>
              <a:rPr lang="en-US" altLang="en-US" sz="1488" dirty="0">
                <a:solidFill>
                  <a:srgbClr val="292929"/>
                </a:solidFill>
                <a:latin typeface="charter"/>
              </a:rPr>
              <a:t>.</a:t>
            </a:r>
          </a:p>
        </p:txBody>
      </p:sp>
      <p:sp>
        <p:nvSpPr>
          <p:cNvPr id="28679" name="TextBox 11">
            <a:extLst>
              <a:ext uri="{FF2B5EF4-FFF2-40B4-BE49-F238E27FC236}">
                <a16:creationId xmlns:a16="http://schemas.microsoft.com/office/drawing/2014/main" id="{8CA39FA5-B680-E245-2C6A-6B7B70BD09F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42436" y="4525940"/>
            <a:ext cx="3936570" cy="55027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l"/>
              <a:defRPr sz="3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¡"/>
              <a:defRPr sz="27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1"/>
              </a:buClr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1488">
                <a:solidFill>
                  <a:srgbClr val="292929"/>
                </a:solidFill>
                <a:latin typeface="charter"/>
              </a:rPr>
              <a:t>Image of size </a:t>
            </a:r>
            <a:r>
              <a:rPr lang="en-US" altLang="en-US" sz="1488" b="1">
                <a:solidFill>
                  <a:srgbClr val="292929"/>
                </a:solidFill>
                <a:latin typeface="charter"/>
              </a:rPr>
              <a:t>nxn</a:t>
            </a:r>
            <a:r>
              <a:rPr lang="en-US" altLang="en-US" sz="1488">
                <a:solidFill>
                  <a:srgbClr val="292929"/>
                </a:solidFill>
                <a:latin typeface="charter"/>
              </a:rPr>
              <a:t> with a </a:t>
            </a:r>
            <a:r>
              <a:rPr lang="en-US" altLang="en-US" sz="1488" b="1">
                <a:solidFill>
                  <a:srgbClr val="292929"/>
                </a:solidFill>
                <a:latin typeface="charter"/>
              </a:rPr>
              <a:t>pxp </a:t>
            </a:r>
            <a:r>
              <a:rPr lang="en-US" altLang="en-US" sz="1488">
                <a:solidFill>
                  <a:srgbClr val="292929"/>
                </a:solidFill>
                <a:latin typeface="charter"/>
              </a:rPr>
              <a:t>filter, outputs a feature map of size </a:t>
            </a:r>
            <a:r>
              <a:rPr lang="en-US" altLang="en-US" sz="1488" b="1">
                <a:solidFill>
                  <a:srgbClr val="292929"/>
                </a:solidFill>
                <a:latin typeface="charter"/>
              </a:rPr>
              <a:t>mxm(m=n-p+1)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698" name="Picture 9">
            <a:extLst>
              <a:ext uri="{FF2B5EF4-FFF2-40B4-BE49-F238E27FC236}">
                <a16:creationId xmlns:a16="http://schemas.microsoft.com/office/drawing/2014/main" id="{B31E9E83-E4A2-95CE-8ACF-48E5B1016E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60979" y="471234"/>
            <a:ext cx="3118803" cy="495385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9699" name="TextBox 7">
            <a:extLst>
              <a:ext uri="{FF2B5EF4-FFF2-40B4-BE49-F238E27FC236}">
                <a16:creationId xmlns:a16="http://schemas.microsoft.com/office/drawing/2014/main" id="{6BA1704A-8414-42D7-6D1C-2A2DB707EAD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39570" y="4267352"/>
            <a:ext cx="4662452" cy="131420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l"/>
              <a:defRPr sz="3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¡"/>
              <a:defRPr sz="27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1"/>
              </a:buClr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1985" dirty="0">
                <a:solidFill>
                  <a:srgbClr val="292929"/>
                </a:solidFill>
                <a:latin typeface="charter"/>
              </a:rPr>
              <a:t>The MLP therefore receives small-sized feature map as 1d array and chooses the corresponding category about those feature maps.</a:t>
            </a:r>
            <a:endParaRPr lang="en-US" altLang="en-US" sz="1985" dirty="0"/>
          </a:p>
        </p:txBody>
      </p:sp>
      <p:sp>
        <p:nvSpPr>
          <p:cNvPr id="29700" name="Title 1">
            <a:extLst>
              <a:ext uri="{FF2B5EF4-FFF2-40B4-BE49-F238E27FC236}">
                <a16:creationId xmlns:a16="http://schemas.microsoft.com/office/drawing/2014/main" id="{0E47B2E8-127C-FCD4-E11B-8FFE5A33944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>
                <a:solidFill>
                  <a:srgbClr val="292929"/>
                </a:solidFill>
                <a:latin typeface="charter"/>
              </a:rPr>
              <a:t>Flatten the feature map</a:t>
            </a:r>
          </a:p>
        </p:txBody>
      </p:sp>
      <p:sp>
        <p:nvSpPr>
          <p:cNvPr id="29701" name="TextBox 3">
            <a:extLst>
              <a:ext uri="{FF2B5EF4-FFF2-40B4-BE49-F238E27FC236}">
                <a16:creationId xmlns:a16="http://schemas.microsoft.com/office/drawing/2014/main" id="{8EDE6287-6009-0C57-3A71-58ACD7FD095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39570" y="1225994"/>
            <a:ext cx="4284416" cy="131420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l"/>
              <a:defRPr sz="3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¡"/>
              <a:defRPr sz="27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1"/>
              </a:buClr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1985" dirty="0">
                <a:solidFill>
                  <a:srgbClr val="292929"/>
                </a:solidFill>
                <a:latin typeface="charter"/>
              </a:rPr>
              <a:t>To classify the image into a category(cat or dog)</a:t>
            </a:r>
            <a:r>
              <a:rPr lang="en-US" altLang="en-US" sz="1985" dirty="0">
                <a:solidFill>
                  <a:srgbClr val="292929"/>
                </a:solidFill>
                <a:latin typeface="charter"/>
                <a:sym typeface="Wingdings" panose="05000000000000000000" pitchFamily="2" charset="2"/>
              </a:rPr>
              <a:t></a:t>
            </a:r>
            <a:r>
              <a:rPr lang="en-US" altLang="en-US" sz="1985" dirty="0">
                <a:solidFill>
                  <a:srgbClr val="292929"/>
                </a:solidFill>
                <a:latin typeface="charter"/>
              </a:rPr>
              <a:t> set up a multilayer perceptron (Multi-Layer Perceptron) on top of the last convolution layer. </a:t>
            </a:r>
            <a:endParaRPr lang="en-US" altLang="en-US" sz="1985" dirty="0"/>
          </a:p>
        </p:txBody>
      </p:sp>
      <p:sp>
        <p:nvSpPr>
          <p:cNvPr id="29702" name="TextBox 5">
            <a:extLst>
              <a:ext uri="{FF2B5EF4-FFF2-40B4-BE49-F238E27FC236}">
                <a16:creationId xmlns:a16="http://schemas.microsoft.com/office/drawing/2014/main" id="{917C3E3A-B03F-9B07-6F01-4CD835C2632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39570" y="2770957"/>
            <a:ext cx="4473434" cy="131420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l"/>
              <a:defRPr sz="3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¡"/>
              <a:defRPr sz="27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1"/>
              </a:buClr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1985" dirty="0">
                <a:solidFill>
                  <a:srgbClr val="292929"/>
                </a:solidFill>
                <a:latin typeface="charter"/>
              </a:rPr>
              <a:t>Since feeding a MLP requires input vectors (one-dimension arrays or 1d arrays), we need to “flatten” the output feature map. </a:t>
            </a:r>
            <a:endParaRPr lang="en-US" altLang="en-US" sz="1985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TextBox 4">
            <a:extLst>
              <a:ext uri="{FF2B5EF4-FFF2-40B4-BE49-F238E27FC236}">
                <a16:creationId xmlns:a16="http://schemas.microsoft.com/office/drawing/2014/main" id="{CB04DBBA-517F-B754-E2C1-872D06BB850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54601" y="1134110"/>
            <a:ext cx="6426623" cy="23820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l"/>
              <a:defRPr sz="3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¡"/>
              <a:defRPr sz="27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1"/>
              </a:buClr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1488"/>
              <a:t>Assume keyboard has only 2 keys / \						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1488"/>
              <a:t>Screen is only 2x2 pixels	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1488"/>
              <a:t>					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1488"/>
              <a:t>How will the computer recognize the letter from the image on the screen ?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endParaRPr lang="en-US" altLang="en-US" sz="1488"/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endParaRPr lang="en-US" altLang="en-US" sz="1488"/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endParaRPr lang="en-US" altLang="en-US" sz="1488"/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1488"/>
              <a:t>                            Screen 1                Screen 2						</a:t>
            </a:r>
          </a:p>
        </p:txBody>
      </p:sp>
      <p:sp>
        <p:nvSpPr>
          <p:cNvPr id="31747" name="TextBox 6">
            <a:extLst>
              <a:ext uri="{FF2B5EF4-FFF2-40B4-BE49-F238E27FC236}">
                <a16:creationId xmlns:a16="http://schemas.microsoft.com/office/drawing/2014/main" id="{9B624F39-2822-5D5F-4E7E-8D9133D0627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07790" y="5040489"/>
            <a:ext cx="3780367" cy="55027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l"/>
              <a:defRPr sz="3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¡"/>
              <a:defRPr sz="27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1"/>
              </a:buClr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1488"/>
              <a:t>Human Interpretation				</a:t>
            </a:r>
          </a:p>
        </p:txBody>
      </p:sp>
      <p:graphicFrame>
        <p:nvGraphicFramePr>
          <p:cNvPr id="31748" name="Object 7">
            <a:extLst>
              <a:ext uri="{FF2B5EF4-FFF2-40B4-BE49-F238E27FC236}">
                <a16:creationId xmlns:a16="http://schemas.microsoft.com/office/drawing/2014/main" id="{45B9236E-A9C8-3546-768D-B0A08461EBC6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403741" y="3330136"/>
          <a:ext cx="2525495" cy="96609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3054417" imgH="558927" progId="Excel.Sheet.12">
                  <p:embed/>
                </p:oleObj>
              </mc:Choice>
              <mc:Fallback>
                <p:oleObj name="Worksheet" r:id="rId2" imgW="3054417" imgH="558927" progId="Excel.Sheet.12">
                  <p:embed/>
                  <p:pic>
                    <p:nvPicPr>
                      <p:cNvPr id="31748" name="Object 7">
                        <a:extLst>
                          <a:ext uri="{FF2B5EF4-FFF2-40B4-BE49-F238E27FC236}">
                            <a16:creationId xmlns:a16="http://schemas.microsoft.com/office/drawing/2014/main" id="{45B9236E-A9C8-3546-768D-B0A08461EBC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403741" y="3330136"/>
                        <a:ext cx="2525495" cy="966094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1749" name="Title 1">
            <a:extLst>
              <a:ext uri="{FF2B5EF4-FFF2-40B4-BE49-F238E27FC236}">
                <a16:creationId xmlns:a16="http://schemas.microsoft.com/office/drawing/2014/main" id="{A5B57382-8797-4CF6-04AE-7F2EF43CD96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Smaller screen and smaller keyboard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Title 1">
            <a:extLst>
              <a:ext uri="{FF2B5EF4-FFF2-40B4-BE49-F238E27FC236}">
                <a16:creationId xmlns:a16="http://schemas.microsoft.com/office/drawing/2014/main" id="{F3EEEDD7-F111-DEDA-C006-6998D0F4516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Computer Interpretation</a:t>
            </a:r>
          </a:p>
        </p:txBody>
      </p:sp>
      <p:graphicFrame>
        <p:nvGraphicFramePr>
          <p:cNvPr id="32771" name="Object 3">
            <a:extLst>
              <a:ext uri="{FF2B5EF4-FFF2-40B4-BE49-F238E27FC236}">
                <a16:creationId xmlns:a16="http://schemas.microsoft.com/office/drawing/2014/main" id="{67AFB66E-B9DD-31FD-B7A5-38C3AADEE882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828589" y="1995194"/>
          <a:ext cx="1583029" cy="191118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1225617" imgH="1479614" progId="Excel.Sheet.12">
                  <p:embed/>
                </p:oleObj>
              </mc:Choice>
              <mc:Fallback>
                <p:oleObj name="Worksheet" r:id="rId2" imgW="1225617" imgH="1479614" progId="Excel.Sheet.12">
                  <p:embed/>
                  <p:pic>
                    <p:nvPicPr>
                      <p:cNvPr id="32771" name="Object 3">
                        <a:extLst>
                          <a:ext uri="{FF2B5EF4-FFF2-40B4-BE49-F238E27FC236}">
                            <a16:creationId xmlns:a16="http://schemas.microsoft.com/office/drawing/2014/main" id="{67AFB66E-B9DD-31FD-B7A5-38C3AADEE882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828589" y="1995194"/>
                        <a:ext cx="1583029" cy="191118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Arrow: Right 4">
            <a:extLst>
              <a:ext uri="{FF2B5EF4-FFF2-40B4-BE49-F238E27FC236}">
                <a16:creationId xmlns:a16="http://schemas.microsoft.com/office/drawing/2014/main" id="{0A70DB67-A41F-379B-EB83-3243A938AE8F}"/>
              </a:ext>
            </a:extLst>
          </p:cNvPr>
          <p:cNvSpPr/>
          <p:nvPr/>
        </p:nvSpPr>
        <p:spPr>
          <a:xfrm>
            <a:off x="3800155" y="2520244"/>
            <a:ext cx="1581716" cy="94509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r>
              <a:rPr lang="en-US" sz="1488" dirty="0"/>
              <a:t>Flattening</a:t>
            </a:r>
          </a:p>
        </p:txBody>
      </p:sp>
      <p:graphicFrame>
        <p:nvGraphicFramePr>
          <p:cNvPr id="32773" name="Object 7">
            <a:extLst>
              <a:ext uri="{FF2B5EF4-FFF2-40B4-BE49-F238E27FC236}">
                <a16:creationId xmlns:a16="http://schemas.microsoft.com/office/drawing/2014/main" id="{550D7A57-3BFE-A5BE-3F99-094B0D5699D7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031177" y="2033261"/>
          <a:ext cx="4224035" cy="191906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4" imgW="2444817" imgH="1111425" progId="Excel.Sheet.12">
                  <p:embed/>
                </p:oleObj>
              </mc:Choice>
              <mc:Fallback>
                <p:oleObj name="Worksheet" r:id="rId4" imgW="2444817" imgH="1111425" progId="Excel.Sheet.12">
                  <p:embed/>
                  <p:pic>
                    <p:nvPicPr>
                      <p:cNvPr id="32773" name="Object 7">
                        <a:extLst>
                          <a:ext uri="{FF2B5EF4-FFF2-40B4-BE49-F238E27FC236}">
                            <a16:creationId xmlns:a16="http://schemas.microsoft.com/office/drawing/2014/main" id="{550D7A57-3BFE-A5BE-3F99-094B0D5699D7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031177" y="2033261"/>
                        <a:ext cx="4224035" cy="1919061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2774" name="TextBox 9">
            <a:extLst>
              <a:ext uri="{FF2B5EF4-FFF2-40B4-BE49-F238E27FC236}">
                <a16:creationId xmlns:a16="http://schemas.microsoft.com/office/drawing/2014/main" id="{5C69F49C-B80A-C33A-5FF7-0C3A3FF97A0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51717" y="4284416"/>
            <a:ext cx="4347422" cy="7792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l"/>
              <a:defRPr sz="3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¡"/>
              <a:defRPr sz="27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1"/>
              </a:buClr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1488"/>
              <a:t>what operation help to classify them as / or \		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1488"/>
              <a:t>CLASSIFIER???		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Title 1">
            <a:extLst>
              <a:ext uri="{FF2B5EF4-FFF2-40B4-BE49-F238E27FC236}">
                <a16:creationId xmlns:a16="http://schemas.microsoft.com/office/drawing/2014/main" id="{7F439EC4-611C-815E-9F1F-8B6D3E93363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Classifier?</a:t>
            </a:r>
          </a:p>
        </p:txBody>
      </p:sp>
      <p:sp>
        <p:nvSpPr>
          <p:cNvPr id="33795" name="Content Placeholder 2">
            <a:extLst>
              <a:ext uri="{FF2B5EF4-FFF2-40B4-BE49-F238E27FC236}">
                <a16:creationId xmlns:a16="http://schemas.microsoft.com/office/drawing/2014/main" id="{1554F175-71E1-1D94-ADA4-E6ABA5F58A39}"/>
              </a:ext>
            </a:extLst>
          </p:cNvPr>
          <p:cNvSpPr>
            <a:spLocks noGrp="1" noChangeArrowheads="1"/>
          </p:cNvSpPr>
          <p:nvPr>
            <p:ph sz="half" idx="1"/>
          </p:nvPr>
        </p:nvSpPr>
        <p:spPr>
          <a:xfrm>
            <a:off x="5114095" y="1697228"/>
            <a:ext cx="3339324" cy="3746238"/>
          </a:xfrm>
        </p:spPr>
        <p:txBody>
          <a:bodyPr/>
          <a:lstStyle/>
          <a:p>
            <a:pPr marL="0" indent="0">
              <a:buNone/>
            </a:pPr>
            <a:r>
              <a:rPr lang="en-US" altLang="en-US"/>
              <a:t>Add them ?</a:t>
            </a:r>
            <a:br>
              <a:rPr lang="en-US" altLang="en-US"/>
            </a:br>
            <a:r>
              <a:rPr lang="en-US" altLang="en-US"/>
              <a:t>1-1-1+1=0</a:t>
            </a:r>
          </a:p>
          <a:p>
            <a:pPr marL="0" indent="0">
              <a:buNone/>
            </a:pPr>
            <a:r>
              <a:rPr lang="en-US" altLang="en-US"/>
              <a:t>-1+1+1-1=0</a:t>
            </a:r>
          </a:p>
          <a:p>
            <a:pPr marL="0" indent="0">
              <a:buNone/>
            </a:pPr>
            <a:r>
              <a:rPr lang="en-US" altLang="en-US"/>
              <a:t>No…</a:t>
            </a:r>
          </a:p>
          <a:p>
            <a:pPr marL="0" indent="0">
              <a:buNone/>
            </a:pPr>
            <a:r>
              <a:rPr lang="en-US" altLang="en-US"/>
              <a:t>Multiply them?</a:t>
            </a:r>
          </a:p>
          <a:p>
            <a:pPr marL="0" indent="0">
              <a:buNone/>
            </a:pPr>
            <a:r>
              <a:rPr lang="en-US" altLang="en-US"/>
              <a:t>1*-1*-1*1=1</a:t>
            </a:r>
          </a:p>
          <a:p>
            <a:pPr marL="0" indent="0">
              <a:buNone/>
            </a:pPr>
            <a:r>
              <a:rPr lang="en-US" altLang="en-US"/>
              <a:t>-1*1*1*-1=1</a:t>
            </a:r>
          </a:p>
          <a:p>
            <a:pPr marL="0" indent="0">
              <a:buNone/>
            </a:pPr>
            <a:r>
              <a:rPr lang="en-US" altLang="en-US"/>
              <a:t>No..</a:t>
            </a:r>
          </a:p>
          <a:p>
            <a:pPr marL="0" indent="0">
              <a:buNone/>
            </a:pPr>
            <a:endParaRPr lang="en-US" altLang="en-US"/>
          </a:p>
        </p:txBody>
      </p:sp>
      <p:graphicFrame>
        <p:nvGraphicFramePr>
          <p:cNvPr id="33796" name="Object 4">
            <a:extLst>
              <a:ext uri="{FF2B5EF4-FFF2-40B4-BE49-F238E27FC236}">
                <a16:creationId xmlns:a16="http://schemas.microsoft.com/office/drawing/2014/main" id="{38E4C54B-4E85-AD16-343D-B255AA6BB38D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387546" y="1890184"/>
          <a:ext cx="3138492" cy="142682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2444817" imgH="1111425" progId="Excel.Sheet.12">
                  <p:embed/>
                </p:oleObj>
              </mc:Choice>
              <mc:Fallback>
                <p:oleObj name="Worksheet" r:id="rId2" imgW="2444817" imgH="1111425" progId="Excel.Sheet.12">
                  <p:embed/>
                  <p:pic>
                    <p:nvPicPr>
                      <p:cNvPr id="33796" name="Object 4">
                        <a:extLst>
                          <a:ext uri="{FF2B5EF4-FFF2-40B4-BE49-F238E27FC236}">
                            <a16:creationId xmlns:a16="http://schemas.microsoft.com/office/drawing/2014/main" id="{38E4C54B-4E85-AD16-343D-B255AA6BB38D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387546" y="1890184"/>
                        <a:ext cx="3138492" cy="142682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4818" name="Object 1">
            <a:extLst>
              <a:ext uri="{FF2B5EF4-FFF2-40B4-BE49-F238E27FC236}">
                <a16:creationId xmlns:a16="http://schemas.microsoft.com/office/drawing/2014/main" id="{05DE5CC4-DEDD-49BC-E230-7FC7EC771DFE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765582" y="1008098"/>
          <a:ext cx="6397746" cy="258325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3664017" imgH="1479614" progId="Excel.Sheet.12">
                  <p:embed/>
                </p:oleObj>
              </mc:Choice>
              <mc:Fallback>
                <p:oleObj name="Worksheet" r:id="rId2" imgW="3664017" imgH="1479614" progId="Excel.Sheet.12">
                  <p:embed/>
                  <p:pic>
                    <p:nvPicPr>
                      <p:cNvPr id="34818" name="Object 1">
                        <a:extLst>
                          <a:ext uri="{FF2B5EF4-FFF2-40B4-BE49-F238E27FC236}">
                            <a16:creationId xmlns:a16="http://schemas.microsoft.com/office/drawing/2014/main" id="{05DE5CC4-DEDD-49BC-E230-7FC7EC771DFE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765582" y="1008098"/>
                        <a:ext cx="6397746" cy="2583251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itle 1">
            <a:extLst>
              <a:ext uri="{FF2B5EF4-FFF2-40B4-BE49-F238E27FC236}">
                <a16:creationId xmlns:a16="http://schemas.microsoft.com/office/drawing/2014/main" id="{B6B615D4-9648-0AA6-1CB1-F6AD71F43335}"/>
              </a:ext>
            </a:extLst>
          </p:cNvPr>
          <p:cNvSpPr txBox="1">
            <a:spLocks/>
          </p:cNvSpPr>
          <p:nvPr/>
        </p:nvSpPr>
        <p:spPr>
          <a:xfrm>
            <a:off x="1639570" y="227085"/>
            <a:ext cx="6804660" cy="945092"/>
          </a:xfrm>
          <a:prstGeom prst="rect">
            <a:avLst/>
          </a:prstGeom>
          <a:solidFill>
            <a:schemeClr val="bg1"/>
          </a:solidFill>
        </p:spPr>
        <p:txBody>
          <a:bodyPr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+mj-lt"/>
                <a:ea typeface="MS PGothic" panose="020B0600070205080204" pitchFamily="34" charset="-128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ea typeface="MS PGothic" panose="020B0600070205080204" pitchFamily="34" charset="-128"/>
                <a:cs typeface="Arial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ea typeface="MS PGothic" panose="020B0600070205080204" pitchFamily="34" charset="-128"/>
                <a:cs typeface="Arial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ea typeface="MS PGothic" panose="020B0600070205080204" pitchFamily="34" charset="-128"/>
                <a:cs typeface="Arial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ea typeface="MS PGothic" panose="020B0600070205080204" pitchFamily="34" charset="-128"/>
                <a:cs typeface="Arial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cs typeface="Arial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cs typeface="Arial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cs typeface="Arial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cs typeface="Arial" charset="0"/>
              </a:defRPr>
            </a:lvl9pPr>
          </a:lstStyle>
          <a:p>
            <a:pPr>
              <a:defRPr/>
            </a:pPr>
            <a:r>
              <a:rPr lang="en-US" sz="3142" kern="0" dirty="0"/>
              <a:t>Excellent Classifier (</a:t>
            </a:r>
            <a:r>
              <a:rPr lang="en-US" sz="3142" kern="0" dirty="0">
                <a:solidFill>
                  <a:srgbClr val="92D050"/>
                </a:solidFill>
              </a:rPr>
              <a:t>operation</a:t>
            </a:r>
            <a:r>
              <a:rPr lang="en-US" sz="3142" kern="0" dirty="0"/>
              <a:t>)</a:t>
            </a:r>
          </a:p>
        </p:txBody>
      </p:sp>
      <p:graphicFrame>
        <p:nvGraphicFramePr>
          <p:cNvPr id="34820" name="Object 3">
            <a:extLst>
              <a:ext uri="{FF2B5EF4-FFF2-40B4-BE49-F238E27FC236}">
                <a16:creationId xmlns:a16="http://schemas.microsoft.com/office/drawing/2014/main" id="{51FE38C8-2AB3-A376-49ED-1CD0ABBEFD66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332638" y="4126900"/>
          <a:ext cx="5102183" cy="11656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4" imgW="2444817" imgH="558927" progId="Excel.Sheet.12">
                  <p:embed/>
                </p:oleObj>
              </mc:Choice>
              <mc:Fallback>
                <p:oleObj name="Worksheet" r:id="rId4" imgW="2444817" imgH="558927" progId="Excel.Sheet.12">
                  <p:embed/>
                  <p:pic>
                    <p:nvPicPr>
                      <p:cNvPr id="34820" name="Object 3">
                        <a:extLst>
                          <a:ext uri="{FF2B5EF4-FFF2-40B4-BE49-F238E27FC236}">
                            <a16:creationId xmlns:a16="http://schemas.microsoft.com/office/drawing/2014/main" id="{51FE38C8-2AB3-A376-49ED-1CD0ABBEFD6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332638" y="4126900"/>
                        <a:ext cx="5102183" cy="11656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5842" name="Object 1">
            <a:extLst>
              <a:ext uri="{FF2B5EF4-FFF2-40B4-BE49-F238E27FC236}">
                <a16:creationId xmlns:a16="http://schemas.microsoft.com/office/drawing/2014/main" id="{16A6D750-154C-AB58-C32F-297E6FF165B4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450552" y="825643"/>
          <a:ext cx="2648882" cy="213564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1835217" imgH="1479614" progId="Excel.Sheet.12">
                  <p:embed/>
                </p:oleObj>
              </mc:Choice>
              <mc:Fallback>
                <p:oleObj name="Worksheet" r:id="rId2" imgW="1835217" imgH="1479614" progId="Excel.Sheet.12">
                  <p:embed/>
                  <p:pic>
                    <p:nvPicPr>
                      <p:cNvPr id="35842" name="Object 1">
                        <a:extLst>
                          <a:ext uri="{FF2B5EF4-FFF2-40B4-BE49-F238E27FC236}">
                            <a16:creationId xmlns:a16="http://schemas.microsoft.com/office/drawing/2014/main" id="{16A6D750-154C-AB58-C32F-297E6FF165B4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50552" y="825643"/>
                        <a:ext cx="2648882" cy="2135644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5843" name="Object 2">
            <a:extLst>
              <a:ext uri="{FF2B5EF4-FFF2-40B4-BE49-F238E27FC236}">
                <a16:creationId xmlns:a16="http://schemas.microsoft.com/office/drawing/2014/main" id="{4499C5F9-7EBE-B054-E92A-4C99D167715F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957226" y="2961288"/>
          <a:ext cx="6169348" cy="213564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4" imgW="4273617" imgH="1479614" progId="Excel.Sheet.12">
                  <p:embed/>
                </p:oleObj>
              </mc:Choice>
              <mc:Fallback>
                <p:oleObj name="Worksheet" r:id="rId4" imgW="4273617" imgH="1479614" progId="Excel.Sheet.12">
                  <p:embed/>
                  <p:pic>
                    <p:nvPicPr>
                      <p:cNvPr id="35843" name="Object 2">
                        <a:extLst>
                          <a:ext uri="{FF2B5EF4-FFF2-40B4-BE49-F238E27FC236}">
                            <a16:creationId xmlns:a16="http://schemas.microsoft.com/office/drawing/2014/main" id="{4499C5F9-7EBE-B054-E92A-4C99D167715F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57226" y="2961288"/>
                        <a:ext cx="6169348" cy="213564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5844" name="TextBox 3">
            <a:extLst>
              <a:ext uri="{FF2B5EF4-FFF2-40B4-BE49-F238E27FC236}">
                <a16:creationId xmlns:a16="http://schemas.microsoft.com/office/drawing/2014/main" id="{58AC5451-F849-A3C2-BC5B-8725554CA7B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14169" y="4158404"/>
            <a:ext cx="548548" cy="37228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l"/>
              <a:defRPr sz="3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¡"/>
              <a:defRPr sz="27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1"/>
              </a:buClr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1819">
                <a:solidFill>
                  <a:srgbClr val="FF0000"/>
                </a:solidFill>
              </a:rPr>
              <a:t>yes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551850ED-3424-34CC-2977-EA33802A5E40}"/>
              </a:ext>
            </a:extLst>
          </p:cNvPr>
          <p:cNvSpPr txBox="1">
            <a:spLocks/>
          </p:cNvSpPr>
          <p:nvPr/>
        </p:nvSpPr>
        <p:spPr>
          <a:xfrm>
            <a:off x="1639570" y="227085"/>
            <a:ext cx="6804660" cy="451544"/>
          </a:xfrm>
          <a:prstGeom prst="rect">
            <a:avLst/>
          </a:prstGeom>
          <a:solidFill>
            <a:schemeClr val="bg1"/>
          </a:solidFill>
        </p:spPr>
        <p:txBody>
          <a:bodyPr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+mj-lt"/>
                <a:ea typeface="MS PGothic" panose="020B0600070205080204" pitchFamily="34" charset="-128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ea typeface="MS PGothic" panose="020B0600070205080204" pitchFamily="34" charset="-128"/>
                <a:cs typeface="Arial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ea typeface="MS PGothic" panose="020B0600070205080204" pitchFamily="34" charset="-128"/>
                <a:cs typeface="Arial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ea typeface="MS PGothic" panose="020B0600070205080204" pitchFamily="34" charset="-128"/>
                <a:cs typeface="Arial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ea typeface="MS PGothic" panose="020B0600070205080204" pitchFamily="34" charset="-128"/>
                <a:cs typeface="Arial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cs typeface="Arial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cs typeface="Arial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cs typeface="Arial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cs typeface="Arial" charset="0"/>
              </a:defRPr>
            </a:lvl9pPr>
          </a:lstStyle>
          <a:p>
            <a:pPr>
              <a:defRPr/>
            </a:pPr>
            <a:r>
              <a:rPr lang="en-US" sz="3142" kern="0" dirty="0"/>
              <a:t>Classifier can identify wrong image</a:t>
            </a:r>
          </a:p>
        </p:txBody>
      </p:sp>
      <p:pic>
        <p:nvPicPr>
          <p:cNvPr id="35846" name="Picture 5">
            <a:extLst>
              <a:ext uri="{FF2B5EF4-FFF2-40B4-BE49-F238E27FC236}">
                <a16:creationId xmlns:a16="http://schemas.microsoft.com/office/drawing/2014/main" id="{65683B30-172B-CCC9-E479-1E198CB06B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56006" y="804641"/>
            <a:ext cx="5292513" cy="16683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Title 1">
            <a:extLst>
              <a:ext uri="{FF2B5EF4-FFF2-40B4-BE49-F238E27FC236}">
                <a16:creationId xmlns:a16="http://schemas.microsoft.com/office/drawing/2014/main" id="{1DAD90BC-9013-0B18-E89F-7F9C36D5B26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Selection of filter</a:t>
            </a:r>
          </a:p>
        </p:txBody>
      </p:sp>
      <p:pic>
        <p:nvPicPr>
          <p:cNvPr id="36867" name="Picture 2">
            <a:extLst>
              <a:ext uri="{FF2B5EF4-FFF2-40B4-BE49-F238E27FC236}">
                <a16:creationId xmlns:a16="http://schemas.microsoft.com/office/drawing/2014/main" id="{12A1C66D-B996-3F45-1329-28E2971106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1536" y="1386135"/>
            <a:ext cx="4940729" cy="289828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Title 1">
            <a:extLst>
              <a:ext uri="{FF2B5EF4-FFF2-40B4-BE49-F238E27FC236}">
                <a16:creationId xmlns:a16="http://schemas.microsoft.com/office/drawing/2014/main" id="{10036116-B82B-52D5-00B1-336544057ED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639570" y="1638159"/>
            <a:ext cx="6804660" cy="945092"/>
          </a:xfrm>
        </p:spPr>
        <p:txBody>
          <a:bodyPr/>
          <a:lstStyle/>
          <a:p>
            <a:r>
              <a:rPr lang="en-US" altLang="en-US" sz="1985" dirty="0"/>
              <a:t>Assume keyboard has only 4 keys / \ x o							</a:t>
            </a:r>
            <a:br>
              <a:rPr lang="en-US" altLang="en-US" sz="1985" dirty="0"/>
            </a:br>
            <a:r>
              <a:rPr lang="en-US" altLang="en-US" sz="1985" dirty="0"/>
              <a:t>Screen is only 3x3 pixels							</a:t>
            </a:r>
            <a:br>
              <a:rPr lang="en-US" altLang="en-US" sz="1985" dirty="0"/>
            </a:br>
            <a:r>
              <a:rPr lang="en-US" altLang="en-US" sz="1985" dirty="0"/>
              <a:t>How will the computer recognize the letter from the image on the screen ?</a:t>
            </a:r>
            <a:r>
              <a:rPr lang="en-US" altLang="en-US" dirty="0"/>
              <a:t>							</a:t>
            </a:r>
            <a:br>
              <a:rPr lang="en-US" altLang="en-US" dirty="0"/>
            </a:br>
            <a:endParaRPr lang="en-US" altLang="en-US" dirty="0"/>
          </a:p>
        </p:txBody>
      </p:sp>
      <p:graphicFrame>
        <p:nvGraphicFramePr>
          <p:cNvPr id="37891" name="Object 2">
            <a:extLst>
              <a:ext uri="{FF2B5EF4-FFF2-40B4-BE49-F238E27FC236}">
                <a16:creationId xmlns:a16="http://schemas.microsoft.com/office/drawing/2014/main" id="{7830575F-A997-6BF5-91FF-6A1F8270221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28606210"/>
              </p:ext>
            </p:extLst>
          </p:nvPr>
        </p:nvGraphicFramePr>
        <p:xfrm>
          <a:off x="2374900" y="3521075"/>
          <a:ext cx="4161029" cy="143338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3054417" imgH="558927" progId="Excel.Sheet.12">
                  <p:embed/>
                </p:oleObj>
              </mc:Choice>
              <mc:Fallback>
                <p:oleObj name="Worksheet" r:id="rId2" imgW="3054417" imgH="558927" progId="Excel.Sheet.12">
                  <p:embed/>
                  <p:pic>
                    <p:nvPicPr>
                      <p:cNvPr id="37891" name="Object 2">
                        <a:extLst>
                          <a:ext uri="{FF2B5EF4-FFF2-40B4-BE49-F238E27FC236}">
                            <a16:creationId xmlns:a16="http://schemas.microsoft.com/office/drawing/2014/main" id="{7830575F-A997-6BF5-91FF-6A1F82702214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374900" y="3521075"/>
                        <a:ext cx="4161029" cy="1433389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8F7A1ADF-44D7-5820-2928-64B94EBA9008}"/>
              </a:ext>
            </a:extLst>
          </p:cNvPr>
          <p:cNvSpPr txBox="1"/>
          <p:nvPr/>
        </p:nvSpPr>
        <p:spPr>
          <a:xfrm>
            <a:off x="1671864" y="100261"/>
            <a:ext cx="52077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en-US" sz="4800" dirty="0">
                <a:solidFill>
                  <a:srgbClr val="FF0000"/>
                </a:solidFill>
              </a:rPr>
              <a:t>/ \ x o</a:t>
            </a:r>
            <a:endParaRPr lang="en-US" sz="4800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8914" name="Object 1">
            <a:extLst>
              <a:ext uri="{FF2B5EF4-FFF2-40B4-BE49-F238E27FC236}">
                <a16:creationId xmlns:a16="http://schemas.microsoft.com/office/drawing/2014/main" id="{4F4BF719-81D0-B9B3-2D1C-EC24BD9E35EA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584662" y="189018"/>
          <a:ext cx="3719986" cy="5150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3054417" imgH="3505295" progId="Excel.Sheet.12">
                  <p:embed/>
                </p:oleObj>
              </mc:Choice>
              <mc:Fallback>
                <p:oleObj name="Worksheet" r:id="rId2" imgW="3054417" imgH="3505295" progId="Excel.Sheet.12">
                  <p:embed/>
                  <p:pic>
                    <p:nvPicPr>
                      <p:cNvPr id="38914" name="Object 1">
                        <a:extLst>
                          <a:ext uri="{FF2B5EF4-FFF2-40B4-BE49-F238E27FC236}">
                            <a16:creationId xmlns:a16="http://schemas.microsoft.com/office/drawing/2014/main" id="{4F4BF719-81D0-B9B3-2D1C-EC24BD9E35EA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584662" y="189018"/>
                        <a:ext cx="3719986" cy="5150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TextBox 2">
            <a:extLst>
              <a:ext uri="{FF2B5EF4-FFF2-40B4-BE49-F238E27FC236}">
                <a16:creationId xmlns:a16="http://schemas.microsoft.com/office/drawing/2014/main" id="{6DE09E3D-7381-DF56-B6F7-1F0748B8054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4700" y="158476"/>
            <a:ext cx="9982200" cy="7792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l"/>
              <a:defRPr sz="3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¡"/>
              <a:defRPr sz="27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1"/>
              </a:buClr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1488" dirty="0">
                <a:solidFill>
                  <a:srgbClr val="FF0000"/>
                </a:solidFill>
              </a:rPr>
              <a:t>What classier ?									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1488" dirty="0">
                <a:solidFill>
                  <a:srgbClr val="FF0000"/>
                </a:solidFill>
              </a:rPr>
              <a:t>Difficult so we break them into pieces (convolution) based on / and \ (as filter)							we connect them again		</a:t>
            </a:r>
          </a:p>
        </p:txBody>
      </p:sp>
      <p:graphicFrame>
        <p:nvGraphicFramePr>
          <p:cNvPr id="39939" name="Object 3">
            <a:extLst>
              <a:ext uri="{FF2B5EF4-FFF2-40B4-BE49-F238E27FC236}">
                <a16:creationId xmlns:a16="http://schemas.microsoft.com/office/drawing/2014/main" id="{909327BB-DEA7-54B0-9E0E-0FD85D3284FD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513558" y="1197117"/>
          <a:ext cx="3719986" cy="393000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3054417" imgH="3505295" progId="Excel.Sheet.12">
                  <p:embed/>
                </p:oleObj>
              </mc:Choice>
              <mc:Fallback>
                <p:oleObj name="Worksheet" r:id="rId2" imgW="3054417" imgH="3505295" progId="Excel.Sheet.12">
                  <p:embed/>
                  <p:pic>
                    <p:nvPicPr>
                      <p:cNvPr id="39939" name="Object 3">
                        <a:extLst>
                          <a:ext uri="{FF2B5EF4-FFF2-40B4-BE49-F238E27FC236}">
                            <a16:creationId xmlns:a16="http://schemas.microsoft.com/office/drawing/2014/main" id="{909327BB-DEA7-54B0-9E0E-0FD85D3284FD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13558" y="1197117"/>
                        <a:ext cx="3719986" cy="393000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9940" name="Object 4">
            <a:extLst>
              <a:ext uri="{FF2B5EF4-FFF2-40B4-BE49-F238E27FC236}">
                <a16:creationId xmlns:a16="http://schemas.microsoft.com/office/drawing/2014/main" id="{340D7A7C-B39A-D84B-A49B-55470F2947E3}"/>
              </a:ext>
            </a:extLst>
          </p:cNvPr>
          <p:cNvGraphicFramePr>
            <a:graphicFrameLocks noChangeAspect="1"/>
          </p:cNvGraphicFramePr>
          <p:nvPr/>
        </p:nvGraphicFramePr>
        <p:xfrm>
          <a:off x="6239016" y="1365132"/>
          <a:ext cx="1517397" cy="113411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4" imgW="1835217" imgH="558927" progId="Excel.Sheet.12">
                  <p:embed/>
                </p:oleObj>
              </mc:Choice>
              <mc:Fallback>
                <p:oleObj name="Worksheet" r:id="rId4" imgW="1835217" imgH="558927" progId="Excel.Sheet.12">
                  <p:embed/>
                  <p:pic>
                    <p:nvPicPr>
                      <p:cNvPr id="39940" name="Object 4">
                        <a:extLst>
                          <a:ext uri="{FF2B5EF4-FFF2-40B4-BE49-F238E27FC236}">
                            <a16:creationId xmlns:a16="http://schemas.microsoft.com/office/drawing/2014/main" id="{340D7A7C-B39A-D84B-A49B-55470F2947E3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239016" y="1365132"/>
                        <a:ext cx="1517397" cy="113411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Arrow: Down 5">
            <a:extLst>
              <a:ext uri="{FF2B5EF4-FFF2-40B4-BE49-F238E27FC236}">
                <a16:creationId xmlns:a16="http://schemas.microsoft.com/office/drawing/2014/main" id="{48141EAD-916F-FE7A-0F31-86FA683659DF}"/>
              </a:ext>
            </a:extLst>
          </p:cNvPr>
          <p:cNvSpPr/>
          <p:nvPr/>
        </p:nvSpPr>
        <p:spPr>
          <a:xfrm>
            <a:off x="6743065" y="2646257"/>
            <a:ext cx="630061" cy="756073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 sz="1488" dirty="0"/>
          </a:p>
        </p:txBody>
      </p:sp>
      <p:graphicFrame>
        <p:nvGraphicFramePr>
          <p:cNvPr id="39942" name="Object 6">
            <a:extLst>
              <a:ext uri="{FF2B5EF4-FFF2-40B4-BE49-F238E27FC236}">
                <a16:creationId xmlns:a16="http://schemas.microsoft.com/office/drawing/2014/main" id="{EA570DFC-663E-2814-D78A-656D93CFEABF}"/>
              </a:ext>
            </a:extLst>
          </p:cNvPr>
          <p:cNvGraphicFramePr>
            <a:graphicFrameLocks noChangeAspect="1"/>
          </p:cNvGraphicFramePr>
          <p:nvPr/>
        </p:nvGraphicFramePr>
        <p:xfrm>
          <a:off x="6428035" y="3675357"/>
          <a:ext cx="1425513" cy="58805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6" imgW="1225617" imgH="374618" progId="Excel.Sheet.12">
                  <p:embed/>
                </p:oleObj>
              </mc:Choice>
              <mc:Fallback>
                <p:oleObj name="Worksheet" r:id="rId6" imgW="1225617" imgH="374618" progId="Excel.Sheet.12">
                  <p:embed/>
                  <p:pic>
                    <p:nvPicPr>
                      <p:cNvPr id="39942" name="Object 6">
                        <a:extLst>
                          <a:ext uri="{FF2B5EF4-FFF2-40B4-BE49-F238E27FC236}">
                            <a16:creationId xmlns:a16="http://schemas.microsoft.com/office/drawing/2014/main" id="{EA570DFC-663E-2814-D78A-656D93CFEABF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428035" y="3675357"/>
                        <a:ext cx="1425513" cy="58805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Arrow: Down 7">
            <a:extLst>
              <a:ext uri="{FF2B5EF4-FFF2-40B4-BE49-F238E27FC236}">
                <a16:creationId xmlns:a16="http://schemas.microsoft.com/office/drawing/2014/main" id="{028FEA18-3FD2-EA1D-7CFE-20CC50DB1BCA}"/>
              </a:ext>
            </a:extLst>
          </p:cNvPr>
          <p:cNvSpPr/>
          <p:nvPr/>
        </p:nvSpPr>
        <p:spPr>
          <a:xfrm>
            <a:off x="6769318" y="4305418"/>
            <a:ext cx="630061" cy="756073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 sz="1488" dirty="0"/>
          </a:p>
        </p:txBody>
      </p:sp>
      <p:graphicFrame>
        <p:nvGraphicFramePr>
          <p:cNvPr id="39944" name="Object 8">
            <a:extLst>
              <a:ext uri="{FF2B5EF4-FFF2-40B4-BE49-F238E27FC236}">
                <a16:creationId xmlns:a16="http://schemas.microsoft.com/office/drawing/2014/main" id="{E2A8B2E6-3B00-DC6B-16CB-8B67CEB23349}"/>
              </a:ext>
            </a:extLst>
          </p:cNvPr>
          <p:cNvGraphicFramePr>
            <a:graphicFrameLocks noChangeAspect="1"/>
          </p:cNvGraphicFramePr>
          <p:nvPr/>
        </p:nvGraphicFramePr>
        <p:xfrm>
          <a:off x="7118477" y="5029988"/>
          <a:ext cx="1136735" cy="6458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8" imgW="616017" imgH="190310" progId="Excel.Sheet.12">
                  <p:embed/>
                </p:oleObj>
              </mc:Choice>
              <mc:Fallback>
                <p:oleObj name="Worksheet" r:id="rId8" imgW="616017" imgH="190310" progId="Excel.Sheet.12">
                  <p:embed/>
                  <p:pic>
                    <p:nvPicPr>
                      <p:cNvPr id="39944" name="Object 8">
                        <a:extLst>
                          <a:ext uri="{FF2B5EF4-FFF2-40B4-BE49-F238E27FC236}">
                            <a16:creationId xmlns:a16="http://schemas.microsoft.com/office/drawing/2014/main" id="{E2A8B2E6-3B00-DC6B-16CB-8B67CEB23349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118477" y="5029988"/>
                        <a:ext cx="1136735" cy="6458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0962" name="Object 1">
            <a:extLst>
              <a:ext uri="{FF2B5EF4-FFF2-40B4-BE49-F238E27FC236}">
                <a16:creationId xmlns:a16="http://schemas.microsoft.com/office/drawing/2014/main" id="{C006A067-1BA9-D474-B9EC-3B4B1854472C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836686" y="441043"/>
          <a:ext cx="1013348" cy="46204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1225617" imgH="558927" progId="Excel.Sheet.12">
                  <p:embed/>
                </p:oleObj>
              </mc:Choice>
              <mc:Fallback>
                <p:oleObj name="Worksheet" r:id="rId2" imgW="1225617" imgH="558927" progId="Excel.Sheet.12">
                  <p:embed/>
                  <p:pic>
                    <p:nvPicPr>
                      <p:cNvPr id="40962" name="Object 1">
                        <a:extLst>
                          <a:ext uri="{FF2B5EF4-FFF2-40B4-BE49-F238E27FC236}">
                            <a16:creationId xmlns:a16="http://schemas.microsoft.com/office/drawing/2014/main" id="{C006A067-1BA9-D474-B9EC-3B4B1854472C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836686" y="441043"/>
                        <a:ext cx="1013348" cy="46204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963" name="Object 2">
            <a:extLst>
              <a:ext uri="{FF2B5EF4-FFF2-40B4-BE49-F238E27FC236}">
                <a16:creationId xmlns:a16="http://schemas.microsoft.com/office/drawing/2014/main" id="{CF63AD8D-4004-6FDC-D1B3-B7F9F3ABD221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293925" y="441043"/>
          <a:ext cx="1013348" cy="46204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4" imgW="1225617" imgH="558927" progId="Excel.Sheet.12">
                  <p:embed/>
                </p:oleObj>
              </mc:Choice>
              <mc:Fallback>
                <p:oleObj name="Worksheet" r:id="rId4" imgW="1225617" imgH="558927" progId="Excel.Sheet.12">
                  <p:embed/>
                  <p:pic>
                    <p:nvPicPr>
                      <p:cNvPr id="40963" name="Object 2">
                        <a:extLst>
                          <a:ext uri="{FF2B5EF4-FFF2-40B4-BE49-F238E27FC236}">
                            <a16:creationId xmlns:a16="http://schemas.microsoft.com/office/drawing/2014/main" id="{CF63AD8D-4004-6FDC-D1B3-B7F9F3ABD221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293925" y="441043"/>
                        <a:ext cx="1013348" cy="46204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964" name="Object 3">
            <a:extLst>
              <a:ext uri="{FF2B5EF4-FFF2-40B4-BE49-F238E27FC236}">
                <a16:creationId xmlns:a16="http://schemas.microsoft.com/office/drawing/2014/main" id="{EEAA29AC-AA95-5DC4-9107-795DF00F1429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765582" y="1512147"/>
          <a:ext cx="2525495" cy="289828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6" imgW="3054417" imgH="3505295" progId="Excel.Sheet.12">
                  <p:embed/>
                </p:oleObj>
              </mc:Choice>
              <mc:Fallback>
                <p:oleObj name="Worksheet" r:id="rId6" imgW="3054417" imgH="3505295" progId="Excel.Sheet.12">
                  <p:embed/>
                  <p:pic>
                    <p:nvPicPr>
                      <p:cNvPr id="40964" name="Object 3">
                        <a:extLst>
                          <a:ext uri="{FF2B5EF4-FFF2-40B4-BE49-F238E27FC236}">
                            <a16:creationId xmlns:a16="http://schemas.microsoft.com/office/drawing/2014/main" id="{EEAA29AC-AA95-5DC4-9107-795DF00F1429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765582" y="1512147"/>
                        <a:ext cx="2525495" cy="2898281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965" name="Object 4">
            <a:extLst>
              <a:ext uri="{FF2B5EF4-FFF2-40B4-BE49-F238E27FC236}">
                <a16:creationId xmlns:a16="http://schemas.microsoft.com/office/drawing/2014/main" id="{86267B8C-5A7A-29DD-9C81-B70348F63109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167912" y="1491145"/>
          <a:ext cx="2525495" cy="46204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8" imgW="3054417" imgH="374618" progId="Excel.Sheet.12">
                  <p:embed/>
                </p:oleObj>
              </mc:Choice>
              <mc:Fallback>
                <p:oleObj name="Worksheet" r:id="rId8" imgW="3054417" imgH="374618" progId="Excel.Sheet.12">
                  <p:embed/>
                  <p:pic>
                    <p:nvPicPr>
                      <p:cNvPr id="40965" name="Object 4">
                        <a:extLst>
                          <a:ext uri="{FF2B5EF4-FFF2-40B4-BE49-F238E27FC236}">
                            <a16:creationId xmlns:a16="http://schemas.microsoft.com/office/drawing/2014/main" id="{86267B8C-5A7A-29DD-9C81-B70348F63109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167912" y="1491145"/>
                        <a:ext cx="2525495" cy="46204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966" name="Object 5">
            <a:extLst>
              <a:ext uri="{FF2B5EF4-FFF2-40B4-BE49-F238E27FC236}">
                <a16:creationId xmlns:a16="http://schemas.microsoft.com/office/drawing/2014/main" id="{17EA42EE-4B8C-80D5-59F4-A83E1873F802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167913" y="2520244"/>
          <a:ext cx="2786708" cy="201619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10" imgW="3054417" imgH="1847802" progId="Excel.Sheet.12">
                  <p:embed/>
                </p:oleObj>
              </mc:Choice>
              <mc:Fallback>
                <p:oleObj name="Worksheet" r:id="rId10" imgW="3054417" imgH="1847802" progId="Excel.Sheet.12">
                  <p:embed/>
                  <p:pic>
                    <p:nvPicPr>
                      <p:cNvPr id="40966" name="Object 5">
                        <a:extLst>
                          <a:ext uri="{FF2B5EF4-FFF2-40B4-BE49-F238E27FC236}">
                            <a16:creationId xmlns:a16="http://schemas.microsoft.com/office/drawing/2014/main" id="{17EA42EE-4B8C-80D5-59F4-A83E1873F802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167913" y="2520244"/>
                        <a:ext cx="2786708" cy="20161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0967" name="TextBox 6">
            <a:extLst>
              <a:ext uri="{FF2B5EF4-FFF2-40B4-BE49-F238E27FC236}">
                <a16:creationId xmlns:a16="http://schemas.microsoft.com/office/drawing/2014/main" id="{FBFAFB0A-CF22-E60B-CD63-04C5703B55B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31399" y="1185303"/>
            <a:ext cx="1802096" cy="32130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l"/>
              <a:defRPr sz="3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¡"/>
              <a:defRPr sz="27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1"/>
              </a:buClr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1488"/>
              <a:t>Pooling(identifying)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986" name="Picture 4" descr="Diagram&#10;&#10;Description automatically generated">
            <a:extLst>
              <a:ext uri="{FF2B5EF4-FFF2-40B4-BE49-F238E27FC236}">
                <a16:creationId xmlns:a16="http://schemas.microsoft.com/office/drawing/2014/main" id="{3065F5C3-FA27-5F30-2107-BA28708EB9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21415" y="1572528"/>
            <a:ext cx="4840970" cy="25254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50DDAFB0-97FB-F023-4284-9538DA46432A}"/>
              </a:ext>
            </a:extLst>
          </p:cNvPr>
          <p:cNvSpPr txBox="1">
            <a:spLocks/>
          </p:cNvSpPr>
          <p:nvPr/>
        </p:nvSpPr>
        <p:spPr>
          <a:xfrm>
            <a:off x="1639570" y="227085"/>
            <a:ext cx="6804660" cy="945092"/>
          </a:xfrm>
          <a:prstGeom prst="rect">
            <a:avLst/>
          </a:prstGeom>
        </p:spPr>
        <p:txBody>
          <a:bodyPr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+mj-lt"/>
                <a:ea typeface="MS PGothic" panose="020B0600070205080204" pitchFamily="34" charset="-128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ea typeface="MS PGothic" panose="020B0600070205080204" pitchFamily="34" charset="-128"/>
                <a:cs typeface="Arial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ea typeface="MS PGothic" panose="020B0600070205080204" pitchFamily="34" charset="-128"/>
                <a:cs typeface="Arial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ea typeface="MS PGothic" panose="020B0600070205080204" pitchFamily="34" charset="-128"/>
                <a:cs typeface="Arial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ea typeface="MS PGothic" panose="020B0600070205080204" pitchFamily="34" charset="-128"/>
                <a:cs typeface="Arial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cs typeface="Arial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cs typeface="Arial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cs typeface="Arial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cs typeface="Arial" charset="0"/>
              </a:defRPr>
            </a:lvl9pPr>
          </a:lstStyle>
          <a:p>
            <a:pPr>
              <a:defRPr/>
            </a:pPr>
            <a:r>
              <a:rPr lang="en-US" sz="3142" kern="0" dirty="0"/>
              <a:t>Convolution +Pooling</a:t>
            </a:r>
          </a:p>
          <a:p>
            <a:pPr>
              <a:defRPr/>
            </a:pPr>
            <a:endParaRPr lang="en-US" sz="3142" kern="0" dirty="0"/>
          </a:p>
        </p:txBody>
      </p:sp>
      <p:sp>
        <p:nvSpPr>
          <p:cNvPr id="41988" name="TextBox 6">
            <a:extLst>
              <a:ext uri="{FF2B5EF4-FFF2-40B4-BE49-F238E27FC236}">
                <a16:creationId xmlns:a16="http://schemas.microsoft.com/office/drawing/2014/main" id="{945A609B-68AA-3C46-185B-C2F5AB0EF2F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67912" y="790202"/>
            <a:ext cx="3534942" cy="7792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l"/>
              <a:defRPr sz="3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¡"/>
              <a:defRPr sz="27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1"/>
              </a:buClr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1488" b="1">
                <a:solidFill>
                  <a:srgbClr val="FF0000"/>
                </a:solidFill>
              </a:rPr>
              <a:t>-4 is gray because based on the filter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1488" b="1">
                <a:solidFill>
                  <a:srgbClr val="FF0000"/>
                </a:solidFill>
              </a:rPr>
              <a:t>We want to identify   \  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1488" b="1">
                <a:solidFill>
                  <a:srgbClr val="FF0000"/>
                </a:solidFill>
              </a:rPr>
              <a:t>Is it a backslash? 4 yes -4 no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010" name="Picture 2" descr="Diagram&#10;&#10;Description automatically generated">
            <a:extLst>
              <a:ext uri="{FF2B5EF4-FFF2-40B4-BE49-F238E27FC236}">
                <a16:creationId xmlns:a16="http://schemas.microsoft.com/office/drawing/2014/main" id="{5615D8F7-5C75-466D-3472-4FFEB6F14A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8527" y="1513460"/>
            <a:ext cx="3276318" cy="161715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3011" name="Picture 4" descr="Diagram&#10;&#10;Description automatically generated">
            <a:extLst>
              <a:ext uri="{FF2B5EF4-FFF2-40B4-BE49-F238E27FC236}">
                <a16:creationId xmlns:a16="http://schemas.microsoft.com/office/drawing/2014/main" id="{AA246F0A-4B42-086B-0A22-D0AB1012A6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41900" y="1601405"/>
            <a:ext cx="3465336" cy="170641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3012" name="Picture 6" descr="Diagram&#10;&#10;Description automatically generated">
            <a:extLst>
              <a:ext uri="{FF2B5EF4-FFF2-40B4-BE49-F238E27FC236}">
                <a16:creationId xmlns:a16="http://schemas.microsoft.com/office/drawing/2014/main" id="{89646F7D-550D-BA9C-71D7-4103437527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25704" y="3307821"/>
            <a:ext cx="3717361" cy="23627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3013" name="TextBox 9">
            <a:extLst>
              <a:ext uri="{FF2B5EF4-FFF2-40B4-BE49-F238E27FC236}">
                <a16:creationId xmlns:a16="http://schemas.microsoft.com/office/drawing/2014/main" id="{5B62A282-18FF-931C-44CE-E2383F1E6B8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38258" y="276965"/>
            <a:ext cx="6507487" cy="3978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l"/>
              <a:defRPr sz="3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¡"/>
              <a:defRPr sz="27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1"/>
              </a:buClr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1985"/>
              <a:t>Two filters =kernels (each filter extract different features)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034" name="Picture 1">
            <a:extLst>
              <a:ext uri="{FF2B5EF4-FFF2-40B4-BE49-F238E27FC236}">
                <a16:creationId xmlns:a16="http://schemas.microsoft.com/office/drawing/2014/main" id="{B6F77A1D-ED7F-32A1-3B5D-8099C17B0F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80613" y="252025"/>
            <a:ext cx="5145499" cy="23745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4035" name="Picture 3">
            <a:extLst>
              <a:ext uri="{FF2B5EF4-FFF2-40B4-BE49-F238E27FC236}">
                <a16:creationId xmlns:a16="http://schemas.microsoft.com/office/drawing/2014/main" id="{AF413C59-8192-271E-FC0A-DE7DE1CD7B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6625" y="2626568"/>
            <a:ext cx="5174377" cy="242573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4036" name="TextBox 4">
            <a:extLst>
              <a:ext uri="{FF2B5EF4-FFF2-40B4-BE49-F238E27FC236}">
                <a16:creationId xmlns:a16="http://schemas.microsoft.com/office/drawing/2014/main" id="{44E4BE21-BF45-F338-BB38-8FCF6C0B2A1E}"/>
              </a:ext>
            </a:extLst>
          </p:cNvPr>
          <p:cNvSpPr txBox="1">
            <a:spLocks noChangeArrowheads="1"/>
          </p:cNvSpPr>
          <p:nvPr/>
        </p:nvSpPr>
        <p:spPr bwMode="auto">
          <a:xfrm flipH="1">
            <a:off x="7360000" y="1764172"/>
            <a:ext cx="1286375" cy="55027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l"/>
              <a:defRPr sz="3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¡"/>
              <a:defRPr sz="27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1"/>
              </a:buClr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1488"/>
              <a:t>This filter is useless 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058" name="Picture 2" descr="Diagram&#10;&#10;Description automatically generated">
            <a:extLst>
              <a:ext uri="{FF2B5EF4-FFF2-40B4-BE49-F238E27FC236}">
                <a16:creationId xmlns:a16="http://schemas.microsoft.com/office/drawing/2014/main" id="{4D820A74-742E-57B7-E624-F44D95BD92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80613" y="315031"/>
            <a:ext cx="4966982" cy="24939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5059" name="Picture 4" descr="Diagram&#10;&#10;Description automatically generated">
            <a:extLst>
              <a:ext uri="{FF2B5EF4-FFF2-40B4-BE49-F238E27FC236}">
                <a16:creationId xmlns:a16="http://schemas.microsoft.com/office/drawing/2014/main" id="{2A370668-0CA2-380B-FC4D-81A28154E0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95643" y="2646257"/>
            <a:ext cx="4856721" cy="24572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082" name="Picture 12" descr="Diagram&#10;&#10;Description automatically generated with medium confidence">
            <a:extLst>
              <a:ext uri="{FF2B5EF4-FFF2-40B4-BE49-F238E27FC236}">
                <a16:creationId xmlns:a16="http://schemas.microsoft.com/office/drawing/2014/main" id="{3BA022BF-2022-DF1A-6D73-284A0F9A03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2576" y="0"/>
            <a:ext cx="4914477" cy="251499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6083" name="Picture 14" descr="Diagram&#10;&#10;Description automatically generated">
            <a:extLst>
              <a:ext uri="{FF2B5EF4-FFF2-40B4-BE49-F238E27FC236}">
                <a16:creationId xmlns:a16="http://schemas.microsoft.com/office/drawing/2014/main" id="{6BCD2CB8-FDF0-107A-5BE9-A990C22965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88711" y="2509744"/>
            <a:ext cx="5050990" cy="267250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6084" name="TextBox 15">
            <a:extLst>
              <a:ext uri="{FF2B5EF4-FFF2-40B4-BE49-F238E27FC236}">
                <a16:creationId xmlns:a16="http://schemas.microsoft.com/office/drawing/2014/main" id="{898BF346-452B-927F-C58A-4EF64FEE67C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82943" y="773138"/>
            <a:ext cx="2885726" cy="32130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l"/>
              <a:defRPr sz="3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¡"/>
              <a:defRPr sz="27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1"/>
              </a:buClr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1488"/>
              <a:t>Identifying each pattern(feature)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106" name="Picture 4" descr="Diagram&#10;&#10;Description automatically generated">
            <a:extLst>
              <a:ext uri="{FF2B5EF4-FFF2-40B4-BE49-F238E27FC236}">
                <a16:creationId xmlns:a16="http://schemas.microsoft.com/office/drawing/2014/main" id="{4B9F3488-6C90-2E57-332F-0C352E0D91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58409" y="1541025"/>
            <a:ext cx="4966982" cy="25885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002D818B-FF0D-6108-6B22-244CEC76714E}"/>
              </a:ext>
            </a:extLst>
          </p:cNvPr>
          <p:cNvSpPr txBox="1">
            <a:spLocks/>
          </p:cNvSpPr>
          <p:nvPr/>
        </p:nvSpPr>
        <p:spPr>
          <a:xfrm>
            <a:off x="1639570" y="227085"/>
            <a:ext cx="6804660" cy="945092"/>
          </a:xfrm>
          <a:prstGeom prst="rect">
            <a:avLst/>
          </a:prstGeom>
        </p:spPr>
        <p:txBody>
          <a:bodyPr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+mj-lt"/>
                <a:ea typeface="MS PGothic" panose="020B0600070205080204" pitchFamily="34" charset="-128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ea typeface="MS PGothic" panose="020B0600070205080204" pitchFamily="34" charset="-128"/>
                <a:cs typeface="Arial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ea typeface="MS PGothic" panose="020B0600070205080204" pitchFamily="34" charset="-128"/>
                <a:cs typeface="Arial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ea typeface="MS PGothic" panose="020B0600070205080204" pitchFamily="34" charset="-128"/>
                <a:cs typeface="Arial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ea typeface="MS PGothic" panose="020B0600070205080204" pitchFamily="34" charset="-128"/>
                <a:cs typeface="Arial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cs typeface="Arial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cs typeface="Arial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cs typeface="Arial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cs typeface="Arial" charset="0"/>
              </a:defRPr>
            </a:lvl9pPr>
          </a:lstStyle>
          <a:p>
            <a:pPr>
              <a:defRPr/>
            </a:pPr>
            <a:r>
              <a:rPr lang="en-US" sz="3142" kern="0" dirty="0"/>
              <a:t>Encoding matrices (pooling=identifying)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130" name="Picture 2">
            <a:extLst>
              <a:ext uri="{FF2B5EF4-FFF2-40B4-BE49-F238E27FC236}">
                <a16:creationId xmlns:a16="http://schemas.microsoft.com/office/drawing/2014/main" id="{A9793975-1905-CD66-4C94-747DFF3F3D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51717" y="1827178"/>
            <a:ext cx="4512813" cy="372523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C91B25E3-1ED6-07E2-4886-7A54F63C9101}"/>
              </a:ext>
            </a:extLst>
          </p:cNvPr>
          <p:cNvSpPr txBox="1">
            <a:spLocks/>
          </p:cNvSpPr>
          <p:nvPr/>
        </p:nvSpPr>
        <p:spPr>
          <a:xfrm>
            <a:off x="1639570" y="227085"/>
            <a:ext cx="6804660" cy="945092"/>
          </a:xfrm>
          <a:prstGeom prst="rect">
            <a:avLst/>
          </a:prstGeom>
        </p:spPr>
        <p:txBody>
          <a:bodyPr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+mj-lt"/>
                <a:ea typeface="MS PGothic" panose="020B0600070205080204" pitchFamily="34" charset="-128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ea typeface="MS PGothic" panose="020B0600070205080204" pitchFamily="34" charset="-128"/>
                <a:cs typeface="Arial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ea typeface="MS PGothic" panose="020B0600070205080204" pitchFamily="34" charset="-128"/>
                <a:cs typeface="Arial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ea typeface="MS PGothic" panose="020B0600070205080204" pitchFamily="34" charset="-128"/>
                <a:cs typeface="Arial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ea typeface="MS PGothic" panose="020B0600070205080204" pitchFamily="34" charset="-128"/>
                <a:cs typeface="Arial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cs typeface="Arial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cs typeface="Arial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cs typeface="Arial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cs typeface="Arial" charset="0"/>
              </a:defRPr>
            </a:lvl9pPr>
          </a:lstStyle>
          <a:p>
            <a:pPr>
              <a:defRPr/>
            </a:pPr>
            <a:r>
              <a:rPr lang="en-US" sz="3142" kern="0" dirty="0"/>
              <a:t>End of pooling=&gt;converted the image </a:t>
            </a:r>
          </a:p>
          <a:p>
            <a:pPr>
              <a:defRPr/>
            </a:pPr>
            <a:r>
              <a:rPr lang="en-US" sz="3142" kern="0" dirty="0"/>
              <a:t>Into patterns(features) as a matrix of their location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3D222-7BBD-4F55-1350-FB202D7B5E68}"/>
              </a:ext>
            </a:extLst>
          </p:cNvPr>
          <p:cNvSpPr txBox="1">
            <a:spLocks/>
          </p:cNvSpPr>
          <p:nvPr/>
        </p:nvSpPr>
        <p:spPr>
          <a:xfrm>
            <a:off x="1639570" y="227085"/>
            <a:ext cx="6804660" cy="945092"/>
          </a:xfrm>
          <a:prstGeom prst="rect">
            <a:avLst/>
          </a:prstGeom>
        </p:spPr>
        <p:txBody>
          <a:bodyPr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+mj-lt"/>
                <a:ea typeface="MS PGothic" panose="020B0600070205080204" pitchFamily="34" charset="-128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ea typeface="MS PGothic" panose="020B0600070205080204" pitchFamily="34" charset="-128"/>
                <a:cs typeface="Arial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ea typeface="MS PGothic" panose="020B0600070205080204" pitchFamily="34" charset="-128"/>
                <a:cs typeface="Arial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ea typeface="MS PGothic" panose="020B0600070205080204" pitchFamily="34" charset="-128"/>
                <a:cs typeface="Arial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ea typeface="MS PGothic" panose="020B0600070205080204" pitchFamily="34" charset="-128"/>
                <a:cs typeface="Arial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cs typeface="Arial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cs typeface="Arial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cs typeface="Arial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cs typeface="Arial" charset="0"/>
              </a:defRPr>
            </a:lvl9pPr>
          </a:lstStyle>
          <a:p>
            <a:pPr>
              <a:defRPr/>
            </a:pPr>
            <a:r>
              <a:rPr lang="en-US" sz="3142" kern="0" dirty="0"/>
              <a:t>Find the best filter to identify each letter  x o  /  \ </a:t>
            </a:r>
          </a:p>
        </p:txBody>
      </p:sp>
      <p:sp>
        <p:nvSpPr>
          <p:cNvPr id="49155" name="TextBox 2">
            <a:extLst>
              <a:ext uri="{FF2B5EF4-FFF2-40B4-BE49-F238E27FC236}">
                <a16:creationId xmlns:a16="http://schemas.microsoft.com/office/drawing/2014/main" id="{B6D388EC-0A6F-BAC3-B0C0-A1C3E95EF0A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65583" y="1701165"/>
            <a:ext cx="7083991" cy="32130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l"/>
              <a:defRPr sz="3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¡"/>
              <a:defRPr sz="27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1"/>
              </a:buClr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Font typeface="Wingdings" panose="05000000000000000000" pitchFamily="2" charset="2"/>
              <a:buChar char=""/>
              <a:defRPr sz="200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1488"/>
              <a:t>Recall for 2x2 we tried 16 possibilities and we find 2 good filters to identify \ and /  </a:t>
            </a:r>
          </a:p>
        </p:txBody>
      </p:sp>
      <p:pic>
        <p:nvPicPr>
          <p:cNvPr id="49156" name="Picture 3">
            <a:extLst>
              <a:ext uri="{FF2B5EF4-FFF2-40B4-BE49-F238E27FC236}">
                <a16:creationId xmlns:a16="http://schemas.microsoft.com/office/drawing/2014/main" id="{03647093-A70E-FA42-01C9-FE00388033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17256" y="2268220"/>
            <a:ext cx="5293826" cy="1668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178" name="Picture 2">
            <a:extLst>
              <a:ext uri="{FF2B5EF4-FFF2-40B4-BE49-F238E27FC236}">
                <a16:creationId xmlns:a16="http://schemas.microsoft.com/office/drawing/2014/main" id="{8E11182D-29DC-0CB4-3DEB-BE8BBAAC3F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6775" y="941155"/>
            <a:ext cx="6450251" cy="378824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02" name="Picture 4" descr="Diagram&#10;&#10;Description automatically generated">
            <a:extLst>
              <a:ext uri="{FF2B5EF4-FFF2-40B4-BE49-F238E27FC236}">
                <a16:creationId xmlns:a16="http://schemas.microsoft.com/office/drawing/2014/main" id="{6E2CB0D1-1236-5996-5203-D0604CACE8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71073" y="756073"/>
            <a:ext cx="4158403" cy="23312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1203" name="Picture 5">
            <a:extLst>
              <a:ext uri="{FF2B5EF4-FFF2-40B4-BE49-F238E27FC236}">
                <a16:creationId xmlns:a16="http://schemas.microsoft.com/office/drawing/2014/main" id="{BDF75E33-4565-C312-8F46-39A6D2D616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96808" y="2893031"/>
            <a:ext cx="4441931" cy="25674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2B855880-8F1C-8A31-F737-CD7F3AC175C9}"/>
              </a:ext>
            </a:extLst>
          </p:cNvPr>
          <p:cNvSpPr txBox="1">
            <a:spLocks/>
          </p:cNvSpPr>
          <p:nvPr/>
        </p:nvSpPr>
        <p:spPr>
          <a:xfrm>
            <a:off x="1639570" y="126012"/>
            <a:ext cx="6804660" cy="945092"/>
          </a:xfrm>
          <a:prstGeom prst="rect">
            <a:avLst/>
          </a:prstGeom>
        </p:spPr>
        <p:txBody>
          <a:bodyPr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+mj-lt"/>
                <a:ea typeface="MS PGothic" panose="020B0600070205080204" pitchFamily="34" charset="-128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ea typeface="MS PGothic" panose="020B0600070205080204" pitchFamily="34" charset="-128"/>
                <a:cs typeface="Arial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ea typeface="MS PGothic" panose="020B0600070205080204" pitchFamily="34" charset="-128"/>
                <a:cs typeface="Arial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ea typeface="MS PGothic" panose="020B0600070205080204" pitchFamily="34" charset="-128"/>
                <a:cs typeface="Arial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ea typeface="MS PGothic" panose="020B0600070205080204" pitchFamily="34" charset="-128"/>
                <a:cs typeface="Arial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cs typeface="Arial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cs typeface="Arial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cs typeface="Arial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cs typeface="Arial" charset="0"/>
              </a:defRPr>
            </a:lvl9pPr>
          </a:lstStyle>
          <a:p>
            <a:pPr>
              <a:defRPr/>
            </a:pPr>
            <a:r>
              <a:rPr lang="en-US" sz="3142" kern="0" dirty="0"/>
              <a:t>Reconnecting ………(NN classifier)</a:t>
            </a:r>
          </a:p>
          <a:p>
            <a:pPr>
              <a:defRPr/>
            </a:pPr>
            <a:r>
              <a:rPr lang="en-US" sz="3142" kern="0" dirty="0"/>
              <a:t>Compare matrix with every filter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226" name="Picture 2">
            <a:extLst>
              <a:ext uri="{FF2B5EF4-FFF2-40B4-BE49-F238E27FC236}">
                <a16:creationId xmlns:a16="http://schemas.microsoft.com/office/drawing/2014/main" id="{357BCF61-A69D-5653-FF21-B72E0A197D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54601" y="756074"/>
            <a:ext cx="6475191" cy="38197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BCB060F9-4F01-9702-7DED-FE9B543E4070}"/>
              </a:ext>
            </a:extLst>
          </p:cNvPr>
          <p:cNvSpPr txBox="1">
            <a:spLocks/>
          </p:cNvSpPr>
          <p:nvPr/>
        </p:nvSpPr>
        <p:spPr>
          <a:xfrm>
            <a:off x="1513558" y="0"/>
            <a:ext cx="6804660" cy="945092"/>
          </a:xfrm>
          <a:prstGeom prst="rect">
            <a:avLst/>
          </a:prstGeom>
        </p:spPr>
        <p:txBody>
          <a:bodyPr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+mj-lt"/>
                <a:ea typeface="MS PGothic" panose="020B0600070205080204" pitchFamily="34" charset="-128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ea typeface="MS PGothic" panose="020B0600070205080204" pitchFamily="34" charset="-128"/>
                <a:cs typeface="Arial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ea typeface="MS PGothic" panose="020B0600070205080204" pitchFamily="34" charset="-128"/>
                <a:cs typeface="Arial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ea typeface="MS PGothic" panose="020B0600070205080204" pitchFamily="34" charset="-128"/>
                <a:cs typeface="Arial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ea typeface="MS PGothic" panose="020B0600070205080204" pitchFamily="34" charset="-128"/>
                <a:cs typeface="Arial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cs typeface="Arial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cs typeface="Arial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cs typeface="Arial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cs typeface="Arial" charset="0"/>
              </a:defRPr>
            </a:lvl9pPr>
          </a:lstStyle>
          <a:p>
            <a:pPr>
              <a:defRPr/>
            </a:pPr>
            <a:r>
              <a:rPr lang="en-US" sz="3142" kern="0" dirty="0"/>
              <a:t>Input X …feature extraction ..find highest value 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F2CA5861-583D-5F80-EC3E-90472C1E3FE9}"/>
              </a:ext>
            </a:extLst>
          </p:cNvPr>
          <p:cNvSpPr txBox="1">
            <a:spLocks/>
          </p:cNvSpPr>
          <p:nvPr/>
        </p:nvSpPr>
        <p:spPr>
          <a:xfrm>
            <a:off x="1789210" y="4575819"/>
            <a:ext cx="6804660" cy="945092"/>
          </a:xfrm>
          <a:prstGeom prst="rect">
            <a:avLst/>
          </a:prstGeom>
        </p:spPr>
        <p:txBody>
          <a:bodyPr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+mj-lt"/>
                <a:ea typeface="MS PGothic" panose="020B0600070205080204" pitchFamily="34" charset="-128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ea typeface="MS PGothic" panose="020B0600070205080204" pitchFamily="34" charset="-128"/>
                <a:cs typeface="Arial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ea typeface="MS PGothic" panose="020B0600070205080204" pitchFamily="34" charset="-128"/>
                <a:cs typeface="Arial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ea typeface="MS PGothic" panose="020B0600070205080204" pitchFamily="34" charset="-128"/>
                <a:cs typeface="Arial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ea typeface="MS PGothic" panose="020B0600070205080204" pitchFamily="34" charset="-128"/>
                <a:cs typeface="Arial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cs typeface="Arial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cs typeface="Arial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cs typeface="Arial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cs typeface="Arial" charset="0"/>
              </a:defRPr>
            </a:lvl9pPr>
          </a:lstStyle>
          <a:p>
            <a:pPr>
              <a:defRPr/>
            </a:pPr>
            <a:r>
              <a:rPr lang="en-US" sz="3142" kern="0" dirty="0"/>
              <a:t>Computer identifies the left image as an X (highest value 8)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250" name="Picture 6" descr="Diagram&#10;&#10;Description automatically generated">
            <a:extLst>
              <a:ext uri="{FF2B5EF4-FFF2-40B4-BE49-F238E27FC236}">
                <a16:creationId xmlns:a16="http://schemas.microsoft.com/office/drawing/2014/main" id="{2264A893-D3C6-160B-42BE-132D08E83B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68688" y="1386134"/>
            <a:ext cx="6946424" cy="384337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A3889EA7-8132-27A8-B785-3E5E0BFEF142}"/>
              </a:ext>
            </a:extLst>
          </p:cNvPr>
          <p:cNvSpPr txBox="1">
            <a:spLocks/>
          </p:cNvSpPr>
          <p:nvPr/>
        </p:nvSpPr>
        <p:spPr>
          <a:xfrm>
            <a:off x="1567376" y="378037"/>
            <a:ext cx="6804660" cy="945092"/>
          </a:xfrm>
          <a:prstGeom prst="rect">
            <a:avLst/>
          </a:prstGeom>
        </p:spPr>
        <p:txBody>
          <a:bodyPr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+mj-lt"/>
                <a:ea typeface="MS PGothic" panose="020B0600070205080204" pitchFamily="34" charset="-128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ea typeface="MS PGothic" panose="020B0600070205080204" pitchFamily="34" charset="-128"/>
                <a:cs typeface="Arial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ea typeface="MS PGothic" panose="020B0600070205080204" pitchFamily="34" charset="-128"/>
                <a:cs typeface="Arial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ea typeface="MS PGothic" panose="020B0600070205080204" pitchFamily="34" charset="-128"/>
                <a:cs typeface="Arial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ea typeface="MS PGothic" panose="020B0600070205080204" pitchFamily="34" charset="-128"/>
                <a:cs typeface="Arial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cs typeface="Arial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cs typeface="Arial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cs typeface="Arial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cs typeface="Arial" charset="0"/>
              </a:defRPr>
            </a:lvl9pPr>
          </a:lstStyle>
          <a:p>
            <a:pPr>
              <a:defRPr/>
            </a:pPr>
            <a:r>
              <a:rPr lang="en-US" sz="3142" kern="0" dirty="0"/>
              <a:t>Computer identifies the left image as an O (highest value 8)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274" name="Picture 1" descr="Diagram&#10;&#10;Description automatically generated">
            <a:extLst>
              <a:ext uri="{FF2B5EF4-FFF2-40B4-BE49-F238E27FC236}">
                <a16:creationId xmlns:a16="http://schemas.microsoft.com/office/drawing/2014/main" id="{146F9043-8D10-A1E2-3169-24D09881AB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24540" y="819079"/>
            <a:ext cx="7669682" cy="371736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415474C1-45A8-79D7-0E29-77BC78ADA4D6}"/>
              </a:ext>
            </a:extLst>
          </p:cNvPr>
          <p:cNvSpPr txBox="1">
            <a:spLocks/>
          </p:cNvSpPr>
          <p:nvPr/>
        </p:nvSpPr>
        <p:spPr>
          <a:xfrm>
            <a:off x="1513558" y="154890"/>
            <a:ext cx="6804660" cy="945092"/>
          </a:xfrm>
          <a:prstGeom prst="rect">
            <a:avLst/>
          </a:prstGeom>
        </p:spPr>
        <p:txBody>
          <a:bodyPr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+mj-lt"/>
                <a:ea typeface="MS PGothic" panose="020B0600070205080204" pitchFamily="34" charset="-128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ea typeface="MS PGothic" panose="020B0600070205080204" pitchFamily="34" charset="-128"/>
                <a:cs typeface="Arial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ea typeface="MS PGothic" panose="020B0600070205080204" pitchFamily="34" charset="-128"/>
                <a:cs typeface="Arial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ea typeface="MS PGothic" panose="020B0600070205080204" pitchFamily="34" charset="-128"/>
                <a:cs typeface="Arial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ea typeface="MS PGothic" panose="020B0600070205080204" pitchFamily="34" charset="-128"/>
                <a:cs typeface="Arial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cs typeface="Arial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cs typeface="Arial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cs typeface="Arial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cs typeface="Arial" charset="0"/>
              </a:defRPr>
            </a:lvl9pPr>
          </a:lstStyle>
          <a:p>
            <a:pPr>
              <a:defRPr/>
            </a:pPr>
            <a:r>
              <a:rPr lang="en-US" sz="3142" kern="0" dirty="0"/>
              <a:t>Computer identifies the left image as an \ (highest value 8)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298" name="Picture 2">
            <a:extLst>
              <a:ext uri="{FF2B5EF4-FFF2-40B4-BE49-F238E27FC236}">
                <a16:creationId xmlns:a16="http://schemas.microsoft.com/office/drawing/2014/main" id="{74DEB98D-F307-9C4F-68C2-28B5FE74E3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96254" y="1260122"/>
            <a:ext cx="6891293" cy="36543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B8FE2234-DED4-A11B-90EB-663EB6B02079}"/>
              </a:ext>
            </a:extLst>
          </p:cNvPr>
          <p:cNvSpPr txBox="1">
            <a:spLocks/>
          </p:cNvSpPr>
          <p:nvPr/>
        </p:nvSpPr>
        <p:spPr>
          <a:xfrm>
            <a:off x="1513558" y="317656"/>
            <a:ext cx="6804660" cy="945092"/>
          </a:xfrm>
          <a:prstGeom prst="rect">
            <a:avLst/>
          </a:prstGeom>
        </p:spPr>
        <p:txBody>
          <a:bodyPr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+mj-lt"/>
                <a:ea typeface="MS PGothic" panose="020B0600070205080204" pitchFamily="34" charset="-128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ea typeface="MS PGothic" panose="020B0600070205080204" pitchFamily="34" charset="-128"/>
                <a:cs typeface="Arial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ea typeface="MS PGothic" panose="020B0600070205080204" pitchFamily="34" charset="-128"/>
                <a:cs typeface="Arial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ea typeface="MS PGothic" panose="020B0600070205080204" pitchFamily="34" charset="-128"/>
                <a:cs typeface="Arial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ea typeface="MS PGothic" panose="020B0600070205080204" pitchFamily="34" charset="-128"/>
                <a:cs typeface="Arial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cs typeface="Arial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cs typeface="Arial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cs typeface="Arial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cs typeface="Arial" charset="0"/>
              </a:defRPr>
            </a:lvl9pPr>
          </a:lstStyle>
          <a:p>
            <a:pPr>
              <a:defRPr/>
            </a:pPr>
            <a:r>
              <a:rPr lang="en-US" sz="3142" kern="0" dirty="0"/>
              <a:t>Computer identifies the left image as / (highest value 8)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322" name="Picture 2">
            <a:extLst>
              <a:ext uri="{FF2B5EF4-FFF2-40B4-BE49-F238E27FC236}">
                <a16:creationId xmlns:a16="http://schemas.microsoft.com/office/drawing/2014/main" id="{41D8739C-1A52-411F-6FEC-6889D4A5BD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40403" y="787577"/>
            <a:ext cx="6402996" cy="40953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46" name="Title 1">
            <a:extLst>
              <a:ext uri="{FF2B5EF4-FFF2-40B4-BE49-F238E27FC236}">
                <a16:creationId xmlns:a16="http://schemas.microsoft.com/office/drawing/2014/main" id="{A9335DB3-1FC7-9EF3-6E7D-F2A1E594873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513558" y="0"/>
            <a:ext cx="6804660" cy="945092"/>
          </a:xfrm>
        </p:spPr>
        <p:txBody>
          <a:bodyPr/>
          <a:lstStyle/>
          <a:p>
            <a:r>
              <a:rPr lang="en-US" altLang="en-US"/>
              <a:t>Summary (8 filters )</a:t>
            </a:r>
          </a:p>
        </p:txBody>
      </p:sp>
      <p:pic>
        <p:nvPicPr>
          <p:cNvPr id="57347" name="Picture 3">
            <a:extLst>
              <a:ext uri="{FF2B5EF4-FFF2-40B4-BE49-F238E27FC236}">
                <a16:creationId xmlns:a16="http://schemas.microsoft.com/office/drawing/2014/main" id="{0DC61150-67E6-B6E5-07FF-69E7D0C128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48167" y="1008098"/>
            <a:ext cx="7387467" cy="422140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370" name="Picture 4">
            <a:extLst>
              <a:ext uri="{FF2B5EF4-FFF2-40B4-BE49-F238E27FC236}">
                <a16:creationId xmlns:a16="http://schemas.microsoft.com/office/drawing/2014/main" id="{0D9BD4D2-1241-B8C7-5569-5378FEAD94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67136" y="905713"/>
            <a:ext cx="6749530" cy="385912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4BC96496-E612-F1F1-F9AD-10EF11DF6C32}"/>
              </a:ext>
            </a:extLst>
          </p:cNvPr>
          <p:cNvSpPr txBox="1">
            <a:spLocks/>
          </p:cNvSpPr>
          <p:nvPr/>
        </p:nvSpPr>
        <p:spPr>
          <a:xfrm>
            <a:off x="1513558" y="0"/>
            <a:ext cx="6804660" cy="945092"/>
          </a:xfrm>
          <a:prstGeom prst="rect">
            <a:avLst/>
          </a:prstGeom>
        </p:spPr>
        <p:txBody>
          <a:bodyPr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+mj-lt"/>
                <a:ea typeface="MS PGothic" panose="020B0600070205080204" pitchFamily="34" charset="-128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ea typeface="MS PGothic" panose="020B0600070205080204" pitchFamily="34" charset="-128"/>
                <a:cs typeface="Arial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ea typeface="MS PGothic" panose="020B0600070205080204" pitchFamily="34" charset="-128"/>
                <a:cs typeface="Arial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ea typeface="MS PGothic" panose="020B0600070205080204" pitchFamily="34" charset="-128"/>
                <a:cs typeface="Arial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ea typeface="MS PGothic" panose="020B0600070205080204" pitchFamily="34" charset="-128"/>
                <a:cs typeface="Arial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cs typeface="Arial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cs typeface="Arial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cs typeface="Arial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cs typeface="Arial" charset="0"/>
              </a:defRPr>
            </a:lvl9pPr>
          </a:lstStyle>
          <a:p>
            <a:pPr>
              <a:defRPr/>
            </a:pPr>
            <a:r>
              <a:rPr lang="en-US" sz="3142" kern="0" dirty="0"/>
              <a:t>X IS 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394" name="Picture 4">
            <a:extLst>
              <a:ext uri="{FF2B5EF4-FFF2-40B4-BE49-F238E27FC236}">
                <a16:creationId xmlns:a16="http://schemas.microsoft.com/office/drawing/2014/main" id="{037A0E10-EF87-7AEF-3831-67C5D5474B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12949" y="1575153"/>
            <a:ext cx="5321391" cy="24572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481925DF-B2E1-AB69-3DE5-CC92A8933490}"/>
              </a:ext>
            </a:extLst>
          </p:cNvPr>
          <p:cNvSpPr txBox="1">
            <a:spLocks/>
          </p:cNvSpPr>
          <p:nvPr/>
        </p:nvSpPr>
        <p:spPr>
          <a:xfrm>
            <a:off x="774700" y="244475"/>
            <a:ext cx="7543518" cy="945092"/>
          </a:xfrm>
          <a:prstGeom prst="rect">
            <a:avLst/>
          </a:prstGeom>
        </p:spPr>
        <p:txBody>
          <a:bodyPr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+mj-lt"/>
                <a:ea typeface="MS PGothic" panose="020B0600070205080204" pitchFamily="34" charset="-128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ea typeface="MS PGothic" panose="020B0600070205080204" pitchFamily="34" charset="-128"/>
                <a:cs typeface="Arial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ea typeface="MS PGothic" panose="020B0600070205080204" pitchFamily="34" charset="-128"/>
                <a:cs typeface="Arial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ea typeface="MS PGothic" panose="020B0600070205080204" pitchFamily="34" charset="-128"/>
                <a:cs typeface="Arial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ea typeface="MS PGothic" panose="020B0600070205080204" pitchFamily="34" charset="-128"/>
                <a:cs typeface="Arial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cs typeface="Arial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cs typeface="Arial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cs typeface="Arial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Arial" charset="0"/>
                <a:cs typeface="Arial" charset="0"/>
              </a:defRPr>
            </a:lvl9pPr>
          </a:lstStyle>
          <a:p>
            <a:pPr>
              <a:defRPr/>
            </a:pPr>
            <a:r>
              <a:rPr lang="en-US" sz="3142" kern="0" dirty="0"/>
              <a:t>Gradient descent is used to find best filter</a:t>
            </a:r>
          </a:p>
        </p:txBody>
      </p:sp>
      <p:pic>
        <p:nvPicPr>
          <p:cNvPr id="59396" name="Picture 6">
            <a:extLst>
              <a:ext uri="{FF2B5EF4-FFF2-40B4-BE49-F238E27FC236}">
                <a16:creationId xmlns:a16="http://schemas.microsoft.com/office/drawing/2014/main" id="{897F28D6-33F1-ED35-EBDD-EE2D093C45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39571" y="3737051"/>
            <a:ext cx="3993012" cy="18508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7821</TotalTime>
  <Words>1232</Words>
  <Application>Microsoft Office PowerPoint</Application>
  <PresentationFormat>Custom</PresentationFormat>
  <Paragraphs>113</Paragraphs>
  <Slides>44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50" baseType="lpstr">
      <vt:lpstr>Arial</vt:lpstr>
      <vt:lpstr>Calibri</vt:lpstr>
      <vt:lpstr>charter</vt:lpstr>
      <vt:lpstr>Roboto</vt:lpstr>
      <vt:lpstr>1_Office Theme</vt:lpstr>
      <vt:lpstr>Worksheet</vt:lpstr>
      <vt:lpstr>PowerPoint Presentation</vt:lpstr>
      <vt:lpstr>PowerPoint Presentation</vt:lpstr>
      <vt:lpstr>PowerPoint Presentation</vt:lpstr>
      <vt:lpstr>Create a Deep Learning model to perform a cat or dog classification task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Max Pooling Algorithm</vt:lpstr>
      <vt:lpstr>PowerPoint Presentation</vt:lpstr>
      <vt:lpstr>Flatten the feature map</vt:lpstr>
      <vt:lpstr>Smaller screen and smaller keyboard</vt:lpstr>
      <vt:lpstr>Computer Interpretation</vt:lpstr>
      <vt:lpstr>Classifier?</vt:lpstr>
      <vt:lpstr>PowerPoint Presentation</vt:lpstr>
      <vt:lpstr>PowerPoint Presentation</vt:lpstr>
      <vt:lpstr>Selection of filter</vt:lpstr>
      <vt:lpstr>Assume keyboard has only 4 keys / \ x o        Screen is only 3x3 pixels        How will the computer recognize the letter from the image on the screen ?       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Summary (8 filters )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Deep Learning</dc:title>
  <cp:lastModifiedBy>Israel Trejo</cp:lastModifiedBy>
  <cp:revision>32</cp:revision>
  <dcterms:created xsi:type="dcterms:W3CDTF">2021-05-31T22:46:47Z</dcterms:created>
  <dcterms:modified xsi:type="dcterms:W3CDTF">2025-09-28T18:43:14Z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2020-01-27T00:00:00Z</vt:filetime>
  </property>
  <property fmtid="{D5CDD505-2E9C-101B-9397-08002B2CF9AE}" pid="3" name="Creator">
    <vt:lpwstr>Impress</vt:lpwstr>
  </property>
  <property fmtid="{D5CDD505-2E9C-101B-9397-08002B2CF9AE}" pid="4" name="LastSaved">
    <vt:filetime>2020-01-27T00:00:00Z</vt:filetime>
  </property>
</Properties>
</file>