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7" r:id="rId2"/>
    <p:sldId id="262" r:id="rId3"/>
    <p:sldId id="263" r:id="rId4"/>
    <p:sldId id="311" r:id="rId5"/>
    <p:sldId id="312" r:id="rId6"/>
    <p:sldId id="267" r:id="rId7"/>
    <p:sldId id="313" r:id="rId8"/>
    <p:sldId id="314" r:id="rId9"/>
    <p:sldId id="315" r:id="rId10"/>
    <p:sldId id="316" r:id="rId11"/>
    <p:sldId id="277" r:id="rId12"/>
    <p:sldId id="317" r:id="rId13"/>
    <p:sldId id="275" r:id="rId14"/>
    <p:sldId id="282" r:id="rId15"/>
    <p:sldId id="284" r:id="rId16"/>
    <p:sldId id="318" r:id="rId17"/>
    <p:sldId id="319" r:id="rId18"/>
    <p:sldId id="320" r:id="rId19"/>
    <p:sldId id="321" r:id="rId20"/>
    <p:sldId id="265" r:id="rId21"/>
    <p:sldId id="323" r:id="rId22"/>
    <p:sldId id="325" r:id="rId23"/>
    <p:sldId id="286" r:id="rId24"/>
    <p:sldId id="287" r:id="rId25"/>
    <p:sldId id="322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26" r:id="rId43"/>
    <p:sldId id="327" r:id="rId44"/>
    <p:sldId id="328" r:id="rId45"/>
    <p:sldId id="329" r:id="rId46"/>
    <p:sldId id="330" r:id="rId47"/>
    <p:sldId id="331" r:id="rId48"/>
    <p:sldId id="332" r:id="rId49"/>
    <p:sldId id="333" r:id="rId50"/>
    <p:sldId id="334" r:id="rId5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F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5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rael Trejo" userId="94abe8331a44785d" providerId="LiveId" clId="{C64EC362-DB82-4CB5-B399-A3CE20D8262C}"/>
    <pc:docChg chg="undo custSel modSld">
      <pc:chgData name="Israel Trejo" userId="94abe8331a44785d" providerId="LiveId" clId="{C64EC362-DB82-4CB5-B399-A3CE20D8262C}" dt="2025-10-27T04:46:31.646" v="4" actId="1076"/>
      <pc:docMkLst>
        <pc:docMk/>
      </pc:docMkLst>
      <pc:sldChg chg="modSp mod">
        <pc:chgData name="Israel Trejo" userId="94abe8331a44785d" providerId="LiveId" clId="{C64EC362-DB82-4CB5-B399-A3CE20D8262C}" dt="2025-10-27T04:20:35.136" v="2" actId="1076"/>
        <pc:sldMkLst>
          <pc:docMk/>
          <pc:sldMk cId="0" sldId="257"/>
        </pc:sldMkLst>
        <pc:picChg chg="mod">
          <ac:chgData name="Israel Trejo" userId="94abe8331a44785d" providerId="LiveId" clId="{C64EC362-DB82-4CB5-B399-A3CE20D8262C}" dt="2025-10-27T04:20:35.136" v="2" actId="1076"/>
          <ac:picMkLst>
            <pc:docMk/>
            <pc:sldMk cId="0" sldId="257"/>
            <ac:picMk id="3" creationId="{AE5AC9C8-B736-4117-2018-FF5A2001685B}"/>
          </ac:picMkLst>
        </pc:picChg>
      </pc:sldChg>
      <pc:sldChg chg="modSp mod">
        <pc:chgData name="Israel Trejo" userId="94abe8331a44785d" providerId="LiveId" clId="{C64EC362-DB82-4CB5-B399-A3CE20D8262C}" dt="2025-10-23T16:59:51.918" v="0" actId="1076"/>
        <pc:sldMkLst>
          <pc:docMk/>
          <pc:sldMk cId="0" sldId="282"/>
        </pc:sldMkLst>
        <pc:spChg chg="mod">
          <ac:chgData name="Israel Trejo" userId="94abe8331a44785d" providerId="LiveId" clId="{C64EC362-DB82-4CB5-B399-A3CE20D8262C}" dt="2025-10-23T16:59:51.918" v="0" actId="1076"/>
          <ac:spMkLst>
            <pc:docMk/>
            <pc:sldMk cId="0" sldId="282"/>
            <ac:spMk id="10" creationId="{00000000-0000-0000-0000-000000000000}"/>
          </ac:spMkLst>
        </pc:spChg>
      </pc:sldChg>
      <pc:sldChg chg="modSp mod">
        <pc:chgData name="Israel Trejo" userId="94abe8331a44785d" providerId="LiveId" clId="{C64EC362-DB82-4CB5-B399-A3CE20D8262C}" dt="2025-10-27T04:46:31.646" v="4" actId="1076"/>
        <pc:sldMkLst>
          <pc:docMk/>
          <pc:sldMk cId="3685369938" sldId="323"/>
        </pc:sldMkLst>
        <pc:picChg chg="mod">
          <ac:chgData name="Israel Trejo" userId="94abe8331a44785d" providerId="LiveId" clId="{C64EC362-DB82-4CB5-B399-A3CE20D8262C}" dt="2025-10-27T04:46:31.646" v="4" actId="1076"/>
          <ac:picMkLst>
            <pc:docMk/>
            <pc:sldMk cId="3685369938" sldId="323"/>
            <ac:picMk id="2" creationId="{B084CB91-0462-A6A6-1F2B-48616101528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3F9DA-D544-4AE5-AE86-499652E014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3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4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3D6C9-D247-4063-8D2B-AEB523003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824" indent="0" algn="ctr">
              <a:buNone/>
              <a:defRPr sz="1500"/>
            </a:lvl2pPr>
            <a:lvl3pPr marL="685647" indent="0" algn="ctr">
              <a:buNone/>
              <a:defRPr sz="1349"/>
            </a:lvl3pPr>
            <a:lvl4pPr marL="1028471" indent="0" algn="ctr">
              <a:buNone/>
              <a:defRPr sz="1200"/>
            </a:lvl4pPr>
            <a:lvl5pPr marL="1371295" indent="0" algn="ctr">
              <a:buNone/>
              <a:defRPr sz="1200"/>
            </a:lvl5pPr>
            <a:lvl6pPr marL="1714118" indent="0" algn="ctr">
              <a:buNone/>
              <a:defRPr sz="1200"/>
            </a:lvl6pPr>
            <a:lvl7pPr marL="2056942" indent="0" algn="ctr">
              <a:buNone/>
              <a:defRPr sz="1200"/>
            </a:lvl7pPr>
            <a:lvl8pPr marL="2399765" indent="0" algn="ctr">
              <a:buNone/>
              <a:defRPr sz="1200"/>
            </a:lvl8pPr>
            <a:lvl9pPr marL="2742588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023A3-3CC5-42AC-A5A0-A9EF34CB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64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64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348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49F77-C56E-49A5-9748-7C52B6AEB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17523-2951-4793-9233-9143C1E43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D2773-D27C-4765-B0E8-2D408B267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64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64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657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698C-16A5-4884-BD84-1F07BB8C2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4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E61F2-F6C6-4EC4-8168-F008402A1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2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647" indent="0">
              <a:buNone/>
              <a:defRPr sz="1349">
                <a:solidFill>
                  <a:schemeClr val="tx1">
                    <a:tint val="75000"/>
                  </a:schemeClr>
                </a:solidFill>
              </a:defRPr>
            </a:lvl3pPr>
            <a:lvl4pPr marL="102847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29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11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694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997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258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A83EC-4419-4129-A10F-3DB8A1430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64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64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095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91A5C-61A7-4517-8770-1DCCAF6EA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8595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7721-920E-451D-8A5A-824217852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7AB5D-D468-4927-80AC-04CC77B4F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1" y="1369218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D16D4-A4EE-48FA-B00A-6F0CF601A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64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64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18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09566-4C43-42BC-9134-C4624C16D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716" y="178595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AA08B-D1FE-4C42-A3A7-85391660E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1" y="1260873"/>
            <a:ext cx="386834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824" indent="0">
              <a:buNone/>
              <a:defRPr sz="1500" b="1"/>
            </a:lvl2pPr>
            <a:lvl3pPr marL="685647" indent="0">
              <a:buNone/>
              <a:defRPr sz="1349" b="1"/>
            </a:lvl3pPr>
            <a:lvl4pPr marL="1028471" indent="0">
              <a:buNone/>
              <a:defRPr sz="1200" b="1"/>
            </a:lvl4pPr>
            <a:lvl5pPr marL="1371295" indent="0">
              <a:buNone/>
              <a:defRPr sz="1200" b="1"/>
            </a:lvl5pPr>
            <a:lvl6pPr marL="1714118" indent="0">
              <a:buNone/>
              <a:defRPr sz="1200" b="1"/>
            </a:lvl6pPr>
            <a:lvl7pPr marL="2056942" indent="0">
              <a:buNone/>
              <a:defRPr sz="1200" b="1"/>
            </a:lvl7pPr>
            <a:lvl8pPr marL="2399765" indent="0">
              <a:buNone/>
              <a:defRPr sz="1200" b="1"/>
            </a:lvl8pPr>
            <a:lvl9pPr marL="2742588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93804-F74C-44BD-8767-75C411DBF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1" y="1878806"/>
            <a:ext cx="386834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BE2B3F-DE27-4AF0-9C77-83862E8A16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3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824" indent="0">
              <a:buNone/>
              <a:defRPr sz="1500" b="1"/>
            </a:lvl2pPr>
            <a:lvl3pPr marL="685647" indent="0">
              <a:buNone/>
              <a:defRPr sz="1349" b="1"/>
            </a:lvl3pPr>
            <a:lvl4pPr marL="1028471" indent="0">
              <a:buNone/>
              <a:defRPr sz="1200" b="1"/>
            </a:lvl4pPr>
            <a:lvl5pPr marL="1371295" indent="0">
              <a:buNone/>
              <a:defRPr sz="1200" b="1"/>
            </a:lvl5pPr>
            <a:lvl6pPr marL="1714118" indent="0">
              <a:buNone/>
              <a:defRPr sz="1200" b="1"/>
            </a:lvl6pPr>
            <a:lvl7pPr marL="2056942" indent="0">
              <a:buNone/>
              <a:defRPr sz="1200" b="1"/>
            </a:lvl7pPr>
            <a:lvl8pPr marL="2399765" indent="0">
              <a:buNone/>
              <a:defRPr sz="1200" b="1"/>
            </a:lvl8pPr>
            <a:lvl9pPr marL="2742588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803ED6-FA5C-42BE-AD02-725C1CA14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6F1231-C6EE-418B-95BC-A51AE425B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64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64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019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1146B-9C23-46CB-BF79-87BDF8858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92E703-9736-4BEE-855C-50F9BF02D2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3"/>
          </a:xfrm>
          <a:prstGeom prst="rect">
            <a:avLst/>
          </a:prstGeom>
        </p:spPr>
        <p:txBody>
          <a:bodyPr/>
          <a:lstStyle/>
          <a:p>
            <a:pPr defTabSz="685647"/>
            <a:fld id="{C9E90480-6D2B-4DC5-8F84-E5A1E18C92B8}" type="datetimeFigureOut">
              <a:rPr lang="en-US" sz="1349" smtClean="0">
                <a:solidFill>
                  <a:prstClr val="black"/>
                </a:solidFill>
              </a:rPr>
              <a:pPr defTabSz="685647"/>
              <a:t>10/26/2025</a:t>
            </a:fld>
            <a:endParaRPr lang="en-US" sz="1349">
              <a:solidFill>
                <a:prstClr val="black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03929-9BCA-4DA3-842C-5B3A2A75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1" y="4767263"/>
            <a:ext cx="3086100" cy="273843"/>
          </a:xfrm>
          <a:prstGeom prst="rect">
            <a:avLst/>
          </a:prstGeom>
        </p:spPr>
        <p:txBody>
          <a:bodyPr/>
          <a:lstStyle/>
          <a:p>
            <a:pPr defTabSz="685647"/>
            <a:endParaRPr lang="en-US" sz="1349">
              <a:solidFill>
                <a:prstClr val="black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0AD8C-314A-44F0-80B1-F3ECD738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64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64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29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71024-34DA-4B13-BFC6-7E5815769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64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64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346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20FDB-F273-4FDA-8843-71FE3133B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3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D8A2D-26E3-4111-9DE8-96C6A142F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399"/>
            </a:lvl1pPr>
            <a:lvl2pPr>
              <a:defRPr sz="2099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FEA8F-DF81-4C1A-A7B2-021D68A66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824" indent="0">
              <a:buNone/>
              <a:defRPr sz="1050"/>
            </a:lvl2pPr>
            <a:lvl3pPr marL="685647" indent="0">
              <a:buNone/>
              <a:defRPr sz="900"/>
            </a:lvl3pPr>
            <a:lvl4pPr marL="1028471" indent="0">
              <a:buNone/>
              <a:defRPr sz="750"/>
            </a:lvl4pPr>
            <a:lvl5pPr marL="1371295" indent="0">
              <a:buNone/>
              <a:defRPr sz="750"/>
            </a:lvl5pPr>
            <a:lvl6pPr marL="1714118" indent="0">
              <a:buNone/>
              <a:defRPr sz="750"/>
            </a:lvl6pPr>
            <a:lvl7pPr marL="2056942" indent="0">
              <a:buNone/>
              <a:defRPr sz="750"/>
            </a:lvl7pPr>
            <a:lvl8pPr marL="2399765" indent="0">
              <a:buNone/>
              <a:defRPr sz="750"/>
            </a:lvl8pPr>
            <a:lvl9pPr marL="274258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734DF-22E0-4AB9-B1B1-BED86737E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64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64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583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9D5C9-6CC8-449F-A926-7F6BAA18F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3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356DC5-B21D-4C96-A945-A256E84C91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399"/>
            </a:lvl1pPr>
            <a:lvl2pPr marL="342824" indent="0">
              <a:buNone/>
              <a:defRPr sz="2099"/>
            </a:lvl2pPr>
            <a:lvl3pPr marL="685647" indent="0">
              <a:buNone/>
              <a:defRPr sz="1800"/>
            </a:lvl3pPr>
            <a:lvl4pPr marL="1028471" indent="0">
              <a:buNone/>
              <a:defRPr sz="1500"/>
            </a:lvl4pPr>
            <a:lvl5pPr marL="1371295" indent="0">
              <a:buNone/>
              <a:defRPr sz="1500"/>
            </a:lvl5pPr>
            <a:lvl6pPr marL="1714118" indent="0">
              <a:buNone/>
              <a:defRPr sz="1500"/>
            </a:lvl6pPr>
            <a:lvl7pPr marL="2056942" indent="0">
              <a:buNone/>
              <a:defRPr sz="1500"/>
            </a:lvl7pPr>
            <a:lvl8pPr marL="2399765" indent="0">
              <a:buNone/>
              <a:defRPr sz="1500"/>
            </a:lvl8pPr>
            <a:lvl9pPr marL="2742588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DB7F75-9770-4AFB-834D-1C1F4854C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824" indent="0">
              <a:buNone/>
              <a:defRPr sz="1050"/>
            </a:lvl2pPr>
            <a:lvl3pPr marL="685647" indent="0">
              <a:buNone/>
              <a:defRPr sz="900"/>
            </a:lvl3pPr>
            <a:lvl4pPr marL="1028471" indent="0">
              <a:buNone/>
              <a:defRPr sz="750"/>
            </a:lvl4pPr>
            <a:lvl5pPr marL="1371295" indent="0">
              <a:buNone/>
              <a:defRPr sz="750"/>
            </a:lvl5pPr>
            <a:lvl6pPr marL="1714118" indent="0">
              <a:buNone/>
              <a:defRPr sz="750"/>
            </a:lvl6pPr>
            <a:lvl7pPr marL="2056942" indent="0">
              <a:buNone/>
              <a:defRPr sz="750"/>
            </a:lvl7pPr>
            <a:lvl8pPr marL="2399765" indent="0">
              <a:buNone/>
              <a:defRPr sz="750"/>
            </a:lvl8pPr>
            <a:lvl9pPr marL="274258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47443-A469-4D0A-977A-8F63F52F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64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64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959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76EB3-4CB4-42EE-BA12-413DC4CA6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42E597-37ED-491C-9AC6-FE25FA433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3D747-4472-4B75-9994-5D69784D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64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64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105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B699AC-E01A-4929-9445-276F94EEC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AF5439-6ED1-4203-BEE2-4AFDB71C9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5CF74-1DB8-4B55-BDE0-6CDA28821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64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64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823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3439" y="510843"/>
            <a:ext cx="501523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CCCC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9219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BB922-B92C-4BA4-BA65-EA3025B0B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50870" y="4691062"/>
            <a:ext cx="2057400" cy="273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64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64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E5D4FA-4801-4BDA-AFAF-7C5F82906C7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114300"/>
            <a:ext cx="8693944" cy="485060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568DA6-4B78-463E-8077-A701B45E7694}"/>
              </a:ext>
            </a:extLst>
          </p:cNvPr>
          <p:cNvSpPr/>
          <p:nvPr userDrawn="1"/>
        </p:nvSpPr>
        <p:spPr>
          <a:xfrm>
            <a:off x="7204472" y="4842563"/>
            <a:ext cx="1307306" cy="1500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6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4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6D3598-85E1-4F91-A630-D7B2DD6761F7}"/>
              </a:ext>
            </a:extLst>
          </p:cNvPr>
          <p:cNvSpPr txBox="1"/>
          <p:nvPr userDrawn="1"/>
        </p:nvSpPr>
        <p:spPr>
          <a:xfrm flipH="1">
            <a:off x="7204473" y="4827983"/>
            <a:ext cx="2242184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6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COSC 4337 Data Science II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643691-6277-72A9-A123-4633283B046C}"/>
              </a:ext>
            </a:extLst>
          </p:cNvPr>
          <p:cNvSpPr txBox="1"/>
          <p:nvPr userDrawn="1"/>
        </p:nvSpPr>
        <p:spPr>
          <a:xfrm>
            <a:off x="3397330" y="4842563"/>
            <a:ext cx="2763929" cy="231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7" dirty="0">
                <a:solidFill>
                  <a:srgbClr val="FF0000"/>
                </a:solidFill>
              </a:rPr>
              <a:t>Autoencoders</a:t>
            </a:r>
          </a:p>
        </p:txBody>
      </p:sp>
    </p:spTree>
    <p:extLst>
      <p:ext uri="{BB962C8B-B14F-4D97-AF65-F5344CB8AC3E}">
        <p14:creationId xmlns:p14="http://schemas.microsoft.com/office/powerpoint/2010/main" val="3708471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9" r:id="rId12"/>
  </p:sldLayoutIdLst>
  <p:txStyles>
    <p:titleStyle>
      <a:lvl1pPr algn="l" defTabSz="685647" rtl="0" eaLnBrk="1" latinLnBrk="0" hangingPunct="1">
        <a:lnSpc>
          <a:spcPct val="90000"/>
        </a:lnSpc>
        <a:spcBef>
          <a:spcPct val="0"/>
        </a:spcBef>
        <a:buNone/>
        <a:defRPr sz="32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11" indent="-171411" algn="l" defTabSz="68564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14235" indent="-171411" algn="l" defTabSz="68564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059" indent="-171411" algn="l" defTabSz="68564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99882" indent="-171411" algn="l" defTabSz="68564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542706" indent="-171411" algn="l" defTabSz="68564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885530" indent="-171411" algn="l" defTabSz="68564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228353" indent="-171411" algn="l" defTabSz="68564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571177" indent="-171411" algn="l" defTabSz="68564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914001" indent="-171411" algn="l" defTabSz="68564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47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824" algn="l" defTabSz="685647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647" algn="l" defTabSz="685647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8471" algn="l" defTabSz="685647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1295" algn="l" defTabSz="685647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4118" algn="l" defTabSz="685647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6942" algn="l" defTabSz="685647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399765" algn="l" defTabSz="685647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2588" algn="l" defTabSz="685647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04471"/>
            <a:ext cx="3276451" cy="5877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100" kern="1200" spc="-10" dirty="0">
                <a:latin typeface="+mj-lt"/>
                <a:cs typeface="+mj-cs"/>
              </a:rPr>
              <a:t>Autoencoders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69A9031-0C3F-B691-FD6D-5C90619B1AD6}"/>
              </a:ext>
            </a:extLst>
          </p:cNvPr>
          <p:cNvSpPr txBox="1"/>
          <p:nvPr/>
        </p:nvSpPr>
        <p:spPr>
          <a:xfrm>
            <a:off x="480060" y="2154674"/>
            <a:ext cx="3182691" cy="2490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31445" indent="-228600" algn="l" rtl="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Unsupervised</a:t>
            </a:r>
            <a:r>
              <a:rPr lang="en-US" sz="17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learning</a:t>
            </a: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Bef>
                <a:spcPts val="2420"/>
              </a:spcBef>
              <a:buFont typeface="Arial" panose="020B0604020202020204" pitchFamily="34" charset="0"/>
              <a:buChar char="•"/>
            </a:pP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700" indent="-228600" algn="l" rtl="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Representation</a:t>
            </a:r>
            <a:r>
              <a:rPr lang="en-US" sz="1700" kern="1200" spc="-1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learning</a:t>
            </a: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5AC9C8-B736-4117-2018-FF5A200168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6780"/>
          <a:stretch/>
        </p:blipFill>
        <p:spPr>
          <a:xfrm>
            <a:off x="3983776" y="10"/>
            <a:ext cx="5159081" cy="51434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AA3B5A-36F9-26C5-7A14-ACB7034B4B8D}"/>
              </a:ext>
            </a:extLst>
          </p:cNvPr>
          <p:cNvSpPr txBox="1"/>
          <p:nvPr/>
        </p:nvSpPr>
        <p:spPr>
          <a:xfrm>
            <a:off x="685800" y="3154643"/>
            <a:ext cx="3810000" cy="146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Uncover hidden features</a:t>
            </a:r>
          </a:p>
          <a:p>
            <a:pPr algn="l" fontAlgn="ctr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Enhance interpretability</a:t>
            </a:r>
          </a:p>
          <a:p>
            <a:pPr algn="l" fontAlgn="ctr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Aid in transfer learning</a:t>
            </a:r>
          </a:p>
          <a:p>
            <a:pPr algn="l" fontAlgn="ctr"/>
            <a:r>
              <a:rPr lang="en-US" b="1" dirty="0">
                <a:solidFill>
                  <a:srgbClr val="001D35"/>
                </a:solidFill>
                <a:latin typeface="Google Sans"/>
              </a:rPr>
              <a:t>(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building models that learn from new classes.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What is an </a:t>
            </a:r>
            <a:r>
              <a:rPr spc="-10" dirty="0"/>
              <a:t>Autoencoder</a:t>
            </a:r>
            <a:endParaRPr spc="-20" dirty="0"/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38200" y="1276350"/>
            <a:ext cx="683831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Create</a:t>
            </a:r>
            <a:r>
              <a:rPr sz="30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an</a:t>
            </a:r>
            <a:r>
              <a:rPr sz="30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architecture</a:t>
            </a:r>
            <a:r>
              <a:rPr sz="30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sz="30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30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Arial"/>
                <a:cs typeface="Arial"/>
              </a:rPr>
              <a:t>bottleneck, </a:t>
            </a: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which</a:t>
            </a:r>
            <a:r>
              <a:rPr sz="3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ensures a </a:t>
            </a:r>
            <a:r>
              <a:rPr sz="3000" spc="-10" dirty="0">
                <a:solidFill>
                  <a:srgbClr val="FF0000"/>
                </a:solidFill>
                <a:latin typeface="Arial"/>
                <a:cs typeface="Arial"/>
              </a:rPr>
              <a:t>lower-dimensional </a:t>
            </a: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representation</a:t>
            </a:r>
            <a:r>
              <a:rPr sz="30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30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30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original</a:t>
            </a:r>
            <a:r>
              <a:rPr sz="30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Arial"/>
                <a:cs typeface="Arial"/>
              </a:rPr>
              <a:t>data.</a:t>
            </a:r>
            <a:endParaRPr sz="3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D147B4-E8F0-68A4-8A5F-28D1ABDFDF0F}"/>
              </a:ext>
            </a:extLst>
          </p:cNvPr>
          <p:cNvSpPr txBox="1"/>
          <p:nvPr/>
        </p:nvSpPr>
        <p:spPr>
          <a:xfrm>
            <a:off x="2057400" y="2929196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080A13"/>
                </a:solidFill>
                <a:effectLst/>
                <a:latin typeface="Inter"/>
              </a:rPr>
              <a:t>It is one of the technologies and techniques that enable computer systems to solve </a:t>
            </a:r>
            <a:r>
              <a:rPr lang="en-US" b="0" i="0" dirty="0">
                <a:solidFill>
                  <a:srgbClr val="FF0000"/>
                </a:solidFill>
                <a:effectLst/>
                <a:latin typeface="Inter"/>
              </a:rPr>
              <a:t>data compression</a:t>
            </a:r>
            <a:r>
              <a:rPr lang="en-US" b="0" i="0" dirty="0">
                <a:solidFill>
                  <a:srgbClr val="080A13"/>
                </a:solidFill>
                <a:effectLst/>
                <a:latin typeface="Inter"/>
              </a:rPr>
              <a:t> problems more efficiently.</a:t>
            </a:r>
          </a:p>
          <a:p>
            <a:pPr algn="l"/>
            <a:r>
              <a:rPr lang="en-US" dirty="0">
                <a:solidFill>
                  <a:srgbClr val="080A13"/>
                </a:solidFill>
                <a:latin typeface="Inter"/>
                <a:sym typeface="Wingdings" panose="05000000000000000000" pitchFamily="2" charset="2"/>
              </a:rPr>
              <a:t></a:t>
            </a:r>
            <a:r>
              <a:rPr lang="en-US" b="0" i="0" dirty="0">
                <a:solidFill>
                  <a:srgbClr val="080A13"/>
                </a:solidFill>
                <a:effectLst/>
                <a:latin typeface="Inter"/>
              </a:rPr>
              <a:t>solution for reducing noisy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Autoencoders:</a:t>
            </a:r>
            <a:r>
              <a:rPr spc="-145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spc="-20" dirty="0"/>
              <a:t>idea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8372" y="1870885"/>
            <a:ext cx="684530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Create</a:t>
            </a:r>
            <a:r>
              <a:rPr sz="30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an</a:t>
            </a:r>
            <a:r>
              <a:rPr sz="30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architecture</a:t>
            </a:r>
            <a:r>
              <a:rPr sz="30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sz="30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3000" spc="-10" dirty="0">
                <a:solidFill>
                  <a:srgbClr val="FF00FF"/>
                </a:solidFill>
                <a:latin typeface="Arial"/>
                <a:cs typeface="Arial"/>
              </a:rPr>
              <a:t>bottleneck</a:t>
            </a:r>
            <a:r>
              <a:rPr sz="3000" spc="-10" dirty="0">
                <a:solidFill>
                  <a:srgbClr val="FF9900"/>
                </a:solidFill>
                <a:latin typeface="Arial"/>
                <a:cs typeface="Arial"/>
              </a:rPr>
              <a:t>, </a:t>
            </a:r>
            <a:r>
              <a:rPr sz="3000" dirty="0">
                <a:solidFill>
                  <a:srgbClr val="FF9900"/>
                </a:solidFill>
                <a:latin typeface="Arial"/>
                <a:cs typeface="Arial"/>
              </a:rPr>
              <a:t>which</a:t>
            </a:r>
            <a:r>
              <a:rPr sz="3000" spc="-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9900"/>
                </a:solidFill>
                <a:latin typeface="Arial"/>
                <a:cs typeface="Arial"/>
              </a:rPr>
              <a:t>ensures a</a:t>
            </a:r>
            <a:r>
              <a:rPr sz="3000" spc="10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0000FF"/>
                </a:solidFill>
                <a:latin typeface="Arial"/>
                <a:cs typeface="Arial"/>
              </a:rPr>
              <a:t>lower-dimensional </a:t>
            </a:r>
            <a:r>
              <a:rPr sz="3000" dirty="0">
                <a:solidFill>
                  <a:srgbClr val="0000FF"/>
                </a:solidFill>
                <a:latin typeface="Arial"/>
                <a:cs typeface="Arial"/>
              </a:rPr>
              <a:t>representation</a:t>
            </a:r>
            <a:r>
              <a:rPr sz="30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3000" spc="-4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lang="en-US" sz="3000" spc="-40" dirty="0">
                <a:solidFill>
                  <a:srgbClr val="FF0000"/>
                </a:solidFill>
                <a:latin typeface="Arial"/>
                <a:cs typeface="Arial"/>
              </a:rPr>
              <a:t>encoding</a:t>
            </a:r>
            <a:r>
              <a:rPr lang="en-US" sz="3000" spc="-40" dirty="0">
                <a:solidFill>
                  <a:srgbClr val="0000FF"/>
                </a:solidFill>
                <a:latin typeface="Arial"/>
                <a:cs typeface="Arial"/>
              </a:rPr>
              <a:t>) </a:t>
            </a:r>
            <a:r>
              <a:rPr sz="3000" dirty="0">
                <a:solidFill>
                  <a:srgbClr val="FF9900"/>
                </a:solidFill>
                <a:latin typeface="Arial"/>
                <a:cs typeface="Arial"/>
              </a:rPr>
              <a:t>of</a:t>
            </a:r>
            <a:r>
              <a:rPr sz="3000" spc="-3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9900"/>
                </a:solidFill>
                <a:latin typeface="Arial"/>
                <a:cs typeface="Arial"/>
              </a:rPr>
              <a:t>the</a:t>
            </a:r>
            <a:r>
              <a:rPr sz="3000" spc="-3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FF9900"/>
                </a:solidFill>
                <a:latin typeface="Arial"/>
                <a:cs typeface="Arial"/>
              </a:rPr>
              <a:t>original</a:t>
            </a:r>
            <a:r>
              <a:rPr sz="3000" spc="-30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FF9900"/>
                </a:solidFill>
                <a:latin typeface="Arial"/>
                <a:cs typeface="Arial"/>
              </a:rPr>
              <a:t>data.</a:t>
            </a: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CE6DC3-2199-FCC9-CEFE-87B7B3ED4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555" y="285750"/>
            <a:ext cx="6670889" cy="31841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CB17E8-50C5-076C-C96B-F38710E6A979}"/>
              </a:ext>
            </a:extLst>
          </p:cNvPr>
          <p:cNvSpPr txBox="1"/>
          <p:nvPr/>
        </p:nvSpPr>
        <p:spPr>
          <a:xfrm>
            <a:off x="1295400" y="3562350"/>
            <a:ext cx="6477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80A13"/>
                </a:solidFill>
                <a:effectLst/>
                <a:latin typeface="Inter"/>
              </a:rPr>
              <a:t>Reduce dimensionality </a:t>
            </a:r>
            <a:r>
              <a:rPr lang="en-US" b="0" i="0" dirty="0">
                <a:solidFill>
                  <a:srgbClr val="080A13"/>
                </a:solidFill>
                <a:effectLst/>
                <a:latin typeface="Inter"/>
                <a:sym typeface="Wingdings" panose="05000000000000000000" pitchFamily="2" charset="2"/>
              </a:rPr>
              <a:t> Training the network </a:t>
            </a:r>
            <a:r>
              <a:rPr lang="en-US" b="0" i="0" dirty="0">
                <a:solidFill>
                  <a:srgbClr val="080A13"/>
                </a:solidFill>
                <a:effectLst/>
                <a:latin typeface="Inter"/>
              </a:rPr>
              <a:t> to find patterns</a:t>
            </a:r>
          </a:p>
          <a:p>
            <a:endParaRPr lang="en-US" dirty="0">
              <a:solidFill>
                <a:srgbClr val="080A13"/>
              </a:solidFill>
              <a:latin typeface="Inter"/>
            </a:endParaRPr>
          </a:p>
          <a:p>
            <a:endParaRPr lang="en-US" dirty="0">
              <a:solidFill>
                <a:srgbClr val="080A13"/>
              </a:solidFill>
              <a:latin typeface="Inter"/>
            </a:endParaRPr>
          </a:p>
          <a:p>
            <a:r>
              <a:rPr lang="en-US" dirty="0">
                <a:solidFill>
                  <a:srgbClr val="080A13"/>
                </a:solidFill>
                <a:latin typeface="Inter"/>
              </a:rPr>
              <a:t>                                                      Applications</a:t>
            </a:r>
            <a:r>
              <a:rPr lang="en-US" dirty="0">
                <a:solidFill>
                  <a:srgbClr val="080A13"/>
                </a:solidFill>
                <a:latin typeface="Inter"/>
                <a:sym typeface="Wingdings" panose="05000000000000000000" pitchFamily="2" charset="2"/>
              </a:rPr>
              <a:t></a:t>
            </a:r>
            <a:endParaRPr lang="en-US" dirty="0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5F748EAA-8649-20E3-0766-C8067D106762}"/>
              </a:ext>
            </a:extLst>
          </p:cNvPr>
          <p:cNvSpPr txBox="1"/>
          <p:nvPr/>
        </p:nvSpPr>
        <p:spPr>
          <a:xfrm>
            <a:off x="6477000" y="3867150"/>
            <a:ext cx="2272665" cy="161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-10" dirty="0">
                <a:latin typeface="Arial"/>
                <a:cs typeface="Arial"/>
              </a:rPr>
              <a:t>Generation</a:t>
            </a:r>
            <a:endParaRPr sz="1800" dirty="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</a:tabLst>
            </a:pPr>
            <a:r>
              <a:rPr sz="1800" spc="-10" dirty="0">
                <a:latin typeface="Arial"/>
                <a:cs typeface="Arial"/>
              </a:rPr>
              <a:t>Denoising</a:t>
            </a:r>
            <a:endParaRPr sz="1800" dirty="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</a:tabLst>
            </a:pPr>
            <a:r>
              <a:rPr sz="1800" dirty="0">
                <a:latin typeface="Arial"/>
                <a:cs typeface="Arial"/>
              </a:rPr>
              <a:t>Anomaly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detection</a:t>
            </a:r>
            <a:endParaRPr sz="1800" dirty="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</a:tabLst>
            </a:pPr>
            <a:r>
              <a:rPr sz="1800" spc="-25" dirty="0">
                <a:latin typeface="Arial"/>
                <a:cs typeface="Arial"/>
              </a:rPr>
              <a:t>...</a:t>
            </a: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6691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D9EBAE-8D65-AD98-5A76-9D18FC4CD129}"/>
              </a:ext>
            </a:extLst>
          </p:cNvPr>
          <p:cNvSpPr txBox="1"/>
          <p:nvPr/>
        </p:nvSpPr>
        <p:spPr>
          <a:xfrm>
            <a:off x="-36118" y="3857125"/>
            <a:ext cx="4819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Compresses the train-validate-test set input data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D498CA-903A-540E-C0A0-D96A1F2544C0}"/>
              </a:ext>
            </a:extLst>
          </p:cNvPr>
          <p:cNvSpPr txBox="1"/>
          <p:nvPr/>
        </p:nvSpPr>
        <p:spPr>
          <a:xfrm>
            <a:off x="4343400" y="4384261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Reconstructs the data back from its encoded form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91B47A-ACBE-6946-658A-C6822A6932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1" r="630" b="2"/>
          <a:stretch/>
        </p:blipFill>
        <p:spPr>
          <a:xfrm>
            <a:off x="685800" y="57150"/>
            <a:ext cx="6741902" cy="38389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510826-79AE-6A45-88C8-B0BA7447D941}"/>
              </a:ext>
            </a:extLst>
          </p:cNvPr>
          <p:cNvSpPr txBox="1"/>
          <p:nvPr/>
        </p:nvSpPr>
        <p:spPr>
          <a:xfrm>
            <a:off x="2971800" y="3428568"/>
            <a:ext cx="4817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compressed knowledge 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A46590-CAE5-EE0B-FA48-7512E0F66DFA}"/>
              </a:ext>
            </a:extLst>
          </p:cNvPr>
          <p:cNvSpPr txBox="1"/>
          <p:nvPr/>
        </p:nvSpPr>
        <p:spPr>
          <a:xfrm>
            <a:off x="2288246" y="266941"/>
            <a:ext cx="46911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9900"/>
                </a:solidFill>
              </a:rPr>
              <a:t>The</a:t>
            </a:r>
            <a:r>
              <a:rPr lang="en-US" sz="1800" spc="-30" dirty="0">
                <a:solidFill>
                  <a:srgbClr val="FF9900"/>
                </a:solidFill>
              </a:rPr>
              <a:t> </a:t>
            </a:r>
            <a:r>
              <a:rPr lang="en-US" sz="1800" dirty="0">
                <a:solidFill>
                  <a:srgbClr val="FF9900"/>
                </a:solidFill>
              </a:rPr>
              <a:t>latent</a:t>
            </a:r>
            <a:r>
              <a:rPr lang="en-US" sz="1800" spc="-25" dirty="0">
                <a:solidFill>
                  <a:srgbClr val="FF9900"/>
                </a:solidFill>
              </a:rPr>
              <a:t> </a:t>
            </a:r>
            <a:r>
              <a:rPr lang="en-US" sz="1800" dirty="0">
                <a:solidFill>
                  <a:srgbClr val="FF9900"/>
                </a:solidFill>
              </a:rPr>
              <a:t>space</a:t>
            </a:r>
            <a:r>
              <a:rPr lang="en-US" sz="1800" spc="-25" dirty="0">
                <a:solidFill>
                  <a:srgbClr val="FF9900"/>
                </a:solidFill>
              </a:rPr>
              <a:t> </a:t>
            </a:r>
            <a:r>
              <a:rPr lang="en-US" sz="1800" dirty="0">
                <a:solidFill>
                  <a:srgbClr val="FF9900"/>
                </a:solidFill>
              </a:rPr>
              <a:t>keeps</a:t>
            </a:r>
            <a:r>
              <a:rPr lang="en-US" sz="1800" spc="-30" dirty="0">
                <a:solidFill>
                  <a:srgbClr val="FF9900"/>
                </a:solidFill>
              </a:rPr>
              <a:t> </a:t>
            </a:r>
            <a:r>
              <a:rPr lang="en-US" sz="1800" dirty="0">
                <a:solidFill>
                  <a:srgbClr val="FF9900"/>
                </a:solidFill>
              </a:rPr>
              <a:t>the</a:t>
            </a:r>
            <a:r>
              <a:rPr lang="en-US" sz="1800" spc="-25" dirty="0">
                <a:solidFill>
                  <a:srgbClr val="FF9900"/>
                </a:solidFill>
              </a:rPr>
              <a:t> </a:t>
            </a:r>
            <a:r>
              <a:rPr lang="en-US" sz="1800" dirty="0">
                <a:solidFill>
                  <a:srgbClr val="FF9900"/>
                </a:solidFill>
              </a:rPr>
              <a:t>most</a:t>
            </a:r>
            <a:r>
              <a:rPr lang="en-US" sz="1800" spc="-25" dirty="0">
                <a:solidFill>
                  <a:srgbClr val="FF9900"/>
                </a:solidFill>
              </a:rPr>
              <a:t> </a:t>
            </a:r>
            <a:r>
              <a:rPr lang="en-US" sz="1800" spc="-10" dirty="0">
                <a:solidFill>
                  <a:srgbClr val="FF9900"/>
                </a:solidFill>
              </a:rPr>
              <a:t>important </a:t>
            </a:r>
            <a:r>
              <a:rPr lang="en-US" sz="1800" dirty="0">
                <a:solidFill>
                  <a:srgbClr val="FF9900"/>
                </a:solidFill>
              </a:rPr>
              <a:t>attributes</a:t>
            </a:r>
            <a:r>
              <a:rPr lang="en-US" sz="1800" spc="-15" dirty="0">
                <a:solidFill>
                  <a:srgbClr val="FF9900"/>
                </a:solidFill>
              </a:rPr>
              <a:t> </a:t>
            </a:r>
            <a:r>
              <a:rPr lang="en-US" sz="1800" dirty="0">
                <a:solidFill>
                  <a:srgbClr val="FF9900"/>
                </a:solidFill>
              </a:rPr>
              <a:t>of</a:t>
            </a:r>
            <a:r>
              <a:rPr lang="en-US" sz="1800" spc="-15" dirty="0">
                <a:solidFill>
                  <a:srgbClr val="FF9900"/>
                </a:solidFill>
              </a:rPr>
              <a:t> </a:t>
            </a:r>
            <a:r>
              <a:rPr lang="en-US" sz="1800" dirty="0">
                <a:solidFill>
                  <a:srgbClr val="FF9900"/>
                </a:solidFill>
              </a:rPr>
              <a:t>the</a:t>
            </a:r>
            <a:r>
              <a:rPr lang="en-US" sz="1800" spc="-15" dirty="0">
                <a:solidFill>
                  <a:srgbClr val="FF9900"/>
                </a:solidFill>
              </a:rPr>
              <a:t> </a:t>
            </a:r>
            <a:r>
              <a:rPr lang="en-US" sz="1800" dirty="0">
                <a:solidFill>
                  <a:srgbClr val="FF9900"/>
                </a:solidFill>
              </a:rPr>
              <a:t>input</a:t>
            </a:r>
            <a:r>
              <a:rPr lang="en-US" sz="1800" spc="-10" dirty="0">
                <a:solidFill>
                  <a:srgbClr val="FF9900"/>
                </a:solidFill>
              </a:rPr>
              <a:t> </a:t>
            </a:r>
            <a:r>
              <a:rPr lang="en-US" sz="1800" spc="-20" dirty="0">
                <a:solidFill>
                  <a:srgbClr val="FF9900"/>
                </a:solidFill>
              </a:rPr>
              <a:t>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07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512" y="943587"/>
            <a:ext cx="4600276" cy="304822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27609" y="1082837"/>
            <a:ext cx="1854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7609" y="1723262"/>
            <a:ext cx="1854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7609" y="2363688"/>
            <a:ext cx="1854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7609" y="3004113"/>
            <a:ext cx="1854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27609" y="3644539"/>
            <a:ext cx="1854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84484" y="1886590"/>
            <a:ext cx="1854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v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84484" y="2598174"/>
            <a:ext cx="1854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v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13153" y="1082837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13153" y="1723262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13153" y="2363688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13153" y="3004113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13153" y="3644539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098894" y="566613"/>
            <a:ext cx="84264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/>
              <a:t>Input</a:t>
            </a:r>
            <a:r>
              <a:rPr sz="1400" spc="-25" dirty="0"/>
              <a:t> </a:t>
            </a:r>
            <a:r>
              <a:rPr sz="1400" spc="-10" dirty="0"/>
              <a:t>layer</a:t>
            </a:r>
            <a:endParaRPr sz="1400"/>
          </a:p>
        </p:txBody>
      </p:sp>
      <p:sp>
        <p:nvSpPr>
          <p:cNvPr id="16" name="object 16"/>
          <p:cNvSpPr txBox="1"/>
          <p:nvPr/>
        </p:nvSpPr>
        <p:spPr>
          <a:xfrm>
            <a:off x="3155769" y="1403587"/>
            <a:ext cx="8432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Bottleneck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30833" y="599738"/>
            <a:ext cx="9931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Output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layer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38349" y="486550"/>
            <a:ext cx="3197860" cy="3601085"/>
          </a:xfrm>
          <a:custGeom>
            <a:avLst/>
            <a:gdLst/>
            <a:ahLst/>
            <a:cxnLst/>
            <a:rect l="l" t="t" r="r" b="b"/>
            <a:pathLst>
              <a:path w="3197860" h="3601085">
                <a:moveTo>
                  <a:pt x="0" y="0"/>
                </a:moveTo>
                <a:lnTo>
                  <a:pt x="3197399" y="0"/>
                </a:lnTo>
                <a:lnTo>
                  <a:pt x="3197399" y="3600599"/>
                </a:lnTo>
                <a:lnTo>
                  <a:pt x="0" y="36005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28600" y="4201143"/>
            <a:ext cx="7122159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000FF"/>
                </a:solidFill>
                <a:latin typeface="Arial"/>
                <a:cs typeface="Arial"/>
              </a:rPr>
              <a:t>Encoder</a:t>
            </a:r>
            <a:r>
              <a:rPr sz="16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6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00FF"/>
                </a:solidFill>
                <a:latin typeface="Arial"/>
                <a:cs typeface="Arial"/>
              </a:rPr>
              <a:t>compress</a:t>
            </a:r>
            <a:r>
              <a:rPr sz="16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00FF"/>
                </a:solidFill>
                <a:latin typeface="Arial"/>
                <a:cs typeface="Arial"/>
              </a:rPr>
              <a:t>data</a:t>
            </a:r>
            <a:r>
              <a:rPr sz="16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00FF"/>
                </a:solidFill>
                <a:latin typeface="Arial"/>
                <a:cs typeface="Arial"/>
              </a:rPr>
              <a:t>into</a:t>
            </a:r>
            <a:r>
              <a:rPr sz="16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FF00"/>
                </a:solidFill>
                <a:latin typeface="Arial"/>
                <a:cs typeface="Arial"/>
              </a:rPr>
              <a:t>lower-</a:t>
            </a:r>
            <a:r>
              <a:rPr sz="1600" dirty="0">
                <a:solidFill>
                  <a:srgbClr val="00FF00"/>
                </a:solidFill>
                <a:latin typeface="Arial"/>
                <a:cs typeface="Arial"/>
              </a:rPr>
              <a:t>dimensional</a:t>
            </a:r>
            <a:r>
              <a:rPr sz="1600" spc="-3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FF00"/>
                </a:solidFill>
                <a:latin typeface="Arial"/>
                <a:cs typeface="Arial"/>
              </a:rPr>
              <a:t>representation</a:t>
            </a:r>
            <a:endParaRPr lang="en-US" sz="1600" dirty="0">
              <a:solidFill>
                <a:srgbClr val="00FF0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spc="-35" dirty="0">
                <a:solidFill>
                  <a:srgbClr val="00FF00"/>
                </a:solidFill>
                <a:latin typeface="Arial"/>
                <a:cs typeface="Arial"/>
              </a:rPr>
              <a:t>                                                      </a:t>
            </a:r>
            <a:r>
              <a:rPr sz="1600" spc="-3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2400" i="1" dirty="0">
                <a:solidFill>
                  <a:srgbClr val="0000FF"/>
                </a:solidFill>
                <a:latin typeface="Arial"/>
                <a:cs typeface="Arial"/>
              </a:rPr>
              <a:t>latent</a:t>
            </a:r>
            <a:r>
              <a:rPr sz="2400" i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space</a:t>
            </a:r>
            <a:r>
              <a:rPr sz="1600" spc="-10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B0C838-4436-67F1-224C-0F1E2539E362}"/>
              </a:ext>
            </a:extLst>
          </p:cNvPr>
          <p:cNvSpPr txBox="1"/>
          <p:nvPr/>
        </p:nvSpPr>
        <p:spPr>
          <a:xfrm>
            <a:off x="6122393" y="118068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80A13"/>
                </a:solidFill>
                <a:effectLst/>
                <a:latin typeface="Inter"/>
              </a:rPr>
              <a:t>Output is expected to be the </a:t>
            </a:r>
          </a:p>
          <a:p>
            <a:r>
              <a:rPr lang="en-US" b="0" i="0" dirty="0">
                <a:solidFill>
                  <a:srgbClr val="FF0000"/>
                </a:solidFill>
                <a:effectLst/>
                <a:latin typeface="Inter"/>
              </a:rPr>
              <a:t>same</a:t>
            </a:r>
            <a:r>
              <a:rPr lang="en-US" b="0" i="0" dirty="0">
                <a:solidFill>
                  <a:srgbClr val="080A13"/>
                </a:solidFill>
                <a:effectLst/>
                <a:latin typeface="Inter"/>
              </a:rPr>
              <a:t> as the input data </a:t>
            </a:r>
          </a:p>
          <a:p>
            <a:r>
              <a:rPr lang="en-US" b="0" i="0" dirty="0">
                <a:solidFill>
                  <a:srgbClr val="080A13"/>
                </a:solidFill>
                <a:effectLst/>
                <a:latin typeface="Inter"/>
              </a:rPr>
              <a:t>with reduced noise.</a:t>
            </a:r>
            <a:endParaRPr lang="en-US" dirty="0"/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EA436295-EC13-027D-40D5-E50A1BD06A97}"/>
              </a:ext>
            </a:extLst>
          </p:cNvPr>
          <p:cNvSpPr txBox="1"/>
          <p:nvPr/>
        </p:nvSpPr>
        <p:spPr>
          <a:xfrm>
            <a:off x="783410" y="543558"/>
            <a:ext cx="4394200" cy="954236"/>
          </a:xfrm>
          <a:prstGeom prst="rect">
            <a:avLst/>
          </a:prstGeom>
          <a:solidFill>
            <a:srgbClr val="1DEF86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14599"/>
              </a:lnSpc>
              <a:spcBef>
                <a:spcPts val="100"/>
              </a:spcBef>
              <a:tabLst>
                <a:tab pos="379095" algn="l"/>
              </a:tabLst>
            </a:pP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CONDITION:</a:t>
            </a:r>
          </a:p>
          <a:p>
            <a:pPr marL="12065" marR="5080">
              <a:lnSpc>
                <a:spcPct val="114599"/>
              </a:lnSpc>
              <a:spcBef>
                <a:spcPts val="100"/>
              </a:spcBef>
              <a:tabLst>
                <a:tab pos="379095" algn="l"/>
              </a:tabLst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r>
              <a:rPr sz="18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should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have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dependencies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across dimensions</a:t>
            </a:r>
            <a:endParaRPr sz="18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23" name="object 4">
            <a:extLst>
              <a:ext uri="{FF2B5EF4-FFF2-40B4-BE49-F238E27FC236}">
                <a16:creationId xmlns:a16="http://schemas.microsoft.com/office/drawing/2014/main" id="{2D387306-48A6-57C8-9741-40A3DA0055EE}"/>
              </a:ext>
            </a:extLst>
          </p:cNvPr>
          <p:cNvSpPr txBox="1"/>
          <p:nvPr/>
        </p:nvSpPr>
        <p:spPr>
          <a:xfrm>
            <a:off x="2782512" y="3216028"/>
            <a:ext cx="4394200" cy="1591333"/>
          </a:xfrm>
          <a:prstGeom prst="rect">
            <a:avLst/>
          </a:prstGeom>
          <a:solidFill>
            <a:srgbClr val="1DEF86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14599"/>
              </a:lnSpc>
              <a:spcBef>
                <a:spcPts val="100"/>
              </a:spcBef>
              <a:tabLst>
                <a:tab pos="379095" algn="l"/>
              </a:tabLst>
            </a:pP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Bottleneck</a:t>
            </a:r>
          </a:p>
          <a:p>
            <a:pPr marL="12065" marR="5080">
              <a:lnSpc>
                <a:spcPct val="114599"/>
              </a:lnSpc>
              <a:spcBef>
                <a:spcPts val="100"/>
              </a:spcBef>
              <a:tabLst>
                <a:tab pos="379095" algn="l"/>
              </a:tabLst>
            </a:pPr>
            <a:r>
              <a:rPr lang="en-US" dirty="0"/>
              <a:t>prevents the neural network from memorizing the input and overfitting on the </a:t>
            </a:r>
            <a:r>
              <a:rPr lang="en-US" dirty="0" err="1"/>
              <a:t>data</a:t>
            </a:r>
            <a:r>
              <a:rPr lang="en-US" dirty="0" err="1">
                <a:sym typeface="Wingdings" panose="05000000000000000000" pitchFamily="2" charset="2"/>
              </a:rPr>
              <a:t>the</a:t>
            </a:r>
            <a:r>
              <a:rPr lang="en-US" dirty="0">
                <a:sym typeface="Wingdings" panose="05000000000000000000" pitchFamily="2" charset="2"/>
              </a:rPr>
              <a:t> smaller bottleneck the less overfitting</a:t>
            </a:r>
            <a:endParaRPr sz="18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5F20F3-0343-B9F7-4542-587E65FBC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0"/>
            <a:ext cx="7730289" cy="51435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2CE5C1DE-37F0-C8A4-9A0C-E8EA807BE398}"/>
              </a:ext>
            </a:extLst>
          </p:cNvPr>
          <p:cNvSpPr txBox="1"/>
          <p:nvPr/>
        </p:nvSpPr>
        <p:spPr>
          <a:xfrm>
            <a:off x="6705600" y="4476750"/>
            <a:ext cx="2191751" cy="304314"/>
          </a:xfrm>
          <a:prstGeom prst="rect">
            <a:avLst/>
          </a:prstGeom>
          <a:solidFill>
            <a:srgbClr val="1DEF86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14599"/>
              </a:lnSpc>
              <a:spcBef>
                <a:spcPts val="100"/>
              </a:spcBef>
              <a:tabLst>
                <a:tab pos="379095" algn="l"/>
              </a:tabLst>
            </a:pPr>
            <a:r>
              <a:rPr sz="1800" dirty="0" err="1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lang="en-US" dirty="0" err="1">
                <a:solidFill>
                  <a:srgbClr val="FF0000"/>
                </a:solidFill>
                <a:latin typeface="Arial"/>
                <a:cs typeface="Arial"/>
              </a:rPr>
              <a:t>ownsampling</a:t>
            </a:r>
            <a:endParaRPr sz="18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8616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71DD91A8-2DBC-A880-7289-9357A95355C0}"/>
              </a:ext>
            </a:extLst>
          </p:cNvPr>
          <p:cNvSpPr txBox="1"/>
          <p:nvPr/>
        </p:nvSpPr>
        <p:spPr>
          <a:xfrm>
            <a:off x="609600" y="133350"/>
            <a:ext cx="2191751" cy="304314"/>
          </a:xfrm>
          <a:prstGeom prst="rect">
            <a:avLst/>
          </a:prstGeom>
          <a:solidFill>
            <a:srgbClr val="1DEF86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14599"/>
              </a:lnSpc>
              <a:spcBef>
                <a:spcPts val="100"/>
              </a:spcBef>
              <a:tabLst>
                <a:tab pos="379095" algn="l"/>
              </a:tabLst>
            </a:pP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Up sampling</a:t>
            </a:r>
            <a:endParaRPr sz="18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71E9D2-37BC-900A-4DA9-689B511C6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1711"/>
            <a:ext cx="9144000" cy="404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4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23A249-65C4-DF5E-B62E-8E5D6A690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6265"/>
            <a:ext cx="2438400" cy="1684544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FF9DE7D5-7226-673E-F829-5B6A425ECDDD}"/>
              </a:ext>
            </a:extLst>
          </p:cNvPr>
          <p:cNvSpPr txBox="1"/>
          <p:nvPr/>
        </p:nvSpPr>
        <p:spPr>
          <a:xfrm>
            <a:off x="609600" y="133350"/>
            <a:ext cx="5715000" cy="304314"/>
          </a:xfrm>
          <a:prstGeom prst="rect">
            <a:avLst/>
          </a:prstGeom>
          <a:solidFill>
            <a:srgbClr val="1DEF86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14599"/>
              </a:lnSpc>
              <a:spcBef>
                <a:spcPts val="100"/>
              </a:spcBef>
              <a:tabLst>
                <a:tab pos="379095" algn="l"/>
              </a:tabLst>
            </a:pP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Up sampling by nearest neighbor interpolation</a:t>
            </a:r>
            <a:endParaRPr sz="18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6AE7BB-F76B-EC5E-514D-72DD2D504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171700"/>
            <a:ext cx="3748141" cy="2971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F60382-DC7F-3278-707C-212F02CB7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927" y="819150"/>
            <a:ext cx="4167065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96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E7C392-9AE8-9D41-8BEC-51306825A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4526"/>
            <a:ext cx="9144000" cy="32344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041209-3C99-4B72-6EC9-9C5A62DF0DCC}"/>
              </a:ext>
            </a:extLst>
          </p:cNvPr>
          <p:cNvSpPr txBox="1"/>
          <p:nvPr/>
        </p:nvSpPr>
        <p:spPr>
          <a:xfrm>
            <a:off x="685800" y="205084"/>
            <a:ext cx="7086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C556E"/>
                </a:solidFill>
                <a:effectLst/>
                <a:latin typeface="Inter"/>
              </a:rPr>
              <a:t>An image multiplied by a factor of 10 using different techniques (ordered by growing complexity).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C77402-A266-AF88-E0DC-ED9925F6FCF7}"/>
              </a:ext>
            </a:extLst>
          </p:cNvPr>
          <p:cNvSpPr txBox="1"/>
          <p:nvPr/>
        </p:nvSpPr>
        <p:spPr>
          <a:xfrm>
            <a:off x="2057400" y="4476750"/>
            <a:ext cx="533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C556E"/>
                </a:solidFill>
                <a:effectLst/>
                <a:latin typeface="Inter"/>
              </a:rPr>
              <a:t>Comparison of the </a:t>
            </a:r>
            <a:r>
              <a:rPr lang="en-US" b="0" i="0" dirty="0" err="1">
                <a:solidFill>
                  <a:srgbClr val="3C556E"/>
                </a:solidFill>
                <a:effectLst/>
                <a:latin typeface="Inter"/>
              </a:rPr>
              <a:t>upsampled</a:t>
            </a:r>
            <a:r>
              <a:rPr lang="en-US" b="0" i="0" dirty="0">
                <a:solidFill>
                  <a:srgbClr val="3C556E"/>
                </a:solidFill>
                <a:effectLst/>
                <a:latin typeface="Inter"/>
              </a:rPr>
              <a:t> images' resolution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689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512" y="943587"/>
            <a:ext cx="4600276" cy="304822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14909" y="1082837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4909" y="1723262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4909" y="2363688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4909" y="3004113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4909" y="3644539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84484" y="1886590"/>
            <a:ext cx="1854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v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84484" y="2598174"/>
            <a:ext cx="1854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v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25853" y="1082837"/>
            <a:ext cx="2165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25853" y="1723262"/>
            <a:ext cx="2165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25853" y="2363688"/>
            <a:ext cx="2165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25853" y="3004113"/>
            <a:ext cx="2165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25853" y="3644539"/>
            <a:ext cx="2165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086194" y="566613"/>
            <a:ext cx="85534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/>
              <a:t>Input</a:t>
            </a:r>
            <a:r>
              <a:rPr sz="1400" spc="-25" dirty="0"/>
              <a:t> </a:t>
            </a:r>
            <a:r>
              <a:rPr sz="1400" spc="-10" dirty="0"/>
              <a:t>layer</a:t>
            </a:r>
            <a:endParaRPr sz="1400"/>
          </a:p>
        </p:txBody>
      </p:sp>
      <p:sp>
        <p:nvSpPr>
          <p:cNvPr id="16" name="object 16"/>
          <p:cNvSpPr txBox="1"/>
          <p:nvPr/>
        </p:nvSpPr>
        <p:spPr>
          <a:xfrm>
            <a:off x="3155769" y="1403587"/>
            <a:ext cx="8432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Bottleneck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43533" y="599738"/>
            <a:ext cx="980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Output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layer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071949" y="486550"/>
            <a:ext cx="3197860" cy="3601085"/>
          </a:xfrm>
          <a:custGeom>
            <a:avLst/>
            <a:gdLst/>
            <a:ahLst/>
            <a:cxnLst/>
            <a:rect l="l" t="t" r="r" b="b"/>
            <a:pathLst>
              <a:path w="3197860" h="3601085">
                <a:moveTo>
                  <a:pt x="0" y="0"/>
                </a:moveTo>
                <a:lnTo>
                  <a:pt x="3197399" y="0"/>
                </a:lnTo>
                <a:lnTo>
                  <a:pt x="3197399" y="3600599"/>
                </a:lnTo>
                <a:lnTo>
                  <a:pt x="0" y="36005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926775" y="4289581"/>
            <a:ext cx="6421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FF"/>
                </a:solidFill>
                <a:latin typeface="Arial"/>
                <a:cs typeface="Arial"/>
              </a:rPr>
              <a:t>Decoder</a:t>
            </a:r>
            <a:r>
              <a:rPr sz="1800" b="1" spc="-30" dirty="0">
                <a:solidFill>
                  <a:srgbClr val="FF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FF"/>
                </a:solidFill>
                <a:latin typeface="Arial"/>
                <a:cs typeface="Arial"/>
              </a:rPr>
              <a:t>=</a:t>
            </a:r>
            <a:r>
              <a:rPr sz="1800" spc="-25" dirty="0">
                <a:solidFill>
                  <a:srgbClr val="FF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FF"/>
                </a:solidFill>
                <a:latin typeface="Arial"/>
                <a:cs typeface="Arial"/>
              </a:rPr>
              <a:t>Decompress</a:t>
            </a:r>
            <a:r>
              <a:rPr sz="1800" spc="-20" dirty="0">
                <a:solidFill>
                  <a:srgbClr val="FF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FF00"/>
                </a:solidFill>
                <a:latin typeface="Arial"/>
                <a:cs typeface="Arial"/>
              </a:rPr>
              <a:t>representation</a:t>
            </a:r>
            <a:r>
              <a:rPr sz="1800" spc="-2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FF"/>
                </a:solidFill>
                <a:latin typeface="Arial"/>
                <a:cs typeface="Arial"/>
              </a:rPr>
              <a:t>back</a:t>
            </a:r>
            <a:r>
              <a:rPr sz="1800" spc="-25" dirty="0">
                <a:solidFill>
                  <a:srgbClr val="FF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FF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FF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FF"/>
                </a:solidFill>
                <a:latin typeface="Arial"/>
                <a:cs typeface="Arial"/>
              </a:rPr>
              <a:t>original</a:t>
            </a:r>
            <a:r>
              <a:rPr sz="1800" spc="-20" dirty="0">
                <a:solidFill>
                  <a:srgbClr val="FF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00FF"/>
                </a:solidFill>
                <a:latin typeface="Arial"/>
                <a:cs typeface="Arial"/>
              </a:rPr>
              <a:t>domain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8AC722-C2F5-DFFF-94AB-29195CE3CA7D}"/>
              </a:ext>
            </a:extLst>
          </p:cNvPr>
          <p:cNvSpPr txBox="1"/>
          <p:nvPr/>
        </p:nvSpPr>
        <p:spPr>
          <a:xfrm>
            <a:off x="762000" y="209550"/>
            <a:ext cx="70104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6 types of autoencoders</a:t>
            </a:r>
          </a:p>
          <a:p>
            <a:endParaRPr lang="en-US" dirty="0"/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Undercomplete (unsupervised/simple) autoencoders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Sparse autoencoders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Contractive autoencoders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Denoising autoencoders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Variational Autoencoders (</a:t>
            </a:r>
            <a:r>
              <a:rPr lang="en-US" dirty="0">
                <a:solidFill>
                  <a:srgbClr val="FF0000"/>
                </a:solidFill>
              </a:rPr>
              <a:t>for generative modelling</a:t>
            </a:r>
            <a:r>
              <a:rPr lang="en-US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Deep</a:t>
            </a:r>
            <a:r>
              <a:rPr lang="en-US" sz="1800" spc="-155" dirty="0"/>
              <a:t> </a:t>
            </a:r>
            <a:r>
              <a:rPr lang="en-US" sz="1800" spc="-10" dirty="0"/>
              <a:t>Autoencoder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00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/>
              <a:t>PCA</a:t>
            </a:r>
            <a:r>
              <a:rPr sz="2500" spc="-150" dirty="0"/>
              <a:t> </a:t>
            </a:r>
            <a:r>
              <a:rPr sz="2500" dirty="0"/>
              <a:t>vs</a:t>
            </a:r>
            <a:r>
              <a:rPr sz="2500" spc="-10" dirty="0"/>
              <a:t> Encoders</a:t>
            </a:r>
            <a:endParaRPr sz="2500" dirty="0"/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5249" y="1362305"/>
            <a:ext cx="4851400" cy="22817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267970" indent="-367030">
              <a:lnSpc>
                <a:spcPct val="114599"/>
              </a:lnSpc>
              <a:spcBef>
                <a:spcPts val="975"/>
              </a:spcBef>
              <a:buChar char="●"/>
              <a:tabLst>
                <a:tab pos="379095" algn="l"/>
              </a:tabLst>
            </a:pPr>
            <a:r>
              <a:rPr dirty="0">
                <a:latin typeface="Arial"/>
                <a:cs typeface="Arial"/>
              </a:rPr>
              <a:t>Both perform dimensionality reduction</a:t>
            </a:r>
          </a:p>
          <a:p>
            <a:pPr marL="379095" marR="267970" indent="-367030">
              <a:lnSpc>
                <a:spcPct val="114599"/>
              </a:lnSpc>
              <a:spcBef>
                <a:spcPts val="975"/>
              </a:spcBef>
              <a:buChar char="●"/>
              <a:tabLst>
                <a:tab pos="379095" algn="l"/>
              </a:tabLst>
            </a:pPr>
            <a:r>
              <a:rPr dirty="0">
                <a:latin typeface="Arial"/>
                <a:cs typeface="Arial"/>
              </a:rPr>
              <a:t>PCA learns linear relationships</a:t>
            </a:r>
          </a:p>
          <a:p>
            <a:pPr marL="379095" marR="267970" indent="-367030">
              <a:lnSpc>
                <a:spcPct val="114599"/>
              </a:lnSpc>
              <a:spcBef>
                <a:spcPts val="975"/>
              </a:spcBef>
              <a:buChar char="●"/>
              <a:tabLst>
                <a:tab pos="379095" algn="l"/>
              </a:tabLst>
            </a:pPr>
            <a:r>
              <a:rPr dirty="0">
                <a:latin typeface="Arial"/>
                <a:cs typeface="Arial"/>
              </a:rPr>
              <a:t>Encoders can learn non-linear relationships</a:t>
            </a:r>
          </a:p>
          <a:p>
            <a:pPr marL="379095" marR="267970" indent="-367030">
              <a:lnSpc>
                <a:spcPct val="114599"/>
              </a:lnSpc>
              <a:spcBef>
                <a:spcPts val="975"/>
              </a:spcBef>
              <a:buChar char="●"/>
              <a:tabLst>
                <a:tab pos="379095" algn="l"/>
              </a:tabLst>
            </a:pPr>
            <a:r>
              <a:rPr dirty="0">
                <a:latin typeface="Arial"/>
                <a:cs typeface="Arial"/>
              </a:rPr>
              <a:t>Encoder = PCA, if it uses linear activation </a:t>
            </a:r>
            <a:r>
              <a:rPr sz="1800" spc="-10" dirty="0">
                <a:latin typeface="Arial"/>
                <a:cs typeface="Arial"/>
              </a:rPr>
              <a:t>functions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88E6F3-E812-4E4F-EB1B-7D6C2E229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2114552"/>
            <a:ext cx="3833513" cy="24904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/>
              <a:t>How</a:t>
            </a:r>
            <a:r>
              <a:rPr sz="2500" spc="-25" dirty="0"/>
              <a:t> </a:t>
            </a:r>
            <a:r>
              <a:rPr sz="2500" dirty="0"/>
              <a:t>can</a:t>
            </a:r>
            <a:r>
              <a:rPr sz="2500" spc="-15" dirty="0"/>
              <a:t> </a:t>
            </a:r>
            <a:r>
              <a:rPr sz="2500" dirty="0"/>
              <a:t>we</a:t>
            </a:r>
            <a:r>
              <a:rPr sz="2500" spc="-15" dirty="0"/>
              <a:t> </a:t>
            </a:r>
            <a:r>
              <a:rPr sz="2500" dirty="0"/>
              <a:t>train</a:t>
            </a:r>
            <a:r>
              <a:rPr sz="2500" spc="-15" dirty="0"/>
              <a:t> </a:t>
            </a:r>
            <a:r>
              <a:rPr sz="2500" dirty="0"/>
              <a:t>an</a:t>
            </a:r>
            <a:r>
              <a:rPr sz="2500" spc="-15" dirty="0"/>
              <a:t> </a:t>
            </a:r>
            <a:r>
              <a:rPr sz="2500" spc="-10" dirty="0"/>
              <a:t>autoencoder?</a:t>
            </a:r>
            <a:endParaRPr sz="2500"/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5249" y="1362305"/>
            <a:ext cx="3338195" cy="737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>
                <a:latin typeface="Arial"/>
                <a:cs typeface="Arial"/>
              </a:rPr>
              <a:t>Backpropagation</a:t>
            </a:r>
          </a:p>
          <a:p>
            <a:pPr marL="379095" indent="-366395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</a:tabLst>
            </a:pPr>
            <a:r>
              <a:rPr sz="1800" dirty="0">
                <a:latin typeface="Arial"/>
                <a:cs typeface="Arial"/>
              </a:rPr>
              <a:t>Minimise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reconstruction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error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22450" y="2663687"/>
            <a:ext cx="2876550" cy="995680"/>
            <a:chOff x="3022450" y="2663687"/>
            <a:chExt cx="2876550" cy="9956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22450" y="2668450"/>
              <a:ext cx="2876549" cy="9905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043699" y="2863674"/>
              <a:ext cx="669290" cy="668020"/>
            </a:xfrm>
            <a:custGeom>
              <a:avLst/>
              <a:gdLst/>
              <a:ahLst/>
              <a:cxnLst/>
              <a:rect l="l" t="t" r="r" b="b"/>
              <a:pathLst>
                <a:path w="669289" h="668020">
                  <a:moveTo>
                    <a:pt x="0" y="0"/>
                  </a:moveTo>
                  <a:lnTo>
                    <a:pt x="668999" y="0"/>
                  </a:lnTo>
                  <a:lnTo>
                    <a:pt x="668999" y="667499"/>
                  </a:lnTo>
                  <a:lnTo>
                    <a:pt x="0" y="667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34299" y="2668449"/>
              <a:ext cx="669290" cy="862965"/>
            </a:xfrm>
            <a:custGeom>
              <a:avLst/>
              <a:gdLst/>
              <a:ahLst/>
              <a:cxnLst/>
              <a:rect l="l" t="t" r="r" b="b"/>
              <a:pathLst>
                <a:path w="669289" h="862964">
                  <a:moveTo>
                    <a:pt x="0" y="0"/>
                  </a:moveTo>
                  <a:lnTo>
                    <a:pt x="668999" y="0"/>
                  </a:lnTo>
                  <a:lnTo>
                    <a:pt x="668999" y="862799"/>
                  </a:lnTo>
                  <a:lnTo>
                    <a:pt x="0" y="862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209528" y="3755880"/>
            <a:ext cx="1321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Original</a:t>
            </a:r>
            <a:r>
              <a:rPr sz="18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12989" y="3755880"/>
            <a:ext cx="2007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9900"/>
                </a:solidFill>
                <a:latin typeface="Arial"/>
                <a:cs typeface="Arial"/>
              </a:rPr>
              <a:t>Reconstructed</a:t>
            </a:r>
            <a:r>
              <a:rPr sz="1800" spc="-6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9900"/>
                </a:solidFill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580765"/>
            <a:ext cx="641159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en-US" sz="2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Sparse autoencoders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5249" y="1362305"/>
            <a:ext cx="5154930" cy="737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latin typeface="Arial"/>
                <a:cs typeface="Arial"/>
              </a:rPr>
              <a:t>Sensitive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enough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input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data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reconstruct</a:t>
            </a:r>
            <a:r>
              <a:rPr sz="1800" spc="-25" dirty="0">
                <a:latin typeface="Arial"/>
                <a:cs typeface="Arial"/>
              </a:rPr>
              <a:t> it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</a:tabLst>
            </a:pPr>
            <a:r>
              <a:rPr sz="1800" dirty="0">
                <a:latin typeface="Arial"/>
                <a:cs typeface="Arial"/>
              </a:rPr>
              <a:t>Insensitive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enough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input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data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not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overfit</a:t>
            </a:r>
            <a:r>
              <a:rPr sz="1800" spc="-25" dirty="0">
                <a:latin typeface="Arial"/>
                <a:cs typeface="Arial"/>
              </a:rPr>
              <a:t> it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2647950"/>
            <a:ext cx="6992900" cy="6696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D66CDF-1F47-520C-F439-016102EA8CFA}"/>
              </a:ext>
            </a:extLst>
          </p:cNvPr>
          <p:cNvSpPr txBox="1"/>
          <p:nvPr/>
        </p:nvSpPr>
        <p:spPr>
          <a:xfrm>
            <a:off x="2133600" y="3638550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Sparse autoencoders work by penalizing the activation of some neurons in hidden layers (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not on </a:t>
            </a:r>
            <a:r>
              <a:rPr lang="en-US" b="0" i="0" dirty="0">
                <a:solidFill>
                  <a:srgbClr val="080A13"/>
                </a:solidFill>
                <a:effectLst/>
                <a:highlight>
                  <a:srgbClr val="FFFF00"/>
                </a:highlight>
                <a:latin typeface="Inter"/>
              </a:rPr>
              <a:t>the size of the weights at the nodes</a:t>
            </a:r>
            <a:r>
              <a:rPr lang="en-US" b="0" i="0" dirty="0">
                <a:solidFill>
                  <a:srgbClr val="080A13"/>
                </a:solidFill>
                <a:effectLst/>
                <a:latin typeface="Inter"/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70586-C41E-69BD-25D4-EC0670698459}"/>
              </a:ext>
            </a:extLst>
          </p:cNvPr>
          <p:cNvSpPr txBox="1"/>
          <p:nvPr/>
        </p:nvSpPr>
        <p:spPr>
          <a:xfrm>
            <a:off x="2514600" y="21723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80A13"/>
                </a:solidFill>
                <a:effectLst/>
                <a:highlight>
                  <a:srgbClr val="FFFF00"/>
                </a:highlight>
                <a:latin typeface="Inter"/>
              </a:rPr>
              <a:t>The loss function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DB1D7D-B37E-23C9-2B9C-7D9BBDE91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843" y="58508"/>
            <a:ext cx="5693377" cy="37611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B8D89F-453E-A702-FFC5-F01321034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748" y="3819621"/>
            <a:ext cx="1981252" cy="4191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B3259F-CBE6-F992-F2F0-8F3700545E6D}"/>
              </a:ext>
            </a:extLst>
          </p:cNvPr>
          <p:cNvSpPr txBox="1"/>
          <p:nvPr/>
        </p:nvSpPr>
        <p:spPr>
          <a:xfrm>
            <a:off x="1219200" y="4214239"/>
            <a:ext cx="792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80A13"/>
                </a:solidFill>
                <a:effectLst/>
                <a:latin typeface="Inter"/>
              </a:rPr>
              <a:t>Where </a:t>
            </a:r>
            <a:r>
              <a:rPr lang="en-US" b="0" i="1" dirty="0">
                <a:solidFill>
                  <a:srgbClr val="080A13"/>
                </a:solidFill>
                <a:effectLst/>
                <a:latin typeface="Inter"/>
              </a:rPr>
              <a:t>h</a:t>
            </a:r>
            <a:r>
              <a:rPr lang="en-US" b="0" i="0" dirty="0">
                <a:solidFill>
                  <a:srgbClr val="080A13"/>
                </a:solidFill>
                <a:effectLst/>
                <a:latin typeface="Inter"/>
              </a:rPr>
              <a:t> represents the hidden layer,</a:t>
            </a:r>
            <a:r>
              <a:rPr lang="en-US" b="0" i="1" dirty="0">
                <a:solidFill>
                  <a:srgbClr val="080A13"/>
                </a:solidFill>
                <a:effectLst/>
                <a:latin typeface="Inter"/>
              </a:rPr>
              <a:t> </a:t>
            </a:r>
            <a:r>
              <a:rPr lang="en-US" b="0" i="1" dirty="0" err="1">
                <a:solidFill>
                  <a:srgbClr val="080A13"/>
                </a:solidFill>
                <a:effectLst/>
                <a:latin typeface="Inter"/>
              </a:rPr>
              <a:t>i</a:t>
            </a:r>
            <a:r>
              <a:rPr lang="en-US" b="0" i="0" dirty="0">
                <a:solidFill>
                  <a:srgbClr val="080A13"/>
                </a:solidFill>
                <a:effectLst/>
                <a:latin typeface="Inter"/>
              </a:rPr>
              <a:t> represents the image in the minibatch, and </a:t>
            </a:r>
            <a:r>
              <a:rPr lang="en-US" b="0" i="1" dirty="0">
                <a:solidFill>
                  <a:srgbClr val="080A13"/>
                </a:solidFill>
                <a:effectLst/>
                <a:latin typeface="Inter"/>
              </a:rPr>
              <a:t>a</a:t>
            </a:r>
            <a:r>
              <a:rPr lang="en-US" b="0" i="0" dirty="0">
                <a:solidFill>
                  <a:srgbClr val="080A13"/>
                </a:solidFill>
                <a:effectLst/>
                <a:latin typeface="Inter"/>
              </a:rPr>
              <a:t> represents the activation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112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70776"/>
            <a:ext cx="641159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Contractive autoencoders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D66CDF-1F47-520C-F439-016102EA8CFA}"/>
              </a:ext>
            </a:extLst>
          </p:cNvPr>
          <p:cNvSpPr txBox="1"/>
          <p:nvPr/>
        </p:nvSpPr>
        <p:spPr>
          <a:xfrm>
            <a:off x="448990" y="180975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Inter"/>
              </a:rPr>
              <a:t>Latent space </a:t>
            </a:r>
            <a:r>
              <a:rPr lang="en-US" b="0" i="0" dirty="0">
                <a:solidFill>
                  <a:srgbClr val="080A13"/>
                </a:solidFill>
                <a:effectLst/>
                <a:latin typeface="Inter"/>
              </a:rPr>
              <a:t>does not vary by a huge amount for minor variations in the input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0BA5B-8123-7FD2-B149-B071E75CA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389" y="125121"/>
            <a:ext cx="3521621" cy="48932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D62AAD-D91D-841F-9D99-2DEC6336B66B}"/>
              </a:ext>
            </a:extLst>
          </p:cNvPr>
          <p:cNvSpPr txBox="1"/>
          <p:nvPr/>
        </p:nvSpPr>
        <p:spPr>
          <a:xfrm>
            <a:off x="525190" y="268742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Gradient </a:t>
            </a:r>
            <a:r>
              <a:rPr lang="en-US" dirty="0"/>
              <a:t>is summed over all training samples</a:t>
            </a:r>
          </a:p>
        </p:txBody>
      </p:sp>
    </p:spTree>
    <p:extLst>
      <p:ext uri="{BB962C8B-B14F-4D97-AF65-F5344CB8AC3E}">
        <p14:creationId xmlns:p14="http://schemas.microsoft.com/office/powerpoint/2010/main" val="4046590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18519"/>
            <a:ext cx="641159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Denoising autoencoders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D66CDF-1F47-520C-F439-016102EA8CFA}"/>
              </a:ext>
            </a:extLst>
          </p:cNvPr>
          <p:cNvSpPr txBox="1"/>
          <p:nvPr/>
        </p:nvSpPr>
        <p:spPr>
          <a:xfrm>
            <a:off x="228600" y="430626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Inter"/>
              </a:rPr>
              <a:t>Does not use the input as a ground truth 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83A55E-18AD-ADE1-4466-A4391233C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892802"/>
            <a:ext cx="7086597" cy="32367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D62AAD-D91D-841F-9D99-2DEC6336B66B}"/>
              </a:ext>
            </a:extLst>
          </p:cNvPr>
          <p:cNvSpPr txBox="1"/>
          <p:nvPr/>
        </p:nvSpPr>
        <p:spPr>
          <a:xfrm>
            <a:off x="228600" y="3194450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 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Non-linear dimensionality reduction</a:t>
            </a:r>
            <a:r>
              <a:rPr lang="en-US" b="0" i="0" dirty="0">
                <a:solidFill>
                  <a:srgbClr val="080A13"/>
                </a:solidFill>
                <a:effectLst/>
                <a:latin typeface="Inter"/>
              </a:rPr>
              <a:t>. </a:t>
            </a:r>
          </a:p>
          <a:p>
            <a:r>
              <a:rPr lang="en-US" dirty="0">
                <a:solidFill>
                  <a:srgbClr val="FF0000"/>
                </a:solidFill>
              </a:rPr>
              <a:t>The loss function </a:t>
            </a:r>
            <a:r>
              <a:rPr lang="en-US" b="0" i="0" dirty="0">
                <a:solidFill>
                  <a:srgbClr val="080A13"/>
                </a:solidFill>
                <a:effectLst/>
                <a:latin typeface="Inter"/>
              </a:rPr>
              <a:t>is L2 or L1 </a:t>
            </a:r>
            <a:r>
              <a:rPr lang="en-US" dirty="0"/>
              <a:t> summed over all training samples</a:t>
            </a:r>
          </a:p>
        </p:txBody>
      </p:sp>
    </p:spTree>
    <p:extLst>
      <p:ext uri="{BB962C8B-B14F-4D97-AF65-F5344CB8AC3E}">
        <p14:creationId xmlns:p14="http://schemas.microsoft.com/office/powerpoint/2010/main" val="1459098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7C27F9-7ECC-D5E8-FEB4-A5FD63E75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810259"/>
            <a:ext cx="6844142" cy="299194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310856"/>
            <a:ext cx="641159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Variational autoencoders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D62AAD-D91D-841F-9D99-2DEC6336B66B}"/>
              </a:ext>
            </a:extLst>
          </p:cNvPr>
          <p:cNvSpPr txBox="1"/>
          <p:nvPr/>
        </p:nvSpPr>
        <p:spPr>
          <a:xfrm>
            <a:off x="64830" y="3390861"/>
            <a:ext cx="90140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 </a:t>
            </a:r>
            <a:endParaRPr lang="en-US" dirty="0"/>
          </a:p>
          <a:p>
            <a:r>
              <a:rPr lang="en-US" b="0" i="0" dirty="0">
                <a:solidFill>
                  <a:srgbClr val="080A13"/>
                </a:solidFill>
                <a:effectLst/>
                <a:latin typeface="Inter"/>
              </a:rPr>
              <a:t>Identify the characteristics of the latent vector </a:t>
            </a:r>
            <a:r>
              <a:rPr lang="en-US" b="0" i="1" dirty="0">
                <a:solidFill>
                  <a:srgbClr val="080A13"/>
                </a:solidFill>
                <a:effectLst/>
                <a:latin typeface="Inter"/>
              </a:rPr>
              <a:t>z</a:t>
            </a:r>
            <a:r>
              <a:rPr lang="en-US" b="0" i="0" dirty="0">
                <a:solidFill>
                  <a:srgbClr val="080A13"/>
                </a:solidFill>
                <a:effectLst/>
                <a:latin typeface="Inter"/>
              </a:rPr>
              <a:t> that reconstructs the output given a particular input</a:t>
            </a:r>
            <a:r>
              <a:rPr lang="en-US" b="0" i="0" dirty="0">
                <a:solidFill>
                  <a:srgbClr val="080A13"/>
                </a:solidFill>
                <a:effectLst/>
                <a:latin typeface="Inter"/>
                <a:sym typeface="Wingdings" panose="05000000000000000000" pitchFamily="2" charset="2"/>
              </a:rPr>
              <a:t> estimate parametrized distribution minimize</a:t>
            </a:r>
            <a:r>
              <a:rPr lang="en-US" b="0" i="0" dirty="0">
                <a:solidFill>
                  <a:srgbClr val="080A13"/>
                </a:solidFill>
                <a:effectLst/>
                <a:latin typeface="Inter"/>
              </a:rPr>
              <a:t> the KL divergence between the original distribution and our parameterized one.</a:t>
            </a:r>
          </a:p>
          <a:p>
            <a:r>
              <a:rPr lang="en-US" b="0" i="0" dirty="0">
                <a:solidFill>
                  <a:srgbClr val="FF0000"/>
                </a:solidFill>
                <a:effectLst/>
                <a:latin typeface="Inter"/>
              </a:rPr>
              <a:t>bypass the sampling process from the neural network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982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1250" y="223613"/>
            <a:ext cx="7886700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/>
              <a:t>Loss</a:t>
            </a:r>
            <a:r>
              <a:rPr sz="2600" b="1" spc="-80" dirty="0"/>
              <a:t> </a:t>
            </a:r>
            <a:r>
              <a:rPr sz="2600" b="1" dirty="0"/>
              <a:t>function:</a:t>
            </a:r>
            <a:r>
              <a:rPr sz="2600" b="1" spc="-50" dirty="0"/>
              <a:t> </a:t>
            </a:r>
            <a:r>
              <a:rPr sz="2600" b="1" spc="-40" dirty="0"/>
              <a:t>Variational</a:t>
            </a:r>
            <a:r>
              <a:rPr sz="2600" b="1" spc="-150" dirty="0"/>
              <a:t> </a:t>
            </a:r>
            <a:r>
              <a:rPr sz="2600" b="1" spc="-10" dirty="0"/>
              <a:t>Autoencoder</a:t>
            </a:r>
            <a:endParaRPr sz="2600" b="1" dirty="0"/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6287" y="1716438"/>
            <a:ext cx="7591425" cy="853440"/>
            <a:chOff x="752612" y="1693399"/>
            <a:chExt cx="7591425" cy="8534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2612" y="1864125"/>
              <a:ext cx="7333977" cy="5726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950674" y="1702924"/>
              <a:ext cx="1383665" cy="834390"/>
            </a:xfrm>
            <a:custGeom>
              <a:avLst/>
              <a:gdLst/>
              <a:ahLst/>
              <a:cxnLst/>
              <a:rect l="l" t="t" r="r" b="b"/>
              <a:pathLst>
                <a:path w="1383665" h="834389">
                  <a:moveTo>
                    <a:pt x="0" y="0"/>
                  </a:moveTo>
                  <a:lnTo>
                    <a:pt x="1383299" y="0"/>
                  </a:lnTo>
                  <a:lnTo>
                    <a:pt x="1383299" y="833999"/>
                  </a:lnTo>
                  <a:lnTo>
                    <a:pt x="0" y="833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74074" y="1702924"/>
              <a:ext cx="2526030" cy="834390"/>
            </a:xfrm>
            <a:custGeom>
              <a:avLst/>
              <a:gdLst/>
              <a:ahLst/>
              <a:cxnLst/>
              <a:rect l="l" t="t" r="r" b="b"/>
              <a:pathLst>
                <a:path w="2526029" h="834389">
                  <a:moveTo>
                    <a:pt x="0" y="0"/>
                  </a:moveTo>
                  <a:lnTo>
                    <a:pt x="2525999" y="0"/>
                  </a:lnTo>
                  <a:lnTo>
                    <a:pt x="2525999" y="833999"/>
                  </a:lnTo>
                  <a:lnTo>
                    <a:pt x="0" y="833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485050" y="1292438"/>
            <a:ext cx="22783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FF"/>
                </a:solidFill>
                <a:latin typeface="Arial"/>
                <a:cs typeface="Arial"/>
              </a:rPr>
              <a:t>Kullback–Leibler</a:t>
            </a:r>
            <a:r>
              <a:rPr sz="1400" spc="-5" dirty="0">
                <a:solidFill>
                  <a:srgbClr val="FF00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00FF"/>
                </a:solidFill>
                <a:latin typeface="Arial"/>
                <a:cs typeface="Arial"/>
              </a:rPr>
              <a:t>Divergence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61249" y="2815422"/>
            <a:ext cx="193357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00FF"/>
                </a:solidFill>
                <a:latin typeface="Arial"/>
                <a:cs typeface="Arial"/>
              </a:rPr>
              <a:t>Difference</a:t>
            </a:r>
            <a:r>
              <a:rPr sz="1600" spc="-35" dirty="0">
                <a:solidFill>
                  <a:srgbClr val="FF00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00FF"/>
                </a:solidFill>
                <a:latin typeface="Arial"/>
                <a:cs typeface="Arial"/>
              </a:rPr>
              <a:t>between </a:t>
            </a:r>
            <a:r>
              <a:rPr sz="1600" dirty="0">
                <a:solidFill>
                  <a:srgbClr val="FF00FF"/>
                </a:solidFill>
                <a:latin typeface="Arial"/>
                <a:cs typeface="Arial"/>
              </a:rPr>
              <a:t>normal</a:t>
            </a:r>
            <a:r>
              <a:rPr sz="1600" spc="-30" dirty="0">
                <a:solidFill>
                  <a:srgbClr val="FF00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00FF"/>
                </a:solidFill>
                <a:latin typeface="Arial"/>
                <a:cs typeface="Arial"/>
              </a:rPr>
              <a:t>distribution </a:t>
            </a:r>
            <a:r>
              <a:rPr sz="1600" dirty="0">
                <a:solidFill>
                  <a:srgbClr val="FF00FF"/>
                </a:solidFill>
                <a:latin typeface="Arial"/>
                <a:cs typeface="Arial"/>
              </a:rPr>
              <a:t>(mean</a:t>
            </a:r>
            <a:r>
              <a:rPr sz="1600" spc="-75" dirty="0">
                <a:solidFill>
                  <a:srgbClr val="FF00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00FF"/>
                </a:solidFill>
                <a:latin typeface="Arial"/>
                <a:cs typeface="Arial"/>
              </a:rPr>
              <a:t>vector,</a:t>
            </a:r>
            <a:r>
              <a:rPr sz="1600" spc="-75" dirty="0">
                <a:solidFill>
                  <a:srgbClr val="FF00F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FF00FF"/>
                </a:solidFill>
                <a:latin typeface="Arial"/>
                <a:cs typeface="Arial"/>
              </a:rPr>
              <a:t>log </a:t>
            </a:r>
            <a:r>
              <a:rPr sz="1600" dirty="0">
                <a:solidFill>
                  <a:srgbClr val="FF00FF"/>
                </a:solidFill>
                <a:latin typeface="Arial"/>
                <a:cs typeface="Arial"/>
              </a:rPr>
              <a:t>variance</a:t>
            </a:r>
            <a:r>
              <a:rPr sz="1600" spc="-50" dirty="0">
                <a:solidFill>
                  <a:srgbClr val="FF00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FF"/>
                </a:solidFill>
                <a:latin typeface="Arial"/>
                <a:cs typeface="Arial"/>
              </a:rPr>
              <a:t>vector)</a:t>
            </a:r>
            <a:r>
              <a:rPr sz="1600" spc="-45" dirty="0">
                <a:solidFill>
                  <a:srgbClr val="FF00FF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FF00FF"/>
                </a:solidFill>
                <a:latin typeface="Arial"/>
                <a:cs typeface="Arial"/>
              </a:rPr>
              <a:t>from </a:t>
            </a:r>
            <a:r>
              <a:rPr sz="1600" dirty="0">
                <a:solidFill>
                  <a:srgbClr val="FF00FF"/>
                </a:solidFill>
                <a:latin typeface="Arial"/>
                <a:cs typeface="Arial"/>
              </a:rPr>
              <a:t>standard</a:t>
            </a:r>
            <a:r>
              <a:rPr sz="1600" spc="-40" dirty="0">
                <a:solidFill>
                  <a:srgbClr val="FF00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00FF"/>
                </a:solidFill>
                <a:latin typeface="Arial"/>
                <a:cs typeface="Arial"/>
              </a:rPr>
              <a:t>normal distribution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6287" y="1402704"/>
            <a:ext cx="18656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000FF"/>
                </a:solidFill>
                <a:latin typeface="Arial"/>
                <a:cs typeface="Arial"/>
              </a:rPr>
              <a:t>Reconstruction</a:t>
            </a:r>
            <a:r>
              <a:rPr sz="1600" spc="-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00FF"/>
                </a:solidFill>
                <a:latin typeface="Arial"/>
                <a:cs typeface="Arial"/>
              </a:rPr>
              <a:t>error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3F71E6-2028-4E45-E5F4-A5ECE3B7726E}"/>
              </a:ext>
            </a:extLst>
          </p:cNvPr>
          <p:cNvSpPr txBox="1"/>
          <p:nvPr/>
        </p:nvSpPr>
        <p:spPr>
          <a:xfrm>
            <a:off x="649176" y="2815422"/>
            <a:ext cx="4572000" cy="1644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marR="5080" indent="635" algn="ctr">
              <a:lnSpc>
                <a:spcPct val="113599"/>
              </a:lnSpc>
              <a:spcBef>
                <a:spcPts val="100"/>
              </a:spcBef>
            </a:pP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Penalize</a:t>
            </a:r>
            <a:r>
              <a:rPr lang="en-US" sz="18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observations</a:t>
            </a:r>
            <a:r>
              <a:rPr lang="en-US" sz="18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where</a:t>
            </a:r>
            <a:r>
              <a:rPr lang="en-US" sz="18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mean</a:t>
            </a:r>
            <a:r>
              <a:rPr lang="en-US" sz="18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lang="en-US" sz="18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log</a:t>
            </a:r>
            <a:r>
              <a:rPr lang="en-US" sz="18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spc="-10" dirty="0">
                <a:solidFill>
                  <a:srgbClr val="FF0000"/>
                </a:solidFill>
                <a:latin typeface="Arial"/>
                <a:cs typeface="Arial"/>
              </a:rPr>
              <a:t>variance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vectors</a:t>
            </a:r>
            <a:r>
              <a:rPr lang="en-US" sz="18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differ</a:t>
            </a:r>
            <a:r>
              <a:rPr lang="en-US" sz="18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significantly</a:t>
            </a:r>
            <a:r>
              <a:rPr lang="en-US" sz="18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from</a:t>
            </a:r>
            <a:r>
              <a:rPr lang="en-US" sz="18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lang="en-US" sz="18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parameters</a:t>
            </a:r>
            <a:r>
              <a:rPr lang="en-US" sz="18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lang="en-US" sz="18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spc="-50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standard</a:t>
            </a:r>
            <a:r>
              <a:rPr lang="en-US" sz="18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normal</a:t>
            </a:r>
            <a:r>
              <a:rPr lang="en-US" sz="18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spc="-10" dirty="0">
                <a:solidFill>
                  <a:srgbClr val="FF0000"/>
                </a:solidFill>
                <a:latin typeface="Arial"/>
                <a:cs typeface="Arial"/>
              </a:rPr>
              <a:t>distribution</a:t>
            </a:r>
            <a:r>
              <a:rPr lang="en-US" sz="18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(mean</a:t>
            </a:r>
            <a:r>
              <a:rPr lang="en-US" sz="18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vector</a:t>
            </a:r>
            <a:r>
              <a:rPr lang="en-US" sz="18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lang="en-US" sz="18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r>
              <a:rPr lang="en-US" sz="18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lang="en-US" sz="18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spc="-25" dirty="0">
                <a:solidFill>
                  <a:srgbClr val="FF0000"/>
                </a:solidFill>
                <a:latin typeface="Arial"/>
                <a:cs typeface="Arial"/>
              </a:rPr>
              <a:t>log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variance</a:t>
            </a:r>
            <a:r>
              <a:rPr lang="en-US" sz="18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lang="en-US" sz="18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spc="-25" dirty="0">
                <a:solidFill>
                  <a:srgbClr val="FF0000"/>
                </a:solidFill>
                <a:latin typeface="Arial"/>
                <a:cs typeface="Arial"/>
              </a:rPr>
              <a:t>0)</a:t>
            </a:r>
            <a:endParaRPr lang="en-US" sz="18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84CB91-0462-A6A6-1F2B-486161015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0"/>
            <a:ext cx="9144000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D0617E-EE9D-DA6E-41B1-97DBD03B4CE0}"/>
              </a:ext>
            </a:extLst>
          </p:cNvPr>
          <p:cNvSpPr txBox="1"/>
          <p:nvPr/>
        </p:nvSpPr>
        <p:spPr>
          <a:xfrm>
            <a:off x="304800" y="895350"/>
            <a:ext cx="28568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575757"/>
                </a:solidFill>
                <a:effectLst/>
                <a:latin typeface="georgia" panose="02040502050405020303" pitchFamily="18" charset="0"/>
              </a:rPr>
              <a:t>The addition of the KL divergence term ensures that the learned distribution is close to a prior distribution, which is essential for generating diverse and meaningful samples.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369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utoencoder vs variational autoencoder - point vs distribution">
            <a:extLst>
              <a:ext uri="{FF2B5EF4-FFF2-40B4-BE49-F238E27FC236}">
                <a16:creationId xmlns:a16="http://schemas.microsoft.com/office/drawing/2014/main" id="{56C46CF6-C47D-6A38-FC6D-6C7B08042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962150"/>
            <a:ext cx="4572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FE3227-C978-CBCA-CA30-4330B7128013}"/>
              </a:ext>
            </a:extLst>
          </p:cNvPr>
          <p:cNvSpPr txBox="1"/>
          <p:nvPr/>
        </p:nvSpPr>
        <p:spPr>
          <a:xfrm>
            <a:off x="1600200" y="133350"/>
            <a:ext cx="4572000" cy="175432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575757"/>
                </a:solidFill>
                <a:effectLst/>
                <a:latin typeface="georgia" panose="02040502050405020303" pitchFamily="18" charset="0"/>
              </a:rPr>
              <a:t>Generative AI models, </a:t>
            </a:r>
            <a:r>
              <a:rPr lang="en-US" b="1" i="0" dirty="0">
                <a:solidFill>
                  <a:srgbClr val="575757"/>
                </a:solidFill>
                <a:effectLst/>
                <a:latin typeface="georgia" panose="02040502050405020303" pitchFamily="18" charset="0"/>
              </a:rPr>
              <a:t>autoencoders (AE) </a:t>
            </a:r>
            <a:r>
              <a:rPr lang="en-US" b="0" i="0" dirty="0">
                <a:solidFill>
                  <a:srgbClr val="575757"/>
                </a:solidFill>
                <a:effectLst/>
                <a:latin typeface="georgia" panose="02040502050405020303" pitchFamily="18" charset="0"/>
              </a:rPr>
              <a:t>and </a:t>
            </a:r>
            <a:r>
              <a:rPr lang="en-US" b="1" i="0" dirty="0">
                <a:solidFill>
                  <a:srgbClr val="575757"/>
                </a:solidFill>
                <a:effectLst/>
                <a:latin typeface="georgia" panose="02040502050405020303" pitchFamily="18" charset="0"/>
              </a:rPr>
              <a:t>variational autoencoders (VAEs)</a:t>
            </a:r>
            <a:r>
              <a:rPr lang="en-US" b="0" i="0" dirty="0">
                <a:solidFill>
                  <a:srgbClr val="575757"/>
                </a:solidFill>
                <a:effectLst/>
                <a:latin typeface="georgia" panose="02040502050405020303" pitchFamily="18" charset="0"/>
              </a:rPr>
              <a:t> have emerged as powerful unsupervised learning techniques for data representation, compression, and generation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230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94312" y="1400787"/>
            <a:ext cx="487045" cy="487045"/>
            <a:chOff x="1194312" y="1400787"/>
            <a:chExt cx="487045" cy="487045"/>
          </a:xfrm>
        </p:grpSpPr>
        <p:sp>
          <p:nvSpPr>
            <p:cNvPr id="3" name="object 3"/>
            <p:cNvSpPr/>
            <p:nvPr/>
          </p:nvSpPr>
          <p:spPr>
            <a:xfrm>
              <a:off x="1199074" y="1405549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5" y="458257"/>
                  </a:lnTo>
                  <a:lnTo>
                    <a:pt x="105152" y="436267"/>
                  </a:lnTo>
                  <a:lnTo>
                    <a:pt x="69855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5" y="69855"/>
                  </a:lnTo>
                  <a:lnTo>
                    <a:pt x="105152" y="40732"/>
                  </a:lnTo>
                  <a:lnTo>
                    <a:pt x="145665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99074" y="1405549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5" y="69855"/>
                  </a:lnTo>
                  <a:lnTo>
                    <a:pt x="105152" y="40732"/>
                  </a:lnTo>
                  <a:lnTo>
                    <a:pt x="145665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5" y="458257"/>
                  </a:lnTo>
                  <a:lnTo>
                    <a:pt x="105152" y="436267"/>
                  </a:lnTo>
                  <a:lnTo>
                    <a:pt x="69855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194312" y="2041213"/>
            <a:ext cx="487045" cy="487045"/>
            <a:chOff x="1194312" y="2041213"/>
            <a:chExt cx="487045" cy="487045"/>
          </a:xfrm>
        </p:grpSpPr>
        <p:sp>
          <p:nvSpPr>
            <p:cNvPr id="6" name="object 6"/>
            <p:cNvSpPr/>
            <p:nvPr/>
          </p:nvSpPr>
          <p:spPr>
            <a:xfrm>
              <a:off x="1199074" y="2045975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5" y="458257"/>
                  </a:lnTo>
                  <a:lnTo>
                    <a:pt x="105152" y="436267"/>
                  </a:lnTo>
                  <a:lnTo>
                    <a:pt x="69855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5" y="69855"/>
                  </a:lnTo>
                  <a:lnTo>
                    <a:pt x="105152" y="40732"/>
                  </a:lnTo>
                  <a:lnTo>
                    <a:pt x="145665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9074" y="2045975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5" y="69855"/>
                  </a:lnTo>
                  <a:lnTo>
                    <a:pt x="105152" y="40732"/>
                  </a:lnTo>
                  <a:lnTo>
                    <a:pt x="145665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5" y="458257"/>
                  </a:lnTo>
                  <a:lnTo>
                    <a:pt x="105152" y="436267"/>
                  </a:lnTo>
                  <a:lnTo>
                    <a:pt x="69855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194312" y="2681638"/>
            <a:ext cx="487045" cy="487045"/>
            <a:chOff x="1194312" y="2681638"/>
            <a:chExt cx="487045" cy="487045"/>
          </a:xfrm>
        </p:grpSpPr>
        <p:sp>
          <p:nvSpPr>
            <p:cNvPr id="9" name="object 9"/>
            <p:cNvSpPr/>
            <p:nvPr/>
          </p:nvSpPr>
          <p:spPr>
            <a:xfrm>
              <a:off x="1199074" y="2686401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5" y="458257"/>
                  </a:lnTo>
                  <a:lnTo>
                    <a:pt x="105152" y="436267"/>
                  </a:lnTo>
                  <a:lnTo>
                    <a:pt x="69855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5" y="69854"/>
                  </a:lnTo>
                  <a:lnTo>
                    <a:pt x="105152" y="40732"/>
                  </a:lnTo>
                  <a:lnTo>
                    <a:pt x="145665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99074" y="2686401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5" y="69854"/>
                  </a:lnTo>
                  <a:lnTo>
                    <a:pt x="105152" y="40732"/>
                  </a:lnTo>
                  <a:lnTo>
                    <a:pt x="145665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5" y="458257"/>
                  </a:lnTo>
                  <a:lnTo>
                    <a:pt x="105152" y="436267"/>
                  </a:lnTo>
                  <a:lnTo>
                    <a:pt x="69855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194312" y="3322064"/>
            <a:ext cx="487045" cy="487045"/>
            <a:chOff x="1194312" y="3322064"/>
            <a:chExt cx="487045" cy="487045"/>
          </a:xfrm>
        </p:grpSpPr>
        <p:sp>
          <p:nvSpPr>
            <p:cNvPr id="12" name="object 12"/>
            <p:cNvSpPr/>
            <p:nvPr/>
          </p:nvSpPr>
          <p:spPr>
            <a:xfrm>
              <a:off x="1199074" y="332682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5" y="458257"/>
                  </a:lnTo>
                  <a:lnTo>
                    <a:pt x="105152" y="436267"/>
                  </a:lnTo>
                  <a:lnTo>
                    <a:pt x="69855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5" y="69854"/>
                  </a:lnTo>
                  <a:lnTo>
                    <a:pt x="105152" y="40732"/>
                  </a:lnTo>
                  <a:lnTo>
                    <a:pt x="145665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99074" y="332682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5" y="69854"/>
                  </a:lnTo>
                  <a:lnTo>
                    <a:pt x="105152" y="40732"/>
                  </a:lnTo>
                  <a:lnTo>
                    <a:pt x="145665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5" y="458257"/>
                  </a:lnTo>
                  <a:lnTo>
                    <a:pt x="105152" y="436267"/>
                  </a:lnTo>
                  <a:lnTo>
                    <a:pt x="69855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194312" y="3962489"/>
            <a:ext cx="487045" cy="487045"/>
            <a:chOff x="1194312" y="3962489"/>
            <a:chExt cx="487045" cy="487045"/>
          </a:xfrm>
        </p:grpSpPr>
        <p:sp>
          <p:nvSpPr>
            <p:cNvPr id="15" name="object 15"/>
            <p:cNvSpPr/>
            <p:nvPr/>
          </p:nvSpPr>
          <p:spPr>
            <a:xfrm>
              <a:off x="1199074" y="3967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5" y="458257"/>
                  </a:lnTo>
                  <a:lnTo>
                    <a:pt x="105152" y="436267"/>
                  </a:lnTo>
                  <a:lnTo>
                    <a:pt x="69855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5" y="69854"/>
                  </a:lnTo>
                  <a:lnTo>
                    <a:pt x="105152" y="40732"/>
                  </a:lnTo>
                  <a:lnTo>
                    <a:pt x="145665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99074" y="3967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5" y="69854"/>
                  </a:lnTo>
                  <a:lnTo>
                    <a:pt x="105152" y="40732"/>
                  </a:lnTo>
                  <a:lnTo>
                    <a:pt x="145665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5" y="458257"/>
                  </a:lnTo>
                  <a:lnTo>
                    <a:pt x="105152" y="436267"/>
                  </a:lnTo>
                  <a:lnTo>
                    <a:pt x="69855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860788" y="2204541"/>
            <a:ext cx="487045" cy="487045"/>
            <a:chOff x="3860788" y="2204541"/>
            <a:chExt cx="487045" cy="487045"/>
          </a:xfrm>
        </p:grpSpPr>
        <p:sp>
          <p:nvSpPr>
            <p:cNvPr id="18" name="object 18"/>
            <p:cNvSpPr/>
            <p:nvPr/>
          </p:nvSpPr>
          <p:spPr>
            <a:xfrm>
              <a:off x="3865550" y="2209303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65550" y="2209303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005184" y="2343790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v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860788" y="2916125"/>
            <a:ext cx="487045" cy="487045"/>
            <a:chOff x="3860788" y="2916125"/>
            <a:chExt cx="487045" cy="487045"/>
          </a:xfrm>
        </p:grpSpPr>
        <p:sp>
          <p:nvSpPr>
            <p:cNvPr id="22" name="object 22"/>
            <p:cNvSpPr/>
            <p:nvPr/>
          </p:nvSpPr>
          <p:spPr>
            <a:xfrm>
              <a:off x="3865550" y="292088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7000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5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79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700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65550" y="292088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79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7000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005184" y="3055374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v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671312" y="1400787"/>
            <a:ext cx="5342890" cy="3048635"/>
            <a:chOff x="1671312" y="1400787"/>
            <a:chExt cx="5342890" cy="3048635"/>
          </a:xfrm>
        </p:grpSpPr>
        <p:sp>
          <p:nvSpPr>
            <p:cNvPr id="26" name="object 26"/>
            <p:cNvSpPr/>
            <p:nvPr/>
          </p:nvSpPr>
          <p:spPr>
            <a:xfrm>
              <a:off x="6532026" y="1405549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500" y="476999"/>
                  </a:moveTo>
                  <a:lnTo>
                    <a:pt x="190434" y="472154"/>
                  </a:lnTo>
                  <a:lnTo>
                    <a:pt x="145665" y="458257"/>
                  </a:lnTo>
                  <a:lnTo>
                    <a:pt x="105152" y="436267"/>
                  </a:lnTo>
                  <a:lnTo>
                    <a:pt x="69855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5" y="69855"/>
                  </a:lnTo>
                  <a:lnTo>
                    <a:pt x="105152" y="40732"/>
                  </a:lnTo>
                  <a:lnTo>
                    <a:pt x="145665" y="18742"/>
                  </a:lnTo>
                  <a:lnTo>
                    <a:pt x="190434" y="4845"/>
                  </a:lnTo>
                  <a:lnTo>
                    <a:pt x="238500" y="0"/>
                  </a:lnTo>
                  <a:lnTo>
                    <a:pt x="285246" y="4625"/>
                  </a:lnTo>
                  <a:lnTo>
                    <a:pt x="329770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5" y="191753"/>
                  </a:lnTo>
                  <a:lnTo>
                    <a:pt x="477000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8" y="371847"/>
                  </a:lnTo>
                  <a:lnTo>
                    <a:pt x="407145" y="407144"/>
                  </a:lnTo>
                  <a:lnTo>
                    <a:pt x="371847" y="436267"/>
                  </a:lnTo>
                  <a:lnTo>
                    <a:pt x="331335" y="458257"/>
                  </a:lnTo>
                  <a:lnTo>
                    <a:pt x="286566" y="472154"/>
                  </a:lnTo>
                  <a:lnTo>
                    <a:pt x="238500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532026" y="1405549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5" y="69855"/>
                  </a:lnTo>
                  <a:lnTo>
                    <a:pt x="105152" y="40732"/>
                  </a:lnTo>
                  <a:lnTo>
                    <a:pt x="145665" y="18742"/>
                  </a:lnTo>
                  <a:lnTo>
                    <a:pt x="190434" y="4845"/>
                  </a:lnTo>
                  <a:lnTo>
                    <a:pt x="238500" y="0"/>
                  </a:lnTo>
                  <a:lnTo>
                    <a:pt x="285246" y="4625"/>
                  </a:lnTo>
                  <a:lnTo>
                    <a:pt x="329770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5" y="191753"/>
                  </a:lnTo>
                  <a:lnTo>
                    <a:pt x="477000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8" y="371847"/>
                  </a:lnTo>
                  <a:lnTo>
                    <a:pt x="407145" y="407144"/>
                  </a:lnTo>
                  <a:lnTo>
                    <a:pt x="371847" y="436267"/>
                  </a:lnTo>
                  <a:lnTo>
                    <a:pt x="331335" y="458257"/>
                  </a:lnTo>
                  <a:lnTo>
                    <a:pt x="286566" y="472154"/>
                  </a:lnTo>
                  <a:lnTo>
                    <a:pt x="238500" y="476999"/>
                  </a:lnTo>
                  <a:lnTo>
                    <a:pt x="190434" y="472154"/>
                  </a:lnTo>
                  <a:lnTo>
                    <a:pt x="145665" y="458257"/>
                  </a:lnTo>
                  <a:lnTo>
                    <a:pt x="105152" y="436267"/>
                  </a:lnTo>
                  <a:lnTo>
                    <a:pt x="69855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532026" y="2045975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500" y="476999"/>
                  </a:moveTo>
                  <a:lnTo>
                    <a:pt x="190434" y="472154"/>
                  </a:lnTo>
                  <a:lnTo>
                    <a:pt x="145665" y="458257"/>
                  </a:lnTo>
                  <a:lnTo>
                    <a:pt x="105152" y="436267"/>
                  </a:lnTo>
                  <a:lnTo>
                    <a:pt x="69855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5" y="69855"/>
                  </a:lnTo>
                  <a:lnTo>
                    <a:pt x="105152" y="40732"/>
                  </a:lnTo>
                  <a:lnTo>
                    <a:pt x="145665" y="18742"/>
                  </a:lnTo>
                  <a:lnTo>
                    <a:pt x="190434" y="4845"/>
                  </a:lnTo>
                  <a:lnTo>
                    <a:pt x="238500" y="0"/>
                  </a:lnTo>
                  <a:lnTo>
                    <a:pt x="285246" y="4625"/>
                  </a:lnTo>
                  <a:lnTo>
                    <a:pt x="329770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5" y="191753"/>
                  </a:lnTo>
                  <a:lnTo>
                    <a:pt x="477000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8" y="371847"/>
                  </a:lnTo>
                  <a:lnTo>
                    <a:pt x="407145" y="407144"/>
                  </a:lnTo>
                  <a:lnTo>
                    <a:pt x="371847" y="436267"/>
                  </a:lnTo>
                  <a:lnTo>
                    <a:pt x="331335" y="458257"/>
                  </a:lnTo>
                  <a:lnTo>
                    <a:pt x="286566" y="472154"/>
                  </a:lnTo>
                  <a:lnTo>
                    <a:pt x="238500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532026" y="2045975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5" y="69855"/>
                  </a:lnTo>
                  <a:lnTo>
                    <a:pt x="105152" y="40732"/>
                  </a:lnTo>
                  <a:lnTo>
                    <a:pt x="145665" y="18742"/>
                  </a:lnTo>
                  <a:lnTo>
                    <a:pt x="190434" y="4845"/>
                  </a:lnTo>
                  <a:lnTo>
                    <a:pt x="238500" y="0"/>
                  </a:lnTo>
                  <a:lnTo>
                    <a:pt x="285246" y="4625"/>
                  </a:lnTo>
                  <a:lnTo>
                    <a:pt x="329770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5" y="191753"/>
                  </a:lnTo>
                  <a:lnTo>
                    <a:pt x="477000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8" y="371847"/>
                  </a:lnTo>
                  <a:lnTo>
                    <a:pt x="407145" y="407144"/>
                  </a:lnTo>
                  <a:lnTo>
                    <a:pt x="371847" y="436267"/>
                  </a:lnTo>
                  <a:lnTo>
                    <a:pt x="331335" y="458257"/>
                  </a:lnTo>
                  <a:lnTo>
                    <a:pt x="286566" y="472154"/>
                  </a:lnTo>
                  <a:lnTo>
                    <a:pt x="238500" y="476999"/>
                  </a:lnTo>
                  <a:lnTo>
                    <a:pt x="190434" y="472154"/>
                  </a:lnTo>
                  <a:lnTo>
                    <a:pt x="145665" y="458257"/>
                  </a:lnTo>
                  <a:lnTo>
                    <a:pt x="105152" y="436267"/>
                  </a:lnTo>
                  <a:lnTo>
                    <a:pt x="69855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532026" y="2686401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500" y="476999"/>
                  </a:moveTo>
                  <a:lnTo>
                    <a:pt x="190434" y="472154"/>
                  </a:lnTo>
                  <a:lnTo>
                    <a:pt x="145665" y="458257"/>
                  </a:lnTo>
                  <a:lnTo>
                    <a:pt x="105152" y="436267"/>
                  </a:lnTo>
                  <a:lnTo>
                    <a:pt x="69855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5" y="69854"/>
                  </a:lnTo>
                  <a:lnTo>
                    <a:pt x="105152" y="40732"/>
                  </a:lnTo>
                  <a:lnTo>
                    <a:pt x="145665" y="18742"/>
                  </a:lnTo>
                  <a:lnTo>
                    <a:pt x="190434" y="4845"/>
                  </a:lnTo>
                  <a:lnTo>
                    <a:pt x="238500" y="0"/>
                  </a:lnTo>
                  <a:lnTo>
                    <a:pt x="285246" y="4625"/>
                  </a:lnTo>
                  <a:lnTo>
                    <a:pt x="329770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5" y="191753"/>
                  </a:lnTo>
                  <a:lnTo>
                    <a:pt x="477000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8" y="371847"/>
                  </a:lnTo>
                  <a:lnTo>
                    <a:pt x="407145" y="407144"/>
                  </a:lnTo>
                  <a:lnTo>
                    <a:pt x="371847" y="436267"/>
                  </a:lnTo>
                  <a:lnTo>
                    <a:pt x="331335" y="458257"/>
                  </a:lnTo>
                  <a:lnTo>
                    <a:pt x="286566" y="472154"/>
                  </a:lnTo>
                  <a:lnTo>
                    <a:pt x="238500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532026" y="2686401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5" y="69854"/>
                  </a:lnTo>
                  <a:lnTo>
                    <a:pt x="105152" y="40732"/>
                  </a:lnTo>
                  <a:lnTo>
                    <a:pt x="145665" y="18742"/>
                  </a:lnTo>
                  <a:lnTo>
                    <a:pt x="190434" y="4845"/>
                  </a:lnTo>
                  <a:lnTo>
                    <a:pt x="238500" y="0"/>
                  </a:lnTo>
                  <a:lnTo>
                    <a:pt x="285246" y="4625"/>
                  </a:lnTo>
                  <a:lnTo>
                    <a:pt x="329770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5" y="191753"/>
                  </a:lnTo>
                  <a:lnTo>
                    <a:pt x="477000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8" y="371847"/>
                  </a:lnTo>
                  <a:lnTo>
                    <a:pt x="407145" y="407144"/>
                  </a:lnTo>
                  <a:lnTo>
                    <a:pt x="371847" y="436267"/>
                  </a:lnTo>
                  <a:lnTo>
                    <a:pt x="331335" y="458257"/>
                  </a:lnTo>
                  <a:lnTo>
                    <a:pt x="286566" y="472154"/>
                  </a:lnTo>
                  <a:lnTo>
                    <a:pt x="238500" y="476999"/>
                  </a:lnTo>
                  <a:lnTo>
                    <a:pt x="190434" y="472154"/>
                  </a:lnTo>
                  <a:lnTo>
                    <a:pt x="145665" y="458257"/>
                  </a:lnTo>
                  <a:lnTo>
                    <a:pt x="105152" y="436267"/>
                  </a:lnTo>
                  <a:lnTo>
                    <a:pt x="69855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532026" y="3326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500" y="476999"/>
                  </a:moveTo>
                  <a:lnTo>
                    <a:pt x="190434" y="472154"/>
                  </a:lnTo>
                  <a:lnTo>
                    <a:pt x="145665" y="458257"/>
                  </a:lnTo>
                  <a:lnTo>
                    <a:pt x="105152" y="436267"/>
                  </a:lnTo>
                  <a:lnTo>
                    <a:pt x="69855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5" y="69854"/>
                  </a:lnTo>
                  <a:lnTo>
                    <a:pt x="105152" y="40732"/>
                  </a:lnTo>
                  <a:lnTo>
                    <a:pt x="145665" y="18742"/>
                  </a:lnTo>
                  <a:lnTo>
                    <a:pt x="190434" y="4845"/>
                  </a:lnTo>
                  <a:lnTo>
                    <a:pt x="238500" y="0"/>
                  </a:lnTo>
                  <a:lnTo>
                    <a:pt x="285246" y="4625"/>
                  </a:lnTo>
                  <a:lnTo>
                    <a:pt x="329770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5" y="191753"/>
                  </a:lnTo>
                  <a:lnTo>
                    <a:pt x="477000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8" y="371847"/>
                  </a:lnTo>
                  <a:lnTo>
                    <a:pt x="407145" y="407144"/>
                  </a:lnTo>
                  <a:lnTo>
                    <a:pt x="371847" y="436267"/>
                  </a:lnTo>
                  <a:lnTo>
                    <a:pt x="331335" y="458257"/>
                  </a:lnTo>
                  <a:lnTo>
                    <a:pt x="286566" y="472154"/>
                  </a:lnTo>
                  <a:lnTo>
                    <a:pt x="238500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532026" y="3326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5" y="69854"/>
                  </a:lnTo>
                  <a:lnTo>
                    <a:pt x="105152" y="40732"/>
                  </a:lnTo>
                  <a:lnTo>
                    <a:pt x="145665" y="18742"/>
                  </a:lnTo>
                  <a:lnTo>
                    <a:pt x="190434" y="4845"/>
                  </a:lnTo>
                  <a:lnTo>
                    <a:pt x="238500" y="0"/>
                  </a:lnTo>
                  <a:lnTo>
                    <a:pt x="285246" y="4625"/>
                  </a:lnTo>
                  <a:lnTo>
                    <a:pt x="329770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5" y="191753"/>
                  </a:lnTo>
                  <a:lnTo>
                    <a:pt x="477000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8" y="371847"/>
                  </a:lnTo>
                  <a:lnTo>
                    <a:pt x="407145" y="407144"/>
                  </a:lnTo>
                  <a:lnTo>
                    <a:pt x="371847" y="436267"/>
                  </a:lnTo>
                  <a:lnTo>
                    <a:pt x="331335" y="458257"/>
                  </a:lnTo>
                  <a:lnTo>
                    <a:pt x="286566" y="472154"/>
                  </a:lnTo>
                  <a:lnTo>
                    <a:pt x="238500" y="476999"/>
                  </a:lnTo>
                  <a:lnTo>
                    <a:pt x="190434" y="472154"/>
                  </a:lnTo>
                  <a:lnTo>
                    <a:pt x="145665" y="458257"/>
                  </a:lnTo>
                  <a:lnTo>
                    <a:pt x="105152" y="436267"/>
                  </a:lnTo>
                  <a:lnTo>
                    <a:pt x="69855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532026" y="3967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500" y="476999"/>
                  </a:moveTo>
                  <a:lnTo>
                    <a:pt x="190434" y="472154"/>
                  </a:lnTo>
                  <a:lnTo>
                    <a:pt x="145665" y="458257"/>
                  </a:lnTo>
                  <a:lnTo>
                    <a:pt x="105152" y="436267"/>
                  </a:lnTo>
                  <a:lnTo>
                    <a:pt x="69855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5" y="69854"/>
                  </a:lnTo>
                  <a:lnTo>
                    <a:pt x="105152" y="40732"/>
                  </a:lnTo>
                  <a:lnTo>
                    <a:pt x="145665" y="18742"/>
                  </a:lnTo>
                  <a:lnTo>
                    <a:pt x="190434" y="4845"/>
                  </a:lnTo>
                  <a:lnTo>
                    <a:pt x="238500" y="0"/>
                  </a:lnTo>
                  <a:lnTo>
                    <a:pt x="285246" y="4625"/>
                  </a:lnTo>
                  <a:lnTo>
                    <a:pt x="329770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5" y="191753"/>
                  </a:lnTo>
                  <a:lnTo>
                    <a:pt x="477000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8" y="371847"/>
                  </a:lnTo>
                  <a:lnTo>
                    <a:pt x="407145" y="407144"/>
                  </a:lnTo>
                  <a:lnTo>
                    <a:pt x="371847" y="436267"/>
                  </a:lnTo>
                  <a:lnTo>
                    <a:pt x="331335" y="458257"/>
                  </a:lnTo>
                  <a:lnTo>
                    <a:pt x="286566" y="472154"/>
                  </a:lnTo>
                  <a:lnTo>
                    <a:pt x="238500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532026" y="3967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5" y="69854"/>
                  </a:lnTo>
                  <a:lnTo>
                    <a:pt x="105152" y="40732"/>
                  </a:lnTo>
                  <a:lnTo>
                    <a:pt x="145665" y="18742"/>
                  </a:lnTo>
                  <a:lnTo>
                    <a:pt x="190434" y="4845"/>
                  </a:lnTo>
                  <a:lnTo>
                    <a:pt x="238500" y="0"/>
                  </a:lnTo>
                  <a:lnTo>
                    <a:pt x="285246" y="4625"/>
                  </a:lnTo>
                  <a:lnTo>
                    <a:pt x="329770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5" y="191753"/>
                  </a:lnTo>
                  <a:lnTo>
                    <a:pt x="477000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8" y="371847"/>
                  </a:lnTo>
                  <a:lnTo>
                    <a:pt x="407145" y="407144"/>
                  </a:lnTo>
                  <a:lnTo>
                    <a:pt x="371847" y="436267"/>
                  </a:lnTo>
                  <a:lnTo>
                    <a:pt x="331335" y="458257"/>
                  </a:lnTo>
                  <a:lnTo>
                    <a:pt x="286566" y="472154"/>
                  </a:lnTo>
                  <a:lnTo>
                    <a:pt x="238500" y="476999"/>
                  </a:lnTo>
                  <a:lnTo>
                    <a:pt x="190434" y="472154"/>
                  </a:lnTo>
                  <a:lnTo>
                    <a:pt x="145665" y="458257"/>
                  </a:lnTo>
                  <a:lnTo>
                    <a:pt x="105152" y="436267"/>
                  </a:lnTo>
                  <a:lnTo>
                    <a:pt x="69855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646874" y="1969775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646874" y="1969775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646874" y="2610201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646874" y="2610201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646874" y="32506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646874" y="32506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85275" y="1969775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70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085275" y="1969775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70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085275" y="2610201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70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085275" y="2610201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70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085275" y="32506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70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085275" y="32506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70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676075" y="1643901"/>
              <a:ext cx="4856480" cy="2562225"/>
            </a:xfrm>
            <a:custGeom>
              <a:avLst/>
              <a:gdLst/>
              <a:ahLst/>
              <a:cxnLst/>
              <a:rect l="l" t="t" r="r" b="b"/>
              <a:pathLst>
                <a:path w="4856480" h="2562225">
                  <a:moveTo>
                    <a:pt x="0" y="148"/>
                  </a:moveTo>
                  <a:lnTo>
                    <a:pt x="970799" y="564448"/>
                  </a:lnTo>
                </a:path>
                <a:path w="4856480" h="2562225">
                  <a:moveTo>
                    <a:pt x="0" y="148"/>
                  </a:moveTo>
                  <a:lnTo>
                    <a:pt x="970799" y="1204948"/>
                  </a:lnTo>
                </a:path>
                <a:path w="4856480" h="2562225">
                  <a:moveTo>
                    <a:pt x="0" y="148"/>
                  </a:moveTo>
                  <a:lnTo>
                    <a:pt x="970799" y="1845148"/>
                  </a:lnTo>
                </a:path>
                <a:path w="4856480" h="2562225">
                  <a:moveTo>
                    <a:pt x="0" y="640574"/>
                  </a:moveTo>
                  <a:lnTo>
                    <a:pt x="970799" y="564374"/>
                  </a:lnTo>
                </a:path>
                <a:path w="4856480" h="2562225">
                  <a:moveTo>
                    <a:pt x="0" y="1280999"/>
                  </a:moveTo>
                  <a:lnTo>
                    <a:pt x="970799" y="564299"/>
                  </a:lnTo>
                </a:path>
                <a:path w="4856480" h="2562225">
                  <a:moveTo>
                    <a:pt x="0" y="640574"/>
                  </a:moveTo>
                  <a:lnTo>
                    <a:pt x="970799" y="1204874"/>
                  </a:lnTo>
                </a:path>
                <a:path w="4856480" h="2562225">
                  <a:moveTo>
                    <a:pt x="0" y="640574"/>
                  </a:moveTo>
                  <a:lnTo>
                    <a:pt x="970799" y="1845374"/>
                  </a:lnTo>
                </a:path>
                <a:path w="4856480" h="2562225">
                  <a:moveTo>
                    <a:pt x="0" y="1280999"/>
                  </a:moveTo>
                  <a:lnTo>
                    <a:pt x="970799" y="1204799"/>
                  </a:lnTo>
                </a:path>
                <a:path w="4856480" h="2562225">
                  <a:moveTo>
                    <a:pt x="0" y="1280999"/>
                  </a:moveTo>
                  <a:lnTo>
                    <a:pt x="970799" y="1845299"/>
                  </a:lnTo>
                </a:path>
                <a:path w="4856480" h="2562225">
                  <a:moveTo>
                    <a:pt x="0" y="1921425"/>
                  </a:moveTo>
                  <a:lnTo>
                    <a:pt x="970799" y="564225"/>
                  </a:lnTo>
                </a:path>
                <a:path w="4856480" h="2562225">
                  <a:moveTo>
                    <a:pt x="0" y="1921425"/>
                  </a:moveTo>
                  <a:lnTo>
                    <a:pt x="970799" y="1204725"/>
                  </a:lnTo>
                </a:path>
                <a:path w="4856480" h="2562225">
                  <a:moveTo>
                    <a:pt x="0" y="1921425"/>
                  </a:moveTo>
                  <a:lnTo>
                    <a:pt x="970799" y="1845225"/>
                  </a:lnTo>
                </a:path>
                <a:path w="4856480" h="2562225">
                  <a:moveTo>
                    <a:pt x="0" y="2561851"/>
                  </a:moveTo>
                  <a:lnTo>
                    <a:pt x="970799" y="1845151"/>
                  </a:lnTo>
                </a:path>
                <a:path w="4856480" h="2562225">
                  <a:moveTo>
                    <a:pt x="0" y="2561851"/>
                  </a:moveTo>
                  <a:lnTo>
                    <a:pt x="970799" y="1204651"/>
                  </a:lnTo>
                </a:path>
                <a:path w="4856480" h="2562225">
                  <a:moveTo>
                    <a:pt x="0" y="2561851"/>
                  </a:moveTo>
                  <a:lnTo>
                    <a:pt x="970799" y="564451"/>
                  </a:lnTo>
                </a:path>
                <a:path w="4856480" h="2562225">
                  <a:moveTo>
                    <a:pt x="1447799" y="564374"/>
                  </a:moveTo>
                  <a:lnTo>
                    <a:pt x="2189399" y="803774"/>
                  </a:lnTo>
                </a:path>
                <a:path w="4856480" h="2562225">
                  <a:moveTo>
                    <a:pt x="1447799" y="564374"/>
                  </a:moveTo>
                  <a:lnTo>
                    <a:pt x="2189399" y="1515374"/>
                  </a:lnTo>
                </a:path>
                <a:path w="4856480" h="2562225">
                  <a:moveTo>
                    <a:pt x="1447799" y="1204799"/>
                  </a:moveTo>
                  <a:lnTo>
                    <a:pt x="2189399" y="803999"/>
                  </a:lnTo>
                </a:path>
                <a:path w="4856480" h="2562225">
                  <a:moveTo>
                    <a:pt x="1447799" y="1204799"/>
                  </a:moveTo>
                  <a:lnTo>
                    <a:pt x="2189399" y="1515599"/>
                  </a:lnTo>
                </a:path>
                <a:path w="4856480" h="2562225">
                  <a:moveTo>
                    <a:pt x="1447799" y="1845225"/>
                  </a:moveTo>
                  <a:lnTo>
                    <a:pt x="2189399" y="803925"/>
                  </a:lnTo>
                </a:path>
                <a:path w="4856480" h="2562225">
                  <a:moveTo>
                    <a:pt x="1447799" y="1845225"/>
                  </a:moveTo>
                  <a:lnTo>
                    <a:pt x="2189399" y="1515525"/>
                  </a:lnTo>
                </a:path>
                <a:path w="4856480" h="2562225">
                  <a:moveTo>
                    <a:pt x="2666475" y="803902"/>
                  </a:moveTo>
                  <a:lnTo>
                    <a:pt x="3409275" y="564502"/>
                  </a:lnTo>
                </a:path>
                <a:path w="4856480" h="2562225">
                  <a:moveTo>
                    <a:pt x="2666475" y="803902"/>
                  </a:moveTo>
                  <a:lnTo>
                    <a:pt x="3409275" y="1204702"/>
                  </a:lnTo>
                </a:path>
                <a:path w="4856480" h="2562225">
                  <a:moveTo>
                    <a:pt x="2666475" y="803902"/>
                  </a:moveTo>
                  <a:lnTo>
                    <a:pt x="3409275" y="1845202"/>
                  </a:lnTo>
                </a:path>
                <a:path w="4856480" h="2562225">
                  <a:moveTo>
                    <a:pt x="2666475" y="1515486"/>
                  </a:moveTo>
                  <a:lnTo>
                    <a:pt x="3409275" y="564486"/>
                  </a:lnTo>
                </a:path>
                <a:path w="4856480" h="2562225">
                  <a:moveTo>
                    <a:pt x="2666475" y="1515486"/>
                  </a:moveTo>
                  <a:lnTo>
                    <a:pt x="3409275" y="1204686"/>
                  </a:lnTo>
                </a:path>
                <a:path w="4856480" h="2562225">
                  <a:moveTo>
                    <a:pt x="2666475" y="1515486"/>
                  </a:moveTo>
                  <a:lnTo>
                    <a:pt x="3409275" y="1845186"/>
                  </a:lnTo>
                </a:path>
                <a:path w="4856480" h="2562225">
                  <a:moveTo>
                    <a:pt x="3886199" y="564374"/>
                  </a:moveTo>
                  <a:lnTo>
                    <a:pt x="4856099" y="74"/>
                  </a:lnTo>
                </a:path>
                <a:path w="4856480" h="2562225">
                  <a:moveTo>
                    <a:pt x="3886199" y="564374"/>
                  </a:moveTo>
                  <a:lnTo>
                    <a:pt x="4856099" y="640574"/>
                  </a:lnTo>
                </a:path>
                <a:path w="4856480" h="2562225">
                  <a:moveTo>
                    <a:pt x="3886199" y="564374"/>
                  </a:moveTo>
                  <a:lnTo>
                    <a:pt x="4856099" y="1281074"/>
                  </a:lnTo>
                </a:path>
                <a:path w="4856480" h="2562225">
                  <a:moveTo>
                    <a:pt x="3886199" y="564374"/>
                  </a:moveTo>
                  <a:lnTo>
                    <a:pt x="4856099" y="1921574"/>
                  </a:lnTo>
                </a:path>
                <a:path w="4856480" h="2562225">
                  <a:moveTo>
                    <a:pt x="3886199" y="564374"/>
                  </a:moveTo>
                  <a:lnTo>
                    <a:pt x="4856099" y="2561774"/>
                  </a:lnTo>
                </a:path>
                <a:path w="4856480" h="2562225">
                  <a:moveTo>
                    <a:pt x="3886199" y="1204799"/>
                  </a:moveTo>
                  <a:lnTo>
                    <a:pt x="4856099" y="0"/>
                  </a:lnTo>
                </a:path>
                <a:path w="4856480" h="2562225">
                  <a:moveTo>
                    <a:pt x="3886199" y="1204799"/>
                  </a:moveTo>
                  <a:lnTo>
                    <a:pt x="4856099" y="640499"/>
                  </a:lnTo>
                </a:path>
                <a:path w="4856480" h="2562225">
                  <a:moveTo>
                    <a:pt x="3886199" y="1204799"/>
                  </a:moveTo>
                  <a:lnTo>
                    <a:pt x="4856099" y="1280999"/>
                  </a:lnTo>
                </a:path>
                <a:path w="4856480" h="2562225">
                  <a:moveTo>
                    <a:pt x="3886199" y="1204799"/>
                  </a:moveTo>
                  <a:lnTo>
                    <a:pt x="4856099" y="1921499"/>
                  </a:lnTo>
                </a:path>
                <a:path w="4856480" h="2562225">
                  <a:moveTo>
                    <a:pt x="3886199" y="1204799"/>
                  </a:moveTo>
                  <a:lnTo>
                    <a:pt x="4856099" y="2561999"/>
                  </a:lnTo>
                </a:path>
                <a:path w="4856480" h="2562225">
                  <a:moveTo>
                    <a:pt x="3886199" y="1845225"/>
                  </a:moveTo>
                  <a:lnTo>
                    <a:pt x="4856099" y="225"/>
                  </a:lnTo>
                </a:path>
                <a:path w="4856480" h="2562225">
                  <a:moveTo>
                    <a:pt x="3886199" y="1845225"/>
                  </a:moveTo>
                  <a:lnTo>
                    <a:pt x="4856099" y="640425"/>
                  </a:lnTo>
                </a:path>
                <a:path w="4856480" h="2562225">
                  <a:moveTo>
                    <a:pt x="3886199" y="1845225"/>
                  </a:moveTo>
                  <a:lnTo>
                    <a:pt x="4856099" y="1280925"/>
                  </a:lnTo>
                </a:path>
                <a:path w="4856480" h="2562225">
                  <a:moveTo>
                    <a:pt x="3886199" y="1845225"/>
                  </a:moveTo>
                  <a:lnTo>
                    <a:pt x="4856099" y="1921425"/>
                  </a:lnTo>
                </a:path>
                <a:path w="4856480" h="2562225">
                  <a:moveTo>
                    <a:pt x="3886199" y="1845225"/>
                  </a:moveTo>
                  <a:lnTo>
                    <a:pt x="4856099" y="2561925"/>
                  </a:lnTo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>
            <a:spLocks noGrp="1"/>
          </p:cNvSpPr>
          <p:nvPr>
            <p:ph type="title"/>
          </p:nvPr>
        </p:nvSpPr>
        <p:spPr>
          <a:xfrm>
            <a:off x="273439" y="510843"/>
            <a:ext cx="641159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b="1" dirty="0"/>
              <a:t>6-</a:t>
            </a:r>
            <a:r>
              <a:rPr sz="2500" b="1" dirty="0"/>
              <a:t>Deep</a:t>
            </a:r>
            <a:r>
              <a:rPr sz="2500" b="1" spc="-155" dirty="0"/>
              <a:t> </a:t>
            </a:r>
            <a:r>
              <a:rPr sz="2500" b="1" spc="-10" dirty="0"/>
              <a:t>Autoencoder</a:t>
            </a:r>
            <a:endParaRPr sz="2500" b="1" dirty="0"/>
          </a:p>
        </p:txBody>
      </p:sp>
      <p:sp>
        <p:nvSpPr>
          <p:cNvPr id="50" name="object 50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439" y="510843"/>
            <a:ext cx="641159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b="1" dirty="0"/>
              <a:t>6-</a:t>
            </a:r>
            <a:r>
              <a:rPr sz="2500" b="1" dirty="0"/>
              <a:t>Deep</a:t>
            </a:r>
            <a:r>
              <a:rPr sz="2500" b="1" spc="25" dirty="0"/>
              <a:t> </a:t>
            </a:r>
            <a:r>
              <a:rPr sz="2500" b="1" spc="-10" dirty="0"/>
              <a:t>Convolutional</a:t>
            </a:r>
            <a:r>
              <a:rPr sz="2500" b="1" spc="-114" dirty="0"/>
              <a:t> </a:t>
            </a:r>
            <a:r>
              <a:rPr sz="2500" b="1" spc="-10" dirty="0"/>
              <a:t>Autoencoder</a:t>
            </a:r>
            <a:r>
              <a:rPr lang="en-US" sz="2500" b="1" spc="-10" dirty="0"/>
              <a:t> (CAE)</a:t>
            </a:r>
            <a:endParaRPr sz="2500" b="1" dirty="0"/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5249" y="1362305"/>
            <a:ext cx="5307965" cy="2242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latin typeface="Arial"/>
                <a:cs typeface="Arial"/>
              </a:rPr>
              <a:t>Similar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architecture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AE</a:t>
            </a:r>
            <a:endParaRPr sz="1800" dirty="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</a:tabLst>
            </a:pPr>
            <a:r>
              <a:rPr sz="1800" dirty="0">
                <a:latin typeface="Arial"/>
                <a:cs typeface="Arial"/>
              </a:rPr>
              <a:t>Convolutional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layers</a:t>
            </a:r>
            <a:endParaRPr sz="1800" dirty="0">
              <a:latin typeface="Arial"/>
              <a:cs typeface="Arial"/>
            </a:endParaRPr>
          </a:p>
          <a:p>
            <a:pPr marL="379095" marR="487680" indent="-367030">
              <a:lnSpc>
                <a:spcPct val="114599"/>
              </a:lnSpc>
              <a:spcBef>
                <a:spcPts val="975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dirty="0">
                <a:latin typeface="Arial"/>
                <a:cs typeface="Arial"/>
              </a:rPr>
              <a:t>Encoder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Convolution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+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Leaky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Relu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+Batch normalization</a:t>
            </a:r>
            <a:endParaRPr sz="1800" dirty="0">
              <a:latin typeface="Arial"/>
              <a:cs typeface="Arial"/>
            </a:endParaRPr>
          </a:p>
          <a:p>
            <a:pPr marL="379095" marR="5080" indent="-367030">
              <a:lnSpc>
                <a:spcPct val="114599"/>
              </a:lnSpc>
              <a:spcBef>
                <a:spcPts val="975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dirty="0">
                <a:latin typeface="Arial"/>
                <a:cs typeface="Arial"/>
              </a:rPr>
              <a:t>Decoder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Convolution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transpose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+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Leaky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Relu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+ </a:t>
            </a:r>
            <a:r>
              <a:rPr sz="1800" dirty="0">
                <a:latin typeface="Arial"/>
                <a:cs typeface="Arial"/>
              </a:rPr>
              <a:t>Batch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normalization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913DF3-E867-753E-1DA8-97BC223D5E24}"/>
              </a:ext>
            </a:extLst>
          </p:cNvPr>
          <p:cNvSpPr txBox="1"/>
          <p:nvPr/>
        </p:nvSpPr>
        <p:spPr>
          <a:xfrm>
            <a:off x="304800" y="863590"/>
            <a:ext cx="8686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Image denoising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: CAEs can filter out noise and redundant information from images. </a:t>
            </a:r>
          </a:p>
          <a:p>
            <a:pPr algn="l" fontAlgn="ctr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Dimensionality reduction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: CAEs can compress high-dimensional images into a lower-dimensional representation. </a:t>
            </a:r>
          </a:p>
          <a:p>
            <a:pPr algn="l" fontAlgn="ctr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Image generation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: CAEs can reconstruct images from a lower-dimensional representation. </a:t>
            </a:r>
          </a:p>
          <a:p>
            <a:pPr algn="l" fontAlgn="ctr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Defect detection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: CAEs can be used to detect defects in artworks by enhancing thermal images and extracting features. </a:t>
            </a:r>
          </a:p>
          <a:p>
            <a:pPr algn="l" fontAlgn="ctr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Subsurface flow property distribution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: CAEs can be used to parameterize complex subsurface flow property distributions.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ECG denoising and classification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: CAEs can be used to denoise and classify electrocardiogram (ECG) signals. </a:t>
            </a:r>
          </a:p>
        </p:txBody>
      </p:sp>
      <p:sp>
        <p:nvSpPr>
          <p:cNvPr id="4" name="object 49">
            <a:extLst>
              <a:ext uri="{FF2B5EF4-FFF2-40B4-BE49-F238E27FC236}">
                <a16:creationId xmlns:a16="http://schemas.microsoft.com/office/drawing/2014/main" id="{F68C2DDD-136C-4A82-07A4-A34C2D26D43F}"/>
              </a:ext>
            </a:extLst>
          </p:cNvPr>
          <p:cNvSpPr txBox="1">
            <a:spLocks/>
          </p:cNvSpPr>
          <p:nvPr/>
        </p:nvSpPr>
        <p:spPr>
          <a:xfrm>
            <a:off x="1213802" y="193005"/>
            <a:ext cx="641159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500" b="1" dirty="0"/>
              <a:t>Deep</a:t>
            </a:r>
            <a:r>
              <a:rPr lang="en-US" sz="2500" b="1" spc="-155" dirty="0"/>
              <a:t> </a:t>
            </a:r>
            <a:r>
              <a:rPr lang="en-US" sz="2500" b="1" spc="-10" dirty="0"/>
              <a:t>Autoencoder Advantages</a:t>
            </a:r>
            <a:endParaRPr lang="en-US" sz="25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9C5397-1223-66CF-0346-22EA120E7CBE}"/>
              </a:ext>
            </a:extLst>
          </p:cNvPr>
          <p:cNvSpPr txBox="1"/>
          <p:nvPr/>
        </p:nvSpPr>
        <p:spPr>
          <a:xfrm>
            <a:off x="1213802" y="3956336"/>
            <a:ext cx="6477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Google Sans"/>
              </a:rPr>
              <a:t>CAEs are powerful tools that can be applied in many industries, including healthcare, anomaly detection, information retrieval, and recommendation systems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874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Generation</a:t>
            </a:r>
            <a:r>
              <a:rPr spc="-160" dirty="0"/>
              <a:t> </a:t>
            </a:r>
            <a:r>
              <a:rPr spc="-20" dirty="0"/>
              <a:t>with</a:t>
            </a:r>
            <a:r>
              <a:rPr spc="-175" dirty="0"/>
              <a:t> </a:t>
            </a:r>
            <a:r>
              <a:rPr spc="-25" dirty="0"/>
              <a:t>AEs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791812" y="1424212"/>
            <a:ext cx="487045" cy="487045"/>
            <a:chOff x="1791812" y="1424212"/>
            <a:chExt cx="487045" cy="487045"/>
          </a:xfrm>
        </p:grpSpPr>
        <p:sp>
          <p:nvSpPr>
            <p:cNvPr id="5" name="object 5"/>
            <p:cNvSpPr/>
            <p:nvPr/>
          </p:nvSpPr>
          <p:spPr>
            <a:xfrm>
              <a:off x="1796575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96575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36209" y="1563461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91812" y="2064637"/>
            <a:ext cx="487045" cy="487045"/>
            <a:chOff x="1791812" y="2064637"/>
            <a:chExt cx="487045" cy="487045"/>
          </a:xfrm>
        </p:grpSpPr>
        <p:sp>
          <p:nvSpPr>
            <p:cNvPr id="9" name="object 9"/>
            <p:cNvSpPr/>
            <p:nvPr/>
          </p:nvSpPr>
          <p:spPr>
            <a:xfrm>
              <a:off x="1796575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96575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36209" y="2203887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91812" y="2705063"/>
            <a:ext cx="487045" cy="487045"/>
            <a:chOff x="1791812" y="2705063"/>
            <a:chExt cx="487045" cy="487045"/>
          </a:xfrm>
        </p:grpSpPr>
        <p:sp>
          <p:nvSpPr>
            <p:cNvPr id="13" name="object 13"/>
            <p:cNvSpPr/>
            <p:nvPr/>
          </p:nvSpPr>
          <p:spPr>
            <a:xfrm>
              <a:off x="1796575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96575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36209" y="2844313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91812" y="3345489"/>
            <a:ext cx="487045" cy="487045"/>
            <a:chOff x="1791812" y="3345489"/>
            <a:chExt cx="487045" cy="487045"/>
          </a:xfrm>
        </p:grpSpPr>
        <p:sp>
          <p:nvSpPr>
            <p:cNvPr id="17" name="object 17"/>
            <p:cNvSpPr/>
            <p:nvPr/>
          </p:nvSpPr>
          <p:spPr>
            <a:xfrm>
              <a:off x="1796575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96575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36209" y="3484738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791812" y="3985914"/>
            <a:ext cx="487045" cy="487045"/>
            <a:chOff x="1791812" y="3985914"/>
            <a:chExt cx="487045" cy="487045"/>
          </a:xfrm>
        </p:grpSpPr>
        <p:sp>
          <p:nvSpPr>
            <p:cNvPr id="21" name="object 21"/>
            <p:cNvSpPr/>
            <p:nvPr/>
          </p:nvSpPr>
          <p:spPr>
            <a:xfrm>
              <a:off x="1796575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96575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936209" y="4125164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905563" y="1424212"/>
            <a:ext cx="487045" cy="487045"/>
            <a:chOff x="5905563" y="1424212"/>
            <a:chExt cx="487045" cy="487045"/>
          </a:xfrm>
        </p:grpSpPr>
        <p:sp>
          <p:nvSpPr>
            <p:cNvPr id="25" name="object 25"/>
            <p:cNvSpPr/>
            <p:nvPr/>
          </p:nvSpPr>
          <p:spPr>
            <a:xfrm>
              <a:off x="5910326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10326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034453" y="1563461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905563" y="2064637"/>
            <a:ext cx="487045" cy="487045"/>
            <a:chOff x="5905563" y="2064637"/>
            <a:chExt cx="487045" cy="487045"/>
          </a:xfrm>
        </p:grpSpPr>
        <p:sp>
          <p:nvSpPr>
            <p:cNvPr id="29" name="object 29"/>
            <p:cNvSpPr/>
            <p:nvPr/>
          </p:nvSpPr>
          <p:spPr>
            <a:xfrm>
              <a:off x="5910326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10326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034453" y="2203887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905563" y="2705063"/>
            <a:ext cx="487045" cy="487045"/>
            <a:chOff x="5905563" y="2705063"/>
            <a:chExt cx="487045" cy="487045"/>
          </a:xfrm>
        </p:grpSpPr>
        <p:sp>
          <p:nvSpPr>
            <p:cNvPr id="33" name="object 33"/>
            <p:cNvSpPr/>
            <p:nvPr/>
          </p:nvSpPr>
          <p:spPr>
            <a:xfrm>
              <a:off x="5910326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10326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034453" y="2844313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905563" y="3345489"/>
            <a:ext cx="487045" cy="487045"/>
            <a:chOff x="5905563" y="3345489"/>
            <a:chExt cx="487045" cy="487045"/>
          </a:xfrm>
        </p:grpSpPr>
        <p:sp>
          <p:nvSpPr>
            <p:cNvPr id="37" name="object 37"/>
            <p:cNvSpPr/>
            <p:nvPr/>
          </p:nvSpPr>
          <p:spPr>
            <a:xfrm>
              <a:off x="5910326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10326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034453" y="3484738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905563" y="3985914"/>
            <a:ext cx="487045" cy="487045"/>
            <a:chOff x="5905563" y="3985914"/>
            <a:chExt cx="487045" cy="487045"/>
          </a:xfrm>
        </p:grpSpPr>
        <p:sp>
          <p:nvSpPr>
            <p:cNvPr id="41" name="object 41"/>
            <p:cNvSpPr/>
            <p:nvPr/>
          </p:nvSpPr>
          <p:spPr>
            <a:xfrm>
              <a:off x="5910326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10326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034453" y="4125164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268812" y="1662712"/>
            <a:ext cx="3646804" cy="2571750"/>
            <a:chOff x="2268812" y="1662712"/>
            <a:chExt cx="3646804" cy="2571750"/>
          </a:xfrm>
        </p:grpSpPr>
        <p:sp>
          <p:nvSpPr>
            <p:cNvPr id="45" name="object 45"/>
            <p:cNvSpPr/>
            <p:nvPr/>
          </p:nvSpPr>
          <p:spPr>
            <a:xfrm>
              <a:off x="2273574" y="1667474"/>
              <a:ext cx="3637279" cy="2562225"/>
            </a:xfrm>
            <a:custGeom>
              <a:avLst/>
              <a:gdLst/>
              <a:ahLst/>
              <a:cxnLst/>
              <a:rect l="l" t="t" r="r" b="b"/>
              <a:pathLst>
                <a:path w="3637279" h="2562225">
                  <a:moveTo>
                    <a:pt x="0" y="0"/>
                  </a:moveTo>
                  <a:lnTo>
                    <a:pt x="1118399" y="803699"/>
                  </a:lnTo>
                </a:path>
                <a:path w="3637279" h="2562225">
                  <a:moveTo>
                    <a:pt x="0" y="0"/>
                  </a:moveTo>
                  <a:lnTo>
                    <a:pt x="1118399" y="1515299"/>
                  </a:lnTo>
                </a:path>
                <a:path w="3637279" h="2562225">
                  <a:moveTo>
                    <a:pt x="53" y="640552"/>
                  </a:moveTo>
                  <a:lnTo>
                    <a:pt x="1118453" y="803752"/>
                  </a:lnTo>
                </a:path>
                <a:path w="3637279" h="2562225">
                  <a:moveTo>
                    <a:pt x="0" y="640424"/>
                  </a:moveTo>
                  <a:lnTo>
                    <a:pt x="1118399" y="1515224"/>
                  </a:lnTo>
                </a:path>
                <a:path w="3637279" h="2562225">
                  <a:moveTo>
                    <a:pt x="53" y="1280751"/>
                  </a:moveTo>
                  <a:lnTo>
                    <a:pt x="1118453" y="803751"/>
                  </a:lnTo>
                </a:path>
                <a:path w="3637279" h="2562225">
                  <a:moveTo>
                    <a:pt x="0" y="1280849"/>
                  </a:moveTo>
                  <a:lnTo>
                    <a:pt x="1118399" y="1515449"/>
                  </a:lnTo>
                </a:path>
                <a:path w="3637279" h="2562225">
                  <a:moveTo>
                    <a:pt x="53" y="1921250"/>
                  </a:moveTo>
                  <a:lnTo>
                    <a:pt x="1118453" y="803750"/>
                  </a:lnTo>
                </a:path>
                <a:path w="3637279" h="2562225">
                  <a:moveTo>
                    <a:pt x="53" y="1921234"/>
                  </a:moveTo>
                  <a:lnTo>
                    <a:pt x="1118453" y="1515334"/>
                  </a:lnTo>
                </a:path>
                <a:path w="3637279" h="2562225">
                  <a:moveTo>
                    <a:pt x="53" y="2561749"/>
                  </a:moveTo>
                  <a:lnTo>
                    <a:pt x="1118453" y="803749"/>
                  </a:lnTo>
                </a:path>
                <a:path w="3637279" h="2562225">
                  <a:moveTo>
                    <a:pt x="53" y="2561733"/>
                  </a:moveTo>
                  <a:lnTo>
                    <a:pt x="1118453" y="1515333"/>
                  </a:lnTo>
                </a:path>
                <a:path w="3637279" h="2562225">
                  <a:moveTo>
                    <a:pt x="2404225" y="803760"/>
                  </a:moveTo>
                  <a:lnTo>
                    <a:pt x="3636625" y="60"/>
                  </a:lnTo>
                </a:path>
                <a:path w="3637279" h="2562225">
                  <a:moveTo>
                    <a:pt x="2404284" y="803632"/>
                  </a:moveTo>
                  <a:lnTo>
                    <a:pt x="3636684" y="640432"/>
                  </a:lnTo>
                </a:path>
                <a:path w="3637279" h="2562225">
                  <a:moveTo>
                    <a:pt x="2404284" y="803858"/>
                  </a:moveTo>
                  <a:lnTo>
                    <a:pt x="3636684" y="1280858"/>
                  </a:lnTo>
                </a:path>
                <a:path w="3637279" h="2562225">
                  <a:moveTo>
                    <a:pt x="2404284" y="803783"/>
                  </a:moveTo>
                  <a:lnTo>
                    <a:pt x="3636684" y="1921283"/>
                  </a:lnTo>
                </a:path>
                <a:path w="3637279" h="2562225">
                  <a:moveTo>
                    <a:pt x="2404225" y="803760"/>
                  </a:moveTo>
                  <a:lnTo>
                    <a:pt x="3636625" y="256176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6405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12807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1921240"/>
                  </a:lnTo>
                </a:path>
                <a:path w="3637279" h="2562225">
                  <a:moveTo>
                    <a:pt x="2404284" y="1515305"/>
                  </a:moveTo>
                  <a:lnTo>
                    <a:pt x="3636684" y="2561704"/>
                  </a:lnTo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45424" y="2092149"/>
              <a:ext cx="1185545" cy="1369695"/>
            </a:xfrm>
            <a:custGeom>
              <a:avLst/>
              <a:gdLst/>
              <a:ahLst/>
              <a:cxnLst/>
              <a:rect l="l" t="t" r="r" b="b"/>
              <a:pathLst>
                <a:path w="1185545" h="1369695">
                  <a:moveTo>
                    <a:pt x="0" y="0"/>
                  </a:moveTo>
                  <a:lnTo>
                    <a:pt x="1184999" y="0"/>
                  </a:lnTo>
                  <a:lnTo>
                    <a:pt x="1184999" y="1369199"/>
                  </a:lnTo>
                  <a:lnTo>
                    <a:pt x="0" y="136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Generation</a:t>
            </a:r>
            <a:r>
              <a:rPr spc="-160" dirty="0"/>
              <a:t> </a:t>
            </a:r>
            <a:r>
              <a:rPr spc="-20" dirty="0"/>
              <a:t>with</a:t>
            </a:r>
            <a:r>
              <a:rPr spc="-175" dirty="0"/>
              <a:t> </a:t>
            </a:r>
            <a:r>
              <a:rPr spc="-25" dirty="0"/>
              <a:t>AEs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791812" y="1424212"/>
            <a:ext cx="487045" cy="487045"/>
            <a:chOff x="1791812" y="1424212"/>
            <a:chExt cx="487045" cy="487045"/>
          </a:xfrm>
        </p:grpSpPr>
        <p:sp>
          <p:nvSpPr>
            <p:cNvPr id="5" name="object 5"/>
            <p:cNvSpPr/>
            <p:nvPr/>
          </p:nvSpPr>
          <p:spPr>
            <a:xfrm>
              <a:off x="1796575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96575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36209" y="1563461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91812" y="2064637"/>
            <a:ext cx="487045" cy="487045"/>
            <a:chOff x="1791812" y="2064637"/>
            <a:chExt cx="487045" cy="487045"/>
          </a:xfrm>
        </p:grpSpPr>
        <p:sp>
          <p:nvSpPr>
            <p:cNvPr id="9" name="object 9"/>
            <p:cNvSpPr/>
            <p:nvPr/>
          </p:nvSpPr>
          <p:spPr>
            <a:xfrm>
              <a:off x="1796575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96575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36209" y="2203887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91812" y="2705063"/>
            <a:ext cx="487045" cy="487045"/>
            <a:chOff x="1791812" y="2705063"/>
            <a:chExt cx="487045" cy="487045"/>
          </a:xfrm>
        </p:grpSpPr>
        <p:sp>
          <p:nvSpPr>
            <p:cNvPr id="13" name="object 13"/>
            <p:cNvSpPr/>
            <p:nvPr/>
          </p:nvSpPr>
          <p:spPr>
            <a:xfrm>
              <a:off x="1796575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96575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36209" y="2844313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91812" y="3345489"/>
            <a:ext cx="487045" cy="487045"/>
            <a:chOff x="1791812" y="3345489"/>
            <a:chExt cx="487045" cy="487045"/>
          </a:xfrm>
        </p:grpSpPr>
        <p:sp>
          <p:nvSpPr>
            <p:cNvPr id="17" name="object 17"/>
            <p:cNvSpPr/>
            <p:nvPr/>
          </p:nvSpPr>
          <p:spPr>
            <a:xfrm>
              <a:off x="1796575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96575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36209" y="3484738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791812" y="3985914"/>
            <a:ext cx="487045" cy="487045"/>
            <a:chOff x="1791812" y="3985914"/>
            <a:chExt cx="487045" cy="487045"/>
          </a:xfrm>
        </p:grpSpPr>
        <p:sp>
          <p:nvSpPr>
            <p:cNvPr id="21" name="object 21"/>
            <p:cNvSpPr/>
            <p:nvPr/>
          </p:nvSpPr>
          <p:spPr>
            <a:xfrm>
              <a:off x="1796575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96575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936209" y="4125164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905563" y="1424212"/>
            <a:ext cx="487045" cy="487045"/>
            <a:chOff x="5905563" y="1424212"/>
            <a:chExt cx="487045" cy="487045"/>
          </a:xfrm>
        </p:grpSpPr>
        <p:sp>
          <p:nvSpPr>
            <p:cNvPr id="25" name="object 25"/>
            <p:cNvSpPr/>
            <p:nvPr/>
          </p:nvSpPr>
          <p:spPr>
            <a:xfrm>
              <a:off x="5910326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10326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034453" y="1563461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905563" y="2064637"/>
            <a:ext cx="487045" cy="487045"/>
            <a:chOff x="5905563" y="2064637"/>
            <a:chExt cx="487045" cy="487045"/>
          </a:xfrm>
        </p:grpSpPr>
        <p:sp>
          <p:nvSpPr>
            <p:cNvPr id="29" name="object 29"/>
            <p:cNvSpPr/>
            <p:nvPr/>
          </p:nvSpPr>
          <p:spPr>
            <a:xfrm>
              <a:off x="5910326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10326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034453" y="2203887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905563" y="2705063"/>
            <a:ext cx="487045" cy="487045"/>
            <a:chOff x="5905563" y="2705063"/>
            <a:chExt cx="487045" cy="487045"/>
          </a:xfrm>
        </p:grpSpPr>
        <p:sp>
          <p:nvSpPr>
            <p:cNvPr id="33" name="object 33"/>
            <p:cNvSpPr/>
            <p:nvPr/>
          </p:nvSpPr>
          <p:spPr>
            <a:xfrm>
              <a:off x="5910326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10326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034453" y="2844313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905563" y="3345489"/>
            <a:ext cx="487045" cy="487045"/>
            <a:chOff x="5905563" y="3345489"/>
            <a:chExt cx="487045" cy="487045"/>
          </a:xfrm>
        </p:grpSpPr>
        <p:sp>
          <p:nvSpPr>
            <p:cNvPr id="37" name="object 37"/>
            <p:cNvSpPr/>
            <p:nvPr/>
          </p:nvSpPr>
          <p:spPr>
            <a:xfrm>
              <a:off x="5910326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10326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034453" y="3484738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905563" y="3985914"/>
            <a:ext cx="487045" cy="487045"/>
            <a:chOff x="5905563" y="3985914"/>
            <a:chExt cx="487045" cy="487045"/>
          </a:xfrm>
        </p:grpSpPr>
        <p:sp>
          <p:nvSpPr>
            <p:cNvPr id="41" name="object 41"/>
            <p:cNvSpPr/>
            <p:nvPr/>
          </p:nvSpPr>
          <p:spPr>
            <a:xfrm>
              <a:off x="5910326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10326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034453" y="4125164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268812" y="1662712"/>
            <a:ext cx="3646804" cy="2571750"/>
            <a:chOff x="2268812" y="1662712"/>
            <a:chExt cx="3646804" cy="2571750"/>
          </a:xfrm>
        </p:grpSpPr>
        <p:sp>
          <p:nvSpPr>
            <p:cNvPr id="45" name="object 45"/>
            <p:cNvSpPr/>
            <p:nvPr/>
          </p:nvSpPr>
          <p:spPr>
            <a:xfrm>
              <a:off x="2273574" y="1667474"/>
              <a:ext cx="3637279" cy="2562225"/>
            </a:xfrm>
            <a:custGeom>
              <a:avLst/>
              <a:gdLst/>
              <a:ahLst/>
              <a:cxnLst/>
              <a:rect l="l" t="t" r="r" b="b"/>
              <a:pathLst>
                <a:path w="3637279" h="2562225">
                  <a:moveTo>
                    <a:pt x="0" y="0"/>
                  </a:moveTo>
                  <a:lnTo>
                    <a:pt x="1118399" y="803699"/>
                  </a:lnTo>
                </a:path>
                <a:path w="3637279" h="2562225">
                  <a:moveTo>
                    <a:pt x="0" y="0"/>
                  </a:moveTo>
                  <a:lnTo>
                    <a:pt x="1118399" y="1515299"/>
                  </a:lnTo>
                </a:path>
                <a:path w="3637279" h="2562225">
                  <a:moveTo>
                    <a:pt x="53" y="640552"/>
                  </a:moveTo>
                  <a:lnTo>
                    <a:pt x="1118453" y="803752"/>
                  </a:lnTo>
                </a:path>
                <a:path w="3637279" h="2562225">
                  <a:moveTo>
                    <a:pt x="0" y="640424"/>
                  </a:moveTo>
                  <a:lnTo>
                    <a:pt x="1118399" y="1515224"/>
                  </a:lnTo>
                </a:path>
                <a:path w="3637279" h="2562225">
                  <a:moveTo>
                    <a:pt x="53" y="1280751"/>
                  </a:moveTo>
                  <a:lnTo>
                    <a:pt x="1118453" y="803751"/>
                  </a:lnTo>
                </a:path>
                <a:path w="3637279" h="2562225">
                  <a:moveTo>
                    <a:pt x="0" y="1280849"/>
                  </a:moveTo>
                  <a:lnTo>
                    <a:pt x="1118399" y="1515449"/>
                  </a:lnTo>
                </a:path>
                <a:path w="3637279" h="2562225">
                  <a:moveTo>
                    <a:pt x="53" y="1921250"/>
                  </a:moveTo>
                  <a:lnTo>
                    <a:pt x="1118453" y="803750"/>
                  </a:lnTo>
                </a:path>
                <a:path w="3637279" h="2562225">
                  <a:moveTo>
                    <a:pt x="53" y="1921234"/>
                  </a:moveTo>
                  <a:lnTo>
                    <a:pt x="1118453" y="1515334"/>
                  </a:lnTo>
                </a:path>
                <a:path w="3637279" h="2562225">
                  <a:moveTo>
                    <a:pt x="53" y="2561749"/>
                  </a:moveTo>
                  <a:lnTo>
                    <a:pt x="1118453" y="803749"/>
                  </a:lnTo>
                </a:path>
                <a:path w="3637279" h="2562225">
                  <a:moveTo>
                    <a:pt x="53" y="2561733"/>
                  </a:moveTo>
                  <a:lnTo>
                    <a:pt x="1118453" y="1515333"/>
                  </a:lnTo>
                </a:path>
                <a:path w="3637279" h="2562225">
                  <a:moveTo>
                    <a:pt x="2404225" y="803760"/>
                  </a:moveTo>
                  <a:lnTo>
                    <a:pt x="3636625" y="60"/>
                  </a:lnTo>
                </a:path>
                <a:path w="3637279" h="2562225">
                  <a:moveTo>
                    <a:pt x="2404284" y="803632"/>
                  </a:moveTo>
                  <a:lnTo>
                    <a:pt x="3636684" y="640432"/>
                  </a:lnTo>
                </a:path>
                <a:path w="3637279" h="2562225">
                  <a:moveTo>
                    <a:pt x="2404284" y="803858"/>
                  </a:moveTo>
                  <a:lnTo>
                    <a:pt x="3636684" y="1280858"/>
                  </a:lnTo>
                </a:path>
                <a:path w="3637279" h="2562225">
                  <a:moveTo>
                    <a:pt x="2404284" y="803783"/>
                  </a:moveTo>
                  <a:lnTo>
                    <a:pt x="3636684" y="1921283"/>
                  </a:lnTo>
                </a:path>
                <a:path w="3637279" h="2562225">
                  <a:moveTo>
                    <a:pt x="2404225" y="803760"/>
                  </a:moveTo>
                  <a:lnTo>
                    <a:pt x="3636625" y="256176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6405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12807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1921240"/>
                  </a:lnTo>
                </a:path>
                <a:path w="3637279" h="2562225">
                  <a:moveTo>
                    <a:pt x="2404284" y="1515305"/>
                  </a:moveTo>
                  <a:lnTo>
                    <a:pt x="3636684" y="2561704"/>
                  </a:lnTo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45424" y="2092149"/>
              <a:ext cx="1185545" cy="1369695"/>
            </a:xfrm>
            <a:custGeom>
              <a:avLst/>
              <a:gdLst/>
              <a:ahLst/>
              <a:cxnLst/>
              <a:rect l="l" t="t" r="r" b="b"/>
              <a:pathLst>
                <a:path w="1185545" h="1369695">
                  <a:moveTo>
                    <a:pt x="0" y="0"/>
                  </a:moveTo>
                  <a:lnTo>
                    <a:pt x="1184999" y="0"/>
                  </a:lnTo>
                  <a:lnTo>
                    <a:pt x="1184999" y="1369199"/>
                  </a:lnTo>
                  <a:lnTo>
                    <a:pt x="0" y="136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7" name="object 4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455" y="2594949"/>
            <a:ext cx="603071" cy="706749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1276484" y="2861962"/>
            <a:ext cx="399415" cy="172720"/>
            <a:chOff x="1276484" y="2861962"/>
            <a:chExt cx="399415" cy="172720"/>
          </a:xfrm>
        </p:grpSpPr>
        <p:sp>
          <p:nvSpPr>
            <p:cNvPr id="49" name="object 49"/>
            <p:cNvSpPr/>
            <p:nvPr/>
          </p:nvSpPr>
          <p:spPr>
            <a:xfrm>
              <a:off x="1281247" y="2866725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4">
                  <a:moveTo>
                    <a:pt x="307799" y="163199"/>
                  </a:move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281247" y="2866725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4">
                  <a:moveTo>
                    <a:pt x="0" y="40799"/>
                  </a:move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Generation</a:t>
            </a:r>
            <a:r>
              <a:rPr spc="-160" dirty="0"/>
              <a:t> </a:t>
            </a:r>
            <a:r>
              <a:rPr spc="-20" dirty="0"/>
              <a:t>with</a:t>
            </a:r>
            <a:r>
              <a:rPr spc="-175" dirty="0"/>
              <a:t> </a:t>
            </a:r>
            <a:r>
              <a:rPr spc="-25" dirty="0"/>
              <a:t>AEs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791812" y="1424212"/>
            <a:ext cx="487045" cy="487045"/>
            <a:chOff x="1791812" y="1424212"/>
            <a:chExt cx="487045" cy="487045"/>
          </a:xfrm>
        </p:grpSpPr>
        <p:sp>
          <p:nvSpPr>
            <p:cNvPr id="5" name="object 5"/>
            <p:cNvSpPr/>
            <p:nvPr/>
          </p:nvSpPr>
          <p:spPr>
            <a:xfrm>
              <a:off x="1796575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96575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36209" y="1563461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91812" y="2064637"/>
            <a:ext cx="487045" cy="487045"/>
            <a:chOff x="1791812" y="2064637"/>
            <a:chExt cx="487045" cy="487045"/>
          </a:xfrm>
        </p:grpSpPr>
        <p:sp>
          <p:nvSpPr>
            <p:cNvPr id="9" name="object 9"/>
            <p:cNvSpPr/>
            <p:nvPr/>
          </p:nvSpPr>
          <p:spPr>
            <a:xfrm>
              <a:off x="1796575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96575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36209" y="2203887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91812" y="2705063"/>
            <a:ext cx="487045" cy="487045"/>
            <a:chOff x="1791812" y="2705063"/>
            <a:chExt cx="487045" cy="487045"/>
          </a:xfrm>
        </p:grpSpPr>
        <p:sp>
          <p:nvSpPr>
            <p:cNvPr id="13" name="object 13"/>
            <p:cNvSpPr/>
            <p:nvPr/>
          </p:nvSpPr>
          <p:spPr>
            <a:xfrm>
              <a:off x="1796575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96575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36209" y="2844313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91812" y="3345489"/>
            <a:ext cx="487045" cy="487045"/>
            <a:chOff x="1791812" y="3345489"/>
            <a:chExt cx="487045" cy="487045"/>
          </a:xfrm>
        </p:grpSpPr>
        <p:sp>
          <p:nvSpPr>
            <p:cNvPr id="17" name="object 17"/>
            <p:cNvSpPr/>
            <p:nvPr/>
          </p:nvSpPr>
          <p:spPr>
            <a:xfrm>
              <a:off x="1796575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96575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36209" y="3484738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791812" y="3985914"/>
            <a:ext cx="487045" cy="487045"/>
            <a:chOff x="1791812" y="3985914"/>
            <a:chExt cx="487045" cy="487045"/>
          </a:xfrm>
        </p:grpSpPr>
        <p:sp>
          <p:nvSpPr>
            <p:cNvPr id="21" name="object 21"/>
            <p:cNvSpPr/>
            <p:nvPr/>
          </p:nvSpPr>
          <p:spPr>
            <a:xfrm>
              <a:off x="1796575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96575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936209" y="4125164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905563" y="1424212"/>
            <a:ext cx="487045" cy="487045"/>
            <a:chOff x="5905563" y="1424212"/>
            <a:chExt cx="487045" cy="487045"/>
          </a:xfrm>
        </p:grpSpPr>
        <p:sp>
          <p:nvSpPr>
            <p:cNvPr id="25" name="object 25"/>
            <p:cNvSpPr/>
            <p:nvPr/>
          </p:nvSpPr>
          <p:spPr>
            <a:xfrm>
              <a:off x="5910326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10326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034453" y="1563461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905563" y="2064637"/>
            <a:ext cx="487045" cy="487045"/>
            <a:chOff x="5905563" y="2064637"/>
            <a:chExt cx="487045" cy="487045"/>
          </a:xfrm>
        </p:grpSpPr>
        <p:sp>
          <p:nvSpPr>
            <p:cNvPr id="29" name="object 29"/>
            <p:cNvSpPr/>
            <p:nvPr/>
          </p:nvSpPr>
          <p:spPr>
            <a:xfrm>
              <a:off x="5910326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10326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034453" y="2203887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905563" y="2705063"/>
            <a:ext cx="487045" cy="487045"/>
            <a:chOff x="5905563" y="2705063"/>
            <a:chExt cx="487045" cy="487045"/>
          </a:xfrm>
        </p:grpSpPr>
        <p:sp>
          <p:nvSpPr>
            <p:cNvPr id="33" name="object 33"/>
            <p:cNvSpPr/>
            <p:nvPr/>
          </p:nvSpPr>
          <p:spPr>
            <a:xfrm>
              <a:off x="5910326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10326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034453" y="2844313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905563" y="3345489"/>
            <a:ext cx="487045" cy="487045"/>
            <a:chOff x="5905563" y="3345489"/>
            <a:chExt cx="487045" cy="487045"/>
          </a:xfrm>
        </p:grpSpPr>
        <p:sp>
          <p:nvSpPr>
            <p:cNvPr id="37" name="object 37"/>
            <p:cNvSpPr/>
            <p:nvPr/>
          </p:nvSpPr>
          <p:spPr>
            <a:xfrm>
              <a:off x="5910326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10326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034453" y="3484738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905563" y="3985914"/>
            <a:ext cx="487045" cy="487045"/>
            <a:chOff x="5905563" y="3985914"/>
            <a:chExt cx="487045" cy="487045"/>
          </a:xfrm>
        </p:grpSpPr>
        <p:sp>
          <p:nvSpPr>
            <p:cNvPr id="41" name="object 41"/>
            <p:cNvSpPr/>
            <p:nvPr/>
          </p:nvSpPr>
          <p:spPr>
            <a:xfrm>
              <a:off x="5910326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10326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034453" y="4125164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268812" y="1662712"/>
            <a:ext cx="3646804" cy="2571750"/>
            <a:chOff x="2268812" y="1662712"/>
            <a:chExt cx="3646804" cy="2571750"/>
          </a:xfrm>
        </p:grpSpPr>
        <p:sp>
          <p:nvSpPr>
            <p:cNvPr id="45" name="object 45"/>
            <p:cNvSpPr/>
            <p:nvPr/>
          </p:nvSpPr>
          <p:spPr>
            <a:xfrm>
              <a:off x="2273574" y="1667474"/>
              <a:ext cx="3637279" cy="2562225"/>
            </a:xfrm>
            <a:custGeom>
              <a:avLst/>
              <a:gdLst/>
              <a:ahLst/>
              <a:cxnLst/>
              <a:rect l="l" t="t" r="r" b="b"/>
              <a:pathLst>
                <a:path w="3637279" h="2562225">
                  <a:moveTo>
                    <a:pt x="0" y="0"/>
                  </a:moveTo>
                  <a:lnTo>
                    <a:pt x="1118399" y="803699"/>
                  </a:lnTo>
                </a:path>
                <a:path w="3637279" h="2562225">
                  <a:moveTo>
                    <a:pt x="0" y="0"/>
                  </a:moveTo>
                  <a:lnTo>
                    <a:pt x="1118399" y="1515299"/>
                  </a:lnTo>
                </a:path>
                <a:path w="3637279" h="2562225">
                  <a:moveTo>
                    <a:pt x="53" y="640552"/>
                  </a:moveTo>
                  <a:lnTo>
                    <a:pt x="1118453" y="803752"/>
                  </a:lnTo>
                </a:path>
                <a:path w="3637279" h="2562225">
                  <a:moveTo>
                    <a:pt x="0" y="640424"/>
                  </a:moveTo>
                  <a:lnTo>
                    <a:pt x="1118399" y="1515224"/>
                  </a:lnTo>
                </a:path>
                <a:path w="3637279" h="2562225">
                  <a:moveTo>
                    <a:pt x="53" y="1280751"/>
                  </a:moveTo>
                  <a:lnTo>
                    <a:pt x="1118453" y="803751"/>
                  </a:lnTo>
                </a:path>
                <a:path w="3637279" h="2562225">
                  <a:moveTo>
                    <a:pt x="0" y="1280849"/>
                  </a:moveTo>
                  <a:lnTo>
                    <a:pt x="1118399" y="1515449"/>
                  </a:lnTo>
                </a:path>
                <a:path w="3637279" h="2562225">
                  <a:moveTo>
                    <a:pt x="53" y="1921250"/>
                  </a:moveTo>
                  <a:lnTo>
                    <a:pt x="1118453" y="803750"/>
                  </a:lnTo>
                </a:path>
                <a:path w="3637279" h="2562225">
                  <a:moveTo>
                    <a:pt x="53" y="1921234"/>
                  </a:moveTo>
                  <a:lnTo>
                    <a:pt x="1118453" y="1515334"/>
                  </a:lnTo>
                </a:path>
                <a:path w="3637279" h="2562225">
                  <a:moveTo>
                    <a:pt x="53" y="2561749"/>
                  </a:moveTo>
                  <a:lnTo>
                    <a:pt x="1118453" y="803749"/>
                  </a:lnTo>
                </a:path>
                <a:path w="3637279" h="2562225">
                  <a:moveTo>
                    <a:pt x="53" y="2561733"/>
                  </a:moveTo>
                  <a:lnTo>
                    <a:pt x="1118453" y="1515333"/>
                  </a:lnTo>
                </a:path>
                <a:path w="3637279" h="2562225">
                  <a:moveTo>
                    <a:pt x="2404225" y="803760"/>
                  </a:moveTo>
                  <a:lnTo>
                    <a:pt x="3636625" y="60"/>
                  </a:lnTo>
                </a:path>
                <a:path w="3637279" h="2562225">
                  <a:moveTo>
                    <a:pt x="2404284" y="803632"/>
                  </a:moveTo>
                  <a:lnTo>
                    <a:pt x="3636684" y="640432"/>
                  </a:lnTo>
                </a:path>
                <a:path w="3637279" h="2562225">
                  <a:moveTo>
                    <a:pt x="2404284" y="803858"/>
                  </a:moveTo>
                  <a:lnTo>
                    <a:pt x="3636684" y="1280858"/>
                  </a:lnTo>
                </a:path>
                <a:path w="3637279" h="2562225">
                  <a:moveTo>
                    <a:pt x="2404284" y="803783"/>
                  </a:moveTo>
                  <a:lnTo>
                    <a:pt x="3636684" y="1921283"/>
                  </a:lnTo>
                </a:path>
                <a:path w="3637279" h="2562225">
                  <a:moveTo>
                    <a:pt x="2404225" y="803760"/>
                  </a:moveTo>
                  <a:lnTo>
                    <a:pt x="3636625" y="256176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6405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12807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1921240"/>
                  </a:lnTo>
                </a:path>
                <a:path w="3637279" h="2562225">
                  <a:moveTo>
                    <a:pt x="2404284" y="1515305"/>
                  </a:moveTo>
                  <a:lnTo>
                    <a:pt x="3636684" y="2561704"/>
                  </a:lnTo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45424" y="2092149"/>
              <a:ext cx="1185545" cy="1369695"/>
            </a:xfrm>
            <a:custGeom>
              <a:avLst/>
              <a:gdLst/>
              <a:ahLst/>
              <a:cxnLst/>
              <a:rect l="l" t="t" r="r" b="b"/>
              <a:pathLst>
                <a:path w="1185545" h="1369695">
                  <a:moveTo>
                    <a:pt x="0" y="0"/>
                  </a:moveTo>
                  <a:lnTo>
                    <a:pt x="1184999" y="0"/>
                  </a:lnTo>
                  <a:lnTo>
                    <a:pt x="1184999" y="1369199"/>
                  </a:lnTo>
                  <a:lnTo>
                    <a:pt x="0" y="136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25549" y="2370174"/>
              <a:ext cx="101099" cy="101099"/>
            </a:xfrm>
            <a:prstGeom prst="rect">
              <a:avLst/>
            </a:prstGeom>
          </p:spPr>
        </p:pic>
      </p:grpSp>
      <p:pic>
        <p:nvPicPr>
          <p:cNvPr id="48" name="object 4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455" y="2594949"/>
            <a:ext cx="603071" cy="706749"/>
          </a:xfrm>
          <a:prstGeom prst="rect">
            <a:avLst/>
          </a:prstGeom>
        </p:spPr>
      </p:pic>
      <p:grpSp>
        <p:nvGrpSpPr>
          <p:cNvPr id="49" name="object 49"/>
          <p:cNvGrpSpPr/>
          <p:nvPr/>
        </p:nvGrpSpPr>
        <p:grpSpPr>
          <a:xfrm>
            <a:off x="1276484" y="2861962"/>
            <a:ext cx="399415" cy="172720"/>
            <a:chOff x="1276484" y="2861962"/>
            <a:chExt cx="399415" cy="172720"/>
          </a:xfrm>
        </p:grpSpPr>
        <p:sp>
          <p:nvSpPr>
            <p:cNvPr id="50" name="object 50"/>
            <p:cNvSpPr/>
            <p:nvPr/>
          </p:nvSpPr>
          <p:spPr>
            <a:xfrm>
              <a:off x="1281247" y="2866725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4">
                  <a:moveTo>
                    <a:pt x="307799" y="163199"/>
                  </a:move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281247" y="2866725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4">
                  <a:moveTo>
                    <a:pt x="0" y="40799"/>
                  </a:move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Generation</a:t>
            </a:r>
            <a:r>
              <a:rPr spc="-160" dirty="0"/>
              <a:t> </a:t>
            </a:r>
            <a:r>
              <a:rPr spc="-20" dirty="0"/>
              <a:t>with</a:t>
            </a:r>
            <a:r>
              <a:rPr spc="-175" dirty="0"/>
              <a:t> </a:t>
            </a:r>
            <a:r>
              <a:rPr spc="-25" dirty="0"/>
              <a:t>AEs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791812" y="1424212"/>
            <a:ext cx="487045" cy="487045"/>
            <a:chOff x="1791812" y="1424212"/>
            <a:chExt cx="487045" cy="487045"/>
          </a:xfrm>
        </p:grpSpPr>
        <p:sp>
          <p:nvSpPr>
            <p:cNvPr id="5" name="object 5"/>
            <p:cNvSpPr/>
            <p:nvPr/>
          </p:nvSpPr>
          <p:spPr>
            <a:xfrm>
              <a:off x="1796575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96575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36209" y="1563461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91812" y="2064637"/>
            <a:ext cx="487045" cy="487045"/>
            <a:chOff x="1791812" y="2064637"/>
            <a:chExt cx="487045" cy="487045"/>
          </a:xfrm>
        </p:grpSpPr>
        <p:sp>
          <p:nvSpPr>
            <p:cNvPr id="9" name="object 9"/>
            <p:cNvSpPr/>
            <p:nvPr/>
          </p:nvSpPr>
          <p:spPr>
            <a:xfrm>
              <a:off x="1796575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96575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36209" y="2203887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91812" y="2705063"/>
            <a:ext cx="487045" cy="487045"/>
            <a:chOff x="1791812" y="2705063"/>
            <a:chExt cx="487045" cy="487045"/>
          </a:xfrm>
        </p:grpSpPr>
        <p:sp>
          <p:nvSpPr>
            <p:cNvPr id="13" name="object 13"/>
            <p:cNvSpPr/>
            <p:nvPr/>
          </p:nvSpPr>
          <p:spPr>
            <a:xfrm>
              <a:off x="1796575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96575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36209" y="2844313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91812" y="3345489"/>
            <a:ext cx="487045" cy="487045"/>
            <a:chOff x="1791812" y="3345489"/>
            <a:chExt cx="487045" cy="487045"/>
          </a:xfrm>
        </p:grpSpPr>
        <p:sp>
          <p:nvSpPr>
            <p:cNvPr id="17" name="object 17"/>
            <p:cNvSpPr/>
            <p:nvPr/>
          </p:nvSpPr>
          <p:spPr>
            <a:xfrm>
              <a:off x="1796575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96575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36209" y="3484738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791812" y="3985914"/>
            <a:ext cx="487045" cy="487045"/>
            <a:chOff x="1791812" y="3985914"/>
            <a:chExt cx="487045" cy="487045"/>
          </a:xfrm>
        </p:grpSpPr>
        <p:sp>
          <p:nvSpPr>
            <p:cNvPr id="21" name="object 21"/>
            <p:cNvSpPr/>
            <p:nvPr/>
          </p:nvSpPr>
          <p:spPr>
            <a:xfrm>
              <a:off x="1796575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96575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936209" y="4125164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905563" y="1424212"/>
            <a:ext cx="487045" cy="487045"/>
            <a:chOff x="5905563" y="1424212"/>
            <a:chExt cx="487045" cy="487045"/>
          </a:xfrm>
        </p:grpSpPr>
        <p:sp>
          <p:nvSpPr>
            <p:cNvPr id="25" name="object 25"/>
            <p:cNvSpPr/>
            <p:nvPr/>
          </p:nvSpPr>
          <p:spPr>
            <a:xfrm>
              <a:off x="5910326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10326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034453" y="1563461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905563" y="2064637"/>
            <a:ext cx="487045" cy="487045"/>
            <a:chOff x="5905563" y="2064637"/>
            <a:chExt cx="487045" cy="487045"/>
          </a:xfrm>
        </p:grpSpPr>
        <p:sp>
          <p:nvSpPr>
            <p:cNvPr id="29" name="object 29"/>
            <p:cNvSpPr/>
            <p:nvPr/>
          </p:nvSpPr>
          <p:spPr>
            <a:xfrm>
              <a:off x="5910326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10326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034453" y="2203887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905563" y="2705063"/>
            <a:ext cx="487045" cy="487045"/>
            <a:chOff x="5905563" y="2705063"/>
            <a:chExt cx="487045" cy="487045"/>
          </a:xfrm>
        </p:grpSpPr>
        <p:sp>
          <p:nvSpPr>
            <p:cNvPr id="33" name="object 33"/>
            <p:cNvSpPr/>
            <p:nvPr/>
          </p:nvSpPr>
          <p:spPr>
            <a:xfrm>
              <a:off x="5910326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10326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034453" y="2844313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905563" y="3345489"/>
            <a:ext cx="487045" cy="487045"/>
            <a:chOff x="5905563" y="3345489"/>
            <a:chExt cx="487045" cy="487045"/>
          </a:xfrm>
        </p:grpSpPr>
        <p:sp>
          <p:nvSpPr>
            <p:cNvPr id="37" name="object 37"/>
            <p:cNvSpPr/>
            <p:nvPr/>
          </p:nvSpPr>
          <p:spPr>
            <a:xfrm>
              <a:off x="5910326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10326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034453" y="3484738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905563" y="3985914"/>
            <a:ext cx="487045" cy="487045"/>
            <a:chOff x="5905563" y="3985914"/>
            <a:chExt cx="487045" cy="487045"/>
          </a:xfrm>
        </p:grpSpPr>
        <p:sp>
          <p:nvSpPr>
            <p:cNvPr id="41" name="object 41"/>
            <p:cNvSpPr/>
            <p:nvPr/>
          </p:nvSpPr>
          <p:spPr>
            <a:xfrm>
              <a:off x="5910326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10326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034453" y="4125164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268812" y="1662712"/>
            <a:ext cx="3646804" cy="2571750"/>
            <a:chOff x="2268812" y="1662712"/>
            <a:chExt cx="3646804" cy="2571750"/>
          </a:xfrm>
        </p:grpSpPr>
        <p:sp>
          <p:nvSpPr>
            <p:cNvPr id="45" name="object 45"/>
            <p:cNvSpPr/>
            <p:nvPr/>
          </p:nvSpPr>
          <p:spPr>
            <a:xfrm>
              <a:off x="2273574" y="1667474"/>
              <a:ext cx="3637279" cy="2562225"/>
            </a:xfrm>
            <a:custGeom>
              <a:avLst/>
              <a:gdLst/>
              <a:ahLst/>
              <a:cxnLst/>
              <a:rect l="l" t="t" r="r" b="b"/>
              <a:pathLst>
                <a:path w="3637279" h="2562225">
                  <a:moveTo>
                    <a:pt x="0" y="0"/>
                  </a:moveTo>
                  <a:lnTo>
                    <a:pt x="1118399" y="803699"/>
                  </a:lnTo>
                </a:path>
                <a:path w="3637279" h="2562225">
                  <a:moveTo>
                    <a:pt x="0" y="0"/>
                  </a:moveTo>
                  <a:lnTo>
                    <a:pt x="1118399" y="1515299"/>
                  </a:lnTo>
                </a:path>
                <a:path w="3637279" h="2562225">
                  <a:moveTo>
                    <a:pt x="53" y="640552"/>
                  </a:moveTo>
                  <a:lnTo>
                    <a:pt x="1118453" y="803752"/>
                  </a:lnTo>
                </a:path>
                <a:path w="3637279" h="2562225">
                  <a:moveTo>
                    <a:pt x="0" y="640424"/>
                  </a:moveTo>
                  <a:lnTo>
                    <a:pt x="1118399" y="1515224"/>
                  </a:lnTo>
                </a:path>
                <a:path w="3637279" h="2562225">
                  <a:moveTo>
                    <a:pt x="53" y="1280751"/>
                  </a:moveTo>
                  <a:lnTo>
                    <a:pt x="1118453" y="803751"/>
                  </a:lnTo>
                </a:path>
                <a:path w="3637279" h="2562225">
                  <a:moveTo>
                    <a:pt x="0" y="1280849"/>
                  </a:moveTo>
                  <a:lnTo>
                    <a:pt x="1118399" y="1515449"/>
                  </a:lnTo>
                </a:path>
                <a:path w="3637279" h="2562225">
                  <a:moveTo>
                    <a:pt x="53" y="1921250"/>
                  </a:moveTo>
                  <a:lnTo>
                    <a:pt x="1118453" y="803750"/>
                  </a:lnTo>
                </a:path>
                <a:path w="3637279" h="2562225">
                  <a:moveTo>
                    <a:pt x="53" y="1921234"/>
                  </a:moveTo>
                  <a:lnTo>
                    <a:pt x="1118453" y="1515334"/>
                  </a:lnTo>
                </a:path>
                <a:path w="3637279" h="2562225">
                  <a:moveTo>
                    <a:pt x="53" y="2561749"/>
                  </a:moveTo>
                  <a:lnTo>
                    <a:pt x="1118453" y="803749"/>
                  </a:lnTo>
                </a:path>
                <a:path w="3637279" h="2562225">
                  <a:moveTo>
                    <a:pt x="53" y="2561733"/>
                  </a:moveTo>
                  <a:lnTo>
                    <a:pt x="1118453" y="1515333"/>
                  </a:lnTo>
                </a:path>
                <a:path w="3637279" h="2562225">
                  <a:moveTo>
                    <a:pt x="2404225" y="803760"/>
                  </a:moveTo>
                  <a:lnTo>
                    <a:pt x="3636625" y="60"/>
                  </a:lnTo>
                </a:path>
                <a:path w="3637279" h="2562225">
                  <a:moveTo>
                    <a:pt x="2404284" y="803632"/>
                  </a:moveTo>
                  <a:lnTo>
                    <a:pt x="3636684" y="640432"/>
                  </a:lnTo>
                </a:path>
                <a:path w="3637279" h="2562225">
                  <a:moveTo>
                    <a:pt x="2404284" y="803858"/>
                  </a:moveTo>
                  <a:lnTo>
                    <a:pt x="3636684" y="1280858"/>
                  </a:lnTo>
                </a:path>
                <a:path w="3637279" h="2562225">
                  <a:moveTo>
                    <a:pt x="2404284" y="803783"/>
                  </a:moveTo>
                  <a:lnTo>
                    <a:pt x="3636684" y="1921283"/>
                  </a:lnTo>
                </a:path>
                <a:path w="3637279" h="2562225">
                  <a:moveTo>
                    <a:pt x="2404225" y="803760"/>
                  </a:moveTo>
                  <a:lnTo>
                    <a:pt x="3636625" y="256176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6405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12807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1921240"/>
                  </a:lnTo>
                </a:path>
                <a:path w="3637279" h="2562225">
                  <a:moveTo>
                    <a:pt x="2404284" y="1515305"/>
                  </a:moveTo>
                  <a:lnTo>
                    <a:pt x="3636684" y="2561704"/>
                  </a:lnTo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45424" y="2092149"/>
              <a:ext cx="1185545" cy="1369695"/>
            </a:xfrm>
            <a:custGeom>
              <a:avLst/>
              <a:gdLst/>
              <a:ahLst/>
              <a:cxnLst/>
              <a:rect l="l" t="t" r="r" b="b"/>
              <a:pathLst>
                <a:path w="1185545" h="1369695">
                  <a:moveTo>
                    <a:pt x="0" y="0"/>
                  </a:moveTo>
                  <a:lnTo>
                    <a:pt x="1184999" y="0"/>
                  </a:lnTo>
                  <a:lnTo>
                    <a:pt x="1184999" y="1369199"/>
                  </a:lnTo>
                  <a:lnTo>
                    <a:pt x="0" y="136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25549" y="2370174"/>
              <a:ext cx="101099" cy="101099"/>
            </a:xfrm>
            <a:prstGeom prst="rect">
              <a:avLst/>
            </a:prstGeom>
          </p:spPr>
        </p:pic>
      </p:grpSp>
      <p:pic>
        <p:nvPicPr>
          <p:cNvPr id="48" name="object 4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455" y="2594949"/>
            <a:ext cx="603071" cy="706749"/>
          </a:xfrm>
          <a:prstGeom prst="rect">
            <a:avLst/>
          </a:prstGeom>
        </p:spPr>
      </p:pic>
      <p:grpSp>
        <p:nvGrpSpPr>
          <p:cNvPr id="49" name="object 49"/>
          <p:cNvGrpSpPr/>
          <p:nvPr/>
        </p:nvGrpSpPr>
        <p:grpSpPr>
          <a:xfrm>
            <a:off x="1276484" y="2861962"/>
            <a:ext cx="399415" cy="172720"/>
            <a:chOff x="1276484" y="2861962"/>
            <a:chExt cx="399415" cy="172720"/>
          </a:xfrm>
        </p:grpSpPr>
        <p:sp>
          <p:nvSpPr>
            <p:cNvPr id="50" name="object 50"/>
            <p:cNvSpPr/>
            <p:nvPr/>
          </p:nvSpPr>
          <p:spPr>
            <a:xfrm>
              <a:off x="1281247" y="2866725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4">
                  <a:moveTo>
                    <a:pt x="307799" y="163199"/>
                  </a:move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281247" y="2866725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4">
                  <a:moveTo>
                    <a:pt x="0" y="40799"/>
                  </a:move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6534284" y="2861962"/>
            <a:ext cx="399415" cy="172720"/>
            <a:chOff x="6534284" y="2861962"/>
            <a:chExt cx="399415" cy="172720"/>
          </a:xfrm>
        </p:grpSpPr>
        <p:sp>
          <p:nvSpPr>
            <p:cNvPr id="53" name="object 53"/>
            <p:cNvSpPr/>
            <p:nvPr/>
          </p:nvSpPr>
          <p:spPr>
            <a:xfrm>
              <a:off x="6539047" y="2866725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90" h="163194">
                  <a:moveTo>
                    <a:pt x="307800" y="163199"/>
                  </a:moveTo>
                  <a:lnTo>
                    <a:pt x="307800" y="122399"/>
                  </a:lnTo>
                  <a:lnTo>
                    <a:pt x="0" y="122399"/>
                  </a:lnTo>
                  <a:lnTo>
                    <a:pt x="0" y="40799"/>
                  </a:lnTo>
                  <a:lnTo>
                    <a:pt x="307800" y="40799"/>
                  </a:lnTo>
                  <a:lnTo>
                    <a:pt x="307800" y="0"/>
                  </a:lnTo>
                  <a:lnTo>
                    <a:pt x="389400" y="81599"/>
                  </a:lnTo>
                  <a:lnTo>
                    <a:pt x="307800" y="16319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539047" y="2866725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90" h="163194">
                  <a:moveTo>
                    <a:pt x="0" y="40799"/>
                  </a:moveTo>
                  <a:lnTo>
                    <a:pt x="307800" y="40799"/>
                  </a:lnTo>
                  <a:lnTo>
                    <a:pt x="307800" y="0"/>
                  </a:lnTo>
                  <a:lnTo>
                    <a:pt x="389400" y="81599"/>
                  </a:lnTo>
                  <a:lnTo>
                    <a:pt x="307800" y="163199"/>
                  </a:lnTo>
                  <a:lnTo>
                    <a:pt x="307800" y="122399"/>
                  </a:lnTo>
                  <a:lnTo>
                    <a:pt x="0" y="122399"/>
                  </a:lnTo>
                  <a:lnTo>
                    <a:pt x="0" y="40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5" name="object 5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31455" y="2594949"/>
            <a:ext cx="603071" cy="70674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Generation</a:t>
            </a:r>
            <a:r>
              <a:rPr spc="-160" dirty="0"/>
              <a:t> </a:t>
            </a:r>
            <a:r>
              <a:rPr spc="-20" dirty="0"/>
              <a:t>with</a:t>
            </a:r>
            <a:r>
              <a:rPr spc="-175" dirty="0"/>
              <a:t> </a:t>
            </a:r>
            <a:r>
              <a:rPr spc="-25" dirty="0"/>
              <a:t>AEs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791812" y="1424212"/>
            <a:ext cx="487045" cy="487045"/>
            <a:chOff x="1791812" y="1424212"/>
            <a:chExt cx="487045" cy="487045"/>
          </a:xfrm>
        </p:grpSpPr>
        <p:sp>
          <p:nvSpPr>
            <p:cNvPr id="5" name="object 5"/>
            <p:cNvSpPr/>
            <p:nvPr/>
          </p:nvSpPr>
          <p:spPr>
            <a:xfrm>
              <a:off x="1796575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96575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36209" y="1563461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91812" y="2064637"/>
            <a:ext cx="487045" cy="487045"/>
            <a:chOff x="1791812" y="2064637"/>
            <a:chExt cx="487045" cy="487045"/>
          </a:xfrm>
        </p:grpSpPr>
        <p:sp>
          <p:nvSpPr>
            <p:cNvPr id="9" name="object 9"/>
            <p:cNvSpPr/>
            <p:nvPr/>
          </p:nvSpPr>
          <p:spPr>
            <a:xfrm>
              <a:off x="1796575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96575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36209" y="2203887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91812" y="2705063"/>
            <a:ext cx="487045" cy="487045"/>
            <a:chOff x="1791812" y="2705063"/>
            <a:chExt cx="487045" cy="487045"/>
          </a:xfrm>
        </p:grpSpPr>
        <p:sp>
          <p:nvSpPr>
            <p:cNvPr id="13" name="object 13"/>
            <p:cNvSpPr/>
            <p:nvPr/>
          </p:nvSpPr>
          <p:spPr>
            <a:xfrm>
              <a:off x="1796575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96575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36209" y="2844313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91812" y="3345489"/>
            <a:ext cx="487045" cy="487045"/>
            <a:chOff x="1791812" y="3345489"/>
            <a:chExt cx="487045" cy="487045"/>
          </a:xfrm>
        </p:grpSpPr>
        <p:sp>
          <p:nvSpPr>
            <p:cNvPr id="17" name="object 17"/>
            <p:cNvSpPr/>
            <p:nvPr/>
          </p:nvSpPr>
          <p:spPr>
            <a:xfrm>
              <a:off x="1796575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96575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36209" y="3484738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791812" y="3985914"/>
            <a:ext cx="487045" cy="487045"/>
            <a:chOff x="1791812" y="3985914"/>
            <a:chExt cx="487045" cy="487045"/>
          </a:xfrm>
        </p:grpSpPr>
        <p:sp>
          <p:nvSpPr>
            <p:cNvPr id="21" name="object 21"/>
            <p:cNvSpPr/>
            <p:nvPr/>
          </p:nvSpPr>
          <p:spPr>
            <a:xfrm>
              <a:off x="1796575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96575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936209" y="4125164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905563" y="1424212"/>
            <a:ext cx="487045" cy="487045"/>
            <a:chOff x="5905563" y="1424212"/>
            <a:chExt cx="487045" cy="487045"/>
          </a:xfrm>
        </p:grpSpPr>
        <p:sp>
          <p:nvSpPr>
            <p:cNvPr id="25" name="object 25"/>
            <p:cNvSpPr/>
            <p:nvPr/>
          </p:nvSpPr>
          <p:spPr>
            <a:xfrm>
              <a:off x="5910326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10326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034453" y="1563461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905563" y="2064637"/>
            <a:ext cx="487045" cy="487045"/>
            <a:chOff x="5905563" y="2064637"/>
            <a:chExt cx="487045" cy="487045"/>
          </a:xfrm>
        </p:grpSpPr>
        <p:sp>
          <p:nvSpPr>
            <p:cNvPr id="29" name="object 29"/>
            <p:cNvSpPr/>
            <p:nvPr/>
          </p:nvSpPr>
          <p:spPr>
            <a:xfrm>
              <a:off x="5910326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10326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034453" y="2203887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905563" y="2705063"/>
            <a:ext cx="487045" cy="487045"/>
            <a:chOff x="5905563" y="2705063"/>
            <a:chExt cx="487045" cy="487045"/>
          </a:xfrm>
        </p:grpSpPr>
        <p:sp>
          <p:nvSpPr>
            <p:cNvPr id="33" name="object 33"/>
            <p:cNvSpPr/>
            <p:nvPr/>
          </p:nvSpPr>
          <p:spPr>
            <a:xfrm>
              <a:off x="5910326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10326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034453" y="2844313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905563" y="3345489"/>
            <a:ext cx="487045" cy="487045"/>
            <a:chOff x="5905563" y="3345489"/>
            <a:chExt cx="487045" cy="487045"/>
          </a:xfrm>
        </p:grpSpPr>
        <p:sp>
          <p:nvSpPr>
            <p:cNvPr id="37" name="object 37"/>
            <p:cNvSpPr/>
            <p:nvPr/>
          </p:nvSpPr>
          <p:spPr>
            <a:xfrm>
              <a:off x="5910326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10326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034453" y="3484738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905563" y="3985914"/>
            <a:ext cx="487045" cy="487045"/>
            <a:chOff x="5905563" y="3985914"/>
            <a:chExt cx="487045" cy="487045"/>
          </a:xfrm>
        </p:grpSpPr>
        <p:sp>
          <p:nvSpPr>
            <p:cNvPr id="41" name="object 41"/>
            <p:cNvSpPr/>
            <p:nvPr/>
          </p:nvSpPr>
          <p:spPr>
            <a:xfrm>
              <a:off x="5910326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10326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034453" y="4125164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268812" y="1662712"/>
            <a:ext cx="3646804" cy="2571750"/>
            <a:chOff x="2268812" y="1662712"/>
            <a:chExt cx="3646804" cy="2571750"/>
          </a:xfrm>
        </p:grpSpPr>
        <p:sp>
          <p:nvSpPr>
            <p:cNvPr id="45" name="object 45"/>
            <p:cNvSpPr/>
            <p:nvPr/>
          </p:nvSpPr>
          <p:spPr>
            <a:xfrm>
              <a:off x="2273574" y="1667474"/>
              <a:ext cx="3637279" cy="2562225"/>
            </a:xfrm>
            <a:custGeom>
              <a:avLst/>
              <a:gdLst/>
              <a:ahLst/>
              <a:cxnLst/>
              <a:rect l="l" t="t" r="r" b="b"/>
              <a:pathLst>
                <a:path w="3637279" h="2562225">
                  <a:moveTo>
                    <a:pt x="0" y="0"/>
                  </a:moveTo>
                  <a:lnTo>
                    <a:pt x="1118399" y="803699"/>
                  </a:lnTo>
                </a:path>
                <a:path w="3637279" h="2562225">
                  <a:moveTo>
                    <a:pt x="0" y="0"/>
                  </a:moveTo>
                  <a:lnTo>
                    <a:pt x="1118399" y="1515299"/>
                  </a:lnTo>
                </a:path>
                <a:path w="3637279" h="2562225">
                  <a:moveTo>
                    <a:pt x="53" y="640552"/>
                  </a:moveTo>
                  <a:lnTo>
                    <a:pt x="1118453" y="803752"/>
                  </a:lnTo>
                </a:path>
                <a:path w="3637279" h="2562225">
                  <a:moveTo>
                    <a:pt x="0" y="640424"/>
                  </a:moveTo>
                  <a:lnTo>
                    <a:pt x="1118399" y="1515224"/>
                  </a:lnTo>
                </a:path>
                <a:path w="3637279" h="2562225">
                  <a:moveTo>
                    <a:pt x="53" y="1280751"/>
                  </a:moveTo>
                  <a:lnTo>
                    <a:pt x="1118453" y="803751"/>
                  </a:lnTo>
                </a:path>
                <a:path w="3637279" h="2562225">
                  <a:moveTo>
                    <a:pt x="0" y="1280849"/>
                  </a:moveTo>
                  <a:lnTo>
                    <a:pt x="1118399" y="1515449"/>
                  </a:lnTo>
                </a:path>
                <a:path w="3637279" h="2562225">
                  <a:moveTo>
                    <a:pt x="53" y="1921250"/>
                  </a:moveTo>
                  <a:lnTo>
                    <a:pt x="1118453" y="803750"/>
                  </a:lnTo>
                </a:path>
                <a:path w="3637279" h="2562225">
                  <a:moveTo>
                    <a:pt x="53" y="1921234"/>
                  </a:moveTo>
                  <a:lnTo>
                    <a:pt x="1118453" y="1515334"/>
                  </a:lnTo>
                </a:path>
                <a:path w="3637279" h="2562225">
                  <a:moveTo>
                    <a:pt x="53" y="2561749"/>
                  </a:moveTo>
                  <a:lnTo>
                    <a:pt x="1118453" y="803749"/>
                  </a:lnTo>
                </a:path>
                <a:path w="3637279" h="2562225">
                  <a:moveTo>
                    <a:pt x="53" y="2561733"/>
                  </a:moveTo>
                  <a:lnTo>
                    <a:pt x="1118453" y="1515333"/>
                  </a:lnTo>
                </a:path>
                <a:path w="3637279" h="2562225">
                  <a:moveTo>
                    <a:pt x="2404225" y="803760"/>
                  </a:moveTo>
                  <a:lnTo>
                    <a:pt x="3636625" y="60"/>
                  </a:lnTo>
                </a:path>
                <a:path w="3637279" h="2562225">
                  <a:moveTo>
                    <a:pt x="2404284" y="803632"/>
                  </a:moveTo>
                  <a:lnTo>
                    <a:pt x="3636684" y="640432"/>
                  </a:lnTo>
                </a:path>
                <a:path w="3637279" h="2562225">
                  <a:moveTo>
                    <a:pt x="2404284" y="803858"/>
                  </a:moveTo>
                  <a:lnTo>
                    <a:pt x="3636684" y="1280858"/>
                  </a:lnTo>
                </a:path>
                <a:path w="3637279" h="2562225">
                  <a:moveTo>
                    <a:pt x="2404284" y="803783"/>
                  </a:moveTo>
                  <a:lnTo>
                    <a:pt x="3636684" y="1921283"/>
                  </a:lnTo>
                </a:path>
                <a:path w="3637279" h="2562225">
                  <a:moveTo>
                    <a:pt x="2404225" y="803760"/>
                  </a:moveTo>
                  <a:lnTo>
                    <a:pt x="3636625" y="256176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6405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12807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1921240"/>
                  </a:lnTo>
                </a:path>
                <a:path w="3637279" h="2562225">
                  <a:moveTo>
                    <a:pt x="2404284" y="1515305"/>
                  </a:moveTo>
                  <a:lnTo>
                    <a:pt x="3636684" y="2561704"/>
                  </a:lnTo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45424" y="2092149"/>
              <a:ext cx="1185545" cy="1369695"/>
            </a:xfrm>
            <a:custGeom>
              <a:avLst/>
              <a:gdLst/>
              <a:ahLst/>
              <a:cxnLst/>
              <a:rect l="l" t="t" r="r" b="b"/>
              <a:pathLst>
                <a:path w="1185545" h="1369695">
                  <a:moveTo>
                    <a:pt x="0" y="0"/>
                  </a:moveTo>
                  <a:lnTo>
                    <a:pt x="1184999" y="0"/>
                  </a:lnTo>
                  <a:lnTo>
                    <a:pt x="1184999" y="1369199"/>
                  </a:lnTo>
                  <a:lnTo>
                    <a:pt x="0" y="136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25549" y="2370174"/>
              <a:ext cx="101099" cy="10109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7949" y="2598774"/>
              <a:ext cx="101099" cy="101099"/>
            </a:xfrm>
            <a:prstGeom prst="rect">
              <a:avLst/>
            </a:prstGeom>
          </p:spPr>
        </p:pic>
      </p:grpSp>
      <p:pic>
        <p:nvPicPr>
          <p:cNvPr id="49" name="object 4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455" y="2594949"/>
            <a:ext cx="603071" cy="706749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1276484" y="2861962"/>
            <a:ext cx="399415" cy="172720"/>
            <a:chOff x="1276484" y="2861962"/>
            <a:chExt cx="399415" cy="172720"/>
          </a:xfrm>
        </p:grpSpPr>
        <p:sp>
          <p:nvSpPr>
            <p:cNvPr id="51" name="object 51"/>
            <p:cNvSpPr/>
            <p:nvPr/>
          </p:nvSpPr>
          <p:spPr>
            <a:xfrm>
              <a:off x="1281247" y="2866725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4">
                  <a:moveTo>
                    <a:pt x="307799" y="163199"/>
                  </a:move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281247" y="2866725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4">
                  <a:moveTo>
                    <a:pt x="0" y="40799"/>
                  </a:move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Generation</a:t>
            </a:r>
            <a:r>
              <a:rPr spc="-160" dirty="0"/>
              <a:t> </a:t>
            </a:r>
            <a:r>
              <a:rPr spc="-20" dirty="0"/>
              <a:t>with</a:t>
            </a:r>
            <a:r>
              <a:rPr spc="-175" dirty="0"/>
              <a:t> </a:t>
            </a:r>
            <a:r>
              <a:rPr spc="-25" dirty="0"/>
              <a:t>AEs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791812" y="1424212"/>
            <a:ext cx="487045" cy="487045"/>
            <a:chOff x="1791812" y="1424212"/>
            <a:chExt cx="487045" cy="487045"/>
          </a:xfrm>
        </p:grpSpPr>
        <p:sp>
          <p:nvSpPr>
            <p:cNvPr id="5" name="object 5"/>
            <p:cNvSpPr/>
            <p:nvPr/>
          </p:nvSpPr>
          <p:spPr>
            <a:xfrm>
              <a:off x="1796575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96575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36209" y="1563461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91812" y="2064637"/>
            <a:ext cx="487045" cy="487045"/>
            <a:chOff x="1791812" y="2064637"/>
            <a:chExt cx="487045" cy="487045"/>
          </a:xfrm>
        </p:grpSpPr>
        <p:sp>
          <p:nvSpPr>
            <p:cNvPr id="9" name="object 9"/>
            <p:cNvSpPr/>
            <p:nvPr/>
          </p:nvSpPr>
          <p:spPr>
            <a:xfrm>
              <a:off x="1796575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96575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36209" y="2203887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91812" y="2705063"/>
            <a:ext cx="487045" cy="487045"/>
            <a:chOff x="1791812" y="2705063"/>
            <a:chExt cx="487045" cy="487045"/>
          </a:xfrm>
        </p:grpSpPr>
        <p:sp>
          <p:nvSpPr>
            <p:cNvPr id="13" name="object 13"/>
            <p:cNvSpPr/>
            <p:nvPr/>
          </p:nvSpPr>
          <p:spPr>
            <a:xfrm>
              <a:off x="1796575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96575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36209" y="2844313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91812" y="3345489"/>
            <a:ext cx="487045" cy="487045"/>
            <a:chOff x="1791812" y="3345489"/>
            <a:chExt cx="487045" cy="487045"/>
          </a:xfrm>
        </p:grpSpPr>
        <p:sp>
          <p:nvSpPr>
            <p:cNvPr id="17" name="object 17"/>
            <p:cNvSpPr/>
            <p:nvPr/>
          </p:nvSpPr>
          <p:spPr>
            <a:xfrm>
              <a:off x="1796575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96575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36209" y="3484738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791812" y="3985914"/>
            <a:ext cx="487045" cy="487045"/>
            <a:chOff x="1791812" y="3985914"/>
            <a:chExt cx="487045" cy="487045"/>
          </a:xfrm>
        </p:grpSpPr>
        <p:sp>
          <p:nvSpPr>
            <p:cNvPr id="21" name="object 21"/>
            <p:cNvSpPr/>
            <p:nvPr/>
          </p:nvSpPr>
          <p:spPr>
            <a:xfrm>
              <a:off x="1796575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96575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936209" y="4125164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905563" y="1424212"/>
            <a:ext cx="487045" cy="487045"/>
            <a:chOff x="5905563" y="1424212"/>
            <a:chExt cx="487045" cy="487045"/>
          </a:xfrm>
        </p:grpSpPr>
        <p:sp>
          <p:nvSpPr>
            <p:cNvPr id="25" name="object 25"/>
            <p:cNvSpPr/>
            <p:nvPr/>
          </p:nvSpPr>
          <p:spPr>
            <a:xfrm>
              <a:off x="5910326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10326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034453" y="1563461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905563" y="2064637"/>
            <a:ext cx="487045" cy="487045"/>
            <a:chOff x="5905563" y="2064637"/>
            <a:chExt cx="487045" cy="487045"/>
          </a:xfrm>
        </p:grpSpPr>
        <p:sp>
          <p:nvSpPr>
            <p:cNvPr id="29" name="object 29"/>
            <p:cNvSpPr/>
            <p:nvPr/>
          </p:nvSpPr>
          <p:spPr>
            <a:xfrm>
              <a:off x="5910326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10326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034453" y="2203887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905563" y="2705063"/>
            <a:ext cx="487045" cy="487045"/>
            <a:chOff x="5905563" y="2705063"/>
            <a:chExt cx="487045" cy="487045"/>
          </a:xfrm>
        </p:grpSpPr>
        <p:sp>
          <p:nvSpPr>
            <p:cNvPr id="33" name="object 33"/>
            <p:cNvSpPr/>
            <p:nvPr/>
          </p:nvSpPr>
          <p:spPr>
            <a:xfrm>
              <a:off x="5910326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10326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034453" y="2844313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905563" y="3345489"/>
            <a:ext cx="487045" cy="487045"/>
            <a:chOff x="5905563" y="3345489"/>
            <a:chExt cx="487045" cy="487045"/>
          </a:xfrm>
        </p:grpSpPr>
        <p:sp>
          <p:nvSpPr>
            <p:cNvPr id="37" name="object 37"/>
            <p:cNvSpPr/>
            <p:nvPr/>
          </p:nvSpPr>
          <p:spPr>
            <a:xfrm>
              <a:off x="5910326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10326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034453" y="3484738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905563" y="3985914"/>
            <a:ext cx="487045" cy="487045"/>
            <a:chOff x="5905563" y="3985914"/>
            <a:chExt cx="487045" cy="487045"/>
          </a:xfrm>
        </p:grpSpPr>
        <p:sp>
          <p:nvSpPr>
            <p:cNvPr id="41" name="object 41"/>
            <p:cNvSpPr/>
            <p:nvPr/>
          </p:nvSpPr>
          <p:spPr>
            <a:xfrm>
              <a:off x="5910326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10326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034453" y="4125164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268812" y="1662712"/>
            <a:ext cx="3646804" cy="2571750"/>
            <a:chOff x="2268812" y="1662712"/>
            <a:chExt cx="3646804" cy="2571750"/>
          </a:xfrm>
        </p:grpSpPr>
        <p:sp>
          <p:nvSpPr>
            <p:cNvPr id="45" name="object 45"/>
            <p:cNvSpPr/>
            <p:nvPr/>
          </p:nvSpPr>
          <p:spPr>
            <a:xfrm>
              <a:off x="2273574" y="1667474"/>
              <a:ext cx="3637279" cy="2562225"/>
            </a:xfrm>
            <a:custGeom>
              <a:avLst/>
              <a:gdLst/>
              <a:ahLst/>
              <a:cxnLst/>
              <a:rect l="l" t="t" r="r" b="b"/>
              <a:pathLst>
                <a:path w="3637279" h="2562225">
                  <a:moveTo>
                    <a:pt x="0" y="0"/>
                  </a:moveTo>
                  <a:lnTo>
                    <a:pt x="1118399" y="803699"/>
                  </a:lnTo>
                </a:path>
                <a:path w="3637279" h="2562225">
                  <a:moveTo>
                    <a:pt x="0" y="0"/>
                  </a:moveTo>
                  <a:lnTo>
                    <a:pt x="1118399" y="1515299"/>
                  </a:lnTo>
                </a:path>
                <a:path w="3637279" h="2562225">
                  <a:moveTo>
                    <a:pt x="53" y="640552"/>
                  </a:moveTo>
                  <a:lnTo>
                    <a:pt x="1118453" y="803752"/>
                  </a:lnTo>
                </a:path>
                <a:path w="3637279" h="2562225">
                  <a:moveTo>
                    <a:pt x="0" y="640424"/>
                  </a:moveTo>
                  <a:lnTo>
                    <a:pt x="1118399" y="1515224"/>
                  </a:lnTo>
                </a:path>
                <a:path w="3637279" h="2562225">
                  <a:moveTo>
                    <a:pt x="53" y="1280751"/>
                  </a:moveTo>
                  <a:lnTo>
                    <a:pt x="1118453" y="803751"/>
                  </a:lnTo>
                </a:path>
                <a:path w="3637279" h="2562225">
                  <a:moveTo>
                    <a:pt x="0" y="1280849"/>
                  </a:moveTo>
                  <a:lnTo>
                    <a:pt x="1118399" y="1515449"/>
                  </a:lnTo>
                </a:path>
                <a:path w="3637279" h="2562225">
                  <a:moveTo>
                    <a:pt x="53" y="1921250"/>
                  </a:moveTo>
                  <a:lnTo>
                    <a:pt x="1118453" y="803750"/>
                  </a:lnTo>
                </a:path>
                <a:path w="3637279" h="2562225">
                  <a:moveTo>
                    <a:pt x="53" y="1921234"/>
                  </a:moveTo>
                  <a:lnTo>
                    <a:pt x="1118453" y="1515334"/>
                  </a:lnTo>
                </a:path>
                <a:path w="3637279" h="2562225">
                  <a:moveTo>
                    <a:pt x="53" y="2561749"/>
                  </a:moveTo>
                  <a:lnTo>
                    <a:pt x="1118453" y="803749"/>
                  </a:lnTo>
                </a:path>
                <a:path w="3637279" h="2562225">
                  <a:moveTo>
                    <a:pt x="53" y="2561733"/>
                  </a:moveTo>
                  <a:lnTo>
                    <a:pt x="1118453" y="1515333"/>
                  </a:lnTo>
                </a:path>
                <a:path w="3637279" h="2562225">
                  <a:moveTo>
                    <a:pt x="2404225" y="803760"/>
                  </a:moveTo>
                  <a:lnTo>
                    <a:pt x="3636625" y="60"/>
                  </a:lnTo>
                </a:path>
                <a:path w="3637279" h="2562225">
                  <a:moveTo>
                    <a:pt x="2404284" y="803632"/>
                  </a:moveTo>
                  <a:lnTo>
                    <a:pt x="3636684" y="640432"/>
                  </a:lnTo>
                </a:path>
                <a:path w="3637279" h="2562225">
                  <a:moveTo>
                    <a:pt x="2404284" y="803858"/>
                  </a:moveTo>
                  <a:lnTo>
                    <a:pt x="3636684" y="1280858"/>
                  </a:lnTo>
                </a:path>
                <a:path w="3637279" h="2562225">
                  <a:moveTo>
                    <a:pt x="2404284" y="803783"/>
                  </a:moveTo>
                  <a:lnTo>
                    <a:pt x="3636684" y="1921283"/>
                  </a:lnTo>
                </a:path>
                <a:path w="3637279" h="2562225">
                  <a:moveTo>
                    <a:pt x="2404225" y="803760"/>
                  </a:moveTo>
                  <a:lnTo>
                    <a:pt x="3636625" y="256176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6405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12807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1921240"/>
                  </a:lnTo>
                </a:path>
                <a:path w="3637279" h="2562225">
                  <a:moveTo>
                    <a:pt x="2404284" y="1515305"/>
                  </a:moveTo>
                  <a:lnTo>
                    <a:pt x="3636684" y="2561704"/>
                  </a:lnTo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45424" y="2092149"/>
              <a:ext cx="1185545" cy="1369695"/>
            </a:xfrm>
            <a:custGeom>
              <a:avLst/>
              <a:gdLst/>
              <a:ahLst/>
              <a:cxnLst/>
              <a:rect l="l" t="t" r="r" b="b"/>
              <a:pathLst>
                <a:path w="1185545" h="1369695">
                  <a:moveTo>
                    <a:pt x="0" y="0"/>
                  </a:moveTo>
                  <a:lnTo>
                    <a:pt x="1184999" y="0"/>
                  </a:lnTo>
                  <a:lnTo>
                    <a:pt x="1184999" y="1369199"/>
                  </a:lnTo>
                  <a:lnTo>
                    <a:pt x="0" y="136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25549" y="2370174"/>
              <a:ext cx="101099" cy="10109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7949" y="2598774"/>
              <a:ext cx="101099" cy="10109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9349" y="2751174"/>
              <a:ext cx="101099" cy="101099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455" y="2594949"/>
            <a:ext cx="603071" cy="706749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1276484" y="2861962"/>
            <a:ext cx="399415" cy="172720"/>
            <a:chOff x="1276484" y="2861962"/>
            <a:chExt cx="399415" cy="172720"/>
          </a:xfrm>
        </p:grpSpPr>
        <p:sp>
          <p:nvSpPr>
            <p:cNvPr id="52" name="object 52"/>
            <p:cNvSpPr/>
            <p:nvPr/>
          </p:nvSpPr>
          <p:spPr>
            <a:xfrm>
              <a:off x="1281247" y="2866725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4">
                  <a:moveTo>
                    <a:pt x="307799" y="163199"/>
                  </a:move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281247" y="2866725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4">
                  <a:moveTo>
                    <a:pt x="0" y="40799"/>
                  </a:move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Generation</a:t>
            </a:r>
            <a:r>
              <a:rPr spc="-160" dirty="0"/>
              <a:t> </a:t>
            </a:r>
            <a:r>
              <a:rPr spc="-20" dirty="0"/>
              <a:t>with</a:t>
            </a:r>
            <a:r>
              <a:rPr spc="-175" dirty="0"/>
              <a:t> </a:t>
            </a:r>
            <a:r>
              <a:rPr spc="-25" dirty="0"/>
              <a:t>AEs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791812" y="1424212"/>
            <a:ext cx="487045" cy="487045"/>
            <a:chOff x="1791812" y="1424212"/>
            <a:chExt cx="487045" cy="487045"/>
          </a:xfrm>
        </p:grpSpPr>
        <p:sp>
          <p:nvSpPr>
            <p:cNvPr id="5" name="object 5"/>
            <p:cNvSpPr/>
            <p:nvPr/>
          </p:nvSpPr>
          <p:spPr>
            <a:xfrm>
              <a:off x="1796575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96575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36209" y="1563461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91812" y="2064637"/>
            <a:ext cx="487045" cy="487045"/>
            <a:chOff x="1791812" y="2064637"/>
            <a:chExt cx="487045" cy="487045"/>
          </a:xfrm>
        </p:grpSpPr>
        <p:sp>
          <p:nvSpPr>
            <p:cNvPr id="9" name="object 9"/>
            <p:cNvSpPr/>
            <p:nvPr/>
          </p:nvSpPr>
          <p:spPr>
            <a:xfrm>
              <a:off x="1796575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96575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36209" y="2203887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91812" y="2705063"/>
            <a:ext cx="487045" cy="487045"/>
            <a:chOff x="1791812" y="2705063"/>
            <a:chExt cx="487045" cy="487045"/>
          </a:xfrm>
        </p:grpSpPr>
        <p:sp>
          <p:nvSpPr>
            <p:cNvPr id="13" name="object 13"/>
            <p:cNvSpPr/>
            <p:nvPr/>
          </p:nvSpPr>
          <p:spPr>
            <a:xfrm>
              <a:off x="1796575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96575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36209" y="2844313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91812" y="3345489"/>
            <a:ext cx="487045" cy="487045"/>
            <a:chOff x="1791812" y="3345489"/>
            <a:chExt cx="487045" cy="487045"/>
          </a:xfrm>
        </p:grpSpPr>
        <p:sp>
          <p:nvSpPr>
            <p:cNvPr id="17" name="object 17"/>
            <p:cNvSpPr/>
            <p:nvPr/>
          </p:nvSpPr>
          <p:spPr>
            <a:xfrm>
              <a:off x="1796575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96575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36209" y="3484738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791812" y="3985914"/>
            <a:ext cx="487045" cy="487045"/>
            <a:chOff x="1791812" y="3985914"/>
            <a:chExt cx="487045" cy="487045"/>
          </a:xfrm>
        </p:grpSpPr>
        <p:sp>
          <p:nvSpPr>
            <p:cNvPr id="21" name="object 21"/>
            <p:cNvSpPr/>
            <p:nvPr/>
          </p:nvSpPr>
          <p:spPr>
            <a:xfrm>
              <a:off x="1796575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96575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936209" y="4125164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905563" y="1424212"/>
            <a:ext cx="487045" cy="487045"/>
            <a:chOff x="5905563" y="1424212"/>
            <a:chExt cx="487045" cy="487045"/>
          </a:xfrm>
        </p:grpSpPr>
        <p:sp>
          <p:nvSpPr>
            <p:cNvPr id="25" name="object 25"/>
            <p:cNvSpPr/>
            <p:nvPr/>
          </p:nvSpPr>
          <p:spPr>
            <a:xfrm>
              <a:off x="5910326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10326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034453" y="1563461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905563" y="2064637"/>
            <a:ext cx="487045" cy="487045"/>
            <a:chOff x="5905563" y="2064637"/>
            <a:chExt cx="487045" cy="487045"/>
          </a:xfrm>
        </p:grpSpPr>
        <p:sp>
          <p:nvSpPr>
            <p:cNvPr id="29" name="object 29"/>
            <p:cNvSpPr/>
            <p:nvPr/>
          </p:nvSpPr>
          <p:spPr>
            <a:xfrm>
              <a:off x="5910326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10326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034453" y="2203887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905563" y="2705063"/>
            <a:ext cx="487045" cy="487045"/>
            <a:chOff x="5905563" y="2705063"/>
            <a:chExt cx="487045" cy="487045"/>
          </a:xfrm>
        </p:grpSpPr>
        <p:sp>
          <p:nvSpPr>
            <p:cNvPr id="33" name="object 33"/>
            <p:cNvSpPr/>
            <p:nvPr/>
          </p:nvSpPr>
          <p:spPr>
            <a:xfrm>
              <a:off x="5910326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10326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034453" y="2844313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905563" y="3345489"/>
            <a:ext cx="487045" cy="487045"/>
            <a:chOff x="5905563" y="3345489"/>
            <a:chExt cx="487045" cy="487045"/>
          </a:xfrm>
        </p:grpSpPr>
        <p:sp>
          <p:nvSpPr>
            <p:cNvPr id="37" name="object 37"/>
            <p:cNvSpPr/>
            <p:nvPr/>
          </p:nvSpPr>
          <p:spPr>
            <a:xfrm>
              <a:off x="5910326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10326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034453" y="3484738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905563" y="3985914"/>
            <a:ext cx="487045" cy="487045"/>
            <a:chOff x="5905563" y="3985914"/>
            <a:chExt cx="487045" cy="487045"/>
          </a:xfrm>
        </p:grpSpPr>
        <p:sp>
          <p:nvSpPr>
            <p:cNvPr id="41" name="object 41"/>
            <p:cNvSpPr/>
            <p:nvPr/>
          </p:nvSpPr>
          <p:spPr>
            <a:xfrm>
              <a:off x="5910326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10326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034453" y="4125164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268812" y="1662712"/>
            <a:ext cx="3646804" cy="2571750"/>
            <a:chOff x="2268812" y="1662712"/>
            <a:chExt cx="3646804" cy="2571750"/>
          </a:xfrm>
        </p:grpSpPr>
        <p:sp>
          <p:nvSpPr>
            <p:cNvPr id="45" name="object 45"/>
            <p:cNvSpPr/>
            <p:nvPr/>
          </p:nvSpPr>
          <p:spPr>
            <a:xfrm>
              <a:off x="2273574" y="1667474"/>
              <a:ext cx="3637279" cy="2562225"/>
            </a:xfrm>
            <a:custGeom>
              <a:avLst/>
              <a:gdLst/>
              <a:ahLst/>
              <a:cxnLst/>
              <a:rect l="l" t="t" r="r" b="b"/>
              <a:pathLst>
                <a:path w="3637279" h="2562225">
                  <a:moveTo>
                    <a:pt x="0" y="0"/>
                  </a:moveTo>
                  <a:lnTo>
                    <a:pt x="1118399" y="803699"/>
                  </a:lnTo>
                </a:path>
                <a:path w="3637279" h="2562225">
                  <a:moveTo>
                    <a:pt x="0" y="0"/>
                  </a:moveTo>
                  <a:lnTo>
                    <a:pt x="1118399" y="1515299"/>
                  </a:lnTo>
                </a:path>
                <a:path w="3637279" h="2562225">
                  <a:moveTo>
                    <a:pt x="53" y="640552"/>
                  </a:moveTo>
                  <a:lnTo>
                    <a:pt x="1118453" y="803752"/>
                  </a:lnTo>
                </a:path>
                <a:path w="3637279" h="2562225">
                  <a:moveTo>
                    <a:pt x="0" y="640424"/>
                  </a:moveTo>
                  <a:lnTo>
                    <a:pt x="1118399" y="1515224"/>
                  </a:lnTo>
                </a:path>
                <a:path w="3637279" h="2562225">
                  <a:moveTo>
                    <a:pt x="53" y="1280751"/>
                  </a:moveTo>
                  <a:lnTo>
                    <a:pt x="1118453" y="803751"/>
                  </a:lnTo>
                </a:path>
                <a:path w="3637279" h="2562225">
                  <a:moveTo>
                    <a:pt x="0" y="1280849"/>
                  </a:moveTo>
                  <a:lnTo>
                    <a:pt x="1118399" y="1515449"/>
                  </a:lnTo>
                </a:path>
                <a:path w="3637279" h="2562225">
                  <a:moveTo>
                    <a:pt x="53" y="1921250"/>
                  </a:moveTo>
                  <a:lnTo>
                    <a:pt x="1118453" y="803750"/>
                  </a:lnTo>
                </a:path>
                <a:path w="3637279" h="2562225">
                  <a:moveTo>
                    <a:pt x="53" y="1921234"/>
                  </a:moveTo>
                  <a:lnTo>
                    <a:pt x="1118453" y="1515334"/>
                  </a:lnTo>
                </a:path>
                <a:path w="3637279" h="2562225">
                  <a:moveTo>
                    <a:pt x="53" y="2561749"/>
                  </a:moveTo>
                  <a:lnTo>
                    <a:pt x="1118453" y="803749"/>
                  </a:lnTo>
                </a:path>
                <a:path w="3637279" h="2562225">
                  <a:moveTo>
                    <a:pt x="53" y="2561733"/>
                  </a:moveTo>
                  <a:lnTo>
                    <a:pt x="1118453" y="1515333"/>
                  </a:lnTo>
                </a:path>
                <a:path w="3637279" h="2562225">
                  <a:moveTo>
                    <a:pt x="2404225" y="803760"/>
                  </a:moveTo>
                  <a:lnTo>
                    <a:pt x="3636625" y="60"/>
                  </a:lnTo>
                </a:path>
                <a:path w="3637279" h="2562225">
                  <a:moveTo>
                    <a:pt x="2404284" y="803632"/>
                  </a:moveTo>
                  <a:lnTo>
                    <a:pt x="3636684" y="640432"/>
                  </a:lnTo>
                </a:path>
                <a:path w="3637279" h="2562225">
                  <a:moveTo>
                    <a:pt x="2404284" y="803858"/>
                  </a:moveTo>
                  <a:lnTo>
                    <a:pt x="3636684" y="1280858"/>
                  </a:lnTo>
                </a:path>
                <a:path w="3637279" h="2562225">
                  <a:moveTo>
                    <a:pt x="2404284" y="803783"/>
                  </a:moveTo>
                  <a:lnTo>
                    <a:pt x="3636684" y="1921283"/>
                  </a:lnTo>
                </a:path>
                <a:path w="3637279" h="2562225">
                  <a:moveTo>
                    <a:pt x="2404225" y="803760"/>
                  </a:moveTo>
                  <a:lnTo>
                    <a:pt x="3636625" y="256176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6405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12807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1921240"/>
                  </a:lnTo>
                </a:path>
                <a:path w="3637279" h="2562225">
                  <a:moveTo>
                    <a:pt x="2404284" y="1515305"/>
                  </a:moveTo>
                  <a:lnTo>
                    <a:pt x="3636684" y="2561704"/>
                  </a:lnTo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45424" y="2092149"/>
              <a:ext cx="1185545" cy="1369695"/>
            </a:xfrm>
            <a:custGeom>
              <a:avLst/>
              <a:gdLst/>
              <a:ahLst/>
              <a:cxnLst/>
              <a:rect l="l" t="t" r="r" b="b"/>
              <a:pathLst>
                <a:path w="1185545" h="1369695">
                  <a:moveTo>
                    <a:pt x="0" y="0"/>
                  </a:moveTo>
                  <a:lnTo>
                    <a:pt x="1184999" y="0"/>
                  </a:lnTo>
                  <a:lnTo>
                    <a:pt x="1184999" y="1369199"/>
                  </a:lnTo>
                  <a:lnTo>
                    <a:pt x="0" y="136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25549" y="2370174"/>
              <a:ext cx="101099" cy="10109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7949" y="2598774"/>
              <a:ext cx="101099" cy="10109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9349" y="2751174"/>
              <a:ext cx="101099" cy="10109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82749" y="2827374"/>
              <a:ext cx="101099" cy="101099"/>
            </a:xfrm>
            <a:prstGeom prst="rect">
              <a:avLst/>
            </a:prstGeom>
          </p:spPr>
        </p:pic>
      </p:grpSp>
      <p:pic>
        <p:nvPicPr>
          <p:cNvPr id="51" name="object 5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455" y="2594949"/>
            <a:ext cx="603071" cy="706749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1276484" y="2861962"/>
            <a:ext cx="399415" cy="172720"/>
            <a:chOff x="1276484" y="2861962"/>
            <a:chExt cx="399415" cy="172720"/>
          </a:xfrm>
        </p:grpSpPr>
        <p:sp>
          <p:nvSpPr>
            <p:cNvPr id="53" name="object 53"/>
            <p:cNvSpPr/>
            <p:nvPr/>
          </p:nvSpPr>
          <p:spPr>
            <a:xfrm>
              <a:off x="1281247" y="2866725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4">
                  <a:moveTo>
                    <a:pt x="307799" y="163199"/>
                  </a:move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281247" y="2866725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4">
                  <a:moveTo>
                    <a:pt x="0" y="40799"/>
                  </a:move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Generation</a:t>
            </a:r>
            <a:r>
              <a:rPr spc="-160" dirty="0"/>
              <a:t> </a:t>
            </a:r>
            <a:r>
              <a:rPr spc="-20" dirty="0"/>
              <a:t>with</a:t>
            </a:r>
            <a:r>
              <a:rPr spc="-175" dirty="0"/>
              <a:t> </a:t>
            </a:r>
            <a:r>
              <a:rPr spc="-25" dirty="0"/>
              <a:t>AEs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791812" y="1424212"/>
            <a:ext cx="487045" cy="487045"/>
            <a:chOff x="1791812" y="1424212"/>
            <a:chExt cx="487045" cy="487045"/>
          </a:xfrm>
        </p:grpSpPr>
        <p:sp>
          <p:nvSpPr>
            <p:cNvPr id="5" name="object 5"/>
            <p:cNvSpPr/>
            <p:nvPr/>
          </p:nvSpPr>
          <p:spPr>
            <a:xfrm>
              <a:off x="1796575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96575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36209" y="1563461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91812" y="2064637"/>
            <a:ext cx="487045" cy="487045"/>
            <a:chOff x="1791812" y="2064637"/>
            <a:chExt cx="487045" cy="487045"/>
          </a:xfrm>
        </p:grpSpPr>
        <p:sp>
          <p:nvSpPr>
            <p:cNvPr id="9" name="object 9"/>
            <p:cNvSpPr/>
            <p:nvPr/>
          </p:nvSpPr>
          <p:spPr>
            <a:xfrm>
              <a:off x="1796575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96575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36209" y="2203887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91812" y="2705063"/>
            <a:ext cx="487045" cy="487045"/>
            <a:chOff x="1791812" y="2705063"/>
            <a:chExt cx="487045" cy="487045"/>
          </a:xfrm>
        </p:grpSpPr>
        <p:sp>
          <p:nvSpPr>
            <p:cNvPr id="13" name="object 13"/>
            <p:cNvSpPr/>
            <p:nvPr/>
          </p:nvSpPr>
          <p:spPr>
            <a:xfrm>
              <a:off x="1796575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96575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36209" y="2844313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91812" y="3345489"/>
            <a:ext cx="487045" cy="487045"/>
            <a:chOff x="1791812" y="3345489"/>
            <a:chExt cx="487045" cy="487045"/>
          </a:xfrm>
        </p:grpSpPr>
        <p:sp>
          <p:nvSpPr>
            <p:cNvPr id="17" name="object 17"/>
            <p:cNvSpPr/>
            <p:nvPr/>
          </p:nvSpPr>
          <p:spPr>
            <a:xfrm>
              <a:off x="1796575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96575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36209" y="3484738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791812" y="3985914"/>
            <a:ext cx="487045" cy="487045"/>
            <a:chOff x="1791812" y="3985914"/>
            <a:chExt cx="487045" cy="487045"/>
          </a:xfrm>
        </p:grpSpPr>
        <p:sp>
          <p:nvSpPr>
            <p:cNvPr id="21" name="object 21"/>
            <p:cNvSpPr/>
            <p:nvPr/>
          </p:nvSpPr>
          <p:spPr>
            <a:xfrm>
              <a:off x="1796575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96575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936209" y="4125164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905563" y="1424212"/>
            <a:ext cx="487045" cy="487045"/>
            <a:chOff x="5905563" y="1424212"/>
            <a:chExt cx="487045" cy="487045"/>
          </a:xfrm>
        </p:grpSpPr>
        <p:sp>
          <p:nvSpPr>
            <p:cNvPr id="25" name="object 25"/>
            <p:cNvSpPr/>
            <p:nvPr/>
          </p:nvSpPr>
          <p:spPr>
            <a:xfrm>
              <a:off x="5910326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10326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034453" y="1563461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905563" y="2064637"/>
            <a:ext cx="487045" cy="487045"/>
            <a:chOff x="5905563" y="2064637"/>
            <a:chExt cx="487045" cy="487045"/>
          </a:xfrm>
        </p:grpSpPr>
        <p:sp>
          <p:nvSpPr>
            <p:cNvPr id="29" name="object 29"/>
            <p:cNvSpPr/>
            <p:nvPr/>
          </p:nvSpPr>
          <p:spPr>
            <a:xfrm>
              <a:off x="5910326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10326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034453" y="2203887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905563" y="2705063"/>
            <a:ext cx="487045" cy="487045"/>
            <a:chOff x="5905563" y="2705063"/>
            <a:chExt cx="487045" cy="487045"/>
          </a:xfrm>
        </p:grpSpPr>
        <p:sp>
          <p:nvSpPr>
            <p:cNvPr id="33" name="object 33"/>
            <p:cNvSpPr/>
            <p:nvPr/>
          </p:nvSpPr>
          <p:spPr>
            <a:xfrm>
              <a:off x="5910326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10326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034453" y="2844313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905563" y="3345489"/>
            <a:ext cx="487045" cy="487045"/>
            <a:chOff x="5905563" y="3345489"/>
            <a:chExt cx="487045" cy="487045"/>
          </a:xfrm>
        </p:grpSpPr>
        <p:sp>
          <p:nvSpPr>
            <p:cNvPr id="37" name="object 37"/>
            <p:cNvSpPr/>
            <p:nvPr/>
          </p:nvSpPr>
          <p:spPr>
            <a:xfrm>
              <a:off x="5910326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10326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034453" y="3484738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905563" y="3985914"/>
            <a:ext cx="487045" cy="487045"/>
            <a:chOff x="5905563" y="3985914"/>
            <a:chExt cx="487045" cy="487045"/>
          </a:xfrm>
        </p:grpSpPr>
        <p:sp>
          <p:nvSpPr>
            <p:cNvPr id="41" name="object 41"/>
            <p:cNvSpPr/>
            <p:nvPr/>
          </p:nvSpPr>
          <p:spPr>
            <a:xfrm>
              <a:off x="5910326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10326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034453" y="4125164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268812" y="1662712"/>
            <a:ext cx="3646804" cy="2571750"/>
            <a:chOff x="2268812" y="1662712"/>
            <a:chExt cx="3646804" cy="2571750"/>
          </a:xfrm>
        </p:grpSpPr>
        <p:sp>
          <p:nvSpPr>
            <p:cNvPr id="45" name="object 45"/>
            <p:cNvSpPr/>
            <p:nvPr/>
          </p:nvSpPr>
          <p:spPr>
            <a:xfrm>
              <a:off x="2273574" y="1667474"/>
              <a:ext cx="3637279" cy="2562225"/>
            </a:xfrm>
            <a:custGeom>
              <a:avLst/>
              <a:gdLst/>
              <a:ahLst/>
              <a:cxnLst/>
              <a:rect l="l" t="t" r="r" b="b"/>
              <a:pathLst>
                <a:path w="3637279" h="2562225">
                  <a:moveTo>
                    <a:pt x="0" y="0"/>
                  </a:moveTo>
                  <a:lnTo>
                    <a:pt x="1118399" y="803699"/>
                  </a:lnTo>
                </a:path>
                <a:path w="3637279" h="2562225">
                  <a:moveTo>
                    <a:pt x="0" y="0"/>
                  </a:moveTo>
                  <a:lnTo>
                    <a:pt x="1118399" y="1515299"/>
                  </a:lnTo>
                </a:path>
                <a:path w="3637279" h="2562225">
                  <a:moveTo>
                    <a:pt x="53" y="640552"/>
                  </a:moveTo>
                  <a:lnTo>
                    <a:pt x="1118453" y="803752"/>
                  </a:lnTo>
                </a:path>
                <a:path w="3637279" h="2562225">
                  <a:moveTo>
                    <a:pt x="0" y="640424"/>
                  </a:moveTo>
                  <a:lnTo>
                    <a:pt x="1118399" y="1515224"/>
                  </a:lnTo>
                </a:path>
                <a:path w="3637279" h="2562225">
                  <a:moveTo>
                    <a:pt x="53" y="1280751"/>
                  </a:moveTo>
                  <a:lnTo>
                    <a:pt x="1118453" y="803751"/>
                  </a:lnTo>
                </a:path>
                <a:path w="3637279" h="2562225">
                  <a:moveTo>
                    <a:pt x="0" y="1280849"/>
                  </a:moveTo>
                  <a:lnTo>
                    <a:pt x="1118399" y="1515449"/>
                  </a:lnTo>
                </a:path>
                <a:path w="3637279" h="2562225">
                  <a:moveTo>
                    <a:pt x="53" y="1921250"/>
                  </a:moveTo>
                  <a:lnTo>
                    <a:pt x="1118453" y="803750"/>
                  </a:lnTo>
                </a:path>
                <a:path w="3637279" h="2562225">
                  <a:moveTo>
                    <a:pt x="53" y="1921234"/>
                  </a:moveTo>
                  <a:lnTo>
                    <a:pt x="1118453" y="1515334"/>
                  </a:lnTo>
                </a:path>
                <a:path w="3637279" h="2562225">
                  <a:moveTo>
                    <a:pt x="53" y="2561749"/>
                  </a:moveTo>
                  <a:lnTo>
                    <a:pt x="1118453" y="803749"/>
                  </a:lnTo>
                </a:path>
                <a:path w="3637279" h="2562225">
                  <a:moveTo>
                    <a:pt x="53" y="2561733"/>
                  </a:moveTo>
                  <a:lnTo>
                    <a:pt x="1118453" y="1515333"/>
                  </a:lnTo>
                </a:path>
                <a:path w="3637279" h="2562225">
                  <a:moveTo>
                    <a:pt x="2404225" y="803760"/>
                  </a:moveTo>
                  <a:lnTo>
                    <a:pt x="3636625" y="60"/>
                  </a:lnTo>
                </a:path>
                <a:path w="3637279" h="2562225">
                  <a:moveTo>
                    <a:pt x="2404284" y="803632"/>
                  </a:moveTo>
                  <a:lnTo>
                    <a:pt x="3636684" y="640432"/>
                  </a:lnTo>
                </a:path>
                <a:path w="3637279" h="2562225">
                  <a:moveTo>
                    <a:pt x="2404284" y="803858"/>
                  </a:moveTo>
                  <a:lnTo>
                    <a:pt x="3636684" y="1280858"/>
                  </a:lnTo>
                </a:path>
                <a:path w="3637279" h="2562225">
                  <a:moveTo>
                    <a:pt x="2404284" y="803783"/>
                  </a:moveTo>
                  <a:lnTo>
                    <a:pt x="3636684" y="1921283"/>
                  </a:lnTo>
                </a:path>
                <a:path w="3637279" h="2562225">
                  <a:moveTo>
                    <a:pt x="2404225" y="803760"/>
                  </a:moveTo>
                  <a:lnTo>
                    <a:pt x="3636625" y="256176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6405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1280740"/>
                  </a:lnTo>
                </a:path>
                <a:path w="3637279" h="2562225">
                  <a:moveTo>
                    <a:pt x="2404225" y="1515340"/>
                  </a:moveTo>
                  <a:lnTo>
                    <a:pt x="3636625" y="1921240"/>
                  </a:lnTo>
                </a:path>
                <a:path w="3637279" h="2562225">
                  <a:moveTo>
                    <a:pt x="2404284" y="1515305"/>
                  </a:moveTo>
                  <a:lnTo>
                    <a:pt x="3636684" y="2561704"/>
                  </a:lnTo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45424" y="2092149"/>
              <a:ext cx="1185545" cy="1369695"/>
            </a:xfrm>
            <a:custGeom>
              <a:avLst/>
              <a:gdLst/>
              <a:ahLst/>
              <a:cxnLst/>
              <a:rect l="l" t="t" r="r" b="b"/>
              <a:pathLst>
                <a:path w="1185545" h="1369695">
                  <a:moveTo>
                    <a:pt x="0" y="0"/>
                  </a:moveTo>
                  <a:lnTo>
                    <a:pt x="1184999" y="0"/>
                  </a:lnTo>
                  <a:lnTo>
                    <a:pt x="1184999" y="1369199"/>
                  </a:lnTo>
                  <a:lnTo>
                    <a:pt x="0" y="136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25549" y="2370174"/>
              <a:ext cx="101099" cy="10109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7949" y="2598774"/>
              <a:ext cx="101099" cy="10109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9349" y="2751174"/>
              <a:ext cx="101099" cy="10109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82749" y="2827374"/>
              <a:ext cx="101099" cy="10109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1749" y="2979774"/>
              <a:ext cx="101099" cy="101099"/>
            </a:xfrm>
            <a:prstGeom prst="rect">
              <a:avLst/>
            </a:prstGeom>
          </p:spPr>
        </p:pic>
      </p:grpSp>
      <p:pic>
        <p:nvPicPr>
          <p:cNvPr id="52" name="object 5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455" y="2594949"/>
            <a:ext cx="603071" cy="706749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1276484" y="2861962"/>
            <a:ext cx="399415" cy="172720"/>
            <a:chOff x="1276484" y="2861962"/>
            <a:chExt cx="399415" cy="172720"/>
          </a:xfrm>
        </p:grpSpPr>
        <p:sp>
          <p:nvSpPr>
            <p:cNvPr id="54" name="object 54"/>
            <p:cNvSpPr/>
            <p:nvPr/>
          </p:nvSpPr>
          <p:spPr>
            <a:xfrm>
              <a:off x="1281247" y="2866725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4">
                  <a:moveTo>
                    <a:pt x="307799" y="163199"/>
                  </a:move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281247" y="2866725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4">
                  <a:moveTo>
                    <a:pt x="0" y="40799"/>
                  </a:move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Generation</a:t>
            </a:r>
            <a:r>
              <a:rPr spc="-160" dirty="0"/>
              <a:t> </a:t>
            </a:r>
            <a:r>
              <a:rPr spc="-20" dirty="0"/>
              <a:t>with</a:t>
            </a:r>
            <a:r>
              <a:rPr spc="-175" dirty="0"/>
              <a:t> </a:t>
            </a:r>
            <a:r>
              <a:rPr spc="-25" dirty="0"/>
              <a:t>AEs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905563" y="1424212"/>
            <a:ext cx="487045" cy="487045"/>
            <a:chOff x="5905563" y="1424212"/>
            <a:chExt cx="487045" cy="487045"/>
          </a:xfrm>
        </p:grpSpPr>
        <p:sp>
          <p:nvSpPr>
            <p:cNvPr id="5" name="object 5"/>
            <p:cNvSpPr/>
            <p:nvPr/>
          </p:nvSpPr>
          <p:spPr>
            <a:xfrm>
              <a:off x="5910326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10326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34453" y="1563461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905563" y="2064637"/>
            <a:ext cx="487045" cy="487045"/>
            <a:chOff x="5905563" y="2064637"/>
            <a:chExt cx="487045" cy="487045"/>
          </a:xfrm>
        </p:grpSpPr>
        <p:sp>
          <p:nvSpPr>
            <p:cNvPr id="9" name="object 9"/>
            <p:cNvSpPr/>
            <p:nvPr/>
          </p:nvSpPr>
          <p:spPr>
            <a:xfrm>
              <a:off x="5910326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10326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34453" y="2203887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905563" y="2705063"/>
            <a:ext cx="487045" cy="487045"/>
            <a:chOff x="5905563" y="2705063"/>
            <a:chExt cx="487045" cy="487045"/>
          </a:xfrm>
        </p:grpSpPr>
        <p:sp>
          <p:nvSpPr>
            <p:cNvPr id="13" name="object 13"/>
            <p:cNvSpPr/>
            <p:nvPr/>
          </p:nvSpPr>
          <p:spPr>
            <a:xfrm>
              <a:off x="5910326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10326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034453" y="2844313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905563" y="3345489"/>
            <a:ext cx="487045" cy="487045"/>
            <a:chOff x="5905563" y="3345489"/>
            <a:chExt cx="487045" cy="487045"/>
          </a:xfrm>
        </p:grpSpPr>
        <p:sp>
          <p:nvSpPr>
            <p:cNvPr id="17" name="object 17"/>
            <p:cNvSpPr/>
            <p:nvPr/>
          </p:nvSpPr>
          <p:spPr>
            <a:xfrm>
              <a:off x="5910326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10326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034453" y="3484738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905563" y="3985914"/>
            <a:ext cx="487045" cy="487045"/>
            <a:chOff x="5905563" y="3985914"/>
            <a:chExt cx="487045" cy="487045"/>
          </a:xfrm>
        </p:grpSpPr>
        <p:sp>
          <p:nvSpPr>
            <p:cNvPr id="21" name="object 21"/>
            <p:cNvSpPr/>
            <p:nvPr/>
          </p:nvSpPr>
          <p:spPr>
            <a:xfrm>
              <a:off x="5910326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10326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034453" y="4125164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440662" y="1662753"/>
            <a:ext cx="2474595" cy="2571750"/>
            <a:chOff x="3440662" y="1662753"/>
            <a:chExt cx="2474595" cy="2571750"/>
          </a:xfrm>
        </p:grpSpPr>
        <p:sp>
          <p:nvSpPr>
            <p:cNvPr id="25" name="object 25"/>
            <p:cNvSpPr/>
            <p:nvPr/>
          </p:nvSpPr>
          <p:spPr>
            <a:xfrm>
              <a:off x="4677800" y="1667515"/>
              <a:ext cx="1232535" cy="2562225"/>
            </a:xfrm>
            <a:custGeom>
              <a:avLst/>
              <a:gdLst/>
              <a:ahLst/>
              <a:cxnLst/>
              <a:rect l="l" t="t" r="r" b="b"/>
              <a:pathLst>
                <a:path w="1232535" h="2562225">
                  <a:moveTo>
                    <a:pt x="0" y="803720"/>
                  </a:moveTo>
                  <a:lnTo>
                    <a:pt x="1232399" y="20"/>
                  </a:lnTo>
                </a:path>
                <a:path w="1232535" h="2562225">
                  <a:moveTo>
                    <a:pt x="58" y="803592"/>
                  </a:moveTo>
                  <a:lnTo>
                    <a:pt x="1232458" y="640392"/>
                  </a:lnTo>
                </a:path>
                <a:path w="1232535" h="2562225">
                  <a:moveTo>
                    <a:pt x="58" y="803817"/>
                  </a:moveTo>
                  <a:lnTo>
                    <a:pt x="1232458" y="1280817"/>
                  </a:lnTo>
                </a:path>
                <a:path w="1232535" h="2562225">
                  <a:moveTo>
                    <a:pt x="58" y="803743"/>
                  </a:moveTo>
                  <a:lnTo>
                    <a:pt x="1232458" y="1921243"/>
                  </a:lnTo>
                </a:path>
                <a:path w="1232535" h="2562225">
                  <a:moveTo>
                    <a:pt x="0" y="803720"/>
                  </a:moveTo>
                  <a:lnTo>
                    <a:pt x="1232399" y="2561720"/>
                  </a:lnTo>
                </a:path>
                <a:path w="1232535" h="2562225">
                  <a:moveTo>
                    <a:pt x="0" y="1515299"/>
                  </a:moveTo>
                  <a:lnTo>
                    <a:pt x="1232399" y="0"/>
                  </a:lnTo>
                </a:path>
                <a:path w="1232535" h="2562225">
                  <a:moveTo>
                    <a:pt x="0" y="1515299"/>
                  </a:moveTo>
                  <a:lnTo>
                    <a:pt x="1232399" y="640499"/>
                  </a:lnTo>
                </a:path>
                <a:path w="1232535" h="2562225">
                  <a:moveTo>
                    <a:pt x="0" y="1515299"/>
                  </a:moveTo>
                  <a:lnTo>
                    <a:pt x="1232399" y="1280699"/>
                  </a:lnTo>
                </a:path>
                <a:path w="1232535" h="2562225">
                  <a:moveTo>
                    <a:pt x="0" y="1515299"/>
                  </a:moveTo>
                  <a:lnTo>
                    <a:pt x="1232399" y="1921199"/>
                  </a:lnTo>
                </a:path>
                <a:path w="1232535" h="2562225">
                  <a:moveTo>
                    <a:pt x="58" y="1515264"/>
                  </a:moveTo>
                  <a:lnTo>
                    <a:pt x="1232458" y="2561664"/>
                  </a:lnTo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45424" y="2092150"/>
              <a:ext cx="1185545" cy="1369695"/>
            </a:xfrm>
            <a:custGeom>
              <a:avLst/>
              <a:gdLst/>
              <a:ahLst/>
              <a:cxnLst/>
              <a:rect l="l" t="t" r="r" b="b"/>
              <a:pathLst>
                <a:path w="1185545" h="1369695">
                  <a:moveTo>
                    <a:pt x="0" y="0"/>
                  </a:moveTo>
                  <a:lnTo>
                    <a:pt x="1184999" y="0"/>
                  </a:lnTo>
                  <a:lnTo>
                    <a:pt x="1184999" y="1369199"/>
                  </a:lnTo>
                  <a:lnTo>
                    <a:pt x="0" y="136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25549" y="2370175"/>
              <a:ext cx="101099" cy="10109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7949" y="2598774"/>
              <a:ext cx="101099" cy="1010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9349" y="2751174"/>
              <a:ext cx="101099" cy="10109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82749" y="2827374"/>
              <a:ext cx="101099" cy="10109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1749" y="2979774"/>
              <a:ext cx="101099" cy="1010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Generation</a:t>
            </a:r>
            <a:r>
              <a:rPr spc="-160" dirty="0"/>
              <a:t> </a:t>
            </a:r>
            <a:r>
              <a:rPr spc="-20" dirty="0"/>
              <a:t>with</a:t>
            </a:r>
            <a:r>
              <a:rPr spc="-175" dirty="0"/>
              <a:t> </a:t>
            </a:r>
            <a:r>
              <a:rPr spc="-25" dirty="0"/>
              <a:t>AEs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905563" y="1424212"/>
            <a:ext cx="487045" cy="487045"/>
            <a:chOff x="5905563" y="1424212"/>
            <a:chExt cx="487045" cy="487045"/>
          </a:xfrm>
        </p:grpSpPr>
        <p:sp>
          <p:nvSpPr>
            <p:cNvPr id="5" name="object 5"/>
            <p:cNvSpPr/>
            <p:nvPr/>
          </p:nvSpPr>
          <p:spPr>
            <a:xfrm>
              <a:off x="5910326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10326" y="1428974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34453" y="1563461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905563" y="2064637"/>
            <a:ext cx="487045" cy="487045"/>
            <a:chOff x="5905563" y="2064637"/>
            <a:chExt cx="487045" cy="487045"/>
          </a:xfrm>
        </p:grpSpPr>
        <p:sp>
          <p:nvSpPr>
            <p:cNvPr id="9" name="object 9"/>
            <p:cNvSpPr/>
            <p:nvPr/>
          </p:nvSpPr>
          <p:spPr>
            <a:xfrm>
              <a:off x="5910326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10326" y="2069400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5"/>
                  </a:lnTo>
                  <a:lnTo>
                    <a:pt x="40732" y="105152"/>
                  </a:lnTo>
                  <a:lnTo>
                    <a:pt x="69854" y="69855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5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34453" y="2203887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905563" y="2705063"/>
            <a:ext cx="487045" cy="487045"/>
            <a:chOff x="5905563" y="2705063"/>
            <a:chExt cx="487045" cy="487045"/>
          </a:xfrm>
        </p:grpSpPr>
        <p:sp>
          <p:nvSpPr>
            <p:cNvPr id="13" name="object 13"/>
            <p:cNvSpPr/>
            <p:nvPr/>
          </p:nvSpPr>
          <p:spPr>
            <a:xfrm>
              <a:off x="5910326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10326" y="270982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19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034453" y="2844313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905563" y="3345489"/>
            <a:ext cx="487045" cy="487045"/>
            <a:chOff x="5905563" y="3345489"/>
            <a:chExt cx="487045" cy="487045"/>
          </a:xfrm>
        </p:grpSpPr>
        <p:sp>
          <p:nvSpPr>
            <p:cNvPr id="17" name="object 17"/>
            <p:cNvSpPr/>
            <p:nvPr/>
          </p:nvSpPr>
          <p:spPr>
            <a:xfrm>
              <a:off x="5910326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10326" y="335025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29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034453" y="3484738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905563" y="3985914"/>
            <a:ext cx="487045" cy="487045"/>
            <a:chOff x="5905563" y="3985914"/>
            <a:chExt cx="487045" cy="487045"/>
          </a:xfrm>
        </p:grpSpPr>
        <p:sp>
          <p:nvSpPr>
            <p:cNvPr id="21" name="object 21"/>
            <p:cNvSpPr/>
            <p:nvPr/>
          </p:nvSpPr>
          <p:spPr>
            <a:xfrm>
              <a:off x="5910326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499" y="476999"/>
                  </a:move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10326" y="3990677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0" y="238499"/>
                  </a:moveTo>
                  <a:lnTo>
                    <a:pt x="4845" y="190433"/>
                  </a:lnTo>
                  <a:lnTo>
                    <a:pt x="18742" y="145664"/>
                  </a:lnTo>
                  <a:lnTo>
                    <a:pt x="40732" y="105152"/>
                  </a:lnTo>
                  <a:lnTo>
                    <a:pt x="69854" y="69854"/>
                  </a:lnTo>
                  <a:lnTo>
                    <a:pt x="105152" y="40732"/>
                  </a:lnTo>
                  <a:lnTo>
                    <a:pt x="145664" y="18742"/>
                  </a:lnTo>
                  <a:lnTo>
                    <a:pt x="190433" y="4845"/>
                  </a:lnTo>
                  <a:lnTo>
                    <a:pt x="238499" y="0"/>
                  </a:lnTo>
                  <a:lnTo>
                    <a:pt x="285246" y="4625"/>
                  </a:lnTo>
                  <a:lnTo>
                    <a:pt x="329769" y="18154"/>
                  </a:lnTo>
                  <a:lnTo>
                    <a:pt x="370819" y="40070"/>
                  </a:lnTo>
                  <a:lnTo>
                    <a:pt x="407144" y="69854"/>
                  </a:lnTo>
                  <a:lnTo>
                    <a:pt x="436929" y="106180"/>
                  </a:lnTo>
                  <a:lnTo>
                    <a:pt x="458845" y="147230"/>
                  </a:lnTo>
                  <a:lnTo>
                    <a:pt x="472374" y="191753"/>
                  </a:lnTo>
                  <a:lnTo>
                    <a:pt x="476999" y="238499"/>
                  </a:lnTo>
                  <a:lnTo>
                    <a:pt x="472154" y="286566"/>
                  </a:lnTo>
                  <a:lnTo>
                    <a:pt x="458257" y="331334"/>
                  </a:lnTo>
                  <a:lnTo>
                    <a:pt x="436267" y="371847"/>
                  </a:lnTo>
                  <a:lnTo>
                    <a:pt x="407144" y="407144"/>
                  </a:lnTo>
                  <a:lnTo>
                    <a:pt x="371847" y="436267"/>
                  </a:lnTo>
                  <a:lnTo>
                    <a:pt x="331334" y="458257"/>
                  </a:lnTo>
                  <a:lnTo>
                    <a:pt x="286566" y="472154"/>
                  </a:lnTo>
                  <a:lnTo>
                    <a:pt x="238499" y="476999"/>
                  </a:lnTo>
                  <a:lnTo>
                    <a:pt x="190433" y="472154"/>
                  </a:lnTo>
                  <a:lnTo>
                    <a:pt x="145664" y="458257"/>
                  </a:lnTo>
                  <a:lnTo>
                    <a:pt x="105152" y="436267"/>
                  </a:lnTo>
                  <a:lnTo>
                    <a:pt x="69854" y="407144"/>
                  </a:lnTo>
                  <a:lnTo>
                    <a:pt x="40732" y="371847"/>
                  </a:lnTo>
                  <a:lnTo>
                    <a:pt x="18742" y="331334"/>
                  </a:lnTo>
                  <a:lnTo>
                    <a:pt x="4845" y="286566"/>
                  </a:lnTo>
                  <a:lnTo>
                    <a:pt x="0" y="238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034453" y="4125164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440662" y="1662753"/>
            <a:ext cx="2474595" cy="2571750"/>
            <a:chOff x="3440662" y="1662753"/>
            <a:chExt cx="2474595" cy="2571750"/>
          </a:xfrm>
        </p:grpSpPr>
        <p:sp>
          <p:nvSpPr>
            <p:cNvPr id="25" name="object 25"/>
            <p:cNvSpPr/>
            <p:nvPr/>
          </p:nvSpPr>
          <p:spPr>
            <a:xfrm>
              <a:off x="4677800" y="1667515"/>
              <a:ext cx="1232535" cy="2562225"/>
            </a:xfrm>
            <a:custGeom>
              <a:avLst/>
              <a:gdLst/>
              <a:ahLst/>
              <a:cxnLst/>
              <a:rect l="l" t="t" r="r" b="b"/>
              <a:pathLst>
                <a:path w="1232535" h="2562225">
                  <a:moveTo>
                    <a:pt x="0" y="803720"/>
                  </a:moveTo>
                  <a:lnTo>
                    <a:pt x="1232399" y="20"/>
                  </a:lnTo>
                </a:path>
                <a:path w="1232535" h="2562225">
                  <a:moveTo>
                    <a:pt x="58" y="803592"/>
                  </a:moveTo>
                  <a:lnTo>
                    <a:pt x="1232458" y="640392"/>
                  </a:lnTo>
                </a:path>
                <a:path w="1232535" h="2562225">
                  <a:moveTo>
                    <a:pt x="58" y="803817"/>
                  </a:moveTo>
                  <a:lnTo>
                    <a:pt x="1232458" y="1280817"/>
                  </a:lnTo>
                </a:path>
                <a:path w="1232535" h="2562225">
                  <a:moveTo>
                    <a:pt x="58" y="803743"/>
                  </a:moveTo>
                  <a:lnTo>
                    <a:pt x="1232458" y="1921243"/>
                  </a:lnTo>
                </a:path>
                <a:path w="1232535" h="2562225">
                  <a:moveTo>
                    <a:pt x="0" y="803720"/>
                  </a:moveTo>
                  <a:lnTo>
                    <a:pt x="1232399" y="2561720"/>
                  </a:lnTo>
                </a:path>
                <a:path w="1232535" h="2562225">
                  <a:moveTo>
                    <a:pt x="0" y="1515299"/>
                  </a:moveTo>
                  <a:lnTo>
                    <a:pt x="1232399" y="0"/>
                  </a:lnTo>
                </a:path>
                <a:path w="1232535" h="2562225">
                  <a:moveTo>
                    <a:pt x="0" y="1515299"/>
                  </a:moveTo>
                  <a:lnTo>
                    <a:pt x="1232399" y="640499"/>
                  </a:lnTo>
                </a:path>
                <a:path w="1232535" h="2562225">
                  <a:moveTo>
                    <a:pt x="0" y="1515299"/>
                  </a:moveTo>
                  <a:lnTo>
                    <a:pt x="1232399" y="1280699"/>
                  </a:lnTo>
                </a:path>
                <a:path w="1232535" h="2562225">
                  <a:moveTo>
                    <a:pt x="0" y="1515299"/>
                  </a:moveTo>
                  <a:lnTo>
                    <a:pt x="1232399" y="1921199"/>
                  </a:lnTo>
                </a:path>
                <a:path w="1232535" h="2562225">
                  <a:moveTo>
                    <a:pt x="58" y="1515264"/>
                  </a:moveTo>
                  <a:lnTo>
                    <a:pt x="1232458" y="2561664"/>
                  </a:lnTo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45424" y="2092150"/>
              <a:ext cx="1185545" cy="1369695"/>
            </a:xfrm>
            <a:custGeom>
              <a:avLst/>
              <a:gdLst/>
              <a:ahLst/>
              <a:cxnLst/>
              <a:rect l="l" t="t" r="r" b="b"/>
              <a:pathLst>
                <a:path w="1185545" h="1369695">
                  <a:moveTo>
                    <a:pt x="0" y="0"/>
                  </a:moveTo>
                  <a:lnTo>
                    <a:pt x="1184999" y="0"/>
                  </a:lnTo>
                  <a:lnTo>
                    <a:pt x="1184999" y="1369199"/>
                  </a:lnTo>
                  <a:lnTo>
                    <a:pt x="0" y="136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25549" y="2370175"/>
              <a:ext cx="101099" cy="10109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7949" y="2598774"/>
              <a:ext cx="101099" cy="1010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9349" y="2751174"/>
              <a:ext cx="101099" cy="10109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82749" y="2827374"/>
              <a:ext cx="101099" cy="10109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82749" y="2598774"/>
              <a:ext cx="101099" cy="10109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1749" y="2979774"/>
              <a:ext cx="101099" cy="101099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6534284" y="2861962"/>
            <a:ext cx="399415" cy="172720"/>
            <a:chOff x="6534284" y="2861962"/>
            <a:chExt cx="399415" cy="172720"/>
          </a:xfrm>
        </p:grpSpPr>
        <p:sp>
          <p:nvSpPr>
            <p:cNvPr id="34" name="object 34"/>
            <p:cNvSpPr/>
            <p:nvPr/>
          </p:nvSpPr>
          <p:spPr>
            <a:xfrm>
              <a:off x="6539047" y="2866725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90" h="163194">
                  <a:moveTo>
                    <a:pt x="307800" y="163199"/>
                  </a:moveTo>
                  <a:lnTo>
                    <a:pt x="307800" y="122399"/>
                  </a:lnTo>
                  <a:lnTo>
                    <a:pt x="0" y="122399"/>
                  </a:lnTo>
                  <a:lnTo>
                    <a:pt x="0" y="40799"/>
                  </a:lnTo>
                  <a:lnTo>
                    <a:pt x="307800" y="40799"/>
                  </a:lnTo>
                  <a:lnTo>
                    <a:pt x="307800" y="0"/>
                  </a:lnTo>
                  <a:lnTo>
                    <a:pt x="389400" y="81599"/>
                  </a:lnTo>
                  <a:lnTo>
                    <a:pt x="307800" y="16319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539047" y="2866725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90" h="163194">
                  <a:moveTo>
                    <a:pt x="0" y="40799"/>
                  </a:moveTo>
                  <a:lnTo>
                    <a:pt x="307800" y="40799"/>
                  </a:lnTo>
                  <a:lnTo>
                    <a:pt x="307800" y="0"/>
                  </a:lnTo>
                  <a:lnTo>
                    <a:pt x="389400" y="81599"/>
                  </a:lnTo>
                  <a:lnTo>
                    <a:pt x="307800" y="163199"/>
                  </a:lnTo>
                  <a:lnTo>
                    <a:pt x="307800" y="122399"/>
                  </a:lnTo>
                  <a:lnTo>
                    <a:pt x="0" y="122399"/>
                  </a:lnTo>
                  <a:lnTo>
                    <a:pt x="0" y="40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6" name="object 3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31455" y="2594949"/>
            <a:ext cx="603071" cy="706749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703700" y="1740376"/>
            <a:ext cx="2171065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Sample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point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latent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space</a:t>
            </a:r>
            <a:r>
              <a:rPr sz="1800" spc="-25" dirty="0">
                <a:latin typeface="Arial"/>
                <a:cs typeface="Arial"/>
              </a:rPr>
              <a:t> and </a:t>
            </a:r>
            <a:r>
              <a:rPr sz="1800" dirty="0">
                <a:latin typeface="Arial"/>
                <a:cs typeface="Arial"/>
              </a:rPr>
              <a:t>pass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through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10" dirty="0">
                <a:latin typeface="Arial"/>
                <a:cs typeface="Arial"/>
              </a:rPr>
              <a:t>decoder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Denoising</a:t>
            </a:r>
            <a:r>
              <a:rPr spc="-145" dirty="0"/>
              <a:t> </a:t>
            </a:r>
            <a:r>
              <a:rPr spc="-20" dirty="0"/>
              <a:t>with</a:t>
            </a:r>
            <a:r>
              <a:rPr spc="-170" dirty="0"/>
              <a:t> </a:t>
            </a:r>
            <a:r>
              <a:rPr spc="-25" dirty="0"/>
              <a:t>AEs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8712" y="1857987"/>
            <a:ext cx="3685876" cy="30482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53109" y="1997237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53109" y="2637662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53109" y="3278088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53109" y="3918513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53109" y="4558939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52784" y="2800990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v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52784" y="3512574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v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36953" y="1997237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36953" y="2637662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36953" y="3278088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36953" y="3918513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36953" y="4558939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Denoising</a:t>
            </a:r>
            <a:r>
              <a:rPr spc="-145" dirty="0"/>
              <a:t> </a:t>
            </a:r>
            <a:r>
              <a:rPr spc="-20" dirty="0"/>
              <a:t>with</a:t>
            </a:r>
            <a:r>
              <a:rPr spc="-170" dirty="0"/>
              <a:t> </a:t>
            </a:r>
            <a:r>
              <a:rPr spc="-25" dirty="0"/>
              <a:t>AEs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8712" y="1857987"/>
            <a:ext cx="3685876" cy="30482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53109" y="1997237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53109" y="2637662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53109" y="3278088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53109" y="3918513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53109" y="4558939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52784" y="2800990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v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52784" y="3512574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v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36953" y="1997237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36953" y="2637662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36953" y="3278088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36953" y="3918513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36953" y="4558939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89949" y="1509098"/>
            <a:ext cx="744855" cy="744855"/>
            <a:chOff x="789949" y="1509098"/>
            <a:chExt cx="744855" cy="74485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255" y="1528149"/>
              <a:ext cx="603071" cy="70674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99474" y="1518623"/>
              <a:ext cx="725805" cy="725805"/>
            </a:xfrm>
            <a:custGeom>
              <a:avLst/>
              <a:gdLst/>
              <a:ahLst/>
              <a:cxnLst/>
              <a:rect l="l" t="t" r="r" b="b"/>
              <a:pathLst>
                <a:path w="725805" h="725805">
                  <a:moveTo>
                    <a:pt x="0" y="0"/>
                  </a:moveTo>
                  <a:lnTo>
                    <a:pt x="725774" y="0"/>
                  </a:lnTo>
                  <a:lnTo>
                    <a:pt x="725774" y="725799"/>
                  </a:lnTo>
                  <a:lnTo>
                    <a:pt x="0" y="725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Denoising</a:t>
            </a:r>
            <a:r>
              <a:rPr spc="-145" dirty="0"/>
              <a:t> </a:t>
            </a:r>
            <a:r>
              <a:rPr spc="-20" dirty="0"/>
              <a:t>with</a:t>
            </a:r>
            <a:r>
              <a:rPr spc="-170" dirty="0"/>
              <a:t> </a:t>
            </a:r>
            <a:r>
              <a:rPr spc="-25" dirty="0"/>
              <a:t>AEs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8712" y="1857987"/>
            <a:ext cx="3685876" cy="30482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53109" y="1997237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53109" y="2637662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53109" y="3278088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53109" y="3918513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53109" y="4558939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52784" y="2800990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v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52784" y="3512574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v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36953" y="1997237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36953" y="2637662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36953" y="3278088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36953" y="3918513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36953" y="4558939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89949" y="2714490"/>
            <a:ext cx="744855" cy="1056640"/>
            <a:chOff x="789949" y="2714490"/>
            <a:chExt cx="744855" cy="105664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255" y="3045198"/>
              <a:ext cx="603071" cy="70674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99474" y="3035673"/>
              <a:ext cx="725805" cy="725805"/>
            </a:xfrm>
            <a:custGeom>
              <a:avLst/>
              <a:gdLst/>
              <a:ahLst/>
              <a:cxnLst/>
              <a:rect l="l" t="t" r="r" b="b"/>
              <a:pathLst>
                <a:path w="725805" h="725804">
                  <a:moveTo>
                    <a:pt x="0" y="0"/>
                  </a:moveTo>
                  <a:lnTo>
                    <a:pt x="725774" y="0"/>
                  </a:lnTo>
                  <a:lnTo>
                    <a:pt x="725774" y="725799"/>
                  </a:lnTo>
                  <a:lnTo>
                    <a:pt x="0" y="725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80762" y="2719253"/>
              <a:ext cx="163195" cy="278130"/>
            </a:xfrm>
            <a:custGeom>
              <a:avLst/>
              <a:gdLst/>
              <a:ahLst/>
              <a:cxnLst/>
              <a:rect l="l" t="t" r="r" b="b"/>
              <a:pathLst>
                <a:path w="163194" h="278130">
                  <a:moveTo>
                    <a:pt x="81599" y="277799"/>
                  </a:moveTo>
                  <a:lnTo>
                    <a:pt x="0" y="196199"/>
                  </a:lnTo>
                  <a:lnTo>
                    <a:pt x="40799" y="196199"/>
                  </a:lnTo>
                  <a:lnTo>
                    <a:pt x="40799" y="0"/>
                  </a:lnTo>
                  <a:lnTo>
                    <a:pt x="122399" y="0"/>
                  </a:lnTo>
                  <a:lnTo>
                    <a:pt x="122399" y="196199"/>
                  </a:lnTo>
                  <a:lnTo>
                    <a:pt x="163199" y="196199"/>
                  </a:lnTo>
                  <a:lnTo>
                    <a:pt x="81599" y="277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80762" y="2719253"/>
              <a:ext cx="163195" cy="278130"/>
            </a:xfrm>
            <a:custGeom>
              <a:avLst/>
              <a:gdLst/>
              <a:ahLst/>
              <a:cxnLst/>
              <a:rect l="l" t="t" r="r" b="b"/>
              <a:pathLst>
                <a:path w="163194" h="278130">
                  <a:moveTo>
                    <a:pt x="122399" y="0"/>
                  </a:moveTo>
                  <a:lnTo>
                    <a:pt x="122399" y="196199"/>
                  </a:lnTo>
                  <a:lnTo>
                    <a:pt x="163199" y="196199"/>
                  </a:lnTo>
                  <a:lnTo>
                    <a:pt x="81599" y="277799"/>
                  </a:lnTo>
                  <a:lnTo>
                    <a:pt x="0" y="196199"/>
                  </a:lnTo>
                  <a:lnTo>
                    <a:pt x="40799" y="196199"/>
                  </a:lnTo>
                  <a:lnTo>
                    <a:pt x="40799" y="0"/>
                  </a:lnTo>
                  <a:lnTo>
                    <a:pt x="1223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67561" y="2332196"/>
            <a:ext cx="13925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Arial"/>
                <a:cs typeface="Arial"/>
              </a:rPr>
              <a:t>Add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noise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to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audio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89949" y="1509098"/>
            <a:ext cx="744855" cy="744855"/>
            <a:chOff x="789949" y="1509098"/>
            <a:chExt cx="744855" cy="74485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255" y="1528149"/>
              <a:ext cx="603071" cy="70674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99474" y="1518623"/>
              <a:ext cx="725805" cy="725805"/>
            </a:xfrm>
            <a:custGeom>
              <a:avLst/>
              <a:gdLst/>
              <a:ahLst/>
              <a:cxnLst/>
              <a:rect l="l" t="t" r="r" b="b"/>
              <a:pathLst>
                <a:path w="725805" h="725805">
                  <a:moveTo>
                    <a:pt x="0" y="0"/>
                  </a:moveTo>
                  <a:lnTo>
                    <a:pt x="725774" y="0"/>
                  </a:lnTo>
                  <a:lnTo>
                    <a:pt x="725774" y="725799"/>
                  </a:lnTo>
                  <a:lnTo>
                    <a:pt x="0" y="725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Denoising</a:t>
            </a:r>
            <a:r>
              <a:rPr spc="-145" dirty="0"/>
              <a:t> </a:t>
            </a:r>
            <a:r>
              <a:rPr spc="-20" dirty="0"/>
              <a:t>with</a:t>
            </a:r>
            <a:r>
              <a:rPr spc="-170" dirty="0"/>
              <a:t> </a:t>
            </a:r>
            <a:r>
              <a:rPr spc="-25" dirty="0"/>
              <a:t>AEs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8712" y="1857987"/>
            <a:ext cx="3685876" cy="30482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53109" y="1997237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53109" y="2637662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53109" y="3278088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53109" y="3918513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53109" y="4558939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52784" y="2800990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v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52784" y="3512574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v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36953" y="1997237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36953" y="2637662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36953" y="3278088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36953" y="3918513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36953" y="4558939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89949" y="2714490"/>
            <a:ext cx="744855" cy="1056640"/>
            <a:chOff x="789949" y="2714490"/>
            <a:chExt cx="744855" cy="105664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255" y="3045198"/>
              <a:ext cx="603071" cy="70674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99474" y="3035673"/>
              <a:ext cx="725805" cy="725805"/>
            </a:xfrm>
            <a:custGeom>
              <a:avLst/>
              <a:gdLst/>
              <a:ahLst/>
              <a:cxnLst/>
              <a:rect l="l" t="t" r="r" b="b"/>
              <a:pathLst>
                <a:path w="725805" h="725804">
                  <a:moveTo>
                    <a:pt x="0" y="0"/>
                  </a:moveTo>
                  <a:lnTo>
                    <a:pt x="725774" y="0"/>
                  </a:lnTo>
                  <a:lnTo>
                    <a:pt x="725774" y="725799"/>
                  </a:lnTo>
                  <a:lnTo>
                    <a:pt x="0" y="725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80762" y="2719253"/>
              <a:ext cx="163195" cy="278130"/>
            </a:xfrm>
            <a:custGeom>
              <a:avLst/>
              <a:gdLst/>
              <a:ahLst/>
              <a:cxnLst/>
              <a:rect l="l" t="t" r="r" b="b"/>
              <a:pathLst>
                <a:path w="163194" h="278130">
                  <a:moveTo>
                    <a:pt x="81599" y="277799"/>
                  </a:moveTo>
                  <a:lnTo>
                    <a:pt x="0" y="196199"/>
                  </a:lnTo>
                  <a:lnTo>
                    <a:pt x="40799" y="196199"/>
                  </a:lnTo>
                  <a:lnTo>
                    <a:pt x="40799" y="0"/>
                  </a:lnTo>
                  <a:lnTo>
                    <a:pt x="122399" y="0"/>
                  </a:lnTo>
                  <a:lnTo>
                    <a:pt x="122399" y="196199"/>
                  </a:lnTo>
                  <a:lnTo>
                    <a:pt x="163199" y="196199"/>
                  </a:lnTo>
                  <a:lnTo>
                    <a:pt x="81599" y="277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80762" y="2719253"/>
              <a:ext cx="163195" cy="278130"/>
            </a:xfrm>
            <a:custGeom>
              <a:avLst/>
              <a:gdLst/>
              <a:ahLst/>
              <a:cxnLst/>
              <a:rect l="l" t="t" r="r" b="b"/>
              <a:pathLst>
                <a:path w="163194" h="278130">
                  <a:moveTo>
                    <a:pt x="122399" y="0"/>
                  </a:moveTo>
                  <a:lnTo>
                    <a:pt x="122399" y="196199"/>
                  </a:lnTo>
                  <a:lnTo>
                    <a:pt x="163199" y="196199"/>
                  </a:lnTo>
                  <a:lnTo>
                    <a:pt x="81599" y="277799"/>
                  </a:lnTo>
                  <a:lnTo>
                    <a:pt x="0" y="196199"/>
                  </a:lnTo>
                  <a:lnTo>
                    <a:pt x="40799" y="196199"/>
                  </a:lnTo>
                  <a:lnTo>
                    <a:pt x="40799" y="0"/>
                  </a:lnTo>
                  <a:lnTo>
                    <a:pt x="1223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581284" y="3312211"/>
            <a:ext cx="399415" cy="172720"/>
            <a:chOff x="1581284" y="3312211"/>
            <a:chExt cx="399415" cy="172720"/>
          </a:xfrm>
        </p:grpSpPr>
        <p:sp>
          <p:nvSpPr>
            <p:cNvPr id="23" name="object 23"/>
            <p:cNvSpPr/>
            <p:nvPr/>
          </p:nvSpPr>
          <p:spPr>
            <a:xfrm>
              <a:off x="1586047" y="3316974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5">
                  <a:moveTo>
                    <a:pt x="307799" y="163199"/>
                  </a:move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86047" y="3316974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5">
                  <a:moveTo>
                    <a:pt x="0" y="40799"/>
                  </a:move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67561" y="2332196"/>
            <a:ext cx="13925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Arial"/>
                <a:cs typeface="Arial"/>
              </a:rPr>
              <a:t>Add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noise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to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audio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89949" y="1509098"/>
            <a:ext cx="744855" cy="744855"/>
            <a:chOff x="789949" y="1509098"/>
            <a:chExt cx="744855" cy="744855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255" y="1528149"/>
              <a:ext cx="603071" cy="70674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99474" y="1518623"/>
              <a:ext cx="725805" cy="725805"/>
            </a:xfrm>
            <a:custGeom>
              <a:avLst/>
              <a:gdLst/>
              <a:ahLst/>
              <a:cxnLst/>
              <a:rect l="l" t="t" r="r" b="b"/>
              <a:pathLst>
                <a:path w="725805" h="725805">
                  <a:moveTo>
                    <a:pt x="0" y="0"/>
                  </a:moveTo>
                  <a:lnTo>
                    <a:pt x="725774" y="0"/>
                  </a:lnTo>
                  <a:lnTo>
                    <a:pt x="725774" y="725799"/>
                  </a:lnTo>
                  <a:lnTo>
                    <a:pt x="0" y="725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Denoising</a:t>
            </a:r>
            <a:r>
              <a:rPr spc="-145" dirty="0"/>
              <a:t> </a:t>
            </a:r>
            <a:r>
              <a:rPr spc="-20" dirty="0"/>
              <a:t>with</a:t>
            </a:r>
            <a:r>
              <a:rPr spc="-170" dirty="0"/>
              <a:t> </a:t>
            </a:r>
            <a:r>
              <a:rPr spc="-25" dirty="0"/>
              <a:t>AEs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8712" y="1857987"/>
            <a:ext cx="3685876" cy="30482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53109" y="1997237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53109" y="2637662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53109" y="3278088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53109" y="3918513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53109" y="4558939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52784" y="2800990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v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52784" y="3512574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v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36953" y="1997237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36953" y="2637662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36953" y="3278088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36953" y="3918513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36953" y="4558939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89949" y="2714490"/>
            <a:ext cx="744855" cy="1056640"/>
            <a:chOff x="789949" y="2714490"/>
            <a:chExt cx="744855" cy="105664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255" y="3045198"/>
              <a:ext cx="603071" cy="70674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99474" y="3035673"/>
              <a:ext cx="725805" cy="725805"/>
            </a:xfrm>
            <a:custGeom>
              <a:avLst/>
              <a:gdLst/>
              <a:ahLst/>
              <a:cxnLst/>
              <a:rect l="l" t="t" r="r" b="b"/>
              <a:pathLst>
                <a:path w="725805" h="725804">
                  <a:moveTo>
                    <a:pt x="0" y="0"/>
                  </a:moveTo>
                  <a:lnTo>
                    <a:pt x="725774" y="0"/>
                  </a:lnTo>
                  <a:lnTo>
                    <a:pt x="725774" y="725799"/>
                  </a:lnTo>
                  <a:lnTo>
                    <a:pt x="0" y="725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80762" y="2719253"/>
              <a:ext cx="163195" cy="278130"/>
            </a:xfrm>
            <a:custGeom>
              <a:avLst/>
              <a:gdLst/>
              <a:ahLst/>
              <a:cxnLst/>
              <a:rect l="l" t="t" r="r" b="b"/>
              <a:pathLst>
                <a:path w="163194" h="278130">
                  <a:moveTo>
                    <a:pt x="81599" y="277799"/>
                  </a:moveTo>
                  <a:lnTo>
                    <a:pt x="0" y="196199"/>
                  </a:lnTo>
                  <a:lnTo>
                    <a:pt x="40799" y="196199"/>
                  </a:lnTo>
                  <a:lnTo>
                    <a:pt x="40799" y="0"/>
                  </a:lnTo>
                  <a:lnTo>
                    <a:pt x="122399" y="0"/>
                  </a:lnTo>
                  <a:lnTo>
                    <a:pt x="122399" y="196199"/>
                  </a:lnTo>
                  <a:lnTo>
                    <a:pt x="163199" y="196199"/>
                  </a:lnTo>
                  <a:lnTo>
                    <a:pt x="81599" y="277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80762" y="2719253"/>
              <a:ext cx="163195" cy="278130"/>
            </a:xfrm>
            <a:custGeom>
              <a:avLst/>
              <a:gdLst/>
              <a:ahLst/>
              <a:cxnLst/>
              <a:rect l="l" t="t" r="r" b="b"/>
              <a:pathLst>
                <a:path w="163194" h="278130">
                  <a:moveTo>
                    <a:pt x="122399" y="0"/>
                  </a:moveTo>
                  <a:lnTo>
                    <a:pt x="122399" y="196199"/>
                  </a:lnTo>
                  <a:lnTo>
                    <a:pt x="163199" y="196199"/>
                  </a:lnTo>
                  <a:lnTo>
                    <a:pt x="81599" y="277799"/>
                  </a:lnTo>
                  <a:lnTo>
                    <a:pt x="0" y="196199"/>
                  </a:lnTo>
                  <a:lnTo>
                    <a:pt x="40799" y="196199"/>
                  </a:lnTo>
                  <a:lnTo>
                    <a:pt x="40799" y="0"/>
                  </a:lnTo>
                  <a:lnTo>
                    <a:pt x="1223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581284" y="3312211"/>
            <a:ext cx="399415" cy="172720"/>
            <a:chOff x="1581284" y="3312211"/>
            <a:chExt cx="399415" cy="172720"/>
          </a:xfrm>
        </p:grpSpPr>
        <p:sp>
          <p:nvSpPr>
            <p:cNvPr id="23" name="object 23"/>
            <p:cNvSpPr/>
            <p:nvPr/>
          </p:nvSpPr>
          <p:spPr>
            <a:xfrm>
              <a:off x="1586047" y="3316974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5">
                  <a:moveTo>
                    <a:pt x="307799" y="163199"/>
                  </a:move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86047" y="3316974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5">
                  <a:moveTo>
                    <a:pt x="0" y="40799"/>
                  </a:move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67561" y="2332196"/>
            <a:ext cx="13925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Arial"/>
                <a:cs typeface="Arial"/>
              </a:rPr>
              <a:t>Add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noise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to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audio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924684" y="3033098"/>
            <a:ext cx="1172845" cy="744855"/>
            <a:chOff x="5924684" y="3033098"/>
            <a:chExt cx="1172845" cy="744855"/>
          </a:xfrm>
        </p:grpSpPr>
        <p:sp>
          <p:nvSpPr>
            <p:cNvPr id="27" name="object 27"/>
            <p:cNvSpPr/>
            <p:nvPr/>
          </p:nvSpPr>
          <p:spPr>
            <a:xfrm>
              <a:off x="5929447" y="3316974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5">
                  <a:moveTo>
                    <a:pt x="307799" y="163199"/>
                  </a:move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929447" y="3316974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5">
                  <a:moveTo>
                    <a:pt x="0" y="40799"/>
                  </a:move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21855" y="3052149"/>
              <a:ext cx="603071" cy="70674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362074" y="3042623"/>
              <a:ext cx="725805" cy="725805"/>
            </a:xfrm>
            <a:custGeom>
              <a:avLst/>
              <a:gdLst/>
              <a:ahLst/>
              <a:cxnLst/>
              <a:rect l="l" t="t" r="r" b="b"/>
              <a:pathLst>
                <a:path w="725804" h="725804">
                  <a:moveTo>
                    <a:pt x="0" y="0"/>
                  </a:moveTo>
                  <a:lnTo>
                    <a:pt x="725774" y="0"/>
                  </a:lnTo>
                  <a:lnTo>
                    <a:pt x="725774" y="725799"/>
                  </a:lnTo>
                  <a:lnTo>
                    <a:pt x="0" y="725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789949" y="1509098"/>
            <a:ext cx="744855" cy="744855"/>
            <a:chOff x="789949" y="1509098"/>
            <a:chExt cx="744855" cy="744855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255" y="1528149"/>
              <a:ext cx="603071" cy="70674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99474" y="1518623"/>
              <a:ext cx="725805" cy="725805"/>
            </a:xfrm>
            <a:custGeom>
              <a:avLst/>
              <a:gdLst/>
              <a:ahLst/>
              <a:cxnLst/>
              <a:rect l="l" t="t" r="r" b="b"/>
              <a:pathLst>
                <a:path w="725805" h="725805">
                  <a:moveTo>
                    <a:pt x="0" y="0"/>
                  </a:moveTo>
                  <a:lnTo>
                    <a:pt x="725774" y="0"/>
                  </a:lnTo>
                  <a:lnTo>
                    <a:pt x="725774" y="725799"/>
                  </a:lnTo>
                  <a:lnTo>
                    <a:pt x="0" y="725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Denoising</a:t>
            </a:r>
            <a:r>
              <a:rPr spc="-145" dirty="0"/>
              <a:t> </a:t>
            </a:r>
            <a:r>
              <a:rPr spc="-20" dirty="0"/>
              <a:t>with</a:t>
            </a:r>
            <a:r>
              <a:rPr spc="-170" dirty="0"/>
              <a:t> </a:t>
            </a:r>
            <a:r>
              <a:rPr spc="-25" dirty="0"/>
              <a:t>AEs</a:t>
            </a:r>
          </a:p>
        </p:txBody>
      </p:sp>
      <p:sp>
        <p:nvSpPr>
          <p:cNvPr id="3" name="object 3"/>
          <p:cNvSpPr/>
          <p:nvPr/>
        </p:nvSpPr>
        <p:spPr>
          <a:xfrm>
            <a:off x="315775" y="1013975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599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8712" y="1857987"/>
            <a:ext cx="3685876" cy="30482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78509" y="1997237"/>
            <a:ext cx="952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8309" y="2096191"/>
            <a:ext cx="7747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-50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53109" y="2637662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53109" y="3278088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53109" y="3918513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53109" y="4558939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52784" y="2800990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v</a:t>
            </a:r>
            <a:r>
              <a:rPr sz="1050" spc="-37" baseline="-31746" dirty="0">
                <a:latin typeface="Arial"/>
                <a:cs typeface="Arial"/>
              </a:rPr>
              <a:t>1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52784" y="3512574"/>
            <a:ext cx="19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v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62353" y="1997237"/>
            <a:ext cx="12636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63168" y="2096191"/>
            <a:ext cx="77470" cy="137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00" spc="-50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36953" y="2637662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2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36953" y="3278088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3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36953" y="3918513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4</a:t>
            </a:r>
            <a:endParaRPr sz="1050" baseline="-31746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36953" y="4558939"/>
            <a:ext cx="229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x’</a:t>
            </a:r>
            <a:r>
              <a:rPr sz="1050" spc="-37" baseline="-31746" dirty="0">
                <a:latin typeface="Arial"/>
                <a:cs typeface="Arial"/>
              </a:rPr>
              <a:t>5</a:t>
            </a:r>
            <a:endParaRPr sz="1050" baseline="-31746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89949" y="2714490"/>
            <a:ext cx="744855" cy="1056640"/>
            <a:chOff x="789949" y="2714490"/>
            <a:chExt cx="744855" cy="105664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255" y="3045198"/>
              <a:ext cx="603071" cy="70674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99474" y="3035673"/>
              <a:ext cx="725805" cy="725805"/>
            </a:xfrm>
            <a:custGeom>
              <a:avLst/>
              <a:gdLst/>
              <a:ahLst/>
              <a:cxnLst/>
              <a:rect l="l" t="t" r="r" b="b"/>
              <a:pathLst>
                <a:path w="725805" h="725804">
                  <a:moveTo>
                    <a:pt x="0" y="0"/>
                  </a:moveTo>
                  <a:lnTo>
                    <a:pt x="725774" y="0"/>
                  </a:lnTo>
                  <a:lnTo>
                    <a:pt x="725774" y="725799"/>
                  </a:lnTo>
                  <a:lnTo>
                    <a:pt x="0" y="725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80762" y="2719253"/>
              <a:ext cx="163195" cy="278130"/>
            </a:xfrm>
            <a:custGeom>
              <a:avLst/>
              <a:gdLst/>
              <a:ahLst/>
              <a:cxnLst/>
              <a:rect l="l" t="t" r="r" b="b"/>
              <a:pathLst>
                <a:path w="163194" h="278130">
                  <a:moveTo>
                    <a:pt x="81599" y="277799"/>
                  </a:moveTo>
                  <a:lnTo>
                    <a:pt x="0" y="196199"/>
                  </a:lnTo>
                  <a:lnTo>
                    <a:pt x="40799" y="196199"/>
                  </a:lnTo>
                  <a:lnTo>
                    <a:pt x="40799" y="0"/>
                  </a:lnTo>
                  <a:lnTo>
                    <a:pt x="122399" y="0"/>
                  </a:lnTo>
                  <a:lnTo>
                    <a:pt x="122399" y="196199"/>
                  </a:lnTo>
                  <a:lnTo>
                    <a:pt x="163199" y="196199"/>
                  </a:lnTo>
                  <a:lnTo>
                    <a:pt x="81599" y="277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80762" y="2719253"/>
              <a:ext cx="163195" cy="278130"/>
            </a:xfrm>
            <a:custGeom>
              <a:avLst/>
              <a:gdLst/>
              <a:ahLst/>
              <a:cxnLst/>
              <a:rect l="l" t="t" r="r" b="b"/>
              <a:pathLst>
                <a:path w="163194" h="278130">
                  <a:moveTo>
                    <a:pt x="122399" y="0"/>
                  </a:moveTo>
                  <a:lnTo>
                    <a:pt x="122399" y="196199"/>
                  </a:lnTo>
                  <a:lnTo>
                    <a:pt x="163199" y="196199"/>
                  </a:lnTo>
                  <a:lnTo>
                    <a:pt x="81599" y="277799"/>
                  </a:lnTo>
                  <a:lnTo>
                    <a:pt x="0" y="196199"/>
                  </a:lnTo>
                  <a:lnTo>
                    <a:pt x="40799" y="196199"/>
                  </a:lnTo>
                  <a:lnTo>
                    <a:pt x="40799" y="0"/>
                  </a:lnTo>
                  <a:lnTo>
                    <a:pt x="1223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581284" y="3312211"/>
            <a:ext cx="399415" cy="172720"/>
            <a:chOff x="1581284" y="3312211"/>
            <a:chExt cx="399415" cy="172720"/>
          </a:xfrm>
        </p:grpSpPr>
        <p:sp>
          <p:nvSpPr>
            <p:cNvPr id="25" name="object 25"/>
            <p:cNvSpPr/>
            <p:nvPr/>
          </p:nvSpPr>
          <p:spPr>
            <a:xfrm>
              <a:off x="1586047" y="3316974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5">
                  <a:moveTo>
                    <a:pt x="307799" y="163199"/>
                  </a:move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86047" y="3316974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5">
                  <a:moveTo>
                    <a:pt x="0" y="40799"/>
                  </a:move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693799" y="1635641"/>
            <a:ext cx="14566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1300" spc="-10" dirty="0">
                <a:solidFill>
                  <a:srgbClr val="FF9900"/>
                </a:solidFill>
                <a:latin typeface="Arial"/>
                <a:cs typeface="Arial"/>
              </a:rPr>
              <a:t>Measure reconstruction</a:t>
            </a:r>
            <a:r>
              <a:rPr sz="1300" spc="-1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9900"/>
                </a:solidFill>
                <a:latin typeface="Arial"/>
                <a:cs typeface="Arial"/>
              </a:rPr>
              <a:t>error </a:t>
            </a:r>
            <a:r>
              <a:rPr sz="1300" dirty="0">
                <a:solidFill>
                  <a:srgbClr val="FF9900"/>
                </a:solidFill>
                <a:latin typeface="Arial"/>
                <a:cs typeface="Arial"/>
              </a:rPr>
              <a:t>of</a:t>
            </a:r>
            <a:r>
              <a:rPr sz="1300" spc="-4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9900"/>
                </a:solidFill>
                <a:latin typeface="Arial"/>
                <a:cs typeface="Arial"/>
              </a:rPr>
              <a:t>output</a:t>
            </a:r>
            <a:r>
              <a:rPr sz="1300" spc="-4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9900"/>
                </a:solidFill>
                <a:latin typeface="Arial"/>
                <a:cs typeface="Arial"/>
              </a:rPr>
              <a:t>against </a:t>
            </a:r>
            <a:r>
              <a:rPr sz="1300" dirty="0">
                <a:solidFill>
                  <a:srgbClr val="FF9900"/>
                </a:solidFill>
                <a:latin typeface="Arial"/>
                <a:cs typeface="Arial"/>
              </a:rPr>
              <a:t>original</a:t>
            </a:r>
            <a:r>
              <a:rPr sz="1300" spc="-8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9900"/>
                </a:solidFill>
                <a:latin typeface="Arial"/>
                <a:cs typeface="Arial"/>
              </a:rPr>
              <a:t>audio</a:t>
            </a:r>
            <a:endParaRPr sz="13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7561" y="2332196"/>
            <a:ext cx="13925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Arial"/>
                <a:cs typeface="Arial"/>
              </a:rPr>
              <a:t>Add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noise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to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audio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924684" y="3033098"/>
            <a:ext cx="1172845" cy="744855"/>
            <a:chOff x="5924684" y="3033098"/>
            <a:chExt cx="1172845" cy="744855"/>
          </a:xfrm>
        </p:grpSpPr>
        <p:sp>
          <p:nvSpPr>
            <p:cNvPr id="30" name="object 30"/>
            <p:cNvSpPr/>
            <p:nvPr/>
          </p:nvSpPr>
          <p:spPr>
            <a:xfrm>
              <a:off x="5929447" y="3316974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5">
                  <a:moveTo>
                    <a:pt x="307799" y="163199"/>
                  </a:move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929447" y="3316974"/>
              <a:ext cx="389890" cy="163195"/>
            </a:xfrm>
            <a:custGeom>
              <a:avLst/>
              <a:gdLst/>
              <a:ahLst/>
              <a:cxnLst/>
              <a:rect l="l" t="t" r="r" b="b"/>
              <a:pathLst>
                <a:path w="389889" h="163195">
                  <a:moveTo>
                    <a:pt x="0" y="40799"/>
                  </a:moveTo>
                  <a:lnTo>
                    <a:pt x="307799" y="40799"/>
                  </a:lnTo>
                  <a:lnTo>
                    <a:pt x="307799" y="0"/>
                  </a:lnTo>
                  <a:lnTo>
                    <a:pt x="389399" y="81599"/>
                  </a:lnTo>
                  <a:lnTo>
                    <a:pt x="307799" y="163199"/>
                  </a:lnTo>
                  <a:lnTo>
                    <a:pt x="307799" y="122399"/>
                  </a:lnTo>
                  <a:lnTo>
                    <a:pt x="0" y="122399"/>
                  </a:lnTo>
                  <a:lnTo>
                    <a:pt x="0" y="40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21855" y="3052149"/>
              <a:ext cx="603071" cy="70674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362074" y="3042623"/>
              <a:ext cx="725805" cy="725805"/>
            </a:xfrm>
            <a:custGeom>
              <a:avLst/>
              <a:gdLst/>
              <a:ahLst/>
              <a:cxnLst/>
              <a:rect l="l" t="t" r="r" b="b"/>
              <a:pathLst>
                <a:path w="725804" h="725804">
                  <a:moveTo>
                    <a:pt x="0" y="0"/>
                  </a:moveTo>
                  <a:lnTo>
                    <a:pt x="725774" y="0"/>
                  </a:lnTo>
                  <a:lnTo>
                    <a:pt x="725774" y="725799"/>
                  </a:lnTo>
                  <a:lnTo>
                    <a:pt x="0" y="725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789949" y="1509098"/>
            <a:ext cx="744855" cy="744855"/>
            <a:chOff x="789949" y="1509098"/>
            <a:chExt cx="744855" cy="744855"/>
          </a:xfrm>
        </p:grpSpPr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255" y="1528149"/>
              <a:ext cx="603071" cy="70674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99474" y="1518623"/>
              <a:ext cx="725805" cy="725805"/>
            </a:xfrm>
            <a:custGeom>
              <a:avLst/>
              <a:gdLst/>
              <a:ahLst/>
              <a:cxnLst/>
              <a:rect l="l" t="t" r="r" b="b"/>
              <a:pathLst>
                <a:path w="725805" h="725805">
                  <a:moveTo>
                    <a:pt x="0" y="0"/>
                  </a:moveTo>
                  <a:lnTo>
                    <a:pt x="725774" y="0"/>
                  </a:lnTo>
                  <a:lnTo>
                    <a:pt x="725774" y="725799"/>
                  </a:lnTo>
                  <a:lnTo>
                    <a:pt x="0" y="725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CFFEA2F-74A4-CAA0-41F6-FF4F63321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US" b="1" dirty="0"/>
              <a:t>Autoencoder doesn’t see the clean image as input — it </a:t>
            </a:r>
            <a:r>
              <a:rPr lang="en-US" b="1" i="1" dirty="0"/>
              <a:t>learns</a:t>
            </a:r>
            <a:r>
              <a:rPr lang="en-US" b="1" dirty="0"/>
              <a:t> to restore it.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12F9F4-82A8-F282-BCDC-00923F99A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3251"/>
              </p:ext>
            </p:extLst>
          </p:nvPr>
        </p:nvGraphicFramePr>
        <p:xfrm>
          <a:off x="628650" y="1712656"/>
          <a:ext cx="7886702" cy="257662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27376">
                  <a:extLst>
                    <a:ext uri="{9D8B030D-6E8A-4147-A177-3AD203B41FA5}">
                      <a16:colId xmlns:a16="http://schemas.microsoft.com/office/drawing/2014/main" val="2884623380"/>
                    </a:ext>
                  </a:extLst>
                </a:gridCol>
                <a:gridCol w="2060209">
                  <a:extLst>
                    <a:ext uri="{9D8B030D-6E8A-4147-A177-3AD203B41FA5}">
                      <a16:colId xmlns:a16="http://schemas.microsoft.com/office/drawing/2014/main" val="2605134483"/>
                    </a:ext>
                  </a:extLst>
                </a:gridCol>
                <a:gridCol w="2070565">
                  <a:extLst>
                    <a:ext uri="{9D8B030D-6E8A-4147-A177-3AD203B41FA5}">
                      <a16:colId xmlns:a16="http://schemas.microsoft.com/office/drawing/2014/main" val="2463627362"/>
                    </a:ext>
                  </a:extLst>
                </a:gridCol>
                <a:gridCol w="2128552">
                  <a:extLst>
                    <a:ext uri="{9D8B030D-6E8A-4147-A177-3AD203B41FA5}">
                      <a16:colId xmlns:a16="http://schemas.microsoft.com/office/drawing/2014/main" val="44883694"/>
                    </a:ext>
                  </a:extLst>
                </a:gridCol>
              </a:tblGrid>
              <a:tr h="405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Stage</a:t>
                      </a:r>
                    </a:p>
                  </a:txBody>
                  <a:tcPr marL="0" marR="119288" marT="59644" marB="596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 marL="0" marR="119288" marT="59644" marB="596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marL="0" marR="119288" marT="59644" marB="596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0" marR="119288" marT="59644" marB="596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644617"/>
                  </a:ext>
                </a:extLst>
              </a:tr>
              <a:tr h="644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Encoder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19288" marT="59644" marB="596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Noisy image (784 features)</a:t>
                      </a:r>
                    </a:p>
                  </a:txBody>
                  <a:tcPr marL="0" marR="119288" marT="59644" marB="596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Compressed features (32)</a:t>
                      </a:r>
                    </a:p>
                  </a:txBody>
                  <a:tcPr marL="0" marR="119288" marT="59644" marB="596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Learns </a:t>
                      </a:r>
                      <a:r>
                        <a:rPr lang="en-US" sz="1600" i="1" cap="none" spc="0">
                          <a:solidFill>
                            <a:schemeClr val="tx1"/>
                          </a:solidFill>
                        </a:rPr>
                        <a:t>noise-robust representations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19288" marT="59644" marB="596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875864"/>
                  </a:ext>
                </a:extLst>
              </a:tr>
              <a:tr h="644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Decoder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19288" marT="59644" marB="596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Encoded representation</a:t>
                      </a:r>
                    </a:p>
                  </a:txBody>
                  <a:tcPr marL="0" marR="119288" marT="59644" marB="596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Denoised image</a:t>
                      </a:r>
                    </a:p>
                  </a:txBody>
                  <a:tcPr marL="0" marR="119288" marT="59644" marB="596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Learns to reconstruct clean image</a:t>
                      </a:r>
                    </a:p>
                  </a:txBody>
                  <a:tcPr marL="0" marR="119288" marT="59644" marB="596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965838"/>
                  </a:ext>
                </a:extLst>
              </a:tr>
              <a:tr h="882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Loss Function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19288" marT="59644" marB="596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Binary Crossentropy</a:t>
                      </a:r>
                    </a:p>
                  </a:txBody>
                  <a:tcPr marL="0" marR="119288" marT="59644" marB="596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Measures how close reconstruction is to clean input</a:t>
                      </a:r>
                    </a:p>
                  </a:txBody>
                  <a:tcPr marL="0" marR="119288" marT="59644" marB="596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19288" marT="59644" marB="596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487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31720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26B17D27-83CA-30D8-D3BF-A40B2F4670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711398"/>
            <a:ext cx="5574088" cy="37207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306846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349902-9659-890B-1F40-7FE09DB5C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19150"/>
            <a:ext cx="6177804" cy="278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05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2EE6A3-DFB1-5F04-610A-8DB1B001A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38150"/>
            <a:ext cx="6210462" cy="365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788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908A44F-020C-EF96-55F1-E3E613B15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 descr="A number in black squares&#10;&#10;AI-generated content may be incorrect.">
            <a:extLst>
              <a:ext uri="{FF2B5EF4-FFF2-40B4-BE49-F238E27FC236}">
                <a16:creationId xmlns:a16="http://schemas.microsoft.com/office/drawing/2014/main" id="{B23520A3-0CF8-E3B6-8ACD-B541842C0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965841"/>
            <a:ext cx="7886700" cy="20702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553032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4EB518-582B-1DFC-2E1A-0B742AF19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612" y="462587"/>
            <a:ext cx="5034775" cy="421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784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8A7604-9C36-5650-BFB6-06361E468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A8E6EF-EA0A-B7F0-D64A-9518D6068C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181" r="1" b="34647"/>
          <a:stretch>
            <a:fillRect/>
          </a:stretch>
        </p:blipFill>
        <p:spPr>
          <a:xfrm>
            <a:off x="628650" y="1369218"/>
            <a:ext cx="7886700" cy="32635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687245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AA8F01-2732-49B1-7E4E-E298FC58F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5750"/>
            <a:ext cx="5214314" cy="440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5874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5E11D5-8B0D-C441-53B8-D38B95F27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1720"/>
            <a:ext cx="9144000" cy="316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42994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1113</TotalTime>
  <Words>1091</Words>
  <Application>Microsoft Office PowerPoint</Application>
  <PresentationFormat>On-screen Show (16:9)</PresentationFormat>
  <Paragraphs>333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Calibri</vt:lpstr>
      <vt:lpstr>georgia</vt:lpstr>
      <vt:lpstr>Google Sans</vt:lpstr>
      <vt:lpstr>Inter</vt:lpstr>
      <vt:lpstr>Wingdings</vt:lpstr>
      <vt:lpstr>1_Office Theme</vt:lpstr>
      <vt:lpstr>Autoencoders</vt:lpstr>
      <vt:lpstr>What is an Autoencoder</vt:lpstr>
      <vt:lpstr>Autoencoders: The idea</vt:lpstr>
      <vt:lpstr>PowerPoint Presentation</vt:lpstr>
      <vt:lpstr>PowerPoint Presentation</vt:lpstr>
      <vt:lpstr>Input layer</vt:lpstr>
      <vt:lpstr>PowerPoint Presentation</vt:lpstr>
      <vt:lpstr>PowerPoint Presentation</vt:lpstr>
      <vt:lpstr>PowerPoint Presentation</vt:lpstr>
      <vt:lpstr>PowerPoint Presentation</vt:lpstr>
      <vt:lpstr>Input layer</vt:lpstr>
      <vt:lpstr>PowerPoint Presentation</vt:lpstr>
      <vt:lpstr>PCA vs Encoders</vt:lpstr>
      <vt:lpstr>How can we train an autoencoder?</vt:lpstr>
      <vt:lpstr>2. Sparse autoencoders</vt:lpstr>
      <vt:lpstr>PowerPoint Presentation</vt:lpstr>
      <vt:lpstr>3. Contractive autoencoders</vt:lpstr>
      <vt:lpstr>4. Denoising autoencoders</vt:lpstr>
      <vt:lpstr>5. Variational autoencoders</vt:lpstr>
      <vt:lpstr>Loss function: Variational Autoencoder</vt:lpstr>
      <vt:lpstr>PowerPoint Presentation</vt:lpstr>
      <vt:lpstr>PowerPoint Presentation</vt:lpstr>
      <vt:lpstr>6-Deep Autoencoder</vt:lpstr>
      <vt:lpstr>6-Deep Convolutional Autoencoder (CAE)</vt:lpstr>
      <vt:lpstr>PowerPoint Presentation</vt:lpstr>
      <vt:lpstr>Generation with AEs</vt:lpstr>
      <vt:lpstr>Generation with AEs</vt:lpstr>
      <vt:lpstr>Generation with AEs</vt:lpstr>
      <vt:lpstr>Generation with AEs</vt:lpstr>
      <vt:lpstr>Generation with AEs</vt:lpstr>
      <vt:lpstr>Generation with AEs</vt:lpstr>
      <vt:lpstr>Generation with AEs</vt:lpstr>
      <vt:lpstr>Generation with AEs</vt:lpstr>
      <vt:lpstr>Generation with AEs</vt:lpstr>
      <vt:lpstr>Generation with AEs</vt:lpstr>
      <vt:lpstr>Denoising with AEs</vt:lpstr>
      <vt:lpstr>Denoising with AEs</vt:lpstr>
      <vt:lpstr>Denoising with AEs</vt:lpstr>
      <vt:lpstr>Denoising with AEs</vt:lpstr>
      <vt:lpstr>Denoising with AEs</vt:lpstr>
      <vt:lpstr>Denoising with AEs</vt:lpstr>
      <vt:lpstr>Autoencoder doesn’t see the clean image as input — it learns to restore it.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Israel Trejo</cp:lastModifiedBy>
  <cp:revision>24</cp:revision>
  <dcterms:created xsi:type="dcterms:W3CDTF">2024-10-21T00:38:29Z</dcterms:created>
  <dcterms:modified xsi:type="dcterms:W3CDTF">2025-10-27T04:46:41Z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2024-10-21T00:00:00Z</vt:filetime>
  </property>
  <property fmtid="{D5CDD505-2E9C-101B-9397-08002B2CF9AE}" pid="3" name="Creator">
    <vt:lpwstr>Google</vt:lpwstr>
  </property>
  <property fmtid="{D5CDD505-2E9C-101B-9397-08002B2CF9AE}" pid="4" name="LastSaved">
    <vt:filetime>2024-10-21T00:00:00Z</vt:filetime>
  </property>
</Properties>
</file>