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83"/>
  </p:notesMasterIdLst>
  <p:sldIdLst>
    <p:sldId id="368" r:id="rId2"/>
    <p:sldId id="418" r:id="rId3"/>
    <p:sldId id="419" r:id="rId4"/>
    <p:sldId id="256" r:id="rId5"/>
    <p:sldId id="270" r:id="rId6"/>
    <p:sldId id="271" r:id="rId7"/>
    <p:sldId id="272" r:id="rId8"/>
    <p:sldId id="273" r:id="rId9"/>
    <p:sldId id="274" r:id="rId10"/>
    <p:sldId id="483" r:id="rId11"/>
    <p:sldId id="258" r:id="rId12"/>
    <p:sldId id="259" r:id="rId13"/>
    <p:sldId id="260" r:id="rId14"/>
    <p:sldId id="261" r:id="rId15"/>
    <p:sldId id="262" r:id="rId16"/>
    <p:sldId id="263" r:id="rId17"/>
    <p:sldId id="264" r:id="rId18"/>
    <p:sldId id="265" r:id="rId19"/>
    <p:sldId id="266" r:id="rId20"/>
    <p:sldId id="485" r:id="rId21"/>
    <p:sldId id="486" r:id="rId22"/>
    <p:sldId id="487" r:id="rId23"/>
    <p:sldId id="267" r:id="rId24"/>
    <p:sldId id="475" r:id="rId25"/>
    <p:sldId id="476" r:id="rId26"/>
    <p:sldId id="477" r:id="rId27"/>
    <p:sldId id="478" r:id="rId28"/>
    <p:sldId id="479" r:id="rId29"/>
    <p:sldId id="480" r:id="rId30"/>
    <p:sldId id="481" r:id="rId31"/>
    <p:sldId id="482" r:id="rId32"/>
    <p:sldId id="462" r:id="rId33"/>
    <p:sldId id="463" r:id="rId34"/>
    <p:sldId id="464" r:id="rId35"/>
    <p:sldId id="465" r:id="rId36"/>
    <p:sldId id="466" r:id="rId37"/>
    <p:sldId id="467" r:id="rId38"/>
    <p:sldId id="468" r:id="rId39"/>
    <p:sldId id="469" r:id="rId40"/>
    <p:sldId id="470" r:id="rId41"/>
    <p:sldId id="471" r:id="rId42"/>
    <p:sldId id="472" r:id="rId43"/>
    <p:sldId id="473" r:id="rId44"/>
    <p:sldId id="474" r:id="rId45"/>
    <p:sldId id="268" r:id="rId46"/>
    <p:sldId id="275" r:id="rId47"/>
    <p:sldId id="276" r:id="rId48"/>
    <p:sldId id="279" r:id="rId49"/>
    <p:sldId id="280" r:id="rId50"/>
    <p:sldId id="282" r:id="rId51"/>
    <p:sldId id="451" r:id="rId52"/>
    <p:sldId id="284" r:id="rId53"/>
    <p:sldId id="285" r:id="rId54"/>
    <p:sldId id="452" r:id="rId55"/>
    <p:sldId id="453" r:id="rId56"/>
    <p:sldId id="454" r:id="rId57"/>
    <p:sldId id="305" r:id="rId58"/>
    <p:sldId id="455" r:id="rId59"/>
    <p:sldId id="291" r:id="rId60"/>
    <p:sldId id="456" r:id="rId61"/>
    <p:sldId id="457" r:id="rId62"/>
    <p:sldId id="458" r:id="rId63"/>
    <p:sldId id="309" r:id="rId64"/>
    <p:sldId id="311" r:id="rId65"/>
    <p:sldId id="312" r:id="rId66"/>
    <p:sldId id="313" r:id="rId67"/>
    <p:sldId id="314" r:id="rId68"/>
    <p:sldId id="315" r:id="rId69"/>
    <p:sldId id="316" r:id="rId70"/>
    <p:sldId id="317" r:id="rId71"/>
    <p:sldId id="306" r:id="rId72"/>
    <p:sldId id="307" r:id="rId73"/>
    <p:sldId id="459" r:id="rId74"/>
    <p:sldId id="308" r:id="rId75"/>
    <p:sldId id="460" r:id="rId76"/>
    <p:sldId id="318" r:id="rId77"/>
    <p:sldId id="319" r:id="rId78"/>
    <p:sldId id="320" r:id="rId79"/>
    <p:sldId id="321" r:id="rId80"/>
    <p:sldId id="322" r:id="rId81"/>
    <p:sldId id="323" r:id="rId82"/>
  </p:sldIdLst>
  <p:sldSz cx="10083800" cy="5670550"/>
  <p:notesSz cx="10083800" cy="56705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44" autoAdjust="0"/>
    <p:restoredTop sz="94660"/>
  </p:normalViewPr>
  <p:slideViewPr>
    <p:cSldViewPr>
      <p:cViewPr varScale="1">
        <p:scale>
          <a:sx n="91" d="100"/>
          <a:sy n="91" d="100"/>
        </p:scale>
        <p:origin x="38"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70388" cy="2841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711825" y="0"/>
            <a:ext cx="4370388" cy="284163"/>
          </a:xfrm>
          <a:prstGeom prst="rect">
            <a:avLst/>
          </a:prstGeom>
        </p:spPr>
        <p:txBody>
          <a:bodyPr vert="horz" lIns="91440" tIns="45720" rIns="91440" bIns="45720" rtlCol="0"/>
          <a:lstStyle>
            <a:lvl1pPr algn="r">
              <a:defRPr sz="1200"/>
            </a:lvl1pPr>
          </a:lstStyle>
          <a:p>
            <a:fld id="{FC78DA6D-BA35-47CD-BB0B-F04D34A1F301}" type="datetimeFigureOut">
              <a:rPr lang="en-US" smtClean="0"/>
              <a:t>10/13/2025</a:t>
            </a:fld>
            <a:endParaRPr lang="en-US"/>
          </a:p>
        </p:txBody>
      </p:sp>
      <p:sp>
        <p:nvSpPr>
          <p:cNvPr id="4" name="Slide Image Placeholder 3"/>
          <p:cNvSpPr>
            <a:spLocks noGrp="1" noRot="1" noChangeAspect="1"/>
          </p:cNvSpPr>
          <p:nvPr>
            <p:ph type="sldImg" idx="2"/>
          </p:nvPr>
        </p:nvSpPr>
        <p:spPr>
          <a:xfrm>
            <a:off x="3341688" y="709613"/>
            <a:ext cx="3400425" cy="191293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08063" y="2728913"/>
            <a:ext cx="8067675" cy="22336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386388"/>
            <a:ext cx="4370388" cy="28416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711825" y="5386388"/>
            <a:ext cx="4370388" cy="284162"/>
          </a:xfrm>
          <a:prstGeom prst="rect">
            <a:avLst/>
          </a:prstGeom>
        </p:spPr>
        <p:txBody>
          <a:bodyPr vert="horz" lIns="91440" tIns="45720" rIns="91440" bIns="45720" rtlCol="0" anchor="b"/>
          <a:lstStyle>
            <a:lvl1pPr algn="r">
              <a:defRPr sz="1200"/>
            </a:lvl1pPr>
          </a:lstStyle>
          <a:p>
            <a:fld id="{61985266-2D54-415F-8771-9E663017220A}" type="slidenum">
              <a:rPr lang="en-US" smtClean="0"/>
              <a:t>‹#›</a:t>
            </a:fld>
            <a:endParaRPr lang="en-US"/>
          </a:p>
        </p:txBody>
      </p:sp>
    </p:spTree>
    <p:extLst>
      <p:ext uri="{BB962C8B-B14F-4D97-AF65-F5344CB8AC3E}">
        <p14:creationId xmlns:p14="http://schemas.microsoft.com/office/powerpoint/2010/main" val="4109482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F9DA-D544-4AE5-AE86-499652E01402}"/>
              </a:ext>
            </a:extLst>
          </p:cNvPr>
          <p:cNvSpPr>
            <a:spLocks noGrp="1"/>
          </p:cNvSpPr>
          <p:nvPr>
            <p:ph type="ctrTitle"/>
          </p:nvPr>
        </p:nvSpPr>
        <p:spPr>
          <a:xfrm>
            <a:off x="1260475" y="928028"/>
            <a:ext cx="7562850" cy="1974191"/>
          </a:xfrm>
          <a:prstGeom prst="rect">
            <a:avLst/>
          </a:prstGeom>
        </p:spPr>
        <p:txBody>
          <a:bodyPr anchor="b"/>
          <a:lstStyle>
            <a:lvl1pPr algn="ctr">
              <a:defRPr sz="4961"/>
            </a:lvl1pPr>
          </a:lstStyle>
          <a:p>
            <a:r>
              <a:rPr lang="en-US"/>
              <a:t>Click to edit Master title style</a:t>
            </a:r>
          </a:p>
        </p:txBody>
      </p:sp>
      <p:sp>
        <p:nvSpPr>
          <p:cNvPr id="3" name="Subtitle 2">
            <a:extLst>
              <a:ext uri="{FF2B5EF4-FFF2-40B4-BE49-F238E27FC236}">
                <a16:creationId xmlns:a16="http://schemas.microsoft.com/office/drawing/2014/main" id="{F883D6C9-D247-4063-8D2B-AEB523003A2A}"/>
              </a:ext>
            </a:extLst>
          </p:cNvPr>
          <p:cNvSpPr>
            <a:spLocks noGrp="1"/>
          </p:cNvSpPr>
          <p:nvPr>
            <p:ph type="subTitle" idx="1"/>
          </p:nvPr>
        </p:nvSpPr>
        <p:spPr>
          <a:xfrm>
            <a:off x="1260475" y="2978352"/>
            <a:ext cx="7562850" cy="1369070"/>
          </a:xfrm>
          <a:prstGeom prst="rect">
            <a:avLst/>
          </a:prstGeom>
        </p:spPr>
        <p:txBody>
          <a:bodyPr/>
          <a:lstStyle>
            <a:lvl1pPr marL="0" indent="0" algn="ctr">
              <a:buNone/>
              <a:defRPr sz="1985"/>
            </a:lvl1pPr>
            <a:lvl2pPr marL="378059" indent="0" algn="ctr">
              <a:buNone/>
              <a:defRPr sz="1654"/>
            </a:lvl2pPr>
            <a:lvl3pPr marL="756117" indent="0" algn="ctr">
              <a:buNone/>
              <a:defRPr sz="1488"/>
            </a:lvl3pPr>
            <a:lvl4pPr marL="1134176" indent="0" algn="ctr">
              <a:buNone/>
              <a:defRPr sz="1323"/>
            </a:lvl4pPr>
            <a:lvl5pPr marL="1512235" indent="0" algn="ctr">
              <a:buNone/>
              <a:defRPr sz="1323"/>
            </a:lvl5pPr>
            <a:lvl6pPr marL="1890293" indent="0" algn="ctr">
              <a:buNone/>
              <a:defRPr sz="1323"/>
            </a:lvl6pPr>
            <a:lvl7pPr marL="2268352" indent="0" algn="ctr">
              <a:buNone/>
              <a:defRPr sz="1323"/>
            </a:lvl7pPr>
            <a:lvl8pPr marL="2646411" indent="0" algn="ctr">
              <a:buNone/>
              <a:defRPr sz="1323"/>
            </a:lvl8pPr>
            <a:lvl9pPr marL="3024469" indent="0" algn="ctr">
              <a:buNone/>
              <a:defRPr sz="1323"/>
            </a:lvl9pPr>
          </a:lstStyle>
          <a:p>
            <a:r>
              <a:rPr lang="en-US"/>
              <a:t>Click to edit Master subtitle style</a:t>
            </a:r>
          </a:p>
        </p:txBody>
      </p:sp>
      <p:sp>
        <p:nvSpPr>
          <p:cNvPr id="6" name="Slide Number Placeholder 5">
            <a:extLst>
              <a:ext uri="{FF2B5EF4-FFF2-40B4-BE49-F238E27FC236}">
                <a16:creationId xmlns:a16="http://schemas.microsoft.com/office/drawing/2014/main" id="{7A5023A3-3CC5-42AC-A5A0-A9EF34CBB545}"/>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2076087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49F77-C56E-49A5-9748-7C52B6AEBC11}"/>
              </a:ext>
            </a:extLst>
          </p:cNvPr>
          <p:cNvSpPr>
            <a:spLocks noGrp="1"/>
          </p:cNvSpPr>
          <p:nvPr>
            <p:ph type="title"/>
          </p:nvPr>
        </p:nvSpPr>
        <p:spPr>
          <a:xfrm>
            <a:off x="693261" y="301905"/>
            <a:ext cx="8697278" cy="1096044"/>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0117523-2951-4793-9233-9143C1E43CB0}"/>
              </a:ext>
            </a:extLst>
          </p:cNvPr>
          <p:cNvSpPr>
            <a:spLocks noGrp="1"/>
          </p:cNvSpPr>
          <p:nvPr>
            <p:ph idx="1"/>
          </p:nvPr>
        </p:nvSpPr>
        <p:spPr>
          <a:xfrm>
            <a:off x="693261" y="1509521"/>
            <a:ext cx="8697278" cy="35979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0CD2773-D27C-4765-B0E8-2D408B267846}"/>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3550848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D698C-16A5-4884-BD84-1F07BB8C2CA9}"/>
              </a:ext>
            </a:extLst>
          </p:cNvPr>
          <p:cNvSpPr>
            <a:spLocks noGrp="1"/>
          </p:cNvSpPr>
          <p:nvPr>
            <p:ph type="title"/>
          </p:nvPr>
        </p:nvSpPr>
        <p:spPr>
          <a:xfrm>
            <a:off x="688009" y="1413700"/>
            <a:ext cx="8697278" cy="2358791"/>
          </a:xfrm>
          <a:prstGeom prst="rect">
            <a:avLst/>
          </a:prstGeom>
        </p:spPr>
        <p:txBody>
          <a:bodyPr anchor="b"/>
          <a:lstStyle>
            <a:lvl1pPr>
              <a:defRPr sz="4961"/>
            </a:lvl1pPr>
          </a:lstStyle>
          <a:p>
            <a:r>
              <a:rPr lang="en-US"/>
              <a:t>Click to edit Master title style</a:t>
            </a:r>
          </a:p>
        </p:txBody>
      </p:sp>
      <p:sp>
        <p:nvSpPr>
          <p:cNvPr id="3" name="Text Placeholder 2">
            <a:extLst>
              <a:ext uri="{FF2B5EF4-FFF2-40B4-BE49-F238E27FC236}">
                <a16:creationId xmlns:a16="http://schemas.microsoft.com/office/drawing/2014/main" id="{F1EE61F2-F6C6-4EC4-8168-F008402A117F}"/>
              </a:ext>
            </a:extLst>
          </p:cNvPr>
          <p:cNvSpPr>
            <a:spLocks noGrp="1"/>
          </p:cNvSpPr>
          <p:nvPr>
            <p:ph type="body" idx="1"/>
          </p:nvPr>
        </p:nvSpPr>
        <p:spPr>
          <a:xfrm>
            <a:off x="688009" y="3794807"/>
            <a:ext cx="8697278" cy="1240432"/>
          </a:xfrm>
          <a:prstGeom prst="rect">
            <a:avLst/>
          </a:prstGeom>
        </p:spPr>
        <p:txBody>
          <a:bodyPr/>
          <a:lstStyle>
            <a:lvl1pPr marL="0" indent="0">
              <a:buNone/>
              <a:defRPr sz="1985">
                <a:solidFill>
                  <a:schemeClr val="tx1">
                    <a:tint val="75000"/>
                  </a:schemeClr>
                </a:solidFill>
              </a:defRPr>
            </a:lvl1pPr>
            <a:lvl2pPr marL="378059" indent="0">
              <a:buNone/>
              <a:defRPr sz="1654">
                <a:solidFill>
                  <a:schemeClr val="tx1">
                    <a:tint val="75000"/>
                  </a:schemeClr>
                </a:solidFill>
              </a:defRPr>
            </a:lvl2pPr>
            <a:lvl3pPr marL="756117" indent="0">
              <a:buNone/>
              <a:defRPr sz="1488">
                <a:solidFill>
                  <a:schemeClr val="tx1">
                    <a:tint val="75000"/>
                  </a:schemeClr>
                </a:solidFill>
              </a:defRPr>
            </a:lvl3pPr>
            <a:lvl4pPr marL="1134176" indent="0">
              <a:buNone/>
              <a:defRPr sz="1323">
                <a:solidFill>
                  <a:schemeClr val="tx1">
                    <a:tint val="75000"/>
                  </a:schemeClr>
                </a:solidFill>
              </a:defRPr>
            </a:lvl4pPr>
            <a:lvl5pPr marL="1512235" indent="0">
              <a:buNone/>
              <a:defRPr sz="1323">
                <a:solidFill>
                  <a:schemeClr val="tx1">
                    <a:tint val="75000"/>
                  </a:schemeClr>
                </a:solidFill>
              </a:defRPr>
            </a:lvl5pPr>
            <a:lvl6pPr marL="1890293" indent="0">
              <a:buNone/>
              <a:defRPr sz="1323">
                <a:solidFill>
                  <a:schemeClr val="tx1">
                    <a:tint val="75000"/>
                  </a:schemeClr>
                </a:solidFill>
              </a:defRPr>
            </a:lvl6pPr>
            <a:lvl7pPr marL="2268352" indent="0">
              <a:buNone/>
              <a:defRPr sz="1323">
                <a:solidFill>
                  <a:schemeClr val="tx1">
                    <a:tint val="75000"/>
                  </a:schemeClr>
                </a:solidFill>
              </a:defRPr>
            </a:lvl7pPr>
            <a:lvl8pPr marL="2646411" indent="0">
              <a:buNone/>
              <a:defRPr sz="1323">
                <a:solidFill>
                  <a:schemeClr val="tx1">
                    <a:tint val="75000"/>
                  </a:schemeClr>
                </a:solidFill>
              </a:defRPr>
            </a:lvl8pPr>
            <a:lvl9pPr marL="3024469" indent="0">
              <a:buNone/>
              <a:defRPr sz="1323">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F8EA83EC-4419-4129-A10F-3DB8A14302C9}"/>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3772687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91A5C-61A7-4517-8770-1DCCAF6EA7AE}"/>
              </a:ext>
            </a:extLst>
          </p:cNvPr>
          <p:cNvSpPr>
            <a:spLocks noGrp="1"/>
          </p:cNvSpPr>
          <p:nvPr>
            <p:ph type="title"/>
          </p:nvPr>
        </p:nvSpPr>
        <p:spPr>
          <a:xfrm>
            <a:off x="756285" y="196895"/>
            <a:ext cx="8697278" cy="1096044"/>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4BA7721-920E-451D-8A5A-8242178522DA}"/>
              </a:ext>
            </a:extLst>
          </p:cNvPr>
          <p:cNvSpPr>
            <a:spLocks noGrp="1"/>
          </p:cNvSpPr>
          <p:nvPr>
            <p:ph sz="half" idx="1"/>
          </p:nvPr>
        </p:nvSpPr>
        <p:spPr>
          <a:xfrm>
            <a:off x="693261" y="1509521"/>
            <a:ext cx="4285615" cy="35979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77AB5D-D468-4927-80AC-04CC77B4F5C1}"/>
              </a:ext>
            </a:extLst>
          </p:cNvPr>
          <p:cNvSpPr>
            <a:spLocks noGrp="1"/>
          </p:cNvSpPr>
          <p:nvPr>
            <p:ph sz="half" idx="2"/>
          </p:nvPr>
        </p:nvSpPr>
        <p:spPr>
          <a:xfrm>
            <a:off x="5104924" y="1509521"/>
            <a:ext cx="4285615" cy="35979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0AD16D4-A4EE-48FA-B00A-6F0CF601ACB3}"/>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3774988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09566-4C43-42BC-9134-C4624C16DB06}"/>
              </a:ext>
            </a:extLst>
          </p:cNvPr>
          <p:cNvSpPr>
            <a:spLocks noGrp="1"/>
          </p:cNvSpPr>
          <p:nvPr>
            <p:ph type="title"/>
          </p:nvPr>
        </p:nvSpPr>
        <p:spPr>
          <a:xfrm>
            <a:off x="852134" y="196895"/>
            <a:ext cx="8697278" cy="1096044"/>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FDAA08B-D1FE-4C42-A3A7-85391660EC7C}"/>
              </a:ext>
            </a:extLst>
          </p:cNvPr>
          <p:cNvSpPr>
            <a:spLocks noGrp="1"/>
          </p:cNvSpPr>
          <p:nvPr>
            <p:ph type="body" idx="1"/>
          </p:nvPr>
        </p:nvSpPr>
        <p:spPr>
          <a:xfrm>
            <a:off x="694575" y="1390073"/>
            <a:ext cx="4265920" cy="681253"/>
          </a:xfrm>
          <a:prstGeom prst="rect">
            <a:avLst/>
          </a:prstGeom>
        </p:spPr>
        <p:txBody>
          <a:bodyPr anchor="b"/>
          <a:lstStyle>
            <a:lvl1pPr marL="0" indent="0">
              <a:buNone/>
              <a:defRPr sz="1985" b="1"/>
            </a:lvl1pPr>
            <a:lvl2pPr marL="378059" indent="0">
              <a:buNone/>
              <a:defRPr sz="1654" b="1"/>
            </a:lvl2pPr>
            <a:lvl3pPr marL="756117" indent="0">
              <a:buNone/>
              <a:defRPr sz="1488" b="1"/>
            </a:lvl3pPr>
            <a:lvl4pPr marL="1134176" indent="0">
              <a:buNone/>
              <a:defRPr sz="1323" b="1"/>
            </a:lvl4pPr>
            <a:lvl5pPr marL="1512235" indent="0">
              <a:buNone/>
              <a:defRPr sz="1323" b="1"/>
            </a:lvl5pPr>
            <a:lvl6pPr marL="1890293" indent="0">
              <a:buNone/>
              <a:defRPr sz="1323" b="1"/>
            </a:lvl6pPr>
            <a:lvl7pPr marL="2268352" indent="0">
              <a:buNone/>
              <a:defRPr sz="1323" b="1"/>
            </a:lvl7pPr>
            <a:lvl8pPr marL="2646411" indent="0">
              <a:buNone/>
              <a:defRPr sz="1323" b="1"/>
            </a:lvl8pPr>
            <a:lvl9pPr marL="3024469" indent="0">
              <a:buNone/>
              <a:defRPr sz="1323" b="1"/>
            </a:lvl9pPr>
          </a:lstStyle>
          <a:p>
            <a:pPr lvl="0"/>
            <a:r>
              <a:rPr lang="en-US"/>
              <a:t>Click to edit Master text styles</a:t>
            </a:r>
          </a:p>
        </p:txBody>
      </p:sp>
      <p:sp>
        <p:nvSpPr>
          <p:cNvPr id="4" name="Content Placeholder 3">
            <a:extLst>
              <a:ext uri="{FF2B5EF4-FFF2-40B4-BE49-F238E27FC236}">
                <a16:creationId xmlns:a16="http://schemas.microsoft.com/office/drawing/2014/main" id="{A2293804-F74C-44BD-8767-75C411DBFEEB}"/>
              </a:ext>
            </a:extLst>
          </p:cNvPr>
          <p:cNvSpPr>
            <a:spLocks noGrp="1"/>
          </p:cNvSpPr>
          <p:nvPr>
            <p:ph sz="half" idx="2"/>
          </p:nvPr>
        </p:nvSpPr>
        <p:spPr>
          <a:xfrm>
            <a:off x="694575" y="2071326"/>
            <a:ext cx="4265920" cy="304660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BE2B3F-DE27-4AF0-9C77-83862E8A160F}"/>
              </a:ext>
            </a:extLst>
          </p:cNvPr>
          <p:cNvSpPr>
            <a:spLocks noGrp="1"/>
          </p:cNvSpPr>
          <p:nvPr>
            <p:ph type="body" sz="quarter" idx="3"/>
          </p:nvPr>
        </p:nvSpPr>
        <p:spPr>
          <a:xfrm>
            <a:off x="5104924" y="1390073"/>
            <a:ext cx="4286928" cy="681253"/>
          </a:xfrm>
          <a:prstGeom prst="rect">
            <a:avLst/>
          </a:prstGeom>
        </p:spPr>
        <p:txBody>
          <a:bodyPr anchor="b"/>
          <a:lstStyle>
            <a:lvl1pPr marL="0" indent="0">
              <a:buNone/>
              <a:defRPr sz="1985" b="1"/>
            </a:lvl1pPr>
            <a:lvl2pPr marL="378059" indent="0">
              <a:buNone/>
              <a:defRPr sz="1654" b="1"/>
            </a:lvl2pPr>
            <a:lvl3pPr marL="756117" indent="0">
              <a:buNone/>
              <a:defRPr sz="1488" b="1"/>
            </a:lvl3pPr>
            <a:lvl4pPr marL="1134176" indent="0">
              <a:buNone/>
              <a:defRPr sz="1323" b="1"/>
            </a:lvl4pPr>
            <a:lvl5pPr marL="1512235" indent="0">
              <a:buNone/>
              <a:defRPr sz="1323" b="1"/>
            </a:lvl5pPr>
            <a:lvl6pPr marL="1890293" indent="0">
              <a:buNone/>
              <a:defRPr sz="1323" b="1"/>
            </a:lvl6pPr>
            <a:lvl7pPr marL="2268352" indent="0">
              <a:buNone/>
              <a:defRPr sz="1323" b="1"/>
            </a:lvl7pPr>
            <a:lvl8pPr marL="2646411" indent="0">
              <a:buNone/>
              <a:defRPr sz="1323" b="1"/>
            </a:lvl8pPr>
            <a:lvl9pPr marL="3024469" indent="0">
              <a:buNone/>
              <a:defRPr sz="1323" b="1"/>
            </a:lvl9pPr>
          </a:lstStyle>
          <a:p>
            <a:pPr lvl="0"/>
            <a:r>
              <a:rPr lang="en-US"/>
              <a:t>Click to edit Master text styles</a:t>
            </a:r>
          </a:p>
        </p:txBody>
      </p:sp>
      <p:sp>
        <p:nvSpPr>
          <p:cNvPr id="6" name="Content Placeholder 5">
            <a:extLst>
              <a:ext uri="{FF2B5EF4-FFF2-40B4-BE49-F238E27FC236}">
                <a16:creationId xmlns:a16="http://schemas.microsoft.com/office/drawing/2014/main" id="{9C803ED6-FA5C-42BE-AD02-725C1CA146C2}"/>
              </a:ext>
            </a:extLst>
          </p:cNvPr>
          <p:cNvSpPr>
            <a:spLocks noGrp="1"/>
          </p:cNvSpPr>
          <p:nvPr>
            <p:ph sz="quarter" idx="4"/>
          </p:nvPr>
        </p:nvSpPr>
        <p:spPr>
          <a:xfrm>
            <a:off x="5104924" y="2071326"/>
            <a:ext cx="4286928" cy="304660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F26F1231-C6EE-418B-95BC-A51AE425B490}"/>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1662978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1146B-9C23-46CB-BF79-87BDF885839C}"/>
              </a:ext>
            </a:extLst>
          </p:cNvPr>
          <p:cNvSpPr>
            <a:spLocks noGrp="1"/>
          </p:cNvSpPr>
          <p:nvPr>
            <p:ph type="title"/>
          </p:nvPr>
        </p:nvSpPr>
        <p:spPr>
          <a:xfrm>
            <a:off x="693261" y="301905"/>
            <a:ext cx="8697278" cy="1096044"/>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7592E703-9736-4BEE-855C-50F9BF02D249}"/>
              </a:ext>
            </a:extLst>
          </p:cNvPr>
          <p:cNvSpPr>
            <a:spLocks noGrp="1"/>
          </p:cNvSpPr>
          <p:nvPr>
            <p:ph type="dt" sz="half" idx="10"/>
          </p:nvPr>
        </p:nvSpPr>
        <p:spPr>
          <a:xfrm>
            <a:off x="693261" y="5255760"/>
            <a:ext cx="2268855" cy="301904"/>
          </a:xfrm>
          <a:prstGeom prst="rect">
            <a:avLst/>
          </a:prstGeom>
        </p:spPr>
        <p:txBody>
          <a:bodyPr/>
          <a:lstStyle/>
          <a:p>
            <a:pPr defTabSz="756117"/>
            <a:fld id="{C9E90480-6D2B-4DC5-8F84-E5A1E18C92B8}" type="datetimeFigureOut">
              <a:rPr lang="en-US" sz="1488" smtClean="0">
                <a:solidFill>
                  <a:prstClr val="black"/>
                </a:solidFill>
              </a:rPr>
              <a:pPr defTabSz="756117"/>
              <a:t>10/13/2025</a:t>
            </a:fld>
            <a:endParaRPr lang="en-US" sz="1488">
              <a:solidFill>
                <a:prstClr val="black"/>
              </a:solidFill>
            </a:endParaRPr>
          </a:p>
        </p:txBody>
      </p:sp>
      <p:sp>
        <p:nvSpPr>
          <p:cNvPr id="4" name="Footer Placeholder 3">
            <a:extLst>
              <a:ext uri="{FF2B5EF4-FFF2-40B4-BE49-F238E27FC236}">
                <a16:creationId xmlns:a16="http://schemas.microsoft.com/office/drawing/2014/main" id="{C3503929-9BCA-4DA3-842C-5B3A2A75B5D7}"/>
              </a:ext>
            </a:extLst>
          </p:cNvPr>
          <p:cNvSpPr>
            <a:spLocks noGrp="1"/>
          </p:cNvSpPr>
          <p:nvPr>
            <p:ph type="ftr" sz="quarter" idx="11"/>
          </p:nvPr>
        </p:nvSpPr>
        <p:spPr>
          <a:xfrm>
            <a:off x="3340259" y="5255760"/>
            <a:ext cx="3403283" cy="301904"/>
          </a:xfrm>
          <a:prstGeom prst="rect">
            <a:avLst/>
          </a:prstGeom>
        </p:spPr>
        <p:txBody>
          <a:bodyPr/>
          <a:lstStyle/>
          <a:p>
            <a:pPr defTabSz="756117"/>
            <a:endParaRPr lang="en-US" sz="1488">
              <a:solidFill>
                <a:prstClr val="black"/>
              </a:solidFill>
            </a:endParaRPr>
          </a:p>
        </p:txBody>
      </p:sp>
      <p:sp>
        <p:nvSpPr>
          <p:cNvPr id="5" name="Slide Number Placeholder 4">
            <a:extLst>
              <a:ext uri="{FF2B5EF4-FFF2-40B4-BE49-F238E27FC236}">
                <a16:creationId xmlns:a16="http://schemas.microsoft.com/office/drawing/2014/main" id="{0EF0AD8C-314A-44F0-80B1-F3ECD7389E48}"/>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473673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871024-34DA-4B13-BFC6-7E5815769ADF}"/>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811888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20FDB-F273-4FDA-8843-71FE3133B170}"/>
              </a:ext>
            </a:extLst>
          </p:cNvPr>
          <p:cNvSpPr>
            <a:spLocks noGrp="1"/>
          </p:cNvSpPr>
          <p:nvPr>
            <p:ph type="title"/>
          </p:nvPr>
        </p:nvSpPr>
        <p:spPr>
          <a:xfrm>
            <a:off x="694575" y="378037"/>
            <a:ext cx="3252288" cy="1323128"/>
          </a:xfrm>
          <a:prstGeom prst="rect">
            <a:avLst/>
          </a:prstGeom>
        </p:spPr>
        <p:txBody>
          <a:bodyPr anchor="b"/>
          <a:lstStyle>
            <a:lvl1pPr>
              <a:defRPr sz="2646"/>
            </a:lvl1pPr>
          </a:lstStyle>
          <a:p>
            <a:r>
              <a:rPr lang="en-US"/>
              <a:t>Click to edit Master title style</a:t>
            </a:r>
          </a:p>
        </p:txBody>
      </p:sp>
      <p:sp>
        <p:nvSpPr>
          <p:cNvPr id="3" name="Content Placeholder 2">
            <a:extLst>
              <a:ext uri="{FF2B5EF4-FFF2-40B4-BE49-F238E27FC236}">
                <a16:creationId xmlns:a16="http://schemas.microsoft.com/office/drawing/2014/main" id="{2D9D8A2D-26E3-4111-9DE8-96C6A142F7D3}"/>
              </a:ext>
            </a:extLst>
          </p:cNvPr>
          <p:cNvSpPr>
            <a:spLocks noGrp="1"/>
          </p:cNvSpPr>
          <p:nvPr>
            <p:ph idx="1"/>
          </p:nvPr>
        </p:nvSpPr>
        <p:spPr>
          <a:xfrm>
            <a:off x="4286928" y="816455"/>
            <a:ext cx="5104924" cy="4029766"/>
          </a:xfrm>
          <a:prstGeom prst="rect">
            <a:avLst/>
          </a:prstGeom>
        </p:spPr>
        <p:txBody>
          <a:bodyPr/>
          <a:lstStyle>
            <a:lvl1pPr>
              <a:defRPr sz="2646"/>
            </a:lvl1pPr>
            <a:lvl2pPr>
              <a:defRPr sz="2315"/>
            </a:lvl2pPr>
            <a:lvl3pPr>
              <a:defRPr sz="1985"/>
            </a:lvl3pPr>
            <a:lvl4pPr>
              <a:defRPr sz="1654"/>
            </a:lvl4pPr>
            <a:lvl5pPr>
              <a:defRPr sz="1654"/>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9FEA8F-DF81-4C1A-A7B2-021D68A66C6E}"/>
              </a:ext>
            </a:extLst>
          </p:cNvPr>
          <p:cNvSpPr>
            <a:spLocks noGrp="1"/>
          </p:cNvSpPr>
          <p:nvPr>
            <p:ph type="body" sz="half" idx="2"/>
          </p:nvPr>
        </p:nvSpPr>
        <p:spPr>
          <a:xfrm>
            <a:off x="694575" y="1701165"/>
            <a:ext cx="3252288" cy="3151619"/>
          </a:xfrm>
          <a:prstGeom prst="rect">
            <a:avLst/>
          </a:prstGeom>
        </p:spPr>
        <p:txBody>
          <a:bodyPr/>
          <a:lstStyle>
            <a:lvl1pPr marL="0" indent="0">
              <a:buNone/>
              <a:defRPr sz="1323"/>
            </a:lvl1pPr>
            <a:lvl2pPr marL="378059" indent="0">
              <a:buNone/>
              <a:defRPr sz="1158"/>
            </a:lvl2pPr>
            <a:lvl3pPr marL="756117" indent="0">
              <a:buNone/>
              <a:defRPr sz="992"/>
            </a:lvl3pPr>
            <a:lvl4pPr marL="1134176" indent="0">
              <a:buNone/>
              <a:defRPr sz="827"/>
            </a:lvl4pPr>
            <a:lvl5pPr marL="1512235" indent="0">
              <a:buNone/>
              <a:defRPr sz="827"/>
            </a:lvl5pPr>
            <a:lvl6pPr marL="1890293" indent="0">
              <a:buNone/>
              <a:defRPr sz="827"/>
            </a:lvl6pPr>
            <a:lvl7pPr marL="2268352" indent="0">
              <a:buNone/>
              <a:defRPr sz="827"/>
            </a:lvl7pPr>
            <a:lvl8pPr marL="2646411" indent="0">
              <a:buNone/>
              <a:defRPr sz="827"/>
            </a:lvl8pPr>
            <a:lvl9pPr marL="3024469" indent="0">
              <a:buNone/>
              <a:defRPr sz="827"/>
            </a:lvl9pPr>
          </a:lstStyle>
          <a:p>
            <a:pPr lvl="0"/>
            <a:r>
              <a:rPr lang="en-US"/>
              <a:t>Click to edit Master text styles</a:t>
            </a:r>
          </a:p>
        </p:txBody>
      </p:sp>
      <p:sp>
        <p:nvSpPr>
          <p:cNvPr id="7" name="Slide Number Placeholder 6">
            <a:extLst>
              <a:ext uri="{FF2B5EF4-FFF2-40B4-BE49-F238E27FC236}">
                <a16:creationId xmlns:a16="http://schemas.microsoft.com/office/drawing/2014/main" id="{B7F734DF-22E0-4AB9-B1B1-BED86737EBE8}"/>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1075479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9D5C9-6CC8-449F-A926-7F6BAA18F9BB}"/>
              </a:ext>
            </a:extLst>
          </p:cNvPr>
          <p:cNvSpPr>
            <a:spLocks noGrp="1"/>
          </p:cNvSpPr>
          <p:nvPr>
            <p:ph type="title"/>
          </p:nvPr>
        </p:nvSpPr>
        <p:spPr>
          <a:xfrm>
            <a:off x="694575" y="378037"/>
            <a:ext cx="3252288" cy="1323128"/>
          </a:xfrm>
          <a:prstGeom prst="rect">
            <a:avLst/>
          </a:prstGeom>
        </p:spPr>
        <p:txBody>
          <a:bodyPr anchor="b"/>
          <a:lstStyle>
            <a:lvl1pPr>
              <a:defRPr sz="2646"/>
            </a:lvl1pPr>
          </a:lstStyle>
          <a:p>
            <a:r>
              <a:rPr lang="en-US"/>
              <a:t>Click to edit Master title style</a:t>
            </a:r>
          </a:p>
        </p:txBody>
      </p:sp>
      <p:sp>
        <p:nvSpPr>
          <p:cNvPr id="3" name="Picture Placeholder 2">
            <a:extLst>
              <a:ext uri="{FF2B5EF4-FFF2-40B4-BE49-F238E27FC236}">
                <a16:creationId xmlns:a16="http://schemas.microsoft.com/office/drawing/2014/main" id="{A5356DC5-B21D-4C96-A945-A256E84C9130}"/>
              </a:ext>
            </a:extLst>
          </p:cNvPr>
          <p:cNvSpPr>
            <a:spLocks noGrp="1"/>
          </p:cNvSpPr>
          <p:nvPr>
            <p:ph type="pic" idx="1"/>
          </p:nvPr>
        </p:nvSpPr>
        <p:spPr>
          <a:xfrm>
            <a:off x="4286928" y="816455"/>
            <a:ext cx="5104924" cy="4029766"/>
          </a:xfrm>
          <a:prstGeom prst="rect">
            <a:avLst/>
          </a:prstGeom>
        </p:spPr>
        <p:txBody>
          <a:bodyPr/>
          <a:lstStyle>
            <a:lvl1pPr marL="0" indent="0">
              <a:buNone/>
              <a:defRPr sz="2646"/>
            </a:lvl1pPr>
            <a:lvl2pPr marL="378059" indent="0">
              <a:buNone/>
              <a:defRPr sz="2315"/>
            </a:lvl2pPr>
            <a:lvl3pPr marL="756117" indent="0">
              <a:buNone/>
              <a:defRPr sz="1985"/>
            </a:lvl3pPr>
            <a:lvl4pPr marL="1134176" indent="0">
              <a:buNone/>
              <a:defRPr sz="1654"/>
            </a:lvl4pPr>
            <a:lvl5pPr marL="1512235" indent="0">
              <a:buNone/>
              <a:defRPr sz="1654"/>
            </a:lvl5pPr>
            <a:lvl6pPr marL="1890293" indent="0">
              <a:buNone/>
              <a:defRPr sz="1654"/>
            </a:lvl6pPr>
            <a:lvl7pPr marL="2268352" indent="0">
              <a:buNone/>
              <a:defRPr sz="1654"/>
            </a:lvl7pPr>
            <a:lvl8pPr marL="2646411" indent="0">
              <a:buNone/>
              <a:defRPr sz="1654"/>
            </a:lvl8pPr>
            <a:lvl9pPr marL="3024469" indent="0">
              <a:buNone/>
              <a:defRPr sz="1654"/>
            </a:lvl9pPr>
          </a:lstStyle>
          <a:p>
            <a:endParaRPr lang="en-US"/>
          </a:p>
        </p:txBody>
      </p:sp>
      <p:sp>
        <p:nvSpPr>
          <p:cNvPr id="4" name="Text Placeholder 3">
            <a:extLst>
              <a:ext uri="{FF2B5EF4-FFF2-40B4-BE49-F238E27FC236}">
                <a16:creationId xmlns:a16="http://schemas.microsoft.com/office/drawing/2014/main" id="{EEDB7F75-9770-4AFB-834D-1C1F4854C152}"/>
              </a:ext>
            </a:extLst>
          </p:cNvPr>
          <p:cNvSpPr>
            <a:spLocks noGrp="1"/>
          </p:cNvSpPr>
          <p:nvPr>
            <p:ph type="body" sz="half" idx="2"/>
          </p:nvPr>
        </p:nvSpPr>
        <p:spPr>
          <a:xfrm>
            <a:off x="694575" y="1701165"/>
            <a:ext cx="3252288" cy="3151619"/>
          </a:xfrm>
          <a:prstGeom prst="rect">
            <a:avLst/>
          </a:prstGeom>
        </p:spPr>
        <p:txBody>
          <a:bodyPr/>
          <a:lstStyle>
            <a:lvl1pPr marL="0" indent="0">
              <a:buNone/>
              <a:defRPr sz="1323"/>
            </a:lvl1pPr>
            <a:lvl2pPr marL="378059" indent="0">
              <a:buNone/>
              <a:defRPr sz="1158"/>
            </a:lvl2pPr>
            <a:lvl3pPr marL="756117" indent="0">
              <a:buNone/>
              <a:defRPr sz="992"/>
            </a:lvl3pPr>
            <a:lvl4pPr marL="1134176" indent="0">
              <a:buNone/>
              <a:defRPr sz="827"/>
            </a:lvl4pPr>
            <a:lvl5pPr marL="1512235" indent="0">
              <a:buNone/>
              <a:defRPr sz="827"/>
            </a:lvl5pPr>
            <a:lvl6pPr marL="1890293" indent="0">
              <a:buNone/>
              <a:defRPr sz="827"/>
            </a:lvl6pPr>
            <a:lvl7pPr marL="2268352" indent="0">
              <a:buNone/>
              <a:defRPr sz="827"/>
            </a:lvl7pPr>
            <a:lvl8pPr marL="2646411" indent="0">
              <a:buNone/>
              <a:defRPr sz="827"/>
            </a:lvl8pPr>
            <a:lvl9pPr marL="3024469" indent="0">
              <a:buNone/>
              <a:defRPr sz="827"/>
            </a:lvl9pPr>
          </a:lstStyle>
          <a:p>
            <a:pPr lvl="0"/>
            <a:r>
              <a:rPr lang="en-US"/>
              <a:t>Click to edit Master text styles</a:t>
            </a:r>
          </a:p>
        </p:txBody>
      </p:sp>
      <p:sp>
        <p:nvSpPr>
          <p:cNvPr id="7" name="Slide Number Placeholder 6">
            <a:extLst>
              <a:ext uri="{FF2B5EF4-FFF2-40B4-BE49-F238E27FC236}">
                <a16:creationId xmlns:a16="http://schemas.microsoft.com/office/drawing/2014/main" id="{B1B47443-A469-4D0A-977A-8F63F52FA96F}"/>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60122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76EB3-4CB4-42EE-BA12-413DC4CA6F6A}"/>
              </a:ext>
            </a:extLst>
          </p:cNvPr>
          <p:cNvSpPr>
            <a:spLocks noGrp="1"/>
          </p:cNvSpPr>
          <p:nvPr>
            <p:ph type="title"/>
          </p:nvPr>
        </p:nvSpPr>
        <p:spPr>
          <a:xfrm>
            <a:off x="693261" y="301905"/>
            <a:ext cx="8697278" cy="1096044"/>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42E597-37ED-491C-9AC6-FE25FA433628}"/>
              </a:ext>
            </a:extLst>
          </p:cNvPr>
          <p:cNvSpPr>
            <a:spLocks noGrp="1"/>
          </p:cNvSpPr>
          <p:nvPr>
            <p:ph type="body" orient="vert" idx="1"/>
          </p:nvPr>
        </p:nvSpPr>
        <p:spPr>
          <a:xfrm>
            <a:off x="693261" y="1509521"/>
            <a:ext cx="8697278" cy="35979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A83D747-4472-4B75-9994-5D69784D2D29}"/>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716425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B699AC-E01A-4929-9445-276F94EECBB6}"/>
              </a:ext>
            </a:extLst>
          </p:cNvPr>
          <p:cNvSpPr>
            <a:spLocks noGrp="1"/>
          </p:cNvSpPr>
          <p:nvPr>
            <p:ph type="title" orient="vert"/>
          </p:nvPr>
        </p:nvSpPr>
        <p:spPr>
          <a:xfrm>
            <a:off x="7216220" y="301904"/>
            <a:ext cx="2174319" cy="4805529"/>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AF5439-6ED1-4203-BEE2-4AFDB71C91F8}"/>
              </a:ext>
            </a:extLst>
          </p:cNvPr>
          <p:cNvSpPr>
            <a:spLocks noGrp="1"/>
          </p:cNvSpPr>
          <p:nvPr>
            <p:ph type="body" orient="vert" idx="1"/>
          </p:nvPr>
        </p:nvSpPr>
        <p:spPr>
          <a:xfrm>
            <a:off x="693261" y="301904"/>
            <a:ext cx="6396911" cy="480552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DCA5CF74-1DB8-4B55-BDE0-6CDA28821789}"/>
              </a:ext>
            </a:extLst>
          </p:cNvPr>
          <p:cNvSpPr>
            <a:spLocks noGrp="1"/>
          </p:cNvSpPr>
          <p:nvPr>
            <p:ph type="sldNum" sz="quarter" idx="12"/>
          </p:nvPr>
        </p:nvSpPr>
        <p:spPr/>
        <p:txBody>
          <a:body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spTree>
    <p:extLst>
      <p:ext uri="{BB962C8B-B14F-4D97-AF65-F5344CB8AC3E}">
        <p14:creationId xmlns:p14="http://schemas.microsoft.com/office/powerpoint/2010/main" val="2973149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52147" y="390018"/>
            <a:ext cx="8979504" cy="503856"/>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512570" y="3175508"/>
            <a:ext cx="7058660" cy="32060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10/13/2025</a:t>
            </a:fld>
            <a:endParaRPr lang="en-US"/>
          </a:p>
        </p:txBody>
      </p:sp>
      <p:sp>
        <p:nvSpPr>
          <p:cNvPr id="6" name="Holder 6"/>
          <p:cNvSpPr>
            <a:spLocks noGrp="1"/>
          </p:cNvSpPr>
          <p:nvPr>
            <p:ph type="sldNum" sz="quarter" idx="7"/>
          </p:nvPr>
        </p:nvSpPr>
        <p:spPr/>
        <p:txBody>
          <a:bodyPr lIns="0" tIns="0" rIns="0" bIns="0"/>
          <a:lstStyle>
            <a:lvl1pPr>
              <a:defRPr sz="1094" b="0" i="0">
                <a:solidFill>
                  <a:schemeClr val="tx1"/>
                </a:solidFill>
                <a:latin typeface="Calibri"/>
                <a:cs typeface="Calibri"/>
              </a:defRPr>
            </a:lvl1pPr>
          </a:lstStyle>
          <a:p>
            <a:pPr marL="27798">
              <a:spcBef>
                <a:spcPts val="22"/>
              </a:spcBef>
            </a:pPr>
            <a:fld id="{81D60167-4931-47E6-BA6A-407CBD079E47}" type="slidenum">
              <a:rPr lang="en-US" smtClean="0"/>
              <a:pPr marL="27798">
                <a:spcBef>
                  <a:spcPts val="22"/>
                </a:spcBef>
              </a:pPr>
              <a:t>‹#›</a:t>
            </a:fld>
            <a:endParaRPr lang="en-US" dirty="0"/>
          </a:p>
        </p:txBody>
      </p:sp>
    </p:spTree>
    <p:extLst>
      <p:ext uri="{BB962C8B-B14F-4D97-AF65-F5344CB8AC3E}">
        <p14:creationId xmlns:p14="http://schemas.microsoft.com/office/powerpoint/2010/main" val="3207012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81BB922-B92C-4BA4-BA65-EA3025B0BC94}"/>
              </a:ext>
            </a:extLst>
          </p:cNvPr>
          <p:cNvSpPr>
            <a:spLocks noGrp="1"/>
          </p:cNvSpPr>
          <p:nvPr>
            <p:ph type="sldNum" sz="quarter" idx="4"/>
          </p:nvPr>
        </p:nvSpPr>
        <p:spPr>
          <a:xfrm>
            <a:off x="7665264" y="5171751"/>
            <a:ext cx="2268855" cy="301904"/>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756117"/>
            <a:fld id="{E01CCCCC-388D-4F94-9868-71B320C71ACD}" type="slidenum">
              <a:rPr lang="en-US" smtClean="0">
                <a:solidFill>
                  <a:prstClr val="black">
                    <a:tint val="75000"/>
                  </a:prstClr>
                </a:solidFill>
              </a:rPr>
              <a:pPr defTabSz="756117"/>
              <a:t>‹#›</a:t>
            </a:fld>
            <a:endParaRPr lang="en-US">
              <a:solidFill>
                <a:prstClr val="black">
                  <a:tint val="75000"/>
                </a:prstClr>
              </a:solidFill>
            </a:endParaRPr>
          </a:p>
        </p:txBody>
      </p:sp>
      <p:pic>
        <p:nvPicPr>
          <p:cNvPr id="7" name="Picture 6">
            <a:extLst>
              <a:ext uri="{FF2B5EF4-FFF2-40B4-BE49-F238E27FC236}">
                <a16:creationId xmlns:a16="http://schemas.microsoft.com/office/drawing/2014/main" id="{1FE5D4FA-4801-4BDA-AFAF-7C5F82906C7A}"/>
              </a:ext>
            </a:extLst>
          </p:cNvPr>
          <p:cNvPicPr>
            <a:picLocks noChangeAspect="1"/>
          </p:cNvPicPr>
          <p:nvPr userDrawn="1"/>
        </p:nvPicPr>
        <p:blipFill>
          <a:blip r:embed="rId14"/>
          <a:stretch>
            <a:fillRect/>
          </a:stretch>
        </p:blipFill>
        <p:spPr>
          <a:xfrm>
            <a:off x="0" y="126012"/>
            <a:ext cx="9587488" cy="5347643"/>
          </a:xfrm>
          <a:prstGeom prst="rect">
            <a:avLst/>
          </a:prstGeom>
        </p:spPr>
      </p:pic>
      <p:sp>
        <p:nvSpPr>
          <p:cNvPr id="9" name="Rectangle 8">
            <a:extLst>
              <a:ext uri="{FF2B5EF4-FFF2-40B4-BE49-F238E27FC236}">
                <a16:creationId xmlns:a16="http://schemas.microsoft.com/office/drawing/2014/main" id="{8F568DA6-4B78-463E-8077-A701B45E7694}"/>
              </a:ext>
            </a:extLst>
          </p:cNvPr>
          <p:cNvSpPr/>
          <p:nvPr userDrawn="1"/>
        </p:nvSpPr>
        <p:spPr>
          <a:xfrm>
            <a:off x="7944932" y="5338776"/>
            <a:ext cx="1441668" cy="16539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117" rtl="0" eaLnBrk="1" fontAlgn="auto" latinLnBrk="0" hangingPunct="1">
              <a:lnSpc>
                <a:spcPct val="100000"/>
              </a:lnSpc>
              <a:spcBef>
                <a:spcPts val="0"/>
              </a:spcBef>
              <a:spcAft>
                <a:spcPts val="0"/>
              </a:spcAft>
              <a:buClrTx/>
              <a:buSzTx/>
              <a:buFontTx/>
              <a:buNone/>
              <a:tabLst/>
              <a:defRPr/>
            </a:pPr>
            <a:endParaRPr kumimoji="0" lang="en-US" sz="1488"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7A6D3598-85E1-4F91-A630-D7B2DD6761F7}"/>
              </a:ext>
            </a:extLst>
          </p:cNvPr>
          <p:cNvSpPr txBox="1"/>
          <p:nvPr userDrawn="1"/>
        </p:nvSpPr>
        <p:spPr>
          <a:xfrm flipH="1">
            <a:off x="7944932" y="5322702"/>
            <a:ext cx="2472631" cy="219612"/>
          </a:xfrm>
          <a:prstGeom prst="rect">
            <a:avLst/>
          </a:prstGeom>
          <a:noFill/>
        </p:spPr>
        <p:txBody>
          <a:bodyPr wrap="square" rtlCol="0">
            <a:spAutoFit/>
          </a:bodyPr>
          <a:lstStyle/>
          <a:p>
            <a:pPr marL="0" marR="0" lvl="0" indent="0" algn="l" defTabSz="756117" rtl="0" eaLnBrk="1" fontAlgn="auto" latinLnBrk="0" hangingPunct="1">
              <a:lnSpc>
                <a:spcPct val="100000"/>
              </a:lnSpc>
              <a:spcBef>
                <a:spcPts val="0"/>
              </a:spcBef>
              <a:spcAft>
                <a:spcPts val="0"/>
              </a:spcAft>
              <a:buClrTx/>
              <a:buSzTx/>
              <a:buFontTx/>
              <a:buNone/>
              <a:tabLst/>
              <a:defRPr/>
            </a:pPr>
            <a:r>
              <a:rPr kumimoji="0" lang="en-US" sz="827" b="0" i="0" u="none" strike="noStrike" kern="1200" cap="none" spc="0" normalizeH="0" baseline="0" noProof="0" dirty="0">
                <a:ln>
                  <a:noFill/>
                </a:ln>
                <a:solidFill>
                  <a:srgbClr val="4472C4">
                    <a:lumMod val="75000"/>
                  </a:srgbClr>
                </a:solidFill>
                <a:effectLst/>
                <a:uLnTx/>
                <a:uFillTx/>
                <a:latin typeface="Calibri" panose="020F0502020204030204"/>
                <a:ea typeface="+mn-ea"/>
                <a:cs typeface="+mn-cs"/>
              </a:rPr>
              <a:t>COSC 4337 Data Science II</a:t>
            </a:r>
          </a:p>
        </p:txBody>
      </p:sp>
      <p:sp>
        <p:nvSpPr>
          <p:cNvPr id="2" name="TextBox 1">
            <a:extLst>
              <a:ext uri="{FF2B5EF4-FFF2-40B4-BE49-F238E27FC236}">
                <a16:creationId xmlns:a16="http://schemas.microsoft.com/office/drawing/2014/main" id="{18643691-6277-72A9-A123-4633283B046C}"/>
              </a:ext>
            </a:extLst>
          </p:cNvPr>
          <p:cNvSpPr txBox="1"/>
          <p:nvPr userDrawn="1"/>
        </p:nvSpPr>
        <p:spPr>
          <a:xfrm>
            <a:off x="4163937" y="5242690"/>
            <a:ext cx="3048000" cy="246221"/>
          </a:xfrm>
          <a:prstGeom prst="rect">
            <a:avLst/>
          </a:prstGeom>
          <a:noFill/>
        </p:spPr>
        <p:txBody>
          <a:bodyPr wrap="square" rtlCol="0">
            <a:spAutoFit/>
          </a:bodyPr>
          <a:lstStyle/>
          <a:p>
            <a:r>
              <a:rPr lang="en-US" sz="1000" dirty="0">
                <a:solidFill>
                  <a:srgbClr val="FF0000"/>
                </a:solidFill>
              </a:rPr>
              <a:t>CNN  Variants</a:t>
            </a:r>
          </a:p>
        </p:txBody>
      </p:sp>
    </p:spTree>
    <p:extLst>
      <p:ext uri="{BB962C8B-B14F-4D97-AF65-F5344CB8AC3E}">
        <p14:creationId xmlns:p14="http://schemas.microsoft.com/office/powerpoint/2010/main" val="228664472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Lst>
  <p:txStyles>
    <p:titleStyle>
      <a:lvl1pPr algn="l" defTabSz="756117" rtl="0" eaLnBrk="1" latinLnBrk="0" hangingPunct="1">
        <a:lnSpc>
          <a:spcPct val="90000"/>
        </a:lnSpc>
        <a:spcBef>
          <a:spcPct val="0"/>
        </a:spcBef>
        <a:buNone/>
        <a:defRPr sz="3638" kern="1200">
          <a:solidFill>
            <a:schemeClr val="tx1"/>
          </a:solidFill>
          <a:latin typeface="+mj-lt"/>
          <a:ea typeface="+mj-ea"/>
          <a:cs typeface="+mj-cs"/>
        </a:defRPr>
      </a:lvl1pPr>
    </p:titleStyle>
    <p:bodyStyle>
      <a:lvl1pPr marL="189029" indent="-189029" algn="l" defTabSz="756117"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7088" indent="-189029" algn="l" defTabSz="756117" rtl="0" eaLnBrk="1" latinLnBrk="0" hangingPunct="1">
        <a:lnSpc>
          <a:spcPct val="90000"/>
        </a:lnSpc>
        <a:spcBef>
          <a:spcPts val="413"/>
        </a:spcBef>
        <a:buFont typeface="Arial" panose="020B0604020202020204" pitchFamily="34" charset="0"/>
        <a:buChar char="•"/>
        <a:defRPr sz="1985" kern="1200">
          <a:solidFill>
            <a:schemeClr val="tx1"/>
          </a:solidFill>
          <a:latin typeface="+mn-lt"/>
          <a:ea typeface="+mn-ea"/>
          <a:cs typeface="+mn-cs"/>
        </a:defRPr>
      </a:lvl2pPr>
      <a:lvl3pPr marL="945147" indent="-189029" algn="l" defTabSz="756117" rtl="0" eaLnBrk="1" latinLnBrk="0" hangingPunct="1">
        <a:lnSpc>
          <a:spcPct val="90000"/>
        </a:lnSpc>
        <a:spcBef>
          <a:spcPts val="413"/>
        </a:spcBef>
        <a:buFont typeface="Arial" panose="020B0604020202020204" pitchFamily="34" charset="0"/>
        <a:buChar char="•"/>
        <a:defRPr sz="1654" kern="1200">
          <a:solidFill>
            <a:schemeClr val="tx1"/>
          </a:solidFill>
          <a:latin typeface="+mn-lt"/>
          <a:ea typeface="+mn-ea"/>
          <a:cs typeface="+mn-cs"/>
        </a:defRPr>
      </a:lvl3pPr>
      <a:lvl4pPr marL="1323205"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1264"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9323"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7381"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5440"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3499" indent="-189029" algn="l" defTabSz="75611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6117" rtl="0" eaLnBrk="1" latinLnBrk="0" hangingPunct="1">
        <a:defRPr sz="1488" kern="1200">
          <a:solidFill>
            <a:schemeClr val="tx1"/>
          </a:solidFill>
          <a:latin typeface="+mn-lt"/>
          <a:ea typeface="+mn-ea"/>
          <a:cs typeface="+mn-cs"/>
        </a:defRPr>
      </a:lvl1pPr>
      <a:lvl2pPr marL="378059" algn="l" defTabSz="756117" rtl="0" eaLnBrk="1" latinLnBrk="0" hangingPunct="1">
        <a:defRPr sz="1488" kern="1200">
          <a:solidFill>
            <a:schemeClr val="tx1"/>
          </a:solidFill>
          <a:latin typeface="+mn-lt"/>
          <a:ea typeface="+mn-ea"/>
          <a:cs typeface="+mn-cs"/>
        </a:defRPr>
      </a:lvl2pPr>
      <a:lvl3pPr marL="756117" algn="l" defTabSz="756117" rtl="0" eaLnBrk="1" latinLnBrk="0" hangingPunct="1">
        <a:defRPr sz="1488" kern="1200">
          <a:solidFill>
            <a:schemeClr val="tx1"/>
          </a:solidFill>
          <a:latin typeface="+mn-lt"/>
          <a:ea typeface="+mn-ea"/>
          <a:cs typeface="+mn-cs"/>
        </a:defRPr>
      </a:lvl3pPr>
      <a:lvl4pPr marL="1134176" algn="l" defTabSz="756117" rtl="0" eaLnBrk="1" latinLnBrk="0" hangingPunct="1">
        <a:defRPr sz="1488" kern="1200">
          <a:solidFill>
            <a:schemeClr val="tx1"/>
          </a:solidFill>
          <a:latin typeface="+mn-lt"/>
          <a:ea typeface="+mn-ea"/>
          <a:cs typeface="+mn-cs"/>
        </a:defRPr>
      </a:lvl4pPr>
      <a:lvl5pPr marL="1512235" algn="l" defTabSz="756117" rtl="0" eaLnBrk="1" latinLnBrk="0" hangingPunct="1">
        <a:defRPr sz="1488" kern="1200">
          <a:solidFill>
            <a:schemeClr val="tx1"/>
          </a:solidFill>
          <a:latin typeface="+mn-lt"/>
          <a:ea typeface="+mn-ea"/>
          <a:cs typeface="+mn-cs"/>
        </a:defRPr>
      </a:lvl5pPr>
      <a:lvl6pPr marL="1890293" algn="l" defTabSz="756117" rtl="0" eaLnBrk="1" latinLnBrk="0" hangingPunct="1">
        <a:defRPr sz="1488" kern="1200">
          <a:solidFill>
            <a:schemeClr val="tx1"/>
          </a:solidFill>
          <a:latin typeface="+mn-lt"/>
          <a:ea typeface="+mn-ea"/>
          <a:cs typeface="+mn-cs"/>
        </a:defRPr>
      </a:lvl6pPr>
      <a:lvl7pPr marL="2268352" algn="l" defTabSz="756117" rtl="0" eaLnBrk="1" latinLnBrk="0" hangingPunct="1">
        <a:defRPr sz="1488" kern="1200">
          <a:solidFill>
            <a:schemeClr val="tx1"/>
          </a:solidFill>
          <a:latin typeface="+mn-lt"/>
          <a:ea typeface="+mn-ea"/>
          <a:cs typeface="+mn-cs"/>
        </a:defRPr>
      </a:lvl7pPr>
      <a:lvl8pPr marL="2646411" algn="l" defTabSz="756117" rtl="0" eaLnBrk="1" latinLnBrk="0" hangingPunct="1">
        <a:defRPr sz="1488" kern="1200">
          <a:solidFill>
            <a:schemeClr val="tx1"/>
          </a:solidFill>
          <a:latin typeface="+mn-lt"/>
          <a:ea typeface="+mn-ea"/>
          <a:cs typeface="+mn-cs"/>
        </a:defRPr>
      </a:lvl8pPr>
      <a:lvl9pPr marL="3024469" algn="l" defTabSz="756117"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70.png"/><Relationship Id="rId2" Type="http://schemas.openxmlformats.org/officeDocument/2006/relationships/image" Target="../media/image55.png"/><Relationship Id="rId16"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476" name="Rectangle 62475">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3800" cy="567055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2475" name="Rectangle 62474">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406"/>
            <a:ext cx="10083799" cy="1303082"/>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77" name="Rectangle 62476">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723242" y="28"/>
            <a:ext cx="3360558" cy="1303460"/>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79" name="Rectangle 62478">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90157" y="-4390156"/>
            <a:ext cx="1303487" cy="100838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481" name="Rectangle 62480">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63952" y="815"/>
            <a:ext cx="3559289" cy="1302673"/>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66" name="Title 1">
            <a:extLst>
              <a:ext uri="{FF2B5EF4-FFF2-40B4-BE49-F238E27FC236}">
                <a16:creationId xmlns:a16="http://schemas.microsoft.com/office/drawing/2014/main" id="{D939AD80-0E16-2E28-5863-B6E318A69958}"/>
              </a:ext>
            </a:extLst>
          </p:cNvPr>
          <p:cNvSpPr>
            <a:spLocks noGrp="1" noChangeArrowheads="1"/>
          </p:cNvSpPr>
          <p:nvPr>
            <p:ph type="title"/>
          </p:nvPr>
        </p:nvSpPr>
        <p:spPr>
          <a:xfrm>
            <a:off x="774700" y="341248"/>
            <a:ext cx="5865096" cy="742993"/>
          </a:xfrm>
        </p:spPr>
        <p:txBody>
          <a:bodyPr vert="horz" lIns="91440" tIns="45720" rIns="91440" bIns="45720" rtlCol="0" anchor="ctr">
            <a:normAutofit/>
          </a:bodyPr>
          <a:lstStyle/>
          <a:p>
            <a:pPr defTabSz="914400"/>
            <a:r>
              <a:rPr lang="en-US" altLang="en-US" sz="3300" dirty="0">
                <a:solidFill>
                  <a:srgbClr val="FF0000"/>
                </a:solidFill>
              </a:rPr>
              <a:t>Smaller Network: CNN</a:t>
            </a:r>
          </a:p>
        </p:txBody>
      </p:sp>
      <p:pic>
        <p:nvPicPr>
          <p:cNvPr id="2" name="Picture 1">
            <a:extLst>
              <a:ext uri="{FF2B5EF4-FFF2-40B4-BE49-F238E27FC236}">
                <a16:creationId xmlns:a16="http://schemas.microsoft.com/office/drawing/2014/main" id="{64C2FCF2-9CDA-400C-5355-022FE8E9D6BC}"/>
              </a:ext>
            </a:extLst>
          </p:cNvPr>
          <p:cNvPicPr>
            <a:picLocks noChangeAspect="1"/>
          </p:cNvPicPr>
          <p:nvPr/>
        </p:nvPicPr>
        <p:blipFill>
          <a:blip r:embed="rId2"/>
          <a:stretch>
            <a:fillRect/>
          </a:stretch>
        </p:blipFill>
        <p:spPr>
          <a:xfrm>
            <a:off x="242409" y="1521111"/>
            <a:ext cx="6537720" cy="2386267"/>
          </a:xfrm>
          <a:prstGeom prst="rect">
            <a:avLst/>
          </a:prstGeom>
        </p:spPr>
      </p:pic>
      <p:pic>
        <p:nvPicPr>
          <p:cNvPr id="62468" name="Picture 3">
            <a:extLst>
              <a:ext uri="{FF2B5EF4-FFF2-40B4-BE49-F238E27FC236}">
                <a16:creationId xmlns:a16="http://schemas.microsoft.com/office/drawing/2014/main" id="{571C9F88-79F0-E9CF-89BF-59DBDB6E99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118099" y="2911475"/>
            <a:ext cx="5195995" cy="25850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descr="Diagram&#10;&#10;Description automatically generated">
            <a:extLst>
              <a:ext uri="{FF2B5EF4-FFF2-40B4-BE49-F238E27FC236}">
                <a16:creationId xmlns:a16="http://schemas.microsoft.com/office/drawing/2014/main" id="{B71D30DF-E389-0269-A130-21B0C0A025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7132" y="0"/>
            <a:ext cx="7203699" cy="2730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9" name="Picture 3">
            <a:extLst>
              <a:ext uri="{FF2B5EF4-FFF2-40B4-BE49-F238E27FC236}">
                <a16:creationId xmlns:a16="http://schemas.microsoft.com/office/drawing/2014/main" id="{46645FC7-2161-B7F0-9641-6630502612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637" y="2149475"/>
            <a:ext cx="6552636" cy="3840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BF5BDAC9-83B4-A6C9-02C4-2769C8E54240}"/>
              </a:ext>
            </a:extLst>
          </p:cNvPr>
          <p:cNvSpPr txBox="1">
            <a:spLocks noChangeArrowheads="1"/>
          </p:cNvSpPr>
          <p:nvPr/>
        </p:nvSpPr>
        <p:spPr>
          <a:xfrm>
            <a:off x="546100" y="92075"/>
            <a:ext cx="5865096" cy="742993"/>
          </a:xfrm>
          <a:prstGeom prst="rect">
            <a:avLst/>
          </a:prstGeom>
        </p:spPr>
        <p:txBody>
          <a:bodyPr vert="horz" lIns="91440" tIns="45720" rIns="91440" bIns="45720" rtlCol="0" anchor="ctr">
            <a:normAutofit/>
          </a:bodyPr>
          <a:lstStyle>
            <a:lvl1pPr algn="l" defTabSz="756117" rtl="0" eaLnBrk="1" latinLnBrk="0" hangingPunct="1">
              <a:lnSpc>
                <a:spcPct val="90000"/>
              </a:lnSpc>
              <a:spcBef>
                <a:spcPct val="0"/>
              </a:spcBef>
              <a:buNone/>
              <a:defRPr sz="3638" kern="1200">
                <a:solidFill>
                  <a:schemeClr val="tx1"/>
                </a:solidFill>
                <a:latin typeface="+mj-lt"/>
                <a:ea typeface="+mj-ea"/>
                <a:cs typeface="+mj-cs"/>
              </a:defRPr>
            </a:lvl1pPr>
          </a:lstStyle>
          <a:p>
            <a:pPr defTabSz="914400"/>
            <a:r>
              <a:rPr lang="en-US" altLang="en-US" sz="3300" dirty="0">
                <a:solidFill>
                  <a:srgbClr val="FF0000"/>
                </a:solidFill>
              </a:rPr>
              <a:t>CNN Network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3">
            <a:extLst>
              <a:ext uri="{FF2B5EF4-FFF2-40B4-BE49-F238E27FC236}">
                <a16:creationId xmlns:a16="http://schemas.microsoft.com/office/drawing/2014/main" id="{42C0ADBA-5241-3C5B-4722-EAD607E6BF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1595" y="3057109"/>
            <a:ext cx="5922574" cy="1794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3" name="Picture 4">
            <a:extLst>
              <a:ext uri="{FF2B5EF4-FFF2-40B4-BE49-F238E27FC236}">
                <a16:creationId xmlns:a16="http://schemas.microsoft.com/office/drawing/2014/main" id="{F3B2D0D5-7BF6-A9E9-A572-64A5CD2862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4701" y="252025"/>
            <a:ext cx="6694399" cy="2795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60700" y="320675"/>
            <a:ext cx="2946586" cy="496784"/>
          </a:xfrm>
          <a:prstGeom prst="rect">
            <a:avLst/>
          </a:prstGeom>
        </p:spPr>
        <p:txBody>
          <a:bodyPr vert="horz" wrap="square" lIns="0" tIns="13126" rIns="0" bIns="0" rtlCol="0">
            <a:spAutoFit/>
          </a:bodyPr>
          <a:lstStyle/>
          <a:p>
            <a:pPr algn="ctr">
              <a:lnSpc>
                <a:spcPct val="100000"/>
              </a:lnSpc>
              <a:spcBef>
                <a:spcPts val="33"/>
              </a:spcBef>
            </a:pPr>
            <a:r>
              <a:rPr sz="3142" b="1" dirty="0">
                <a:solidFill>
                  <a:srgbClr val="C00000"/>
                </a:solidFill>
                <a:latin typeface="Tahoma"/>
                <a:cs typeface="Tahoma"/>
              </a:rPr>
              <a:t>Deep </a:t>
            </a:r>
            <a:r>
              <a:rPr sz="3142" b="1" spc="-8" dirty="0">
                <a:solidFill>
                  <a:srgbClr val="C00000"/>
                </a:solidFill>
                <a:latin typeface="Tahoma"/>
                <a:cs typeface="Tahoma"/>
              </a:rPr>
              <a:t>Learning</a:t>
            </a:r>
            <a:endParaRPr sz="3142" b="1" dirty="0">
              <a:latin typeface="Tahoma"/>
              <a:cs typeface="Tahoma"/>
            </a:endParaRPr>
          </a:p>
        </p:txBody>
      </p:sp>
      <p:sp>
        <p:nvSpPr>
          <p:cNvPr id="3" name="object 3"/>
          <p:cNvSpPr txBox="1"/>
          <p:nvPr/>
        </p:nvSpPr>
        <p:spPr>
          <a:xfrm>
            <a:off x="1645462" y="2010036"/>
            <a:ext cx="6684948" cy="946321"/>
          </a:xfrm>
          <a:prstGeom prst="rect">
            <a:avLst/>
          </a:prstGeom>
        </p:spPr>
        <p:txBody>
          <a:bodyPr vert="horz" wrap="square" lIns="0" tIns="8926" rIns="0" bIns="0" rtlCol="0">
            <a:spAutoFit/>
          </a:bodyPr>
          <a:lstStyle/>
          <a:p>
            <a:pPr marL="2521966" marR="4201" indent="-2511990">
              <a:lnSpc>
                <a:spcPct val="100899"/>
              </a:lnSpc>
              <a:spcBef>
                <a:spcPts val="70"/>
              </a:spcBef>
            </a:pPr>
            <a:r>
              <a:rPr sz="3142" b="1" dirty="0">
                <a:solidFill>
                  <a:srgbClr val="C00000"/>
                </a:solidFill>
                <a:latin typeface="Tahoma"/>
                <a:cs typeface="Tahoma"/>
              </a:rPr>
              <a:t>Residual</a:t>
            </a:r>
            <a:r>
              <a:rPr sz="3142" b="1" spc="-8" dirty="0">
                <a:solidFill>
                  <a:srgbClr val="C00000"/>
                </a:solidFill>
                <a:latin typeface="Tahoma"/>
                <a:cs typeface="Tahoma"/>
              </a:rPr>
              <a:t> </a:t>
            </a:r>
            <a:r>
              <a:rPr sz="3142" b="1" dirty="0">
                <a:solidFill>
                  <a:srgbClr val="C00000"/>
                </a:solidFill>
                <a:latin typeface="Tahoma"/>
                <a:cs typeface="Tahoma"/>
              </a:rPr>
              <a:t>Network</a:t>
            </a:r>
            <a:r>
              <a:rPr sz="3142" b="1" spc="-4" dirty="0">
                <a:solidFill>
                  <a:srgbClr val="C00000"/>
                </a:solidFill>
                <a:latin typeface="Tahoma"/>
                <a:cs typeface="Tahoma"/>
              </a:rPr>
              <a:t> </a:t>
            </a:r>
            <a:r>
              <a:rPr sz="3142" b="1" dirty="0">
                <a:solidFill>
                  <a:srgbClr val="C00000"/>
                </a:solidFill>
                <a:latin typeface="Tahoma"/>
                <a:cs typeface="Tahoma"/>
              </a:rPr>
              <a:t>and</a:t>
            </a:r>
            <a:r>
              <a:rPr sz="3142" b="1" spc="-4" dirty="0">
                <a:solidFill>
                  <a:srgbClr val="C00000"/>
                </a:solidFill>
                <a:latin typeface="Tahoma"/>
                <a:cs typeface="Tahoma"/>
              </a:rPr>
              <a:t> </a:t>
            </a:r>
            <a:r>
              <a:rPr sz="3142" b="1" dirty="0">
                <a:solidFill>
                  <a:srgbClr val="C00000"/>
                </a:solidFill>
                <a:latin typeface="Tahoma"/>
                <a:cs typeface="Tahoma"/>
              </a:rPr>
              <a:t>other</a:t>
            </a:r>
            <a:r>
              <a:rPr sz="3142" b="1" spc="-4" dirty="0">
                <a:solidFill>
                  <a:srgbClr val="C00000"/>
                </a:solidFill>
                <a:latin typeface="Tahoma"/>
                <a:cs typeface="Tahoma"/>
              </a:rPr>
              <a:t> </a:t>
            </a:r>
            <a:r>
              <a:rPr sz="3142" b="1" spc="-21" dirty="0">
                <a:solidFill>
                  <a:srgbClr val="C00000"/>
                </a:solidFill>
                <a:latin typeface="Tahoma"/>
                <a:cs typeface="Tahoma"/>
              </a:rPr>
              <a:t>CNN </a:t>
            </a:r>
            <a:r>
              <a:rPr sz="3142" b="1" spc="-8" dirty="0">
                <a:solidFill>
                  <a:srgbClr val="C00000"/>
                </a:solidFill>
                <a:latin typeface="Tahoma"/>
                <a:cs typeface="Tahoma"/>
              </a:rPr>
              <a:t>variants</a:t>
            </a:r>
            <a:endParaRPr sz="3142" dirty="0">
              <a:latin typeface="Tahoma"/>
              <a:cs typeface="Tahoma"/>
            </a:endParaRPr>
          </a:p>
        </p:txBody>
      </p:sp>
      <p:sp>
        <p:nvSpPr>
          <p:cNvPr id="4" name="object 4"/>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1505">
              <a:lnSpc>
                <a:spcPts val="1228"/>
              </a:lnSpc>
            </a:pPr>
            <a:fld id="{81D60167-4931-47E6-BA6A-407CBD079E47}" type="slidenum">
              <a:rPr lang="en-US" spc="-25" smtClean="0"/>
              <a:pPr marL="38100">
                <a:lnSpc>
                  <a:spcPts val="1485"/>
                </a:lnSpc>
              </a:pPr>
              <a:t>4</a:t>
            </a:fld>
            <a:endParaRPr spc="-2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257402" y="5211237"/>
            <a:ext cx="149114" cy="144976"/>
          </a:xfrm>
          <a:prstGeom prst="rect">
            <a:avLst/>
          </a:prstGeom>
        </p:spPr>
        <p:txBody>
          <a:bodyPr vert="horz" wrap="square" lIns="0" tIns="0" rIns="0" bIns="0" rtlCol="0">
            <a:spAutoFit/>
          </a:bodyPr>
          <a:lstStyle/>
          <a:p>
            <a:pPr>
              <a:lnSpc>
                <a:spcPts val="1100"/>
              </a:lnSpc>
            </a:pPr>
            <a:r>
              <a:rPr sz="1158" spc="-29" dirty="0">
                <a:latin typeface="Calibri"/>
                <a:cs typeface="Calibri"/>
              </a:rPr>
              <a:t>15</a:t>
            </a:r>
            <a:endParaRPr sz="1158">
              <a:latin typeface="Calibri"/>
              <a:cs typeface="Calibri"/>
            </a:endParaRPr>
          </a:p>
        </p:txBody>
      </p:sp>
      <p:sp>
        <p:nvSpPr>
          <p:cNvPr id="3" name="object 3"/>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1821508">
              <a:lnSpc>
                <a:spcPct val="100000"/>
              </a:lnSpc>
              <a:spcBef>
                <a:spcPts val="83"/>
              </a:spcBef>
            </a:pPr>
            <a:r>
              <a:rPr dirty="0">
                <a:latin typeface="Arial"/>
                <a:cs typeface="Arial"/>
              </a:rPr>
              <a:t>ImageNet</a:t>
            </a:r>
            <a:r>
              <a:rPr spc="-128" dirty="0">
                <a:latin typeface="Arial"/>
                <a:cs typeface="Arial"/>
              </a:rPr>
              <a:t> </a:t>
            </a:r>
            <a:r>
              <a:rPr spc="-8" dirty="0">
                <a:latin typeface="Arial"/>
                <a:cs typeface="Arial"/>
              </a:rPr>
              <a:t>(2010)</a:t>
            </a:r>
          </a:p>
        </p:txBody>
      </p:sp>
      <p:pic>
        <p:nvPicPr>
          <p:cNvPr id="4" name="object 4"/>
          <p:cNvPicPr/>
          <p:nvPr/>
        </p:nvPicPr>
        <p:blipFill>
          <a:blip r:embed="rId2" cstate="print"/>
          <a:stretch>
            <a:fillRect/>
          </a:stretch>
        </p:blipFill>
        <p:spPr>
          <a:xfrm>
            <a:off x="605782" y="875774"/>
            <a:ext cx="2457952" cy="1244710"/>
          </a:xfrm>
          <a:prstGeom prst="rect">
            <a:avLst/>
          </a:prstGeom>
        </p:spPr>
      </p:pic>
      <p:pic>
        <p:nvPicPr>
          <p:cNvPr id="5" name="object 5"/>
          <p:cNvPicPr/>
          <p:nvPr/>
        </p:nvPicPr>
        <p:blipFill>
          <a:blip r:embed="rId3" cstate="print"/>
          <a:stretch>
            <a:fillRect/>
          </a:stretch>
        </p:blipFill>
        <p:spPr>
          <a:xfrm>
            <a:off x="3517900" y="875774"/>
            <a:ext cx="2463666" cy="1269115"/>
          </a:xfrm>
          <a:prstGeom prst="rect">
            <a:avLst/>
          </a:prstGeom>
        </p:spPr>
      </p:pic>
      <p:graphicFrame>
        <p:nvGraphicFramePr>
          <p:cNvPr id="6" name="object 6"/>
          <p:cNvGraphicFramePr>
            <a:graphicFrameLocks noGrp="1"/>
          </p:cNvGraphicFramePr>
          <p:nvPr>
            <p:extLst>
              <p:ext uri="{D42A27DB-BD31-4B8C-83A1-F6EECF244321}">
                <p14:modId xmlns:p14="http://schemas.microsoft.com/office/powerpoint/2010/main" val="2409787290"/>
              </p:ext>
            </p:extLst>
          </p:nvPr>
        </p:nvGraphicFramePr>
        <p:xfrm>
          <a:off x="203200" y="2100257"/>
          <a:ext cx="9677400" cy="2645017"/>
        </p:xfrm>
        <a:graphic>
          <a:graphicData uri="http://schemas.openxmlformats.org/drawingml/2006/table">
            <a:tbl>
              <a:tblPr firstRow="1" bandRow="1">
                <a:tableStyleId>{2D5ABB26-0587-4C30-8999-92F81FD0307C}</a:tableStyleId>
              </a:tblPr>
              <a:tblGrid>
                <a:gridCol w="2438400">
                  <a:extLst>
                    <a:ext uri="{9D8B030D-6E8A-4147-A177-3AD203B41FA5}">
                      <a16:colId xmlns:a16="http://schemas.microsoft.com/office/drawing/2014/main" val="20000"/>
                    </a:ext>
                  </a:extLst>
                </a:gridCol>
                <a:gridCol w="3614381">
                  <a:extLst>
                    <a:ext uri="{9D8B030D-6E8A-4147-A177-3AD203B41FA5}">
                      <a16:colId xmlns:a16="http://schemas.microsoft.com/office/drawing/2014/main" val="20001"/>
                    </a:ext>
                  </a:extLst>
                </a:gridCol>
                <a:gridCol w="3624619">
                  <a:extLst>
                    <a:ext uri="{9D8B030D-6E8A-4147-A177-3AD203B41FA5}">
                      <a16:colId xmlns:a16="http://schemas.microsoft.com/office/drawing/2014/main" val="20002"/>
                    </a:ext>
                  </a:extLst>
                </a:gridCol>
              </a:tblGrid>
              <a:tr h="990600">
                <a:tc>
                  <a:txBody>
                    <a:bodyPr/>
                    <a:lstStyle/>
                    <a:p>
                      <a:pPr marL="31750">
                        <a:lnSpc>
                          <a:spcPts val="3604"/>
                        </a:lnSpc>
                      </a:pPr>
                      <a:r>
                        <a:rPr sz="2600" b="1" spc="-10" dirty="0">
                          <a:solidFill>
                            <a:srgbClr val="474746"/>
                          </a:solidFill>
                          <a:latin typeface="Arial"/>
                          <a:cs typeface="Arial"/>
                        </a:rPr>
                        <a:t>Images</a:t>
                      </a:r>
                      <a:endParaRPr sz="26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marL="31750" marR="838200">
                        <a:lnSpc>
                          <a:spcPts val="3700"/>
                        </a:lnSpc>
                      </a:pPr>
                      <a:r>
                        <a:rPr sz="2600" dirty="0">
                          <a:solidFill>
                            <a:srgbClr val="474746"/>
                          </a:solidFill>
                          <a:latin typeface="Arial"/>
                          <a:cs typeface="Arial"/>
                        </a:rPr>
                        <a:t>Color</a:t>
                      </a:r>
                      <a:r>
                        <a:rPr sz="2600" spc="-40" dirty="0">
                          <a:solidFill>
                            <a:srgbClr val="474746"/>
                          </a:solidFill>
                          <a:latin typeface="Arial"/>
                          <a:cs typeface="Arial"/>
                        </a:rPr>
                        <a:t> </a:t>
                      </a:r>
                      <a:r>
                        <a:rPr sz="2600" spc="-10" dirty="0">
                          <a:solidFill>
                            <a:srgbClr val="474746"/>
                          </a:solidFill>
                          <a:latin typeface="Arial"/>
                          <a:cs typeface="Arial"/>
                        </a:rPr>
                        <a:t>images </a:t>
                      </a:r>
                      <a:r>
                        <a:rPr sz="2600" dirty="0">
                          <a:solidFill>
                            <a:srgbClr val="474746"/>
                          </a:solidFill>
                          <a:latin typeface="Arial"/>
                          <a:cs typeface="Arial"/>
                        </a:rPr>
                        <a:t>with</a:t>
                      </a:r>
                      <a:r>
                        <a:rPr sz="2600" spc="-40" dirty="0">
                          <a:solidFill>
                            <a:srgbClr val="474746"/>
                          </a:solidFill>
                          <a:latin typeface="Arial"/>
                          <a:cs typeface="Arial"/>
                        </a:rPr>
                        <a:t> </a:t>
                      </a:r>
                      <a:r>
                        <a:rPr sz="2600" spc="-10" dirty="0">
                          <a:solidFill>
                            <a:srgbClr val="474746"/>
                          </a:solidFill>
                          <a:latin typeface="Arial"/>
                          <a:cs typeface="Arial"/>
                        </a:rPr>
                        <a:t>nature objects</a:t>
                      </a:r>
                      <a:endParaRPr sz="26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marL="31750" marR="406400">
                        <a:lnSpc>
                          <a:spcPts val="3700"/>
                        </a:lnSpc>
                      </a:pPr>
                      <a:r>
                        <a:rPr sz="2600" dirty="0">
                          <a:solidFill>
                            <a:srgbClr val="474746"/>
                          </a:solidFill>
                          <a:latin typeface="Arial"/>
                          <a:cs typeface="Arial"/>
                        </a:rPr>
                        <a:t>Gray</a:t>
                      </a:r>
                      <a:r>
                        <a:rPr sz="2600" spc="-20" dirty="0">
                          <a:solidFill>
                            <a:srgbClr val="474746"/>
                          </a:solidFill>
                          <a:latin typeface="Arial"/>
                          <a:cs typeface="Arial"/>
                        </a:rPr>
                        <a:t> </a:t>
                      </a:r>
                      <a:r>
                        <a:rPr sz="2600" dirty="0">
                          <a:solidFill>
                            <a:srgbClr val="474746"/>
                          </a:solidFill>
                          <a:latin typeface="Arial"/>
                          <a:cs typeface="Arial"/>
                        </a:rPr>
                        <a:t>image</a:t>
                      </a:r>
                      <a:r>
                        <a:rPr sz="2600" spc="-10" dirty="0">
                          <a:solidFill>
                            <a:srgbClr val="474746"/>
                          </a:solidFill>
                          <a:latin typeface="Arial"/>
                          <a:cs typeface="Arial"/>
                        </a:rPr>
                        <a:t> </a:t>
                      </a:r>
                      <a:r>
                        <a:rPr sz="2600" spc="-25" dirty="0">
                          <a:solidFill>
                            <a:srgbClr val="474746"/>
                          </a:solidFill>
                          <a:latin typeface="Arial"/>
                          <a:cs typeface="Arial"/>
                        </a:rPr>
                        <a:t>for </a:t>
                      </a:r>
                      <a:r>
                        <a:rPr sz="2600" spc="-10" dirty="0">
                          <a:solidFill>
                            <a:srgbClr val="474746"/>
                          </a:solidFill>
                          <a:latin typeface="Arial"/>
                          <a:cs typeface="Arial"/>
                        </a:rPr>
                        <a:t>hand-written digits</a:t>
                      </a:r>
                      <a:endParaRPr sz="26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extLst>
                  <a:ext uri="{0D108BD9-81ED-4DB2-BD59-A6C34878D82A}">
                    <a16:rowId xmlns:a16="http://schemas.microsoft.com/office/drawing/2014/main" val="10000"/>
                  </a:ext>
                </a:extLst>
              </a:tr>
              <a:tr h="511417">
                <a:tc>
                  <a:txBody>
                    <a:bodyPr/>
                    <a:lstStyle/>
                    <a:p>
                      <a:pPr marL="31750">
                        <a:lnSpc>
                          <a:spcPts val="3595"/>
                        </a:lnSpc>
                      </a:pPr>
                      <a:r>
                        <a:rPr sz="2600" b="1" spc="-20" dirty="0">
                          <a:solidFill>
                            <a:srgbClr val="474746"/>
                          </a:solidFill>
                          <a:latin typeface="Arial"/>
                          <a:cs typeface="Arial"/>
                        </a:rPr>
                        <a:t>Size</a:t>
                      </a:r>
                      <a:endParaRPr sz="2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marL="31750">
                        <a:lnSpc>
                          <a:spcPts val="3595"/>
                        </a:lnSpc>
                      </a:pPr>
                      <a:r>
                        <a:rPr sz="2600" dirty="0">
                          <a:solidFill>
                            <a:srgbClr val="474746"/>
                          </a:solidFill>
                          <a:latin typeface="Arial"/>
                          <a:cs typeface="Arial"/>
                        </a:rPr>
                        <a:t>469 x</a:t>
                      </a:r>
                      <a:r>
                        <a:rPr sz="2600" spc="-5" dirty="0">
                          <a:solidFill>
                            <a:srgbClr val="474746"/>
                          </a:solidFill>
                          <a:latin typeface="Arial"/>
                          <a:cs typeface="Arial"/>
                        </a:rPr>
                        <a:t> </a:t>
                      </a:r>
                      <a:r>
                        <a:rPr sz="2600" spc="-25" dirty="0">
                          <a:solidFill>
                            <a:srgbClr val="474746"/>
                          </a:solidFill>
                          <a:latin typeface="Arial"/>
                          <a:cs typeface="Arial"/>
                        </a:rPr>
                        <a:t>387</a:t>
                      </a:r>
                      <a:endParaRPr sz="2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marL="31750">
                        <a:lnSpc>
                          <a:spcPts val="3595"/>
                        </a:lnSpc>
                      </a:pPr>
                      <a:r>
                        <a:rPr sz="2600" dirty="0">
                          <a:solidFill>
                            <a:srgbClr val="474746"/>
                          </a:solidFill>
                          <a:latin typeface="Arial"/>
                          <a:cs typeface="Arial"/>
                        </a:rPr>
                        <a:t>28 x</a:t>
                      </a:r>
                      <a:r>
                        <a:rPr sz="2600" spc="-5" dirty="0">
                          <a:solidFill>
                            <a:srgbClr val="474746"/>
                          </a:solidFill>
                          <a:latin typeface="Arial"/>
                          <a:cs typeface="Arial"/>
                        </a:rPr>
                        <a:t> </a:t>
                      </a:r>
                      <a:r>
                        <a:rPr sz="2600" spc="-25" dirty="0">
                          <a:solidFill>
                            <a:srgbClr val="474746"/>
                          </a:solidFill>
                          <a:latin typeface="Arial"/>
                          <a:cs typeface="Arial"/>
                        </a:rPr>
                        <a:t>28</a:t>
                      </a:r>
                      <a:endParaRPr sz="2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extLst>
                  <a:ext uri="{0D108BD9-81ED-4DB2-BD59-A6C34878D82A}">
                    <a16:rowId xmlns:a16="http://schemas.microsoft.com/office/drawing/2014/main" val="10001"/>
                  </a:ext>
                </a:extLst>
              </a:tr>
              <a:tr h="631583">
                <a:tc>
                  <a:txBody>
                    <a:bodyPr/>
                    <a:lstStyle/>
                    <a:p>
                      <a:pPr marL="31750">
                        <a:lnSpc>
                          <a:spcPts val="3535"/>
                        </a:lnSpc>
                      </a:pPr>
                      <a:r>
                        <a:rPr sz="2600" b="1" spc="-50" dirty="0">
                          <a:solidFill>
                            <a:srgbClr val="474746"/>
                          </a:solidFill>
                          <a:latin typeface="Arial"/>
                          <a:cs typeface="Arial"/>
                        </a:rPr>
                        <a:t>#</a:t>
                      </a:r>
                      <a:r>
                        <a:rPr sz="2600" b="1" spc="-10" dirty="0">
                          <a:solidFill>
                            <a:srgbClr val="474746"/>
                          </a:solidFill>
                          <a:latin typeface="Arial"/>
                          <a:cs typeface="Arial"/>
                        </a:rPr>
                        <a:t>examples</a:t>
                      </a:r>
                      <a:endParaRPr sz="26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marL="31750">
                        <a:lnSpc>
                          <a:spcPts val="3604"/>
                        </a:lnSpc>
                      </a:pPr>
                      <a:r>
                        <a:rPr sz="2600" dirty="0">
                          <a:solidFill>
                            <a:srgbClr val="474746"/>
                          </a:solidFill>
                          <a:latin typeface="Arial"/>
                          <a:cs typeface="Arial"/>
                        </a:rPr>
                        <a:t>1.2</a:t>
                      </a:r>
                      <a:r>
                        <a:rPr sz="2600" spc="-5" dirty="0">
                          <a:solidFill>
                            <a:srgbClr val="474746"/>
                          </a:solidFill>
                          <a:latin typeface="Arial"/>
                          <a:cs typeface="Arial"/>
                        </a:rPr>
                        <a:t> </a:t>
                      </a:r>
                      <a:r>
                        <a:rPr sz="2600" spc="-50" dirty="0">
                          <a:solidFill>
                            <a:srgbClr val="474746"/>
                          </a:solidFill>
                          <a:latin typeface="Arial"/>
                          <a:cs typeface="Arial"/>
                        </a:rPr>
                        <a:t>M</a:t>
                      </a:r>
                      <a:endParaRPr sz="2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marL="31750">
                        <a:lnSpc>
                          <a:spcPts val="3604"/>
                        </a:lnSpc>
                      </a:pPr>
                      <a:r>
                        <a:rPr sz="2600" dirty="0">
                          <a:solidFill>
                            <a:srgbClr val="474746"/>
                          </a:solidFill>
                          <a:latin typeface="Arial"/>
                          <a:cs typeface="Arial"/>
                        </a:rPr>
                        <a:t>60 </a:t>
                      </a:r>
                      <a:r>
                        <a:rPr sz="2600" spc="-50" dirty="0">
                          <a:solidFill>
                            <a:srgbClr val="474746"/>
                          </a:solidFill>
                          <a:latin typeface="Arial"/>
                          <a:cs typeface="Arial"/>
                        </a:rPr>
                        <a:t>K</a:t>
                      </a:r>
                      <a:endParaRPr sz="2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extLst>
                  <a:ext uri="{0D108BD9-81ED-4DB2-BD59-A6C34878D82A}">
                    <a16:rowId xmlns:a16="http://schemas.microsoft.com/office/drawing/2014/main" val="10002"/>
                  </a:ext>
                </a:extLst>
              </a:tr>
              <a:tr h="511417">
                <a:tc>
                  <a:txBody>
                    <a:bodyPr/>
                    <a:lstStyle/>
                    <a:p>
                      <a:pPr marL="31750">
                        <a:lnSpc>
                          <a:spcPts val="3595"/>
                        </a:lnSpc>
                      </a:pPr>
                      <a:r>
                        <a:rPr sz="2600" b="1" dirty="0">
                          <a:solidFill>
                            <a:srgbClr val="474746"/>
                          </a:solidFill>
                          <a:latin typeface="Arial"/>
                          <a:cs typeface="Arial"/>
                        </a:rPr>
                        <a:t># </a:t>
                      </a:r>
                      <a:r>
                        <a:rPr sz="2600" b="1" spc="-10" dirty="0">
                          <a:solidFill>
                            <a:srgbClr val="474746"/>
                          </a:solidFill>
                          <a:latin typeface="Arial"/>
                          <a:cs typeface="Arial"/>
                        </a:rPr>
                        <a:t>classes</a:t>
                      </a:r>
                      <a:endParaRPr sz="26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marL="31750">
                        <a:lnSpc>
                          <a:spcPts val="3595"/>
                        </a:lnSpc>
                      </a:pPr>
                      <a:r>
                        <a:rPr sz="2600" spc="-10" dirty="0">
                          <a:solidFill>
                            <a:srgbClr val="474746"/>
                          </a:solidFill>
                          <a:latin typeface="Arial"/>
                          <a:cs typeface="Arial"/>
                        </a:rPr>
                        <a:t>1,000</a:t>
                      </a:r>
                      <a:endParaRPr sz="2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marL="31750">
                        <a:lnSpc>
                          <a:spcPts val="3595"/>
                        </a:lnSpc>
                      </a:pPr>
                      <a:r>
                        <a:rPr sz="2600" spc="-25" dirty="0">
                          <a:solidFill>
                            <a:srgbClr val="474746"/>
                          </a:solidFill>
                          <a:latin typeface="Arial"/>
                          <a:cs typeface="Arial"/>
                        </a:rPr>
                        <a:t>10</a:t>
                      </a:r>
                      <a:endParaRPr sz="26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98504" y="1135030"/>
            <a:ext cx="4222634" cy="3320008"/>
          </a:xfrm>
          <a:prstGeom prst="rect">
            <a:avLst/>
          </a:prstGeom>
        </p:spPr>
        <p:txBody>
          <a:bodyPr vert="horz" wrap="square" lIns="0" tIns="27302" rIns="0" bIns="0" rtlCol="0">
            <a:spAutoFit/>
          </a:bodyPr>
          <a:lstStyle/>
          <a:p>
            <a:pPr marL="250989" marR="74562" indent="-241012">
              <a:lnSpc>
                <a:spcPts val="2646"/>
              </a:lnSpc>
              <a:spcBef>
                <a:spcPts val="214"/>
              </a:spcBef>
              <a:buChar char="•"/>
              <a:tabLst>
                <a:tab pos="250989" algn="l"/>
              </a:tabLst>
            </a:pPr>
            <a:r>
              <a:rPr sz="2233" dirty="0">
                <a:latin typeface="Arial"/>
                <a:cs typeface="Arial"/>
              </a:rPr>
              <a:t>AlexNet</a:t>
            </a:r>
            <a:r>
              <a:rPr sz="2233" spc="-8" dirty="0">
                <a:latin typeface="Arial"/>
                <a:cs typeface="Arial"/>
              </a:rPr>
              <a:t> </a:t>
            </a:r>
            <a:r>
              <a:rPr sz="2233" dirty="0">
                <a:latin typeface="Arial"/>
                <a:cs typeface="Arial"/>
              </a:rPr>
              <a:t>won </a:t>
            </a:r>
            <a:r>
              <a:rPr sz="2233" spc="-8" dirty="0">
                <a:latin typeface="Arial"/>
                <a:cs typeface="Arial"/>
              </a:rPr>
              <a:t>ImageNet </a:t>
            </a:r>
            <a:r>
              <a:rPr sz="2233" dirty="0">
                <a:latin typeface="Arial"/>
                <a:cs typeface="Arial"/>
              </a:rPr>
              <a:t>competition</a:t>
            </a:r>
            <a:r>
              <a:rPr sz="2233" spc="-4" dirty="0">
                <a:latin typeface="Arial"/>
                <a:cs typeface="Arial"/>
              </a:rPr>
              <a:t> </a:t>
            </a:r>
            <a:r>
              <a:rPr sz="2233" dirty="0">
                <a:latin typeface="Arial"/>
                <a:cs typeface="Arial"/>
              </a:rPr>
              <a:t>in</a:t>
            </a:r>
            <a:r>
              <a:rPr sz="2233" spc="-4" dirty="0">
                <a:latin typeface="Arial"/>
                <a:cs typeface="Arial"/>
              </a:rPr>
              <a:t> </a:t>
            </a:r>
            <a:r>
              <a:rPr sz="2233" spc="-17" dirty="0">
                <a:latin typeface="Arial"/>
                <a:cs typeface="Arial"/>
              </a:rPr>
              <a:t>2012</a:t>
            </a:r>
            <a:endParaRPr sz="2233" dirty="0">
              <a:latin typeface="Arial"/>
              <a:cs typeface="Arial"/>
            </a:endParaRPr>
          </a:p>
          <a:p>
            <a:pPr marL="250989" marR="629573" indent="-241012">
              <a:lnSpc>
                <a:spcPts val="2646"/>
              </a:lnSpc>
              <a:spcBef>
                <a:spcPts val="537"/>
              </a:spcBef>
              <a:buChar char="•"/>
              <a:tabLst>
                <a:tab pos="250989" algn="l"/>
              </a:tabLst>
            </a:pPr>
            <a:r>
              <a:rPr sz="2233" dirty="0">
                <a:latin typeface="Arial"/>
                <a:cs typeface="Arial"/>
              </a:rPr>
              <a:t>Deeper</a:t>
            </a:r>
            <a:r>
              <a:rPr sz="2233" spc="4" dirty="0">
                <a:latin typeface="Arial"/>
                <a:cs typeface="Arial"/>
              </a:rPr>
              <a:t> </a:t>
            </a:r>
            <a:r>
              <a:rPr sz="2233" dirty="0">
                <a:latin typeface="Arial"/>
                <a:cs typeface="Arial"/>
              </a:rPr>
              <a:t>and</a:t>
            </a:r>
            <a:r>
              <a:rPr sz="2233" spc="4" dirty="0">
                <a:latin typeface="Arial"/>
                <a:cs typeface="Arial"/>
              </a:rPr>
              <a:t> </a:t>
            </a:r>
            <a:r>
              <a:rPr sz="2233" spc="-8" dirty="0">
                <a:latin typeface="Arial"/>
                <a:cs typeface="Arial"/>
              </a:rPr>
              <a:t>bigger </a:t>
            </a:r>
            <a:r>
              <a:rPr sz="2233" spc="-17" dirty="0">
                <a:latin typeface="Arial"/>
                <a:cs typeface="Arial"/>
              </a:rPr>
              <a:t>LeNet</a:t>
            </a:r>
            <a:endParaRPr sz="2233" dirty="0">
              <a:latin typeface="Arial"/>
              <a:cs typeface="Arial"/>
            </a:endParaRPr>
          </a:p>
          <a:p>
            <a:pPr marL="250989" indent="-240487">
              <a:spcBef>
                <a:spcPts val="426"/>
              </a:spcBef>
              <a:buChar char="•"/>
              <a:tabLst>
                <a:tab pos="250989" algn="l"/>
              </a:tabLst>
            </a:pPr>
            <a:r>
              <a:rPr sz="2233" dirty="0">
                <a:latin typeface="Arial"/>
                <a:cs typeface="Arial"/>
              </a:rPr>
              <a:t>Key </a:t>
            </a:r>
            <a:r>
              <a:rPr sz="2233" spc="-8" dirty="0">
                <a:latin typeface="Arial"/>
                <a:cs typeface="Arial"/>
              </a:rPr>
              <a:t>modifications</a:t>
            </a:r>
            <a:endParaRPr sz="2233" dirty="0">
              <a:latin typeface="Arial"/>
              <a:cs typeface="Arial"/>
            </a:endParaRPr>
          </a:p>
          <a:p>
            <a:pPr marL="616446" lvl="1" indent="-228410">
              <a:spcBef>
                <a:spcPts val="533"/>
              </a:spcBef>
              <a:buChar char="–"/>
              <a:tabLst>
                <a:tab pos="616446" algn="l"/>
              </a:tabLst>
            </a:pPr>
            <a:r>
              <a:rPr sz="1943" dirty="0">
                <a:latin typeface="Arial"/>
                <a:cs typeface="Arial"/>
              </a:rPr>
              <a:t>Dropout</a:t>
            </a:r>
            <a:r>
              <a:rPr sz="1943" spc="12" dirty="0">
                <a:latin typeface="Arial"/>
                <a:cs typeface="Arial"/>
              </a:rPr>
              <a:t> </a:t>
            </a:r>
            <a:r>
              <a:rPr sz="1943" spc="-8" dirty="0">
                <a:latin typeface="Arial"/>
                <a:cs typeface="Arial"/>
              </a:rPr>
              <a:t>(regularization)</a:t>
            </a:r>
            <a:endParaRPr sz="1943" dirty="0">
              <a:latin typeface="Arial"/>
              <a:cs typeface="Arial"/>
            </a:endParaRPr>
          </a:p>
          <a:p>
            <a:pPr marL="616446" lvl="1" indent="-228410">
              <a:spcBef>
                <a:spcPts val="525"/>
              </a:spcBef>
              <a:buChar char="–"/>
              <a:tabLst>
                <a:tab pos="616446" algn="l"/>
              </a:tabLst>
            </a:pPr>
            <a:r>
              <a:rPr sz="1943" dirty="0">
                <a:latin typeface="Arial"/>
                <a:cs typeface="Arial"/>
              </a:rPr>
              <a:t>ReLu</a:t>
            </a:r>
            <a:r>
              <a:rPr sz="1943" spc="17" dirty="0">
                <a:latin typeface="Arial"/>
                <a:cs typeface="Arial"/>
              </a:rPr>
              <a:t> </a:t>
            </a:r>
            <a:r>
              <a:rPr sz="1943" spc="-8" dirty="0">
                <a:latin typeface="Arial"/>
                <a:cs typeface="Arial"/>
              </a:rPr>
              <a:t>(training)</a:t>
            </a:r>
            <a:endParaRPr sz="1943" dirty="0">
              <a:latin typeface="Arial"/>
              <a:cs typeface="Arial"/>
            </a:endParaRPr>
          </a:p>
          <a:p>
            <a:pPr marL="616446" lvl="1" indent="-228410">
              <a:spcBef>
                <a:spcPts val="521"/>
              </a:spcBef>
              <a:buChar char="–"/>
              <a:tabLst>
                <a:tab pos="616446" algn="l"/>
              </a:tabLst>
            </a:pPr>
            <a:r>
              <a:rPr sz="1943" spc="-8" dirty="0">
                <a:latin typeface="Arial"/>
                <a:cs typeface="Arial"/>
              </a:rPr>
              <a:t>MaxPooling</a:t>
            </a:r>
            <a:endParaRPr sz="1943" dirty="0">
              <a:latin typeface="Arial"/>
              <a:cs typeface="Arial"/>
            </a:endParaRPr>
          </a:p>
          <a:p>
            <a:pPr marL="250989" marR="757693" indent="-241012">
              <a:lnSpc>
                <a:spcPts val="2646"/>
              </a:lnSpc>
              <a:spcBef>
                <a:spcPts val="612"/>
              </a:spcBef>
              <a:buChar char="•"/>
              <a:tabLst>
                <a:tab pos="250989" algn="l"/>
              </a:tabLst>
            </a:pPr>
            <a:r>
              <a:rPr sz="2233" dirty="0">
                <a:latin typeface="Arial"/>
                <a:cs typeface="Arial"/>
              </a:rPr>
              <a:t>Paradigm</a:t>
            </a:r>
            <a:r>
              <a:rPr sz="2233" spc="-4" dirty="0">
                <a:latin typeface="Arial"/>
                <a:cs typeface="Arial"/>
              </a:rPr>
              <a:t> </a:t>
            </a:r>
            <a:r>
              <a:rPr sz="2233" dirty="0">
                <a:latin typeface="Arial"/>
                <a:cs typeface="Arial"/>
              </a:rPr>
              <a:t>shift</a:t>
            </a:r>
            <a:r>
              <a:rPr sz="2233" spc="-4" dirty="0">
                <a:latin typeface="Arial"/>
                <a:cs typeface="Arial"/>
              </a:rPr>
              <a:t> </a:t>
            </a:r>
            <a:r>
              <a:rPr sz="2233" spc="-21" dirty="0">
                <a:latin typeface="Arial"/>
                <a:cs typeface="Arial"/>
              </a:rPr>
              <a:t>for </a:t>
            </a:r>
            <a:r>
              <a:rPr sz="2233" dirty="0">
                <a:latin typeface="Arial"/>
                <a:cs typeface="Arial"/>
              </a:rPr>
              <a:t>computer</a:t>
            </a:r>
            <a:r>
              <a:rPr sz="2233" spc="-8" dirty="0">
                <a:latin typeface="Arial"/>
                <a:cs typeface="Arial"/>
              </a:rPr>
              <a:t> vision</a:t>
            </a:r>
            <a:endParaRPr sz="2233" dirty="0">
              <a:latin typeface="Arial"/>
              <a:cs typeface="Arial"/>
            </a:endParaRPr>
          </a:p>
        </p:txBody>
      </p:sp>
      <p:sp>
        <p:nvSpPr>
          <p:cNvPr id="3" name="object 3"/>
          <p:cNvSpPr txBox="1"/>
          <p:nvPr/>
        </p:nvSpPr>
        <p:spPr>
          <a:xfrm>
            <a:off x="1359887" y="5077475"/>
            <a:ext cx="7353863" cy="518117"/>
          </a:xfrm>
          <a:prstGeom prst="rect">
            <a:avLst/>
          </a:prstGeom>
        </p:spPr>
        <p:txBody>
          <a:bodyPr vert="horz" wrap="square" lIns="0" tIns="96609" rIns="0" bIns="0" rtlCol="0">
            <a:spAutoFit/>
          </a:bodyPr>
          <a:lstStyle/>
          <a:p>
            <a:pPr marR="300347" algn="r">
              <a:spcBef>
                <a:spcPts val="760"/>
              </a:spcBef>
            </a:pPr>
            <a:r>
              <a:rPr sz="1158" spc="-21" dirty="0">
                <a:latin typeface="Calibri"/>
                <a:cs typeface="Calibri"/>
              </a:rPr>
              <a:t>16</a:t>
            </a:r>
            <a:endParaRPr sz="1158">
              <a:latin typeface="Calibri"/>
              <a:cs typeface="Calibri"/>
            </a:endParaRPr>
          </a:p>
          <a:p>
            <a:pPr marL="10502">
              <a:spcBef>
                <a:spcPts val="633"/>
              </a:spcBef>
            </a:pPr>
            <a:r>
              <a:rPr sz="1075" dirty="0">
                <a:solidFill>
                  <a:srgbClr val="222222"/>
                </a:solidFill>
                <a:latin typeface="Arial"/>
                <a:cs typeface="Arial"/>
              </a:rPr>
              <a:t>Alex</a:t>
            </a:r>
            <a:r>
              <a:rPr sz="1075" spc="-33" dirty="0">
                <a:solidFill>
                  <a:srgbClr val="222222"/>
                </a:solidFill>
                <a:latin typeface="Arial"/>
                <a:cs typeface="Arial"/>
              </a:rPr>
              <a:t> </a:t>
            </a:r>
            <a:r>
              <a:rPr sz="1075" spc="-8" dirty="0">
                <a:solidFill>
                  <a:srgbClr val="222222"/>
                </a:solidFill>
                <a:latin typeface="Arial"/>
                <a:cs typeface="Arial"/>
              </a:rPr>
              <a:t>Krizhevsky,</a:t>
            </a:r>
            <a:r>
              <a:rPr sz="1075" spc="-37" dirty="0">
                <a:solidFill>
                  <a:srgbClr val="222222"/>
                </a:solidFill>
                <a:latin typeface="Arial"/>
                <a:cs typeface="Arial"/>
              </a:rPr>
              <a:t> </a:t>
            </a:r>
            <a:r>
              <a:rPr sz="1075" dirty="0">
                <a:solidFill>
                  <a:srgbClr val="222222"/>
                </a:solidFill>
                <a:latin typeface="Arial"/>
                <a:cs typeface="Arial"/>
              </a:rPr>
              <a:t>Ilya</a:t>
            </a:r>
            <a:r>
              <a:rPr sz="1075" spc="-29" dirty="0">
                <a:solidFill>
                  <a:srgbClr val="222222"/>
                </a:solidFill>
                <a:latin typeface="Arial"/>
                <a:cs typeface="Arial"/>
              </a:rPr>
              <a:t> </a:t>
            </a:r>
            <a:r>
              <a:rPr sz="1075" spc="-8" dirty="0">
                <a:solidFill>
                  <a:srgbClr val="222222"/>
                </a:solidFill>
                <a:latin typeface="Arial"/>
                <a:cs typeface="Arial"/>
              </a:rPr>
              <a:t>Sutskever,</a:t>
            </a:r>
            <a:r>
              <a:rPr sz="1075" spc="-37" dirty="0">
                <a:solidFill>
                  <a:srgbClr val="222222"/>
                </a:solidFill>
                <a:latin typeface="Arial"/>
                <a:cs typeface="Arial"/>
              </a:rPr>
              <a:t> </a:t>
            </a:r>
            <a:r>
              <a:rPr sz="1075" dirty="0">
                <a:solidFill>
                  <a:srgbClr val="222222"/>
                </a:solidFill>
                <a:latin typeface="Arial"/>
                <a:cs typeface="Arial"/>
              </a:rPr>
              <a:t>Geoffrey</a:t>
            </a:r>
            <a:r>
              <a:rPr sz="1075" spc="-33" dirty="0">
                <a:solidFill>
                  <a:srgbClr val="222222"/>
                </a:solidFill>
                <a:latin typeface="Arial"/>
                <a:cs typeface="Arial"/>
              </a:rPr>
              <a:t> </a:t>
            </a:r>
            <a:r>
              <a:rPr sz="1075" dirty="0">
                <a:solidFill>
                  <a:srgbClr val="222222"/>
                </a:solidFill>
                <a:latin typeface="Arial"/>
                <a:cs typeface="Arial"/>
              </a:rPr>
              <a:t>E</a:t>
            </a:r>
            <a:r>
              <a:rPr sz="1075" spc="-29" dirty="0">
                <a:solidFill>
                  <a:srgbClr val="222222"/>
                </a:solidFill>
                <a:latin typeface="Arial"/>
                <a:cs typeface="Arial"/>
              </a:rPr>
              <a:t> </a:t>
            </a:r>
            <a:r>
              <a:rPr sz="1075" dirty="0">
                <a:solidFill>
                  <a:srgbClr val="222222"/>
                </a:solidFill>
                <a:latin typeface="Arial"/>
                <a:cs typeface="Arial"/>
              </a:rPr>
              <a:t>Hinton.</a:t>
            </a:r>
            <a:r>
              <a:rPr sz="1075" spc="-37" dirty="0">
                <a:solidFill>
                  <a:srgbClr val="222222"/>
                </a:solidFill>
                <a:latin typeface="Arial"/>
                <a:cs typeface="Arial"/>
              </a:rPr>
              <a:t> </a:t>
            </a:r>
            <a:r>
              <a:rPr sz="1075" dirty="0">
                <a:solidFill>
                  <a:srgbClr val="222222"/>
                </a:solidFill>
                <a:latin typeface="Arial"/>
                <a:cs typeface="Arial"/>
              </a:rPr>
              <a:t>Imagenet</a:t>
            </a:r>
            <a:r>
              <a:rPr sz="1075" spc="-37" dirty="0">
                <a:solidFill>
                  <a:srgbClr val="222222"/>
                </a:solidFill>
                <a:latin typeface="Arial"/>
                <a:cs typeface="Arial"/>
              </a:rPr>
              <a:t> </a:t>
            </a:r>
            <a:r>
              <a:rPr sz="1075" dirty="0">
                <a:solidFill>
                  <a:srgbClr val="222222"/>
                </a:solidFill>
                <a:latin typeface="Arial"/>
                <a:cs typeface="Arial"/>
              </a:rPr>
              <a:t>classification</a:t>
            </a:r>
            <a:r>
              <a:rPr sz="1075" spc="-29" dirty="0">
                <a:solidFill>
                  <a:srgbClr val="222222"/>
                </a:solidFill>
                <a:latin typeface="Arial"/>
                <a:cs typeface="Arial"/>
              </a:rPr>
              <a:t> </a:t>
            </a:r>
            <a:r>
              <a:rPr sz="1075" dirty="0">
                <a:solidFill>
                  <a:srgbClr val="222222"/>
                </a:solidFill>
                <a:latin typeface="Arial"/>
                <a:cs typeface="Arial"/>
              </a:rPr>
              <a:t>with</a:t>
            </a:r>
            <a:r>
              <a:rPr sz="1075" spc="-33" dirty="0">
                <a:solidFill>
                  <a:srgbClr val="222222"/>
                </a:solidFill>
                <a:latin typeface="Arial"/>
                <a:cs typeface="Arial"/>
              </a:rPr>
              <a:t> </a:t>
            </a:r>
            <a:r>
              <a:rPr sz="1075" dirty="0">
                <a:solidFill>
                  <a:srgbClr val="222222"/>
                </a:solidFill>
                <a:latin typeface="Arial"/>
                <a:cs typeface="Arial"/>
              </a:rPr>
              <a:t>deep</a:t>
            </a:r>
            <a:r>
              <a:rPr sz="1075" spc="-33" dirty="0">
                <a:solidFill>
                  <a:srgbClr val="222222"/>
                </a:solidFill>
                <a:latin typeface="Arial"/>
                <a:cs typeface="Arial"/>
              </a:rPr>
              <a:t> </a:t>
            </a:r>
            <a:r>
              <a:rPr sz="1075" dirty="0">
                <a:solidFill>
                  <a:srgbClr val="222222"/>
                </a:solidFill>
                <a:latin typeface="Arial"/>
                <a:cs typeface="Arial"/>
              </a:rPr>
              <a:t>convolutional</a:t>
            </a:r>
            <a:r>
              <a:rPr sz="1075" spc="-29" dirty="0">
                <a:solidFill>
                  <a:srgbClr val="222222"/>
                </a:solidFill>
                <a:latin typeface="Arial"/>
                <a:cs typeface="Arial"/>
              </a:rPr>
              <a:t> </a:t>
            </a:r>
            <a:r>
              <a:rPr sz="1075" dirty="0">
                <a:solidFill>
                  <a:srgbClr val="222222"/>
                </a:solidFill>
                <a:latin typeface="Arial"/>
                <a:cs typeface="Arial"/>
              </a:rPr>
              <a:t>neural</a:t>
            </a:r>
            <a:r>
              <a:rPr sz="1075" spc="-33" dirty="0">
                <a:solidFill>
                  <a:srgbClr val="222222"/>
                </a:solidFill>
                <a:latin typeface="Arial"/>
                <a:cs typeface="Arial"/>
              </a:rPr>
              <a:t> </a:t>
            </a:r>
            <a:r>
              <a:rPr sz="1075" dirty="0">
                <a:solidFill>
                  <a:srgbClr val="222222"/>
                </a:solidFill>
                <a:latin typeface="Arial"/>
                <a:cs typeface="Arial"/>
              </a:rPr>
              <a:t>networks.</a:t>
            </a:r>
            <a:r>
              <a:rPr sz="1075" spc="-37" dirty="0">
                <a:solidFill>
                  <a:srgbClr val="222222"/>
                </a:solidFill>
                <a:latin typeface="Arial"/>
                <a:cs typeface="Arial"/>
              </a:rPr>
              <a:t> </a:t>
            </a:r>
            <a:r>
              <a:rPr sz="1075" spc="-17" dirty="0">
                <a:solidFill>
                  <a:srgbClr val="222222"/>
                </a:solidFill>
                <a:latin typeface="Arial"/>
                <a:cs typeface="Arial"/>
              </a:rPr>
              <a:t>2012</a:t>
            </a:r>
            <a:endParaRPr sz="1075">
              <a:latin typeface="Arial"/>
              <a:cs typeface="Arial"/>
            </a:endParaRPr>
          </a:p>
        </p:txBody>
      </p:sp>
      <p:sp>
        <p:nvSpPr>
          <p:cNvPr id="4" name="object 4"/>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2816537">
              <a:lnSpc>
                <a:spcPct val="100000"/>
              </a:lnSpc>
              <a:spcBef>
                <a:spcPts val="83"/>
              </a:spcBef>
            </a:pPr>
            <a:r>
              <a:rPr spc="-8" dirty="0">
                <a:latin typeface="Arial"/>
                <a:cs typeface="Arial"/>
              </a:rPr>
              <a:t>AlexNet</a:t>
            </a:r>
          </a:p>
        </p:txBody>
      </p:sp>
      <p:pic>
        <p:nvPicPr>
          <p:cNvPr id="5" name="object 5"/>
          <p:cNvPicPr/>
          <p:nvPr/>
        </p:nvPicPr>
        <p:blipFill>
          <a:blip r:embed="rId2" cstate="print"/>
          <a:stretch>
            <a:fillRect/>
          </a:stretch>
        </p:blipFill>
        <p:spPr>
          <a:xfrm>
            <a:off x="5425867" y="3546754"/>
            <a:ext cx="1257647" cy="1256600"/>
          </a:xfrm>
          <a:prstGeom prst="rect">
            <a:avLst/>
          </a:prstGeom>
        </p:spPr>
      </p:pic>
      <p:sp>
        <p:nvSpPr>
          <p:cNvPr id="6" name="object 6"/>
          <p:cNvSpPr txBox="1"/>
          <p:nvPr/>
        </p:nvSpPr>
        <p:spPr>
          <a:xfrm>
            <a:off x="5296255" y="2268577"/>
            <a:ext cx="1516871" cy="730933"/>
          </a:xfrm>
          <a:prstGeom prst="rect">
            <a:avLst/>
          </a:prstGeom>
          <a:solidFill>
            <a:srgbClr val="FCB64C"/>
          </a:solidFill>
        </p:spPr>
        <p:txBody>
          <a:bodyPr vert="horz" wrap="square" lIns="0" tIns="139664" rIns="0" bIns="0" rtlCol="0">
            <a:spAutoFit/>
          </a:bodyPr>
          <a:lstStyle/>
          <a:p>
            <a:pPr marL="127595" marR="121294" indent="126020">
              <a:lnSpc>
                <a:spcPts val="2315"/>
              </a:lnSpc>
              <a:spcBef>
                <a:spcPts val="1100"/>
              </a:spcBef>
            </a:pPr>
            <a:r>
              <a:rPr sz="1985" spc="-8" dirty="0">
                <a:solidFill>
                  <a:srgbClr val="FFFFFF"/>
                </a:solidFill>
                <a:latin typeface="Arial"/>
                <a:cs typeface="Arial"/>
              </a:rPr>
              <a:t>Manually engineered</a:t>
            </a:r>
            <a:endParaRPr sz="1985">
              <a:latin typeface="Arial"/>
              <a:cs typeface="Arial"/>
            </a:endParaRPr>
          </a:p>
        </p:txBody>
      </p:sp>
      <p:sp>
        <p:nvSpPr>
          <p:cNvPr id="7" name="object 7"/>
          <p:cNvSpPr txBox="1"/>
          <p:nvPr/>
        </p:nvSpPr>
        <p:spPr>
          <a:xfrm>
            <a:off x="5296255" y="1151994"/>
            <a:ext cx="1516871" cy="503755"/>
          </a:xfrm>
          <a:prstGeom prst="rect">
            <a:avLst/>
          </a:prstGeom>
          <a:solidFill>
            <a:srgbClr val="FCB64C"/>
          </a:solidFill>
        </p:spPr>
        <p:txBody>
          <a:bodyPr vert="horz" wrap="square" lIns="0" tIns="196369" rIns="0" bIns="0" rtlCol="0">
            <a:spAutoFit/>
          </a:bodyPr>
          <a:lstStyle/>
          <a:p>
            <a:pPr marL="485175">
              <a:spcBef>
                <a:spcPts val="1546"/>
              </a:spcBef>
            </a:pPr>
            <a:r>
              <a:rPr sz="1985" spc="-21" dirty="0">
                <a:solidFill>
                  <a:srgbClr val="FFFFFF"/>
                </a:solidFill>
                <a:latin typeface="Arial"/>
                <a:cs typeface="Arial"/>
              </a:rPr>
              <a:t>SVM</a:t>
            </a:r>
            <a:endParaRPr sz="1985">
              <a:latin typeface="Arial"/>
              <a:cs typeface="Arial"/>
            </a:endParaRPr>
          </a:p>
        </p:txBody>
      </p:sp>
      <p:grpSp>
        <p:nvGrpSpPr>
          <p:cNvPr id="8" name="object 8"/>
          <p:cNvGrpSpPr/>
          <p:nvPr/>
        </p:nvGrpSpPr>
        <p:grpSpPr>
          <a:xfrm>
            <a:off x="5984367" y="3139889"/>
            <a:ext cx="138613" cy="422666"/>
            <a:chOff x="5711825" y="3797402"/>
            <a:chExt cx="167640" cy="511175"/>
          </a:xfrm>
        </p:grpSpPr>
        <p:sp>
          <p:nvSpPr>
            <p:cNvPr id="9" name="object 9"/>
            <p:cNvSpPr/>
            <p:nvPr/>
          </p:nvSpPr>
          <p:spPr>
            <a:xfrm>
              <a:off x="5795068" y="3945992"/>
              <a:ext cx="635" cy="343535"/>
            </a:xfrm>
            <a:custGeom>
              <a:avLst/>
              <a:gdLst/>
              <a:ahLst/>
              <a:cxnLst/>
              <a:rect l="l" t="t" r="r" b="b"/>
              <a:pathLst>
                <a:path w="635" h="343535">
                  <a:moveTo>
                    <a:pt x="0" y="343477"/>
                  </a:moveTo>
                  <a:lnTo>
                    <a:pt x="575" y="19050"/>
                  </a:lnTo>
                  <a:lnTo>
                    <a:pt x="609" y="0"/>
                  </a:lnTo>
                </a:path>
              </a:pathLst>
            </a:custGeom>
            <a:ln w="38100">
              <a:solidFill>
                <a:srgbClr val="FCB64C"/>
              </a:solidFill>
            </a:ln>
          </p:spPr>
          <p:txBody>
            <a:bodyPr wrap="square" lIns="0" tIns="0" rIns="0" bIns="0" rtlCol="0"/>
            <a:lstStyle/>
            <a:p>
              <a:endParaRPr sz="1488"/>
            </a:p>
          </p:txBody>
        </p:sp>
        <p:sp>
          <p:nvSpPr>
            <p:cNvPr id="10" name="object 10"/>
            <p:cNvSpPr/>
            <p:nvPr/>
          </p:nvSpPr>
          <p:spPr>
            <a:xfrm>
              <a:off x="5711825" y="3797402"/>
              <a:ext cx="167640" cy="168275"/>
            </a:xfrm>
            <a:custGeom>
              <a:avLst/>
              <a:gdLst/>
              <a:ahLst/>
              <a:cxnLst/>
              <a:rect l="l" t="t" r="r" b="b"/>
              <a:pathLst>
                <a:path w="167639" h="168275">
                  <a:moveTo>
                    <a:pt x="84117" y="0"/>
                  </a:moveTo>
                  <a:lnTo>
                    <a:pt x="0" y="167490"/>
                  </a:lnTo>
                  <a:lnTo>
                    <a:pt x="167638" y="167787"/>
                  </a:lnTo>
                  <a:lnTo>
                    <a:pt x="84117" y="0"/>
                  </a:lnTo>
                  <a:close/>
                </a:path>
              </a:pathLst>
            </a:custGeom>
            <a:solidFill>
              <a:srgbClr val="FCB64C"/>
            </a:solidFill>
          </p:spPr>
          <p:txBody>
            <a:bodyPr wrap="square" lIns="0" tIns="0" rIns="0" bIns="0" rtlCol="0"/>
            <a:lstStyle/>
            <a:p>
              <a:endParaRPr sz="1488"/>
            </a:p>
          </p:txBody>
        </p:sp>
      </p:grpSp>
      <p:grpSp>
        <p:nvGrpSpPr>
          <p:cNvPr id="11" name="object 11"/>
          <p:cNvGrpSpPr/>
          <p:nvPr/>
        </p:nvGrpSpPr>
        <p:grpSpPr>
          <a:xfrm>
            <a:off x="5985384" y="1861710"/>
            <a:ext cx="138613" cy="406914"/>
            <a:chOff x="5713056" y="2251563"/>
            <a:chExt cx="167640" cy="492125"/>
          </a:xfrm>
        </p:grpSpPr>
        <p:sp>
          <p:nvSpPr>
            <p:cNvPr id="12" name="object 12"/>
            <p:cNvSpPr/>
            <p:nvPr/>
          </p:nvSpPr>
          <p:spPr>
            <a:xfrm>
              <a:off x="5796876" y="2400153"/>
              <a:ext cx="0" cy="343535"/>
            </a:xfrm>
            <a:custGeom>
              <a:avLst/>
              <a:gdLst/>
              <a:ahLst/>
              <a:cxnLst/>
              <a:rect l="l" t="t" r="r" b="b"/>
              <a:pathLst>
                <a:path h="343535">
                  <a:moveTo>
                    <a:pt x="0" y="343477"/>
                  </a:moveTo>
                  <a:lnTo>
                    <a:pt x="0" y="343477"/>
                  </a:lnTo>
                  <a:lnTo>
                    <a:pt x="0" y="19050"/>
                  </a:lnTo>
                  <a:lnTo>
                    <a:pt x="0" y="0"/>
                  </a:lnTo>
                </a:path>
              </a:pathLst>
            </a:custGeom>
            <a:ln w="38100">
              <a:solidFill>
                <a:srgbClr val="FCB64C"/>
              </a:solidFill>
            </a:ln>
          </p:spPr>
          <p:txBody>
            <a:bodyPr wrap="square" lIns="0" tIns="0" rIns="0" bIns="0" rtlCol="0"/>
            <a:lstStyle/>
            <a:p>
              <a:endParaRPr sz="1488"/>
            </a:p>
          </p:txBody>
        </p:sp>
        <p:sp>
          <p:nvSpPr>
            <p:cNvPr id="13" name="object 13"/>
            <p:cNvSpPr/>
            <p:nvPr/>
          </p:nvSpPr>
          <p:spPr>
            <a:xfrm>
              <a:off x="5713056" y="2251563"/>
              <a:ext cx="167640" cy="167640"/>
            </a:xfrm>
            <a:custGeom>
              <a:avLst/>
              <a:gdLst/>
              <a:ahLst/>
              <a:cxnLst/>
              <a:rect l="l" t="t" r="r" b="b"/>
              <a:pathLst>
                <a:path w="167639" h="167639">
                  <a:moveTo>
                    <a:pt x="83820" y="0"/>
                  </a:moveTo>
                  <a:lnTo>
                    <a:pt x="0" y="167639"/>
                  </a:lnTo>
                  <a:lnTo>
                    <a:pt x="167640" y="167639"/>
                  </a:lnTo>
                  <a:lnTo>
                    <a:pt x="83820" y="0"/>
                  </a:lnTo>
                  <a:close/>
                </a:path>
              </a:pathLst>
            </a:custGeom>
            <a:solidFill>
              <a:srgbClr val="FCB64C"/>
            </a:solidFill>
          </p:spPr>
          <p:txBody>
            <a:bodyPr wrap="square" lIns="0" tIns="0" rIns="0" bIns="0" rtlCol="0"/>
            <a:lstStyle/>
            <a:p>
              <a:endParaRPr sz="1488"/>
            </a:p>
          </p:txBody>
        </p:sp>
      </p:grpSp>
      <p:pic>
        <p:nvPicPr>
          <p:cNvPr id="14" name="object 14"/>
          <p:cNvPicPr/>
          <p:nvPr/>
        </p:nvPicPr>
        <p:blipFill>
          <a:blip r:embed="rId2" cstate="print"/>
          <a:stretch>
            <a:fillRect/>
          </a:stretch>
        </p:blipFill>
        <p:spPr>
          <a:xfrm>
            <a:off x="7168587" y="3546754"/>
            <a:ext cx="1257647" cy="1256600"/>
          </a:xfrm>
          <a:prstGeom prst="rect">
            <a:avLst/>
          </a:prstGeom>
        </p:spPr>
      </p:pic>
      <p:sp>
        <p:nvSpPr>
          <p:cNvPr id="15" name="object 15"/>
          <p:cNvSpPr txBox="1"/>
          <p:nvPr/>
        </p:nvSpPr>
        <p:spPr>
          <a:xfrm>
            <a:off x="7038976" y="2268576"/>
            <a:ext cx="1516871" cy="867063"/>
          </a:xfrm>
          <a:prstGeom prst="rect">
            <a:avLst/>
          </a:prstGeom>
          <a:solidFill>
            <a:srgbClr val="FCB64C"/>
          </a:solidFill>
        </p:spPr>
        <p:txBody>
          <a:bodyPr vert="horz" wrap="square" lIns="0" tIns="20477" rIns="0" bIns="0" rtlCol="0">
            <a:spAutoFit/>
          </a:bodyPr>
          <a:lstStyle/>
          <a:p>
            <a:pPr marL="93465" marR="87164" indent="-525" algn="ctr">
              <a:lnSpc>
                <a:spcPts val="2233"/>
              </a:lnSpc>
              <a:spcBef>
                <a:spcPts val="161"/>
              </a:spcBef>
            </a:pPr>
            <a:r>
              <a:rPr sz="1902" spc="-8" dirty="0">
                <a:solidFill>
                  <a:srgbClr val="FFFFFF"/>
                </a:solidFill>
                <a:latin typeface="Arial"/>
                <a:cs typeface="Arial"/>
              </a:rPr>
              <a:t>Features </a:t>
            </a:r>
            <a:r>
              <a:rPr sz="1902" dirty="0">
                <a:solidFill>
                  <a:srgbClr val="FFFFFF"/>
                </a:solidFill>
                <a:latin typeface="Arial"/>
                <a:cs typeface="Arial"/>
              </a:rPr>
              <a:t>learned</a:t>
            </a:r>
            <a:r>
              <a:rPr sz="1902" spc="-8" dirty="0">
                <a:solidFill>
                  <a:srgbClr val="FFFFFF"/>
                </a:solidFill>
                <a:latin typeface="Arial"/>
                <a:cs typeface="Arial"/>
              </a:rPr>
              <a:t> </a:t>
            </a:r>
            <a:r>
              <a:rPr sz="1902" dirty="0">
                <a:solidFill>
                  <a:srgbClr val="FFFFFF"/>
                </a:solidFill>
                <a:latin typeface="Arial"/>
                <a:cs typeface="Arial"/>
              </a:rPr>
              <a:t>by</a:t>
            </a:r>
            <a:r>
              <a:rPr sz="1902" spc="-8" dirty="0">
                <a:solidFill>
                  <a:srgbClr val="FFFFFF"/>
                </a:solidFill>
                <a:latin typeface="Arial"/>
                <a:cs typeface="Arial"/>
              </a:rPr>
              <a:t> </a:t>
            </a:r>
            <a:r>
              <a:rPr sz="1902" spc="-50" dirty="0">
                <a:solidFill>
                  <a:srgbClr val="FFFFFF"/>
                </a:solidFill>
                <a:latin typeface="Arial"/>
                <a:cs typeface="Arial"/>
              </a:rPr>
              <a:t>a </a:t>
            </a:r>
            <a:r>
              <a:rPr sz="1902" spc="-21" dirty="0">
                <a:solidFill>
                  <a:srgbClr val="FFFFFF"/>
                </a:solidFill>
                <a:latin typeface="Arial"/>
                <a:cs typeface="Arial"/>
              </a:rPr>
              <a:t>CNN</a:t>
            </a:r>
            <a:endParaRPr sz="1902">
              <a:latin typeface="Arial"/>
              <a:cs typeface="Arial"/>
            </a:endParaRPr>
          </a:p>
        </p:txBody>
      </p:sp>
      <p:sp>
        <p:nvSpPr>
          <p:cNvPr id="16" name="object 16"/>
          <p:cNvSpPr txBox="1"/>
          <p:nvPr/>
        </p:nvSpPr>
        <p:spPr>
          <a:xfrm>
            <a:off x="7038976" y="1151993"/>
            <a:ext cx="1516871" cy="656707"/>
          </a:xfrm>
          <a:prstGeom prst="rect">
            <a:avLst/>
          </a:prstGeom>
          <a:solidFill>
            <a:srgbClr val="FCB64C"/>
          </a:solidFill>
        </p:spPr>
        <p:txBody>
          <a:bodyPr vert="horz" wrap="square" lIns="0" tIns="66156" rIns="0" bIns="0" rtlCol="0">
            <a:spAutoFit/>
          </a:bodyPr>
          <a:lstStyle/>
          <a:p>
            <a:pPr marL="169600" marR="163825" indent="126020">
              <a:lnSpc>
                <a:spcPts val="2315"/>
              </a:lnSpc>
              <a:spcBef>
                <a:spcPts val="521"/>
              </a:spcBef>
            </a:pPr>
            <a:r>
              <a:rPr sz="1985" spc="-8" dirty="0">
                <a:solidFill>
                  <a:srgbClr val="FFFFFF"/>
                </a:solidFill>
                <a:latin typeface="Arial"/>
                <a:cs typeface="Arial"/>
              </a:rPr>
              <a:t>Softmax regression</a:t>
            </a:r>
            <a:endParaRPr sz="1985">
              <a:latin typeface="Arial"/>
              <a:cs typeface="Arial"/>
            </a:endParaRPr>
          </a:p>
        </p:txBody>
      </p:sp>
      <p:grpSp>
        <p:nvGrpSpPr>
          <p:cNvPr id="17" name="object 17"/>
          <p:cNvGrpSpPr/>
          <p:nvPr/>
        </p:nvGrpSpPr>
        <p:grpSpPr>
          <a:xfrm>
            <a:off x="7727086" y="3139889"/>
            <a:ext cx="138613" cy="422666"/>
            <a:chOff x="7819481" y="3797402"/>
            <a:chExt cx="167640" cy="511175"/>
          </a:xfrm>
        </p:grpSpPr>
        <p:sp>
          <p:nvSpPr>
            <p:cNvPr id="18" name="object 18"/>
            <p:cNvSpPr/>
            <p:nvPr/>
          </p:nvSpPr>
          <p:spPr>
            <a:xfrm>
              <a:off x="7902726" y="3945992"/>
              <a:ext cx="635" cy="343535"/>
            </a:xfrm>
            <a:custGeom>
              <a:avLst/>
              <a:gdLst/>
              <a:ahLst/>
              <a:cxnLst/>
              <a:rect l="l" t="t" r="r" b="b"/>
              <a:pathLst>
                <a:path w="634" h="343535">
                  <a:moveTo>
                    <a:pt x="0" y="343477"/>
                  </a:moveTo>
                  <a:lnTo>
                    <a:pt x="575" y="19050"/>
                  </a:lnTo>
                  <a:lnTo>
                    <a:pt x="609" y="0"/>
                  </a:lnTo>
                </a:path>
              </a:pathLst>
            </a:custGeom>
            <a:ln w="38100">
              <a:solidFill>
                <a:srgbClr val="FCB64C"/>
              </a:solidFill>
            </a:ln>
          </p:spPr>
          <p:txBody>
            <a:bodyPr wrap="square" lIns="0" tIns="0" rIns="0" bIns="0" rtlCol="0"/>
            <a:lstStyle/>
            <a:p>
              <a:endParaRPr sz="1488"/>
            </a:p>
          </p:txBody>
        </p:sp>
        <p:sp>
          <p:nvSpPr>
            <p:cNvPr id="19" name="object 19"/>
            <p:cNvSpPr/>
            <p:nvPr/>
          </p:nvSpPr>
          <p:spPr>
            <a:xfrm>
              <a:off x="7819481" y="3797402"/>
              <a:ext cx="167640" cy="168275"/>
            </a:xfrm>
            <a:custGeom>
              <a:avLst/>
              <a:gdLst/>
              <a:ahLst/>
              <a:cxnLst/>
              <a:rect l="l" t="t" r="r" b="b"/>
              <a:pathLst>
                <a:path w="167640" h="168275">
                  <a:moveTo>
                    <a:pt x="84117" y="0"/>
                  </a:moveTo>
                  <a:lnTo>
                    <a:pt x="0" y="167490"/>
                  </a:lnTo>
                  <a:lnTo>
                    <a:pt x="167640" y="167787"/>
                  </a:lnTo>
                  <a:lnTo>
                    <a:pt x="84117" y="0"/>
                  </a:lnTo>
                  <a:close/>
                </a:path>
              </a:pathLst>
            </a:custGeom>
            <a:solidFill>
              <a:srgbClr val="FCB64C"/>
            </a:solidFill>
          </p:spPr>
          <p:txBody>
            <a:bodyPr wrap="square" lIns="0" tIns="0" rIns="0" bIns="0" rtlCol="0"/>
            <a:lstStyle/>
            <a:p>
              <a:endParaRPr sz="1488"/>
            </a:p>
          </p:txBody>
        </p:sp>
      </p:grpSp>
      <p:grpSp>
        <p:nvGrpSpPr>
          <p:cNvPr id="20" name="object 20"/>
          <p:cNvGrpSpPr/>
          <p:nvPr/>
        </p:nvGrpSpPr>
        <p:grpSpPr>
          <a:xfrm>
            <a:off x="7728105" y="1861710"/>
            <a:ext cx="138613" cy="406914"/>
            <a:chOff x="7820713" y="2251563"/>
            <a:chExt cx="167640" cy="492125"/>
          </a:xfrm>
        </p:grpSpPr>
        <p:sp>
          <p:nvSpPr>
            <p:cNvPr id="21" name="object 21"/>
            <p:cNvSpPr/>
            <p:nvPr/>
          </p:nvSpPr>
          <p:spPr>
            <a:xfrm>
              <a:off x="7904533" y="2400153"/>
              <a:ext cx="0" cy="343535"/>
            </a:xfrm>
            <a:custGeom>
              <a:avLst/>
              <a:gdLst/>
              <a:ahLst/>
              <a:cxnLst/>
              <a:rect l="l" t="t" r="r" b="b"/>
              <a:pathLst>
                <a:path h="343535">
                  <a:moveTo>
                    <a:pt x="0" y="343477"/>
                  </a:moveTo>
                  <a:lnTo>
                    <a:pt x="0" y="343477"/>
                  </a:lnTo>
                  <a:lnTo>
                    <a:pt x="0" y="19050"/>
                  </a:lnTo>
                  <a:lnTo>
                    <a:pt x="0" y="0"/>
                  </a:lnTo>
                </a:path>
              </a:pathLst>
            </a:custGeom>
            <a:ln w="38100">
              <a:solidFill>
                <a:srgbClr val="FCB64C"/>
              </a:solidFill>
            </a:ln>
          </p:spPr>
          <p:txBody>
            <a:bodyPr wrap="square" lIns="0" tIns="0" rIns="0" bIns="0" rtlCol="0"/>
            <a:lstStyle/>
            <a:p>
              <a:endParaRPr sz="1488"/>
            </a:p>
          </p:txBody>
        </p:sp>
        <p:sp>
          <p:nvSpPr>
            <p:cNvPr id="22" name="object 22"/>
            <p:cNvSpPr/>
            <p:nvPr/>
          </p:nvSpPr>
          <p:spPr>
            <a:xfrm>
              <a:off x="7820713" y="2251563"/>
              <a:ext cx="167640" cy="167640"/>
            </a:xfrm>
            <a:custGeom>
              <a:avLst/>
              <a:gdLst/>
              <a:ahLst/>
              <a:cxnLst/>
              <a:rect l="l" t="t" r="r" b="b"/>
              <a:pathLst>
                <a:path w="167640" h="167639">
                  <a:moveTo>
                    <a:pt x="83819" y="0"/>
                  </a:moveTo>
                  <a:lnTo>
                    <a:pt x="0" y="167639"/>
                  </a:lnTo>
                  <a:lnTo>
                    <a:pt x="167639" y="167639"/>
                  </a:lnTo>
                  <a:lnTo>
                    <a:pt x="83819" y="0"/>
                  </a:lnTo>
                  <a:close/>
                </a:path>
              </a:pathLst>
            </a:custGeom>
            <a:solidFill>
              <a:srgbClr val="FCB64C"/>
            </a:solidFill>
          </p:spPr>
          <p:txBody>
            <a:bodyPr wrap="square" lIns="0" tIns="0" rIns="0" bIns="0" rtlCol="0"/>
            <a:lstStyle/>
            <a:p>
              <a:endParaRPr sz="1488"/>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1271222">
              <a:lnSpc>
                <a:spcPct val="100000"/>
              </a:lnSpc>
              <a:spcBef>
                <a:spcPts val="83"/>
              </a:spcBef>
            </a:pPr>
            <a:r>
              <a:rPr dirty="0">
                <a:latin typeface="Arial"/>
                <a:cs typeface="Arial"/>
              </a:rPr>
              <a:t>AlexNet</a:t>
            </a:r>
            <a:r>
              <a:rPr spc="-244" dirty="0">
                <a:latin typeface="Arial"/>
                <a:cs typeface="Arial"/>
              </a:rPr>
              <a:t> </a:t>
            </a:r>
            <a:r>
              <a:rPr spc="-8" dirty="0">
                <a:latin typeface="Arial"/>
                <a:cs typeface="Arial"/>
              </a:rPr>
              <a:t>Architecture</a:t>
            </a:r>
          </a:p>
        </p:txBody>
      </p:sp>
      <p:pic>
        <p:nvPicPr>
          <p:cNvPr id="3" name="object 3"/>
          <p:cNvPicPr/>
          <p:nvPr/>
        </p:nvPicPr>
        <p:blipFill>
          <a:blip r:embed="rId2" cstate="print"/>
          <a:stretch>
            <a:fillRect/>
          </a:stretch>
        </p:blipFill>
        <p:spPr>
          <a:xfrm>
            <a:off x="4495552" y="2165662"/>
            <a:ext cx="2083115" cy="1631058"/>
          </a:xfrm>
          <a:prstGeom prst="rect">
            <a:avLst/>
          </a:prstGeom>
        </p:spPr>
      </p:pic>
      <p:sp>
        <p:nvSpPr>
          <p:cNvPr id="4" name="object 4"/>
          <p:cNvSpPr txBox="1"/>
          <p:nvPr/>
        </p:nvSpPr>
        <p:spPr>
          <a:xfrm>
            <a:off x="7331324" y="1747885"/>
            <a:ext cx="918314" cy="417766"/>
          </a:xfrm>
          <a:prstGeom prst="rect">
            <a:avLst/>
          </a:prstGeom>
        </p:spPr>
        <p:txBody>
          <a:bodyPr vert="horz" wrap="square" lIns="0" tIns="10501" rIns="0" bIns="0" rtlCol="0">
            <a:spAutoFit/>
          </a:bodyPr>
          <a:lstStyle/>
          <a:p>
            <a:pPr marL="10502">
              <a:spcBef>
                <a:spcPts val="83"/>
              </a:spcBef>
            </a:pPr>
            <a:r>
              <a:rPr sz="2646" spc="-8" dirty="0">
                <a:solidFill>
                  <a:srgbClr val="474746"/>
                </a:solidFill>
                <a:latin typeface="Arial"/>
                <a:cs typeface="Arial"/>
              </a:rPr>
              <a:t>LeNet</a:t>
            </a:r>
            <a:endParaRPr sz="2646">
              <a:latin typeface="Arial"/>
              <a:cs typeface="Arial"/>
            </a:endParaRPr>
          </a:p>
        </p:txBody>
      </p:sp>
      <p:sp>
        <p:nvSpPr>
          <p:cNvPr id="5" name="object 5"/>
          <p:cNvSpPr txBox="1"/>
          <p:nvPr/>
        </p:nvSpPr>
        <p:spPr>
          <a:xfrm>
            <a:off x="5004305" y="1747885"/>
            <a:ext cx="1197641" cy="417766"/>
          </a:xfrm>
          <a:prstGeom prst="rect">
            <a:avLst/>
          </a:prstGeom>
        </p:spPr>
        <p:txBody>
          <a:bodyPr vert="horz" wrap="square" lIns="0" tIns="10501" rIns="0" bIns="0" rtlCol="0">
            <a:spAutoFit/>
          </a:bodyPr>
          <a:lstStyle/>
          <a:p>
            <a:pPr marL="10502">
              <a:spcBef>
                <a:spcPts val="83"/>
              </a:spcBef>
            </a:pPr>
            <a:r>
              <a:rPr sz="2646" spc="-8" dirty="0">
                <a:solidFill>
                  <a:srgbClr val="474746"/>
                </a:solidFill>
                <a:latin typeface="Arial"/>
                <a:cs typeface="Arial"/>
              </a:rPr>
              <a:t>AlexNet</a:t>
            </a:r>
            <a:endParaRPr sz="2646">
              <a:latin typeface="Arial"/>
              <a:cs typeface="Arial"/>
            </a:endParaRPr>
          </a:p>
        </p:txBody>
      </p:sp>
      <p:sp>
        <p:nvSpPr>
          <p:cNvPr id="6" name="object 6"/>
          <p:cNvSpPr/>
          <p:nvPr/>
        </p:nvSpPr>
        <p:spPr>
          <a:xfrm>
            <a:off x="1386063" y="3044647"/>
            <a:ext cx="3072598" cy="1893859"/>
          </a:xfrm>
          <a:custGeom>
            <a:avLst/>
            <a:gdLst/>
            <a:ahLst/>
            <a:cxnLst/>
            <a:rect l="l" t="t" r="r" b="b"/>
            <a:pathLst>
              <a:path w="3716020" h="2290445">
                <a:moveTo>
                  <a:pt x="3715543" y="0"/>
                </a:moveTo>
                <a:lnTo>
                  <a:pt x="3145630" y="256778"/>
                </a:lnTo>
                <a:lnTo>
                  <a:pt x="63500" y="256778"/>
                </a:lnTo>
                <a:lnTo>
                  <a:pt x="38782" y="261768"/>
                </a:lnTo>
                <a:lnTo>
                  <a:pt x="18598" y="275377"/>
                </a:lnTo>
                <a:lnTo>
                  <a:pt x="4990" y="295561"/>
                </a:lnTo>
                <a:lnTo>
                  <a:pt x="0" y="320278"/>
                </a:lnTo>
                <a:lnTo>
                  <a:pt x="0" y="2226866"/>
                </a:lnTo>
                <a:lnTo>
                  <a:pt x="4990" y="2251583"/>
                </a:lnTo>
                <a:lnTo>
                  <a:pt x="18598" y="2271767"/>
                </a:lnTo>
                <a:lnTo>
                  <a:pt x="38782" y="2285375"/>
                </a:lnTo>
                <a:lnTo>
                  <a:pt x="63500" y="2290366"/>
                </a:lnTo>
                <a:lnTo>
                  <a:pt x="3344861" y="2290366"/>
                </a:lnTo>
                <a:lnTo>
                  <a:pt x="3369579" y="2285375"/>
                </a:lnTo>
                <a:lnTo>
                  <a:pt x="3389763" y="2271767"/>
                </a:lnTo>
                <a:lnTo>
                  <a:pt x="3403371" y="2251583"/>
                </a:lnTo>
                <a:lnTo>
                  <a:pt x="3408361" y="2226866"/>
                </a:lnTo>
                <a:lnTo>
                  <a:pt x="3408361" y="480616"/>
                </a:lnTo>
                <a:lnTo>
                  <a:pt x="3715543" y="0"/>
                </a:lnTo>
                <a:close/>
              </a:path>
            </a:pathLst>
          </a:custGeom>
          <a:solidFill>
            <a:srgbClr val="FCB64C"/>
          </a:solidFill>
        </p:spPr>
        <p:txBody>
          <a:bodyPr wrap="square" lIns="0" tIns="0" rIns="0" bIns="0" rtlCol="0"/>
          <a:lstStyle/>
          <a:p>
            <a:endParaRPr sz="1488"/>
          </a:p>
        </p:txBody>
      </p:sp>
      <p:sp>
        <p:nvSpPr>
          <p:cNvPr id="7" name="object 7"/>
          <p:cNvSpPr txBox="1"/>
          <p:nvPr/>
        </p:nvSpPr>
        <p:spPr>
          <a:xfrm>
            <a:off x="1565987" y="3327296"/>
            <a:ext cx="2458813" cy="1502331"/>
          </a:xfrm>
          <a:prstGeom prst="rect">
            <a:avLst/>
          </a:prstGeom>
        </p:spPr>
        <p:txBody>
          <a:bodyPr vert="horz" wrap="square" lIns="0" tIns="27302" rIns="0" bIns="0" rtlCol="0">
            <a:spAutoFit/>
          </a:bodyPr>
          <a:lstStyle/>
          <a:p>
            <a:pPr marL="10502" marR="4201" algn="ctr">
              <a:lnSpc>
                <a:spcPts val="2315"/>
              </a:lnSpc>
              <a:spcBef>
                <a:spcPts val="214"/>
              </a:spcBef>
            </a:pPr>
            <a:r>
              <a:rPr sz="1985" dirty="0">
                <a:solidFill>
                  <a:srgbClr val="FFFFFF"/>
                </a:solidFill>
                <a:latin typeface="Arial"/>
                <a:cs typeface="Arial"/>
              </a:rPr>
              <a:t>Larger</a:t>
            </a:r>
            <a:r>
              <a:rPr sz="1985" spc="-66" dirty="0">
                <a:solidFill>
                  <a:srgbClr val="FFFFFF"/>
                </a:solidFill>
                <a:latin typeface="Arial"/>
                <a:cs typeface="Arial"/>
              </a:rPr>
              <a:t> </a:t>
            </a:r>
            <a:r>
              <a:rPr sz="1985" dirty="0">
                <a:solidFill>
                  <a:srgbClr val="FFFFFF"/>
                </a:solidFill>
                <a:latin typeface="Arial"/>
                <a:cs typeface="Arial"/>
              </a:rPr>
              <a:t>kernel</a:t>
            </a:r>
            <a:r>
              <a:rPr sz="1985" spc="-62" dirty="0">
                <a:solidFill>
                  <a:srgbClr val="FFFFFF"/>
                </a:solidFill>
                <a:latin typeface="Arial"/>
                <a:cs typeface="Arial"/>
              </a:rPr>
              <a:t> </a:t>
            </a:r>
            <a:r>
              <a:rPr sz="1985" spc="-17" dirty="0">
                <a:solidFill>
                  <a:srgbClr val="FFFFFF"/>
                </a:solidFill>
                <a:latin typeface="Arial"/>
                <a:cs typeface="Arial"/>
              </a:rPr>
              <a:t>size, </a:t>
            </a:r>
            <a:r>
              <a:rPr sz="1985" dirty="0">
                <a:solidFill>
                  <a:srgbClr val="FFFFFF"/>
                </a:solidFill>
                <a:latin typeface="Arial"/>
                <a:cs typeface="Arial"/>
              </a:rPr>
              <a:t>stride</a:t>
            </a:r>
            <a:r>
              <a:rPr sz="1985" spc="-45" dirty="0">
                <a:solidFill>
                  <a:srgbClr val="FFFFFF"/>
                </a:solidFill>
                <a:latin typeface="Arial"/>
                <a:cs typeface="Arial"/>
              </a:rPr>
              <a:t> </a:t>
            </a:r>
            <a:r>
              <a:rPr sz="1985" dirty="0">
                <a:solidFill>
                  <a:srgbClr val="FFFFFF"/>
                </a:solidFill>
                <a:latin typeface="Arial"/>
                <a:cs typeface="Arial"/>
              </a:rPr>
              <a:t>because</a:t>
            </a:r>
            <a:r>
              <a:rPr sz="1985" spc="-45" dirty="0">
                <a:solidFill>
                  <a:srgbClr val="FFFFFF"/>
                </a:solidFill>
                <a:latin typeface="Arial"/>
                <a:cs typeface="Arial"/>
              </a:rPr>
              <a:t> </a:t>
            </a:r>
            <a:r>
              <a:rPr sz="1985" dirty="0">
                <a:solidFill>
                  <a:srgbClr val="FFFFFF"/>
                </a:solidFill>
                <a:latin typeface="Arial"/>
                <a:cs typeface="Arial"/>
              </a:rPr>
              <a:t>of</a:t>
            </a:r>
            <a:r>
              <a:rPr sz="1985" spc="-50" dirty="0">
                <a:solidFill>
                  <a:srgbClr val="FFFFFF"/>
                </a:solidFill>
                <a:latin typeface="Arial"/>
                <a:cs typeface="Arial"/>
              </a:rPr>
              <a:t> </a:t>
            </a:r>
            <a:r>
              <a:rPr sz="1985" spc="-21" dirty="0">
                <a:solidFill>
                  <a:srgbClr val="FFFFFF"/>
                </a:solidFill>
                <a:latin typeface="Arial"/>
                <a:cs typeface="Arial"/>
              </a:rPr>
              <a:t>the </a:t>
            </a:r>
            <a:r>
              <a:rPr sz="1985" dirty="0">
                <a:solidFill>
                  <a:srgbClr val="FFFFFF"/>
                </a:solidFill>
                <a:latin typeface="Arial"/>
                <a:cs typeface="Arial"/>
              </a:rPr>
              <a:t>increased</a:t>
            </a:r>
            <a:r>
              <a:rPr sz="1985" spc="-79" dirty="0">
                <a:solidFill>
                  <a:srgbClr val="FFFFFF"/>
                </a:solidFill>
                <a:latin typeface="Arial"/>
                <a:cs typeface="Arial"/>
              </a:rPr>
              <a:t> </a:t>
            </a:r>
            <a:r>
              <a:rPr sz="1985" dirty="0">
                <a:solidFill>
                  <a:srgbClr val="FFFFFF"/>
                </a:solidFill>
                <a:latin typeface="Arial"/>
                <a:cs typeface="Arial"/>
              </a:rPr>
              <a:t>image</a:t>
            </a:r>
            <a:r>
              <a:rPr sz="1985" spc="-79" dirty="0">
                <a:solidFill>
                  <a:srgbClr val="FFFFFF"/>
                </a:solidFill>
                <a:latin typeface="Arial"/>
                <a:cs typeface="Arial"/>
              </a:rPr>
              <a:t> </a:t>
            </a:r>
            <a:r>
              <a:rPr sz="1985" spc="-17" dirty="0">
                <a:solidFill>
                  <a:srgbClr val="FFFFFF"/>
                </a:solidFill>
                <a:latin typeface="Arial"/>
                <a:cs typeface="Arial"/>
              </a:rPr>
              <a:t>size, </a:t>
            </a:r>
            <a:r>
              <a:rPr sz="1985" dirty="0">
                <a:solidFill>
                  <a:srgbClr val="FFFFFF"/>
                </a:solidFill>
                <a:latin typeface="Arial"/>
                <a:cs typeface="Arial"/>
              </a:rPr>
              <a:t>and</a:t>
            </a:r>
            <a:r>
              <a:rPr sz="1985" spc="-45" dirty="0">
                <a:solidFill>
                  <a:srgbClr val="FFFFFF"/>
                </a:solidFill>
                <a:latin typeface="Arial"/>
                <a:cs typeface="Arial"/>
              </a:rPr>
              <a:t> </a:t>
            </a:r>
            <a:r>
              <a:rPr sz="1985" dirty="0">
                <a:solidFill>
                  <a:srgbClr val="FFFFFF"/>
                </a:solidFill>
                <a:latin typeface="Arial"/>
                <a:cs typeface="Arial"/>
              </a:rPr>
              <a:t>more</a:t>
            </a:r>
            <a:r>
              <a:rPr sz="1985" spc="-41" dirty="0">
                <a:solidFill>
                  <a:srgbClr val="FFFFFF"/>
                </a:solidFill>
                <a:latin typeface="Arial"/>
                <a:cs typeface="Arial"/>
              </a:rPr>
              <a:t> </a:t>
            </a:r>
            <a:r>
              <a:rPr sz="1985" spc="-8" dirty="0">
                <a:solidFill>
                  <a:srgbClr val="FFFFFF"/>
                </a:solidFill>
                <a:latin typeface="Arial"/>
                <a:cs typeface="Arial"/>
              </a:rPr>
              <a:t>output channels.</a:t>
            </a:r>
            <a:endParaRPr sz="1985">
              <a:latin typeface="Arial"/>
              <a:cs typeface="Arial"/>
            </a:endParaRPr>
          </a:p>
        </p:txBody>
      </p:sp>
      <p:pic>
        <p:nvPicPr>
          <p:cNvPr id="8" name="object 8"/>
          <p:cNvPicPr/>
          <p:nvPr/>
        </p:nvPicPr>
        <p:blipFill>
          <a:blip r:embed="rId3" cstate="print"/>
          <a:stretch>
            <a:fillRect/>
          </a:stretch>
        </p:blipFill>
        <p:spPr>
          <a:xfrm>
            <a:off x="6776136" y="2179584"/>
            <a:ext cx="1890422" cy="1631058"/>
          </a:xfrm>
          <a:prstGeom prst="rect">
            <a:avLst/>
          </a:prstGeom>
        </p:spPr>
      </p:pic>
      <p:sp>
        <p:nvSpPr>
          <p:cNvPr id="9" name="object 9"/>
          <p:cNvSpPr/>
          <p:nvPr/>
        </p:nvSpPr>
        <p:spPr>
          <a:xfrm>
            <a:off x="1391016" y="1955210"/>
            <a:ext cx="3153981" cy="781801"/>
          </a:xfrm>
          <a:custGeom>
            <a:avLst/>
            <a:gdLst/>
            <a:ahLst/>
            <a:cxnLst/>
            <a:rect l="l" t="t" r="r" b="b"/>
            <a:pathLst>
              <a:path w="3814445" h="945514">
                <a:moveTo>
                  <a:pt x="3294459" y="0"/>
                </a:moveTo>
                <a:lnTo>
                  <a:pt x="75803" y="0"/>
                </a:lnTo>
                <a:lnTo>
                  <a:pt x="46280" y="5951"/>
                </a:lnTo>
                <a:lnTo>
                  <a:pt x="22187" y="22187"/>
                </a:lnTo>
                <a:lnTo>
                  <a:pt x="5951" y="46280"/>
                </a:lnTo>
                <a:lnTo>
                  <a:pt x="0" y="75802"/>
                </a:lnTo>
                <a:lnTo>
                  <a:pt x="0" y="869552"/>
                </a:lnTo>
                <a:lnTo>
                  <a:pt x="5951" y="899074"/>
                </a:lnTo>
                <a:lnTo>
                  <a:pt x="22187" y="923168"/>
                </a:lnTo>
                <a:lnTo>
                  <a:pt x="46280" y="939404"/>
                </a:lnTo>
                <a:lnTo>
                  <a:pt x="75803" y="945356"/>
                </a:lnTo>
                <a:lnTo>
                  <a:pt x="3294459" y="945356"/>
                </a:lnTo>
                <a:lnTo>
                  <a:pt x="3323981" y="939404"/>
                </a:lnTo>
                <a:lnTo>
                  <a:pt x="3348074" y="923168"/>
                </a:lnTo>
                <a:lnTo>
                  <a:pt x="3364310" y="899074"/>
                </a:lnTo>
                <a:lnTo>
                  <a:pt x="3370262" y="869552"/>
                </a:lnTo>
                <a:lnTo>
                  <a:pt x="3370262" y="563562"/>
                </a:lnTo>
                <a:lnTo>
                  <a:pt x="3813968" y="464739"/>
                </a:lnTo>
                <a:lnTo>
                  <a:pt x="3370262" y="365918"/>
                </a:lnTo>
                <a:lnTo>
                  <a:pt x="3370262" y="75802"/>
                </a:lnTo>
                <a:lnTo>
                  <a:pt x="3364310" y="46280"/>
                </a:lnTo>
                <a:lnTo>
                  <a:pt x="3348074" y="22187"/>
                </a:lnTo>
                <a:lnTo>
                  <a:pt x="3323981" y="5951"/>
                </a:lnTo>
                <a:lnTo>
                  <a:pt x="3294459" y="0"/>
                </a:lnTo>
                <a:close/>
              </a:path>
            </a:pathLst>
          </a:custGeom>
          <a:solidFill>
            <a:srgbClr val="FCB64C"/>
          </a:solidFill>
        </p:spPr>
        <p:txBody>
          <a:bodyPr wrap="square" lIns="0" tIns="0" rIns="0" bIns="0" rtlCol="0"/>
          <a:lstStyle/>
          <a:p>
            <a:endParaRPr sz="1488"/>
          </a:p>
        </p:txBody>
      </p:sp>
      <p:sp>
        <p:nvSpPr>
          <p:cNvPr id="10" name="object 10"/>
          <p:cNvSpPr txBox="1"/>
          <p:nvPr/>
        </p:nvSpPr>
        <p:spPr>
          <a:xfrm>
            <a:off x="1505904" y="2017666"/>
            <a:ext cx="2557523" cy="617475"/>
          </a:xfrm>
          <a:prstGeom prst="rect">
            <a:avLst/>
          </a:prstGeom>
        </p:spPr>
        <p:txBody>
          <a:bodyPr vert="horz" wrap="square" lIns="0" tIns="27303" rIns="0" bIns="0" rtlCol="0">
            <a:spAutoFit/>
          </a:bodyPr>
          <a:lstStyle/>
          <a:p>
            <a:pPr marL="10502" marR="4201" indent="336052">
              <a:lnSpc>
                <a:spcPts val="2315"/>
              </a:lnSpc>
              <a:spcBef>
                <a:spcPts val="215"/>
              </a:spcBef>
            </a:pPr>
            <a:r>
              <a:rPr sz="1985" dirty="0">
                <a:solidFill>
                  <a:srgbClr val="FFFFFF"/>
                </a:solidFill>
                <a:latin typeface="Arial"/>
                <a:cs typeface="Arial"/>
              </a:rPr>
              <a:t>Larger</a:t>
            </a:r>
            <a:r>
              <a:rPr sz="1985" spc="-54" dirty="0">
                <a:solidFill>
                  <a:srgbClr val="FFFFFF"/>
                </a:solidFill>
                <a:latin typeface="Arial"/>
                <a:cs typeface="Arial"/>
              </a:rPr>
              <a:t> </a:t>
            </a:r>
            <a:r>
              <a:rPr sz="1985" dirty="0">
                <a:solidFill>
                  <a:srgbClr val="FFFFFF"/>
                </a:solidFill>
                <a:latin typeface="Arial"/>
                <a:cs typeface="Arial"/>
              </a:rPr>
              <a:t>pool</a:t>
            </a:r>
            <a:r>
              <a:rPr sz="1985" spc="-50" dirty="0">
                <a:solidFill>
                  <a:srgbClr val="FFFFFF"/>
                </a:solidFill>
                <a:latin typeface="Arial"/>
                <a:cs typeface="Arial"/>
              </a:rPr>
              <a:t> </a:t>
            </a:r>
            <a:r>
              <a:rPr sz="1985" spc="-17" dirty="0">
                <a:solidFill>
                  <a:srgbClr val="FFFFFF"/>
                </a:solidFill>
                <a:latin typeface="Arial"/>
                <a:cs typeface="Arial"/>
              </a:rPr>
              <a:t>size, </a:t>
            </a:r>
            <a:r>
              <a:rPr sz="1985" dirty="0">
                <a:solidFill>
                  <a:srgbClr val="FFFFFF"/>
                </a:solidFill>
                <a:latin typeface="Arial"/>
                <a:cs typeface="Arial"/>
              </a:rPr>
              <a:t>change</a:t>
            </a:r>
            <a:r>
              <a:rPr sz="1985" spc="-41" dirty="0">
                <a:solidFill>
                  <a:srgbClr val="FFFFFF"/>
                </a:solidFill>
                <a:latin typeface="Arial"/>
                <a:cs typeface="Arial"/>
              </a:rPr>
              <a:t> </a:t>
            </a:r>
            <a:r>
              <a:rPr sz="1985" dirty="0">
                <a:solidFill>
                  <a:srgbClr val="FFFFFF"/>
                </a:solidFill>
                <a:latin typeface="Arial"/>
                <a:cs typeface="Arial"/>
              </a:rPr>
              <a:t>to</a:t>
            </a:r>
            <a:r>
              <a:rPr sz="1985" spc="-37" dirty="0">
                <a:solidFill>
                  <a:srgbClr val="FFFFFF"/>
                </a:solidFill>
                <a:latin typeface="Arial"/>
                <a:cs typeface="Arial"/>
              </a:rPr>
              <a:t> </a:t>
            </a:r>
            <a:r>
              <a:rPr sz="1985" dirty="0">
                <a:solidFill>
                  <a:srgbClr val="FFFFFF"/>
                </a:solidFill>
                <a:latin typeface="Arial"/>
                <a:cs typeface="Arial"/>
              </a:rPr>
              <a:t>max</a:t>
            </a:r>
            <a:r>
              <a:rPr sz="1985" spc="-45" dirty="0">
                <a:solidFill>
                  <a:srgbClr val="FFFFFF"/>
                </a:solidFill>
                <a:latin typeface="Arial"/>
                <a:cs typeface="Arial"/>
              </a:rPr>
              <a:t> </a:t>
            </a:r>
            <a:r>
              <a:rPr sz="1985" spc="-8" dirty="0">
                <a:solidFill>
                  <a:srgbClr val="FFFFFF"/>
                </a:solidFill>
                <a:latin typeface="Arial"/>
                <a:cs typeface="Arial"/>
              </a:rPr>
              <a:t>pooling</a:t>
            </a:r>
            <a:endParaRPr sz="1985">
              <a:latin typeface="Arial"/>
              <a:cs typeface="Arial"/>
            </a:endParaRPr>
          </a:p>
        </p:txBody>
      </p:sp>
      <p:sp>
        <p:nvSpPr>
          <p:cNvPr id="11" name="object 11"/>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1505">
              <a:lnSpc>
                <a:spcPts val="1182"/>
              </a:lnSpc>
            </a:pPr>
            <a:fld id="{81D60167-4931-47E6-BA6A-407CBD079E47}" type="slidenum">
              <a:rPr lang="en-US" spc="-25" smtClean="0"/>
              <a:pPr marL="38100">
                <a:lnSpc>
                  <a:spcPts val="1485"/>
                </a:lnSpc>
              </a:pPr>
              <a:t>7</a:t>
            </a:fld>
            <a:endParaRPr spc="-2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1271222">
              <a:lnSpc>
                <a:spcPct val="100000"/>
              </a:lnSpc>
              <a:spcBef>
                <a:spcPts val="83"/>
              </a:spcBef>
            </a:pPr>
            <a:r>
              <a:rPr dirty="0">
                <a:latin typeface="Arial"/>
                <a:cs typeface="Arial"/>
              </a:rPr>
              <a:t>AlexNet</a:t>
            </a:r>
            <a:r>
              <a:rPr spc="-244" dirty="0">
                <a:latin typeface="Arial"/>
                <a:cs typeface="Arial"/>
              </a:rPr>
              <a:t> </a:t>
            </a:r>
            <a:r>
              <a:rPr spc="-8" dirty="0">
                <a:latin typeface="Arial"/>
                <a:cs typeface="Arial"/>
              </a:rPr>
              <a:t>Architecture</a:t>
            </a:r>
          </a:p>
        </p:txBody>
      </p:sp>
      <p:pic>
        <p:nvPicPr>
          <p:cNvPr id="3" name="object 3"/>
          <p:cNvPicPr/>
          <p:nvPr/>
        </p:nvPicPr>
        <p:blipFill>
          <a:blip r:embed="rId2" cstate="print"/>
          <a:stretch>
            <a:fillRect/>
          </a:stretch>
        </p:blipFill>
        <p:spPr>
          <a:xfrm>
            <a:off x="6561786" y="2491818"/>
            <a:ext cx="1813925" cy="991041"/>
          </a:xfrm>
          <a:prstGeom prst="rect">
            <a:avLst/>
          </a:prstGeom>
        </p:spPr>
      </p:pic>
      <p:pic>
        <p:nvPicPr>
          <p:cNvPr id="4" name="object 4"/>
          <p:cNvPicPr/>
          <p:nvPr/>
        </p:nvPicPr>
        <p:blipFill>
          <a:blip r:embed="rId3" cstate="print"/>
          <a:stretch>
            <a:fillRect/>
          </a:stretch>
        </p:blipFill>
        <p:spPr>
          <a:xfrm>
            <a:off x="4463545" y="1435684"/>
            <a:ext cx="1920168" cy="3085781"/>
          </a:xfrm>
          <a:prstGeom prst="rect">
            <a:avLst/>
          </a:prstGeom>
        </p:spPr>
      </p:pic>
      <p:sp>
        <p:nvSpPr>
          <p:cNvPr id="5" name="object 5"/>
          <p:cNvSpPr/>
          <p:nvPr/>
        </p:nvSpPr>
        <p:spPr>
          <a:xfrm>
            <a:off x="1622590" y="4064941"/>
            <a:ext cx="2789595" cy="656314"/>
          </a:xfrm>
          <a:custGeom>
            <a:avLst/>
            <a:gdLst/>
            <a:ahLst/>
            <a:cxnLst/>
            <a:rect l="l" t="t" r="r" b="b"/>
            <a:pathLst>
              <a:path w="3373754" h="793750">
                <a:moveTo>
                  <a:pt x="2647156" y="0"/>
                </a:moveTo>
                <a:lnTo>
                  <a:pt x="63500" y="0"/>
                </a:lnTo>
                <a:lnTo>
                  <a:pt x="38782" y="4990"/>
                </a:lnTo>
                <a:lnTo>
                  <a:pt x="18598" y="18598"/>
                </a:lnTo>
                <a:lnTo>
                  <a:pt x="4990" y="38783"/>
                </a:lnTo>
                <a:lnTo>
                  <a:pt x="0" y="63500"/>
                </a:lnTo>
                <a:lnTo>
                  <a:pt x="0" y="729853"/>
                </a:lnTo>
                <a:lnTo>
                  <a:pt x="4990" y="754570"/>
                </a:lnTo>
                <a:lnTo>
                  <a:pt x="18598" y="774754"/>
                </a:lnTo>
                <a:lnTo>
                  <a:pt x="38782" y="788362"/>
                </a:lnTo>
                <a:lnTo>
                  <a:pt x="63500" y="793353"/>
                </a:lnTo>
                <a:lnTo>
                  <a:pt x="2647156" y="793353"/>
                </a:lnTo>
                <a:lnTo>
                  <a:pt x="2671873" y="788362"/>
                </a:lnTo>
                <a:lnTo>
                  <a:pt x="2692057" y="774754"/>
                </a:lnTo>
                <a:lnTo>
                  <a:pt x="2705666" y="754570"/>
                </a:lnTo>
                <a:lnTo>
                  <a:pt x="2710656" y="729853"/>
                </a:lnTo>
                <a:lnTo>
                  <a:pt x="2710656" y="413543"/>
                </a:lnTo>
                <a:lnTo>
                  <a:pt x="3373437" y="286543"/>
                </a:lnTo>
                <a:lnTo>
                  <a:pt x="2710656" y="159543"/>
                </a:lnTo>
                <a:lnTo>
                  <a:pt x="2710656" y="63500"/>
                </a:lnTo>
                <a:lnTo>
                  <a:pt x="2705665" y="38783"/>
                </a:lnTo>
                <a:lnTo>
                  <a:pt x="2692057" y="18598"/>
                </a:lnTo>
                <a:lnTo>
                  <a:pt x="2671873" y="4990"/>
                </a:lnTo>
                <a:lnTo>
                  <a:pt x="2647156" y="0"/>
                </a:lnTo>
                <a:close/>
              </a:path>
            </a:pathLst>
          </a:custGeom>
          <a:solidFill>
            <a:srgbClr val="FCB64C"/>
          </a:solidFill>
        </p:spPr>
        <p:txBody>
          <a:bodyPr wrap="square" lIns="0" tIns="0" rIns="0" bIns="0" rtlCol="0"/>
          <a:lstStyle/>
          <a:p>
            <a:endParaRPr sz="1488"/>
          </a:p>
        </p:txBody>
      </p:sp>
      <p:sp>
        <p:nvSpPr>
          <p:cNvPr id="6" name="object 6"/>
          <p:cNvSpPr/>
          <p:nvPr/>
        </p:nvSpPr>
        <p:spPr>
          <a:xfrm>
            <a:off x="1637301" y="2318159"/>
            <a:ext cx="2763868" cy="1151437"/>
          </a:xfrm>
          <a:custGeom>
            <a:avLst/>
            <a:gdLst/>
            <a:ahLst/>
            <a:cxnLst/>
            <a:rect l="l" t="t" r="r" b="b"/>
            <a:pathLst>
              <a:path w="3342640" h="1392554">
                <a:moveTo>
                  <a:pt x="2647155" y="0"/>
                </a:moveTo>
                <a:lnTo>
                  <a:pt x="63500" y="0"/>
                </a:lnTo>
                <a:lnTo>
                  <a:pt x="38782" y="4990"/>
                </a:lnTo>
                <a:lnTo>
                  <a:pt x="18598" y="18598"/>
                </a:lnTo>
                <a:lnTo>
                  <a:pt x="4990" y="38783"/>
                </a:lnTo>
                <a:lnTo>
                  <a:pt x="0" y="63500"/>
                </a:lnTo>
                <a:lnTo>
                  <a:pt x="0" y="1328737"/>
                </a:lnTo>
                <a:lnTo>
                  <a:pt x="4990" y="1353454"/>
                </a:lnTo>
                <a:lnTo>
                  <a:pt x="18598" y="1373639"/>
                </a:lnTo>
                <a:lnTo>
                  <a:pt x="38782" y="1387247"/>
                </a:lnTo>
                <a:lnTo>
                  <a:pt x="63500" y="1392237"/>
                </a:lnTo>
                <a:lnTo>
                  <a:pt x="2647155" y="1392237"/>
                </a:lnTo>
                <a:lnTo>
                  <a:pt x="2671873" y="1387247"/>
                </a:lnTo>
                <a:lnTo>
                  <a:pt x="2692057" y="1373639"/>
                </a:lnTo>
                <a:lnTo>
                  <a:pt x="2705665" y="1353454"/>
                </a:lnTo>
                <a:lnTo>
                  <a:pt x="2710655" y="1328737"/>
                </a:lnTo>
                <a:lnTo>
                  <a:pt x="2710655" y="1296987"/>
                </a:lnTo>
                <a:lnTo>
                  <a:pt x="3342084" y="1169591"/>
                </a:lnTo>
                <a:lnTo>
                  <a:pt x="2710655" y="1042591"/>
                </a:lnTo>
                <a:lnTo>
                  <a:pt x="2710655" y="63500"/>
                </a:lnTo>
                <a:lnTo>
                  <a:pt x="2705665" y="38783"/>
                </a:lnTo>
                <a:lnTo>
                  <a:pt x="2692057" y="18598"/>
                </a:lnTo>
                <a:lnTo>
                  <a:pt x="2671873" y="4990"/>
                </a:lnTo>
                <a:lnTo>
                  <a:pt x="2647155" y="0"/>
                </a:lnTo>
                <a:close/>
              </a:path>
            </a:pathLst>
          </a:custGeom>
          <a:solidFill>
            <a:srgbClr val="FCB64C"/>
          </a:solidFill>
        </p:spPr>
        <p:txBody>
          <a:bodyPr wrap="square" lIns="0" tIns="0" rIns="0" bIns="0" rtlCol="0"/>
          <a:lstStyle/>
          <a:p>
            <a:endParaRPr sz="1488"/>
          </a:p>
        </p:txBody>
      </p:sp>
      <p:sp>
        <p:nvSpPr>
          <p:cNvPr id="7" name="object 7"/>
          <p:cNvSpPr txBox="1"/>
          <p:nvPr/>
        </p:nvSpPr>
        <p:spPr>
          <a:xfrm>
            <a:off x="2011904" y="1062580"/>
            <a:ext cx="5903148" cy="3692894"/>
          </a:xfrm>
          <a:prstGeom prst="rect">
            <a:avLst/>
          </a:prstGeom>
        </p:spPr>
        <p:txBody>
          <a:bodyPr vert="horz" wrap="square" lIns="0" tIns="10501" rIns="0" bIns="0" rtlCol="0">
            <a:spAutoFit/>
          </a:bodyPr>
          <a:lstStyle/>
          <a:p>
            <a:pPr marL="2893199">
              <a:spcBef>
                <a:spcPts val="83"/>
              </a:spcBef>
            </a:pPr>
            <a:r>
              <a:rPr sz="2646" spc="-8" dirty="0">
                <a:solidFill>
                  <a:srgbClr val="474746"/>
                </a:solidFill>
                <a:latin typeface="Arial"/>
                <a:cs typeface="Arial"/>
              </a:rPr>
              <a:t>AlexNet</a:t>
            </a:r>
            <a:endParaRPr sz="2646">
              <a:latin typeface="Arial"/>
              <a:cs typeface="Arial"/>
            </a:endParaRPr>
          </a:p>
          <a:p>
            <a:pPr>
              <a:spcBef>
                <a:spcPts val="1662"/>
              </a:spcBef>
            </a:pPr>
            <a:endParaRPr sz="2646">
              <a:latin typeface="Arial"/>
              <a:cs typeface="Arial"/>
            </a:endParaRPr>
          </a:p>
          <a:p>
            <a:pPr marR="4201" algn="r">
              <a:lnSpc>
                <a:spcPts val="3018"/>
              </a:lnSpc>
            </a:pPr>
            <a:r>
              <a:rPr sz="2646" spc="-8" dirty="0">
                <a:solidFill>
                  <a:srgbClr val="474746"/>
                </a:solidFill>
                <a:latin typeface="Arial"/>
                <a:cs typeface="Arial"/>
              </a:rPr>
              <a:t>LeNet</a:t>
            </a:r>
            <a:endParaRPr sz="2646">
              <a:latin typeface="Arial"/>
              <a:cs typeface="Arial"/>
            </a:endParaRPr>
          </a:p>
          <a:p>
            <a:pPr marR="4403859" algn="ctr">
              <a:lnSpc>
                <a:spcPts val="2191"/>
              </a:lnSpc>
            </a:pPr>
            <a:r>
              <a:rPr sz="1985" dirty="0">
                <a:solidFill>
                  <a:srgbClr val="FFFFFF"/>
                </a:solidFill>
                <a:latin typeface="Arial"/>
                <a:cs typeface="Arial"/>
              </a:rPr>
              <a:t>3</a:t>
            </a:r>
            <a:r>
              <a:rPr sz="1985" spc="-12" dirty="0">
                <a:solidFill>
                  <a:srgbClr val="FFFFFF"/>
                </a:solidFill>
                <a:latin typeface="Arial"/>
                <a:cs typeface="Arial"/>
              </a:rPr>
              <a:t> </a:t>
            </a:r>
            <a:r>
              <a:rPr sz="1985" spc="-8" dirty="0">
                <a:solidFill>
                  <a:srgbClr val="FFFFFF"/>
                </a:solidFill>
                <a:latin typeface="Arial"/>
                <a:cs typeface="Arial"/>
              </a:rPr>
              <a:t>additional</a:t>
            </a:r>
            <a:endParaRPr sz="1985">
              <a:latin typeface="Arial"/>
              <a:cs typeface="Arial"/>
            </a:endParaRPr>
          </a:p>
          <a:p>
            <a:pPr marL="10502" marR="4414885" algn="ctr">
              <a:lnSpc>
                <a:spcPts val="2315"/>
              </a:lnSpc>
              <a:spcBef>
                <a:spcPts val="99"/>
              </a:spcBef>
            </a:pPr>
            <a:r>
              <a:rPr sz="1985" spc="-8" dirty="0">
                <a:solidFill>
                  <a:srgbClr val="FFFFFF"/>
                </a:solidFill>
                <a:latin typeface="Arial"/>
                <a:cs typeface="Arial"/>
              </a:rPr>
              <a:t>convolutional layers</a:t>
            </a:r>
            <a:endParaRPr sz="1985">
              <a:latin typeface="Arial"/>
              <a:cs typeface="Arial"/>
            </a:endParaRPr>
          </a:p>
          <a:p>
            <a:pPr>
              <a:lnSpc>
                <a:spcPct val="100000"/>
              </a:lnSpc>
            </a:pPr>
            <a:endParaRPr sz="1985">
              <a:latin typeface="Arial"/>
              <a:cs typeface="Arial"/>
            </a:endParaRPr>
          </a:p>
          <a:p>
            <a:pPr>
              <a:spcBef>
                <a:spcPts val="1447"/>
              </a:spcBef>
            </a:pPr>
            <a:endParaRPr sz="1985">
              <a:latin typeface="Arial"/>
              <a:cs typeface="Arial"/>
            </a:endParaRPr>
          </a:p>
          <a:p>
            <a:pPr marL="190604" marR="4492597" indent="-132321">
              <a:lnSpc>
                <a:spcPts val="2315"/>
              </a:lnSpc>
              <a:spcBef>
                <a:spcPts val="4"/>
              </a:spcBef>
            </a:pPr>
            <a:r>
              <a:rPr sz="1985" dirty="0">
                <a:solidFill>
                  <a:srgbClr val="FFFFFF"/>
                </a:solidFill>
                <a:latin typeface="Arial"/>
                <a:cs typeface="Arial"/>
              </a:rPr>
              <a:t>More</a:t>
            </a:r>
            <a:r>
              <a:rPr sz="1985" spc="-54" dirty="0">
                <a:solidFill>
                  <a:srgbClr val="FFFFFF"/>
                </a:solidFill>
                <a:latin typeface="Arial"/>
                <a:cs typeface="Arial"/>
              </a:rPr>
              <a:t> </a:t>
            </a:r>
            <a:r>
              <a:rPr sz="1985" spc="-8" dirty="0">
                <a:solidFill>
                  <a:srgbClr val="FFFFFF"/>
                </a:solidFill>
                <a:latin typeface="Arial"/>
                <a:cs typeface="Arial"/>
              </a:rPr>
              <a:t>output channels.</a:t>
            </a:r>
            <a:endParaRPr sz="1985">
              <a:latin typeface="Arial"/>
              <a:cs typeface="Arial"/>
            </a:endParaRPr>
          </a:p>
        </p:txBody>
      </p:sp>
      <p:sp>
        <p:nvSpPr>
          <p:cNvPr id="8" name="object 8"/>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1505">
              <a:lnSpc>
                <a:spcPts val="1182"/>
              </a:lnSpc>
            </a:pPr>
            <a:fld id="{81D60167-4931-47E6-BA6A-407CBD079E47}" type="slidenum">
              <a:rPr lang="en-US" spc="-25" smtClean="0"/>
              <a:pPr marL="38100">
                <a:lnSpc>
                  <a:spcPts val="1485"/>
                </a:lnSpc>
              </a:pPr>
              <a:t>8</a:t>
            </a:fld>
            <a:endParaRPr spc="-2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1271222">
              <a:lnSpc>
                <a:spcPct val="100000"/>
              </a:lnSpc>
              <a:spcBef>
                <a:spcPts val="83"/>
              </a:spcBef>
            </a:pPr>
            <a:r>
              <a:rPr dirty="0">
                <a:latin typeface="Arial"/>
                <a:cs typeface="Arial"/>
              </a:rPr>
              <a:t>AlexNet</a:t>
            </a:r>
            <a:r>
              <a:rPr spc="-244" dirty="0">
                <a:latin typeface="Arial"/>
                <a:cs typeface="Arial"/>
              </a:rPr>
              <a:t> </a:t>
            </a:r>
            <a:r>
              <a:rPr spc="-8" dirty="0">
                <a:latin typeface="Arial"/>
                <a:cs typeface="Arial"/>
              </a:rPr>
              <a:t>Architecture</a:t>
            </a:r>
          </a:p>
        </p:txBody>
      </p:sp>
      <p:pic>
        <p:nvPicPr>
          <p:cNvPr id="3" name="object 3"/>
          <p:cNvPicPr/>
          <p:nvPr/>
        </p:nvPicPr>
        <p:blipFill>
          <a:blip r:embed="rId2" cstate="print"/>
          <a:stretch>
            <a:fillRect/>
          </a:stretch>
        </p:blipFill>
        <p:spPr>
          <a:xfrm>
            <a:off x="6516623" y="2068600"/>
            <a:ext cx="1710195" cy="1582924"/>
          </a:xfrm>
          <a:prstGeom prst="rect">
            <a:avLst/>
          </a:prstGeom>
        </p:spPr>
      </p:pic>
      <p:pic>
        <p:nvPicPr>
          <p:cNvPr id="4" name="object 4"/>
          <p:cNvPicPr/>
          <p:nvPr/>
        </p:nvPicPr>
        <p:blipFill>
          <a:blip r:embed="rId3" cstate="print"/>
          <a:stretch>
            <a:fillRect/>
          </a:stretch>
        </p:blipFill>
        <p:spPr>
          <a:xfrm>
            <a:off x="4367189" y="2119377"/>
            <a:ext cx="1976383" cy="1546205"/>
          </a:xfrm>
          <a:prstGeom prst="rect">
            <a:avLst/>
          </a:prstGeom>
        </p:spPr>
      </p:pic>
      <p:sp>
        <p:nvSpPr>
          <p:cNvPr id="5" name="object 5"/>
          <p:cNvSpPr txBox="1"/>
          <p:nvPr/>
        </p:nvSpPr>
        <p:spPr>
          <a:xfrm>
            <a:off x="6991871" y="1694208"/>
            <a:ext cx="918314" cy="417766"/>
          </a:xfrm>
          <a:prstGeom prst="rect">
            <a:avLst/>
          </a:prstGeom>
        </p:spPr>
        <p:txBody>
          <a:bodyPr vert="horz" wrap="square" lIns="0" tIns="10501" rIns="0" bIns="0" rtlCol="0">
            <a:spAutoFit/>
          </a:bodyPr>
          <a:lstStyle/>
          <a:p>
            <a:pPr marL="10502">
              <a:spcBef>
                <a:spcPts val="83"/>
              </a:spcBef>
            </a:pPr>
            <a:r>
              <a:rPr sz="2646" spc="-8" dirty="0">
                <a:solidFill>
                  <a:srgbClr val="474746"/>
                </a:solidFill>
                <a:latin typeface="Arial"/>
                <a:cs typeface="Arial"/>
              </a:rPr>
              <a:t>LeNet</a:t>
            </a:r>
            <a:endParaRPr sz="2646">
              <a:latin typeface="Arial"/>
              <a:cs typeface="Arial"/>
            </a:endParaRPr>
          </a:p>
        </p:txBody>
      </p:sp>
      <p:sp>
        <p:nvSpPr>
          <p:cNvPr id="6" name="object 6"/>
          <p:cNvSpPr txBox="1"/>
          <p:nvPr/>
        </p:nvSpPr>
        <p:spPr>
          <a:xfrm>
            <a:off x="4880139" y="1694208"/>
            <a:ext cx="1197641" cy="417766"/>
          </a:xfrm>
          <a:prstGeom prst="rect">
            <a:avLst/>
          </a:prstGeom>
        </p:spPr>
        <p:txBody>
          <a:bodyPr vert="horz" wrap="square" lIns="0" tIns="10501" rIns="0" bIns="0" rtlCol="0">
            <a:spAutoFit/>
          </a:bodyPr>
          <a:lstStyle/>
          <a:p>
            <a:pPr marL="10502">
              <a:spcBef>
                <a:spcPts val="83"/>
              </a:spcBef>
            </a:pPr>
            <a:r>
              <a:rPr sz="2646" spc="-8" dirty="0">
                <a:solidFill>
                  <a:srgbClr val="474746"/>
                </a:solidFill>
                <a:latin typeface="Arial"/>
                <a:cs typeface="Arial"/>
              </a:rPr>
              <a:t>AlexNet</a:t>
            </a:r>
            <a:endParaRPr sz="2646">
              <a:latin typeface="Arial"/>
              <a:cs typeface="Arial"/>
            </a:endParaRPr>
          </a:p>
        </p:txBody>
      </p:sp>
      <p:sp>
        <p:nvSpPr>
          <p:cNvPr id="7" name="object 7"/>
          <p:cNvSpPr/>
          <p:nvPr/>
        </p:nvSpPr>
        <p:spPr>
          <a:xfrm>
            <a:off x="1614529" y="2812925"/>
            <a:ext cx="2686161" cy="1818251"/>
          </a:xfrm>
          <a:custGeom>
            <a:avLst/>
            <a:gdLst/>
            <a:ahLst/>
            <a:cxnLst/>
            <a:rect l="l" t="t" r="r" b="b"/>
            <a:pathLst>
              <a:path w="3248660" h="2199004">
                <a:moveTo>
                  <a:pt x="2448321" y="0"/>
                </a:moveTo>
                <a:lnTo>
                  <a:pt x="63500" y="0"/>
                </a:lnTo>
                <a:lnTo>
                  <a:pt x="38782" y="4990"/>
                </a:lnTo>
                <a:lnTo>
                  <a:pt x="18598" y="18598"/>
                </a:lnTo>
                <a:lnTo>
                  <a:pt x="4990" y="38783"/>
                </a:lnTo>
                <a:lnTo>
                  <a:pt x="0" y="63500"/>
                </a:lnTo>
                <a:lnTo>
                  <a:pt x="0" y="2135187"/>
                </a:lnTo>
                <a:lnTo>
                  <a:pt x="4990" y="2159905"/>
                </a:lnTo>
                <a:lnTo>
                  <a:pt x="18598" y="2180089"/>
                </a:lnTo>
                <a:lnTo>
                  <a:pt x="38782" y="2193697"/>
                </a:lnTo>
                <a:lnTo>
                  <a:pt x="63500" y="2198688"/>
                </a:lnTo>
                <a:lnTo>
                  <a:pt x="2448321" y="2198688"/>
                </a:lnTo>
                <a:lnTo>
                  <a:pt x="2473038" y="2193697"/>
                </a:lnTo>
                <a:lnTo>
                  <a:pt x="2493222" y="2180089"/>
                </a:lnTo>
                <a:lnTo>
                  <a:pt x="2506831" y="2159905"/>
                </a:lnTo>
                <a:lnTo>
                  <a:pt x="2511821" y="2135187"/>
                </a:lnTo>
                <a:lnTo>
                  <a:pt x="2511821" y="769541"/>
                </a:lnTo>
                <a:lnTo>
                  <a:pt x="3248421" y="642541"/>
                </a:lnTo>
                <a:lnTo>
                  <a:pt x="2511821" y="515143"/>
                </a:lnTo>
                <a:lnTo>
                  <a:pt x="2511821" y="63500"/>
                </a:lnTo>
                <a:lnTo>
                  <a:pt x="2506831" y="38783"/>
                </a:lnTo>
                <a:lnTo>
                  <a:pt x="2493222" y="18598"/>
                </a:lnTo>
                <a:lnTo>
                  <a:pt x="2473038" y="4990"/>
                </a:lnTo>
                <a:lnTo>
                  <a:pt x="2448321" y="0"/>
                </a:lnTo>
                <a:close/>
              </a:path>
            </a:pathLst>
          </a:custGeom>
          <a:solidFill>
            <a:srgbClr val="FCB64C"/>
          </a:solidFill>
        </p:spPr>
        <p:txBody>
          <a:bodyPr wrap="square" lIns="0" tIns="0" rIns="0" bIns="0" rtlCol="0"/>
          <a:lstStyle/>
          <a:p>
            <a:endParaRPr sz="1488"/>
          </a:p>
        </p:txBody>
      </p:sp>
      <p:sp>
        <p:nvSpPr>
          <p:cNvPr id="8" name="object 8"/>
          <p:cNvSpPr txBox="1"/>
          <p:nvPr/>
        </p:nvSpPr>
        <p:spPr>
          <a:xfrm>
            <a:off x="1689791" y="3249045"/>
            <a:ext cx="1926937" cy="899602"/>
          </a:xfrm>
          <a:prstGeom prst="rect">
            <a:avLst/>
          </a:prstGeom>
        </p:spPr>
        <p:txBody>
          <a:bodyPr vert="horz" wrap="square" lIns="0" tIns="27302" rIns="0" bIns="0" rtlCol="0">
            <a:spAutoFit/>
          </a:bodyPr>
          <a:lstStyle/>
          <a:p>
            <a:pPr marL="738789" marR="59859" indent="-673154">
              <a:lnSpc>
                <a:spcPts val="2315"/>
              </a:lnSpc>
              <a:spcBef>
                <a:spcPts val="214"/>
              </a:spcBef>
            </a:pPr>
            <a:r>
              <a:rPr sz="1985" dirty="0">
                <a:solidFill>
                  <a:srgbClr val="FFFFFF"/>
                </a:solidFill>
                <a:latin typeface="Arial"/>
                <a:cs typeface="Arial"/>
              </a:rPr>
              <a:t>Increase</a:t>
            </a:r>
            <a:r>
              <a:rPr sz="1985" spc="-91" dirty="0">
                <a:solidFill>
                  <a:srgbClr val="FFFFFF"/>
                </a:solidFill>
                <a:latin typeface="Arial"/>
                <a:cs typeface="Arial"/>
              </a:rPr>
              <a:t> </a:t>
            </a:r>
            <a:r>
              <a:rPr sz="1985" spc="-8" dirty="0">
                <a:solidFill>
                  <a:srgbClr val="FFFFFF"/>
                </a:solidFill>
                <a:latin typeface="Arial"/>
                <a:cs typeface="Arial"/>
              </a:rPr>
              <a:t>hidden </a:t>
            </a:r>
            <a:r>
              <a:rPr sz="1985" spc="-17" dirty="0">
                <a:solidFill>
                  <a:srgbClr val="FFFFFF"/>
                </a:solidFill>
                <a:latin typeface="Arial"/>
                <a:cs typeface="Arial"/>
              </a:rPr>
              <a:t>size</a:t>
            </a:r>
            <a:endParaRPr sz="1985">
              <a:latin typeface="Arial"/>
              <a:cs typeface="Arial"/>
            </a:endParaRPr>
          </a:p>
          <a:p>
            <a:pPr marL="10502">
              <a:lnSpc>
                <a:spcPts val="2249"/>
              </a:lnSpc>
            </a:pPr>
            <a:r>
              <a:rPr sz="1985" dirty="0">
                <a:solidFill>
                  <a:srgbClr val="FFFFFF"/>
                </a:solidFill>
                <a:latin typeface="Arial"/>
                <a:cs typeface="Arial"/>
              </a:rPr>
              <a:t>from</a:t>
            </a:r>
            <a:r>
              <a:rPr sz="1985" spc="-37" dirty="0">
                <a:solidFill>
                  <a:srgbClr val="FFFFFF"/>
                </a:solidFill>
                <a:latin typeface="Arial"/>
                <a:cs typeface="Arial"/>
              </a:rPr>
              <a:t> </a:t>
            </a:r>
            <a:r>
              <a:rPr sz="1985" dirty="0">
                <a:solidFill>
                  <a:srgbClr val="FFFFFF"/>
                </a:solidFill>
                <a:latin typeface="Arial"/>
                <a:cs typeface="Arial"/>
              </a:rPr>
              <a:t>120</a:t>
            </a:r>
            <a:r>
              <a:rPr sz="1985" spc="-29" dirty="0">
                <a:solidFill>
                  <a:srgbClr val="FFFFFF"/>
                </a:solidFill>
                <a:latin typeface="Arial"/>
                <a:cs typeface="Arial"/>
              </a:rPr>
              <a:t> </a:t>
            </a:r>
            <a:r>
              <a:rPr sz="1985" dirty="0">
                <a:solidFill>
                  <a:srgbClr val="FFFFFF"/>
                </a:solidFill>
                <a:latin typeface="Arial"/>
                <a:cs typeface="Arial"/>
              </a:rPr>
              <a:t>to</a:t>
            </a:r>
            <a:r>
              <a:rPr sz="1985" spc="-29" dirty="0">
                <a:solidFill>
                  <a:srgbClr val="FFFFFF"/>
                </a:solidFill>
                <a:latin typeface="Arial"/>
                <a:cs typeface="Arial"/>
              </a:rPr>
              <a:t> </a:t>
            </a:r>
            <a:r>
              <a:rPr sz="1985" spc="-17" dirty="0">
                <a:solidFill>
                  <a:srgbClr val="FFFFFF"/>
                </a:solidFill>
                <a:latin typeface="Arial"/>
                <a:cs typeface="Arial"/>
              </a:rPr>
              <a:t>4096</a:t>
            </a:r>
            <a:endParaRPr sz="1985">
              <a:latin typeface="Arial"/>
              <a:cs typeface="Arial"/>
            </a:endParaRPr>
          </a:p>
        </p:txBody>
      </p:sp>
      <p:sp>
        <p:nvSpPr>
          <p:cNvPr id="9" name="object 9"/>
          <p:cNvSpPr/>
          <p:nvPr/>
        </p:nvSpPr>
        <p:spPr>
          <a:xfrm>
            <a:off x="1614529" y="1825070"/>
            <a:ext cx="2763868" cy="700418"/>
          </a:xfrm>
          <a:custGeom>
            <a:avLst/>
            <a:gdLst/>
            <a:ahLst/>
            <a:cxnLst/>
            <a:rect l="l" t="t" r="r" b="b"/>
            <a:pathLst>
              <a:path w="3342640" h="847089">
                <a:moveTo>
                  <a:pt x="2647156" y="0"/>
                </a:moveTo>
                <a:lnTo>
                  <a:pt x="63500" y="0"/>
                </a:lnTo>
                <a:lnTo>
                  <a:pt x="38782" y="4990"/>
                </a:lnTo>
                <a:lnTo>
                  <a:pt x="18598" y="18598"/>
                </a:lnTo>
                <a:lnTo>
                  <a:pt x="4990" y="38783"/>
                </a:lnTo>
                <a:lnTo>
                  <a:pt x="0" y="63500"/>
                </a:lnTo>
                <a:lnTo>
                  <a:pt x="0" y="783431"/>
                </a:lnTo>
                <a:lnTo>
                  <a:pt x="4990" y="808148"/>
                </a:lnTo>
                <a:lnTo>
                  <a:pt x="18598" y="828332"/>
                </a:lnTo>
                <a:lnTo>
                  <a:pt x="38782" y="841941"/>
                </a:lnTo>
                <a:lnTo>
                  <a:pt x="63500" y="846931"/>
                </a:lnTo>
                <a:lnTo>
                  <a:pt x="2647156" y="846931"/>
                </a:lnTo>
                <a:lnTo>
                  <a:pt x="2671873" y="841941"/>
                </a:lnTo>
                <a:lnTo>
                  <a:pt x="2692057" y="828332"/>
                </a:lnTo>
                <a:lnTo>
                  <a:pt x="2705666" y="808148"/>
                </a:lnTo>
                <a:lnTo>
                  <a:pt x="2710656" y="783431"/>
                </a:lnTo>
                <a:lnTo>
                  <a:pt x="2710656" y="751283"/>
                </a:lnTo>
                <a:lnTo>
                  <a:pt x="3342084" y="624283"/>
                </a:lnTo>
                <a:lnTo>
                  <a:pt x="2710656" y="496887"/>
                </a:lnTo>
                <a:lnTo>
                  <a:pt x="2710656" y="63500"/>
                </a:lnTo>
                <a:lnTo>
                  <a:pt x="2705666" y="38783"/>
                </a:lnTo>
                <a:lnTo>
                  <a:pt x="2692057" y="18598"/>
                </a:lnTo>
                <a:lnTo>
                  <a:pt x="2671873" y="4990"/>
                </a:lnTo>
                <a:lnTo>
                  <a:pt x="2647156" y="0"/>
                </a:lnTo>
                <a:close/>
              </a:path>
            </a:pathLst>
          </a:custGeom>
          <a:solidFill>
            <a:srgbClr val="FCB64C"/>
          </a:solidFill>
        </p:spPr>
        <p:txBody>
          <a:bodyPr wrap="square" lIns="0" tIns="0" rIns="0" bIns="0" rtlCol="0"/>
          <a:lstStyle/>
          <a:p>
            <a:endParaRPr sz="1488"/>
          </a:p>
        </p:txBody>
      </p:sp>
      <p:sp>
        <p:nvSpPr>
          <p:cNvPr id="10" name="object 10"/>
          <p:cNvSpPr txBox="1"/>
          <p:nvPr/>
        </p:nvSpPr>
        <p:spPr>
          <a:xfrm>
            <a:off x="1989193" y="1852347"/>
            <a:ext cx="1492195" cy="617475"/>
          </a:xfrm>
          <a:prstGeom prst="rect">
            <a:avLst/>
          </a:prstGeom>
        </p:spPr>
        <p:txBody>
          <a:bodyPr vert="horz" wrap="square" lIns="0" tIns="27303" rIns="0" bIns="0" rtlCol="0">
            <a:spAutoFit/>
          </a:bodyPr>
          <a:lstStyle/>
          <a:p>
            <a:pPr marL="395386" marR="4201" indent="-385410">
              <a:lnSpc>
                <a:spcPts val="2315"/>
              </a:lnSpc>
              <a:spcBef>
                <a:spcPts val="215"/>
              </a:spcBef>
            </a:pPr>
            <a:r>
              <a:rPr sz="1985" dirty="0">
                <a:solidFill>
                  <a:srgbClr val="FFFFFF"/>
                </a:solidFill>
                <a:latin typeface="Arial"/>
                <a:cs typeface="Arial"/>
              </a:rPr>
              <a:t>1000</a:t>
            </a:r>
            <a:r>
              <a:rPr sz="1985" spc="-45" dirty="0">
                <a:solidFill>
                  <a:srgbClr val="FFFFFF"/>
                </a:solidFill>
                <a:latin typeface="Arial"/>
                <a:cs typeface="Arial"/>
              </a:rPr>
              <a:t> </a:t>
            </a:r>
            <a:r>
              <a:rPr sz="1985" spc="-8" dirty="0">
                <a:solidFill>
                  <a:srgbClr val="FFFFFF"/>
                </a:solidFill>
                <a:latin typeface="Arial"/>
                <a:cs typeface="Arial"/>
              </a:rPr>
              <a:t>classes output</a:t>
            </a:r>
            <a:endParaRPr sz="1985">
              <a:latin typeface="Arial"/>
              <a:cs typeface="Arial"/>
            </a:endParaRPr>
          </a:p>
        </p:txBody>
      </p:sp>
      <p:sp>
        <p:nvSpPr>
          <p:cNvPr id="11" name="object 11"/>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1505">
              <a:lnSpc>
                <a:spcPts val="1182"/>
              </a:lnSpc>
            </a:pPr>
            <a:fld id="{81D60167-4931-47E6-BA6A-407CBD079E47}" type="slidenum">
              <a:rPr lang="en-US" spc="-25" smtClean="0"/>
              <a:pPr marL="38100">
                <a:lnSpc>
                  <a:spcPts val="1485"/>
                </a:lnSpc>
              </a:pPr>
              <a:t>9</a:t>
            </a:fld>
            <a:endParaRPr spc="-2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Comparing CNN, </a:t>
            </a:r>
            <a:r>
              <a:rPr dirty="0" err="1"/>
              <a:t>AlexNet</a:t>
            </a:r>
            <a:r>
              <a:rPr dirty="0"/>
              <a:t>, and </a:t>
            </a:r>
            <a:r>
              <a:rPr dirty="0" err="1"/>
              <a:t>ResNet</a:t>
            </a:r>
            <a:r>
              <a:rPr dirty="0"/>
              <a:t> in </a:t>
            </a:r>
            <a:r>
              <a:rPr dirty="0" err="1"/>
              <a:t>Keras</a:t>
            </a:r>
            <a:endParaRPr dirty="0"/>
          </a:p>
        </p:txBody>
      </p:sp>
      <p:sp>
        <p:nvSpPr>
          <p:cNvPr id="3" name="Content Placeholder 2"/>
          <p:cNvSpPr>
            <a:spLocks noGrp="1"/>
          </p:cNvSpPr>
          <p:nvPr>
            <p:ph idx="1"/>
          </p:nvPr>
        </p:nvSpPr>
        <p:spPr/>
        <p:txBody>
          <a:bodyPr/>
          <a:lstStyle/>
          <a:p>
            <a:r>
              <a:rPr dirty="0"/>
              <a:t>Evolution of Depth, Optimization, and Transfer Learning</a:t>
            </a:r>
            <a:r>
              <a:rPr lang="en-US" dirty="0"/>
              <a:t>??</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CNN</a:t>
            </a:r>
          </a:p>
        </p:txBody>
      </p:sp>
      <p:sp>
        <p:nvSpPr>
          <p:cNvPr id="3" name="Content Placeholder 2"/>
          <p:cNvSpPr>
            <a:spLocks noGrp="1"/>
          </p:cNvSpPr>
          <p:nvPr>
            <p:ph idx="1"/>
          </p:nvPr>
        </p:nvSpPr>
        <p:spPr/>
        <p:txBody>
          <a:bodyPr/>
          <a:lstStyle/>
          <a:p>
            <a:r>
              <a:t>- Layers: 2 conv + pooling + 2 dense</a:t>
            </a:r>
          </a:p>
          <a:p>
            <a:r>
              <a:t>- Params: ~0.2M</a:t>
            </a:r>
          </a:p>
          <a:p>
            <a:r>
              <a:t>- Performance: ~60% on CIFAR-10</a:t>
            </a:r>
          </a:p>
          <a:p>
            <a:r>
              <a:t>- Strength: Fast, simple</a:t>
            </a:r>
          </a:p>
          <a:p>
            <a:r>
              <a:t>- Limitation: Underfits complex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AlexNet (2012)</a:t>
            </a:r>
          </a:p>
        </p:txBody>
      </p:sp>
      <p:sp>
        <p:nvSpPr>
          <p:cNvPr id="3" name="Content Placeholder 2"/>
          <p:cNvSpPr>
            <a:spLocks noGrp="1"/>
          </p:cNvSpPr>
          <p:nvPr>
            <p:ph idx="1"/>
          </p:nvPr>
        </p:nvSpPr>
        <p:spPr/>
        <p:txBody>
          <a:bodyPr/>
          <a:lstStyle/>
          <a:p>
            <a:r>
              <a:t>- 5 conv + 3 dense layers (~60M params originally)</a:t>
            </a:r>
          </a:p>
          <a:p>
            <a:r>
              <a:t>- Introduced ReLU, dropout, augmentation</a:t>
            </a:r>
          </a:p>
          <a:p>
            <a:r>
              <a:t>- Deeper than CNN but unstable without normalization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ResNet (2015)</a:t>
            </a:r>
          </a:p>
        </p:txBody>
      </p:sp>
      <p:sp>
        <p:nvSpPr>
          <p:cNvPr id="3" name="Content Placeholder 2"/>
          <p:cNvSpPr>
            <a:spLocks noGrp="1"/>
          </p:cNvSpPr>
          <p:nvPr>
            <p:ph idx="1"/>
          </p:nvPr>
        </p:nvSpPr>
        <p:spPr/>
        <p:txBody>
          <a:bodyPr/>
          <a:lstStyle/>
          <a:p>
            <a:r>
              <a:t>- 50+ layers with skip connections (y = F(x) + x)</a:t>
            </a:r>
          </a:p>
          <a:p>
            <a:r>
              <a:t>- Solves vanishing gradient &amp; degradation</a:t>
            </a:r>
          </a:p>
          <a:p>
            <a:r>
              <a:t>- Enables very deep, trainable networks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Code Recap</a:t>
            </a:r>
          </a:p>
        </p:txBody>
      </p:sp>
      <p:sp>
        <p:nvSpPr>
          <p:cNvPr id="3" name="Content Placeholder 2"/>
          <p:cNvSpPr>
            <a:spLocks noGrp="1"/>
          </p:cNvSpPr>
          <p:nvPr>
            <p:ph idx="1"/>
          </p:nvPr>
        </p:nvSpPr>
        <p:spPr/>
        <p:txBody>
          <a:bodyPr/>
          <a:lstStyle/>
          <a:p>
            <a:r>
              <a:t>- Dataset: CIFAR-10</a:t>
            </a:r>
          </a:p>
          <a:p>
            <a:r>
              <a:t>- Models: Simple CNN, AlexNet-like, ResNet50</a:t>
            </a:r>
          </a:p>
          <a:p>
            <a:r>
              <a:t>- Same optimizer and preprocessing</a:t>
            </a:r>
          </a:p>
          <a:p>
            <a:r>
              <a:t>- Metric: Validation accuracy/loss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Training Results: Accuracy</a:t>
            </a:r>
          </a:p>
        </p:txBody>
      </p:sp>
      <p:sp>
        <p:nvSpPr>
          <p:cNvPr id="3" name="Content Placeholder 2"/>
          <p:cNvSpPr>
            <a:spLocks noGrp="1"/>
          </p:cNvSpPr>
          <p:nvPr>
            <p:ph idx="1"/>
          </p:nvPr>
        </p:nvSpPr>
        <p:spPr/>
        <p:txBody>
          <a:bodyPr/>
          <a:lstStyle/>
          <a:p>
            <a:r>
              <a:t>Interpretation:</a:t>
            </a:r>
          </a:p>
          <a:p>
            <a:r>
              <a:t>- Simple CNN: Low, stable</a:t>
            </a:r>
          </a:p>
          <a:p>
            <a:r>
              <a:t>- AlexNet-like: Improves but overfits</a:t>
            </a:r>
          </a:p>
          <a:p>
            <a:r>
              <a:t>- ResNet50: High, stable — best generalization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Training Results: Loss</a:t>
            </a:r>
          </a:p>
        </p:txBody>
      </p:sp>
      <p:sp>
        <p:nvSpPr>
          <p:cNvPr id="3" name="Content Placeholder 2"/>
          <p:cNvSpPr>
            <a:spLocks noGrp="1"/>
          </p:cNvSpPr>
          <p:nvPr>
            <p:ph idx="1"/>
          </p:nvPr>
        </p:nvSpPr>
        <p:spPr/>
        <p:txBody>
          <a:bodyPr/>
          <a:lstStyle/>
          <a:p>
            <a:r>
              <a:t>Interpretation:</a:t>
            </a:r>
          </a:p>
          <a:p>
            <a:r>
              <a:t>- Simple CNN: Underfits (high bias)</a:t>
            </a:r>
          </a:p>
          <a:p>
            <a:r>
              <a:t>- AlexNet-like: Overfits (high variance)</a:t>
            </a:r>
          </a:p>
          <a:p>
            <a:r>
              <a:t>- ResNet: Balanced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Vanishing Gradients</a:t>
            </a:r>
          </a:p>
        </p:txBody>
      </p:sp>
      <p:sp>
        <p:nvSpPr>
          <p:cNvPr id="3" name="Content Placeholder 2"/>
          <p:cNvSpPr>
            <a:spLocks noGrp="1"/>
          </p:cNvSpPr>
          <p:nvPr>
            <p:ph idx="1"/>
          </p:nvPr>
        </p:nvSpPr>
        <p:spPr/>
        <p:txBody>
          <a:bodyPr/>
          <a:lstStyle/>
          <a:p>
            <a:r>
              <a:rPr dirty="0"/>
              <a:t>Gradients shrink as they propagate backward.</a:t>
            </a:r>
          </a:p>
          <a:p>
            <a:r>
              <a:rPr dirty="0"/>
              <a:t>→ </a:t>
            </a:r>
            <a:r>
              <a:rPr dirty="0">
                <a:solidFill>
                  <a:srgbClr val="FF0000"/>
                </a:solidFill>
              </a:rPr>
              <a:t>Early layers stop learning</a:t>
            </a:r>
            <a:r>
              <a:rPr dirty="0"/>
              <a:t>.</a:t>
            </a:r>
          </a:p>
          <a:p>
            <a:r>
              <a:rPr dirty="0"/>
              <a:t>→ Deeper networks may degrade without residuals.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Skip Connections</a:t>
            </a:r>
          </a:p>
        </p:txBody>
      </p:sp>
      <p:sp>
        <p:nvSpPr>
          <p:cNvPr id="3" name="Content Placeholder 2"/>
          <p:cNvSpPr>
            <a:spLocks noGrp="1"/>
          </p:cNvSpPr>
          <p:nvPr>
            <p:ph idx="1"/>
          </p:nvPr>
        </p:nvSpPr>
        <p:spPr/>
        <p:txBody>
          <a:bodyPr/>
          <a:lstStyle/>
          <a:p>
            <a:r>
              <a:rPr dirty="0"/>
              <a:t>Equation: y = F(x) + x</a:t>
            </a:r>
          </a:p>
          <a:p>
            <a:r>
              <a:rPr dirty="0"/>
              <a:t>Backprop: ∂L/∂x = ∂L/∂y * (1 + ∂F/∂x)</a:t>
            </a:r>
          </a:p>
          <a:p>
            <a:r>
              <a:rPr dirty="0"/>
              <a:t>Ensures gradient always has a direct path </a:t>
            </a:r>
            <a:r>
              <a:rPr dirty="0">
                <a:solidFill>
                  <a:srgbClr val="FF0000"/>
                </a:solidFill>
              </a:rPr>
              <a:t>→ stable training</a:t>
            </a:r>
            <a:r>
              <a:rPr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Transfer Learning</a:t>
            </a:r>
          </a:p>
        </p:txBody>
      </p:sp>
      <p:sp>
        <p:nvSpPr>
          <p:cNvPr id="3" name="Content Placeholder 2"/>
          <p:cNvSpPr>
            <a:spLocks noGrp="1"/>
          </p:cNvSpPr>
          <p:nvPr>
            <p:ph idx="1"/>
          </p:nvPr>
        </p:nvSpPr>
        <p:spPr/>
        <p:txBody>
          <a:bodyPr/>
          <a:lstStyle/>
          <a:p>
            <a:r>
              <a:rPr dirty="0"/>
              <a:t>- Uses pretrained weights (ImageNet → CIFAR)</a:t>
            </a:r>
          </a:p>
          <a:p>
            <a:r>
              <a:rPr dirty="0"/>
              <a:t>- Benefits: Faster, more accurate, less overfitting</a:t>
            </a:r>
          </a:p>
          <a:p>
            <a:r>
              <a:rPr dirty="0"/>
              <a:t>- </a:t>
            </a:r>
            <a:r>
              <a:rPr dirty="0">
                <a:solidFill>
                  <a:srgbClr val="FF0000"/>
                </a:solidFill>
              </a:rPr>
              <a:t>Freeze base</a:t>
            </a:r>
            <a:r>
              <a:rPr dirty="0"/>
              <a:t>, train small dense head</a:t>
            </a:r>
            <a:endParaRPr lang="en-US" dirty="0"/>
          </a:p>
          <a:p>
            <a:endParaRPr lang="en-US" dirty="0"/>
          </a:p>
          <a:p>
            <a:pPr marL="0" indent="0">
              <a:buNone/>
            </a:pPr>
            <a:r>
              <a:rPr lang="en-US" dirty="0"/>
              <a:t>Instead of training a deep neural network from scratch—which requires millions of labeled images and extensive computation—you can </a:t>
            </a:r>
            <a:r>
              <a:rPr lang="en-US" b="1" dirty="0"/>
              <a:t>leverage a pretrained model</a:t>
            </a:r>
            <a:r>
              <a:rPr lang="en-US" dirty="0"/>
              <a:t> (e.g., ResNet50 trained on ImageNet) and </a:t>
            </a:r>
            <a:r>
              <a:rPr lang="en-US" b="1" dirty="0"/>
              <a:t>transfer its learned features</a:t>
            </a:r>
            <a:r>
              <a:rPr lang="en-US" dirty="0"/>
              <a:t> to a new, smaller dataset (e.g., classifying medical images, plant species, or custom objects).</a:t>
            </a:r>
          </a:p>
          <a:p>
            <a:pPr marL="0" indent="0">
              <a:buNone/>
            </a:pP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0CBD3C-EC05-B3B9-65AE-A68568A86EAB}"/>
              </a:ext>
            </a:extLst>
          </p:cNvPr>
          <p:cNvSpPr txBox="1"/>
          <p:nvPr/>
        </p:nvSpPr>
        <p:spPr>
          <a:xfrm>
            <a:off x="317500" y="168275"/>
            <a:ext cx="8991600" cy="4524315"/>
          </a:xfrm>
          <a:prstGeom prst="rect">
            <a:avLst/>
          </a:prstGeom>
          <a:solidFill>
            <a:schemeClr val="bg1"/>
          </a:solidFill>
        </p:spPr>
        <p:txBody>
          <a:bodyPr wrap="square">
            <a:spAutoFit/>
          </a:bodyPr>
          <a:lstStyle/>
          <a:p>
            <a:pPr>
              <a:buNone/>
            </a:pPr>
            <a:r>
              <a:rPr lang="en-US" b="1" dirty="0"/>
              <a:t>Step-by-Step Explanation</a:t>
            </a:r>
          </a:p>
          <a:p>
            <a:pPr>
              <a:buFont typeface="+mj-lt"/>
              <a:buAutoNum type="arabicPeriod"/>
            </a:pPr>
            <a:r>
              <a:rPr lang="en-US" b="1" dirty="0"/>
              <a:t>Pretrained Model (Source Domain)</a:t>
            </a:r>
            <a:endParaRPr lang="en-US" dirty="0"/>
          </a:p>
          <a:p>
            <a:pPr marL="742950" lvl="1" indent="-285750">
              <a:buFont typeface="+mj-lt"/>
              <a:buAutoNum type="arabicPeriod"/>
            </a:pPr>
            <a:r>
              <a:rPr lang="en-US" dirty="0"/>
              <a:t>Use a deep CNN like </a:t>
            </a:r>
            <a:r>
              <a:rPr lang="en-US" b="1" dirty="0"/>
              <a:t>ResNet50</a:t>
            </a:r>
            <a:r>
              <a:rPr lang="en-US" dirty="0"/>
              <a:t>, which has already learned to recognize general image features (edges, shapes, textures) from </a:t>
            </a:r>
            <a:r>
              <a:rPr lang="en-US" b="1" dirty="0"/>
              <a:t>ImageNet</a:t>
            </a:r>
            <a:r>
              <a:rPr lang="en-US" dirty="0"/>
              <a:t> (over 1 million labeled images across 1000 classes).</a:t>
            </a:r>
          </a:p>
          <a:p>
            <a:pPr>
              <a:buFont typeface="+mj-lt"/>
              <a:buAutoNum type="arabicPeriod"/>
            </a:pPr>
            <a:r>
              <a:rPr lang="en-US" b="1" dirty="0"/>
              <a:t>Target Domain</a:t>
            </a:r>
            <a:endParaRPr lang="en-US" dirty="0"/>
          </a:p>
          <a:p>
            <a:pPr marL="742950" lvl="1" indent="-285750">
              <a:buFont typeface="+mj-lt"/>
              <a:buAutoNum type="arabicPeriod"/>
            </a:pPr>
            <a:r>
              <a:rPr lang="en-US" dirty="0"/>
              <a:t>Suppose you have a dataset of </a:t>
            </a:r>
            <a:r>
              <a:rPr lang="en-US" b="1" dirty="0"/>
              <a:t>X-ray chest images</a:t>
            </a:r>
            <a:r>
              <a:rPr lang="en-US" dirty="0"/>
              <a:t> for classifying </a:t>
            </a:r>
            <a:r>
              <a:rPr lang="en-US" b="1" dirty="0"/>
              <a:t>Normal vs Pneumonia</a:t>
            </a:r>
            <a:r>
              <a:rPr lang="en-US" dirty="0"/>
              <a:t> (only a few thousand samples).</a:t>
            </a:r>
          </a:p>
          <a:p>
            <a:pPr marL="742950" lvl="1" indent="-285750">
              <a:buFont typeface="+mj-lt"/>
              <a:buAutoNum type="arabicPeriod"/>
            </a:pPr>
            <a:r>
              <a:rPr lang="en-US" dirty="0"/>
              <a:t>Training a deep CNN from scratch would cause </a:t>
            </a:r>
            <a:r>
              <a:rPr lang="en-US" b="1" dirty="0"/>
              <a:t>overfitting</a:t>
            </a:r>
            <a:r>
              <a:rPr lang="en-US" dirty="0"/>
              <a:t> and </a:t>
            </a:r>
            <a:r>
              <a:rPr lang="en-US" b="1" dirty="0"/>
              <a:t>require huge resources</a:t>
            </a:r>
            <a:r>
              <a:rPr lang="en-US" dirty="0"/>
              <a:t>.</a:t>
            </a:r>
          </a:p>
          <a:p>
            <a:pPr>
              <a:buFont typeface="+mj-lt"/>
              <a:buAutoNum type="arabicPeriod"/>
            </a:pPr>
            <a:r>
              <a:rPr lang="en-US" b="1" dirty="0"/>
              <a:t>Transfer Learning Strategy</a:t>
            </a:r>
            <a:endParaRPr lang="en-US" dirty="0"/>
          </a:p>
          <a:p>
            <a:pPr marL="742950" lvl="1" indent="-285750">
              <a:buFont typeface="+mj-lt"/>
              <a:buAutoNum type="arabicPeriod"/>
            </a:pPr>
            <a:r>
              <a:rPr lang="en-US" b="1" dirty="0"/>
              <a:t>Load pretrained ResNet50</a:t>
            </a:r>
            <a:r>
              <a:rPr lang="en-US" dirty="0"/>
              <a:t> with weights from ImageNet.</a:t>
            </a:r>
          </a:p>
          <a:p>
            <a:pPr marL="742950" lvl="1" indent="-285750">
              <a:buFont typeface="+mj-lt"/>
              <a:buAutoNum type="arabicPeriod"/>
            </a:pPr>
            <a:r>
              <a:rPr lang="en-US" b="1" dirty="0"/>
              <a:t>Remove the top (fully connected) layer</a:t>
            </a:r>
            <a:r>
              <a:rPr lang="en-US" dirty="0"/>
              <a:t>, which outputs 1000 ImageNet classes.</a:t>
            </a:r>
          </a:p>
          <a:p>
            <a:pPr marL="742950" lvl="1" indent="-285750">
              <a:buFont typeface="+mj-lt"/>
              <a:buAutoNum type="arabicPeriod"/>
            </a:pPr>
            <a:r>
              <a:rPr lang="en-US" b="1" dirty="0"/>
              <a:t>Freeze the convolutional base layers</a:t>
            </a:r>
            <a:r>
              <a:rPr lang="en-US" dirty="0"/>
              <a:t> to retain learned low-level features.</a:t>
            </a:r>
          </a:p>
          <a:p>
            <a:pPr marL="742950" lvl="1" indent="-285750">
              <a:buFont typeface="+mj-lt"/>
              <a:buAutoNum type="arabicPeriod"/>
            </a:pPr>
            <a:r>
              <a:rPr lang="en-US" b="1" dirty="0"/>
              <a:t>Add new fully connected layers</a:t>
            </a:r>
            <a:r>
              <a:rPr lang="en-US" dirty="0"/>
              <a:t> suitable for your target classes (e.g., </a:t>
            </a:r>
            <a:r>
              <a:rPr lang="en-US" dirty="0">
                <a:solidFill>
                  <a:srgbClr val="FF0000"/>
                </a:solidFill>
              </a:rPr>
              <a:t>2 neurons for binary classification).</a:t>
            </a:r>
          </a:p>
          <a:p>
            <a:pPr marL="742950" lvl="1" indent="-285750">
              <a:buFont typeface="+mj-lt"/>
              <a:buAutoNum type="arabicPeriod"/>
            </a:pPr>
            <a:r>
              <a:rPr lang="en-US" b="1" dirty="0"/>
              <a:t>Train only the new top layers</a:t>
            </a:r>
            <a:r>
              <a:rPr lang="en-US" dirty="0"/>
              <a:t>, or fine-tune a few upper convolutional layers.</a:t>
            </a:r>
          </a:p>
        </p:txBody>
      </p:sp>
    </p:spTree>
    <p:extLst>
      <p:ext uri="{BB962C8B-B14F-4D97-AF65-F5344CB8AC3E}">
        <p14:creationId xmlns:p14="http://schemas.microsoft.com/office/powerpoint/2010/main" val="2532617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D9F76E-BDD7-D2F5-1C12-FCC7BBB80239}"/>
              </a:ext>
            </a:extLst>
          </p:cNvPr>
          <p:cNvPicPr>
            <a:picLocks noChangeAspect="1"/>
          </p:cNvPicPr>
          <p:nvPr/>
        </p:nvPicPr>
        <p:blipFill>
          <a:blip r:embed="rId2"/>
          <a:stretch>
            <a:fillRect/>
          </a:stretch>
        </p:blipFill>
        <p:spPr>
          <a:xfrm>
            <a:off x="469900" y="244475"/>
            <a:ext cx="6713838" cy="4736519"/>
          </a:xfrm>
          <a:prstGeom prst="rect">
            <a:avLst/>
          </a:prstGeom>
        </p:spPr>
      </p:pic>
    </p:spTree>
    <p:extLst>
      <p:ext uri="{BB962C8B-B14F-4D97-AF65-F5344CB8AC3E}">
        <p14:creationId xmlns:p14="http://schemas.microsoft.com/office/powerpoint/2010/main" val="2780722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22B34B-F941-FFCC-9E90-6B8C787D962A}"/>
              </a:ext>
            </a:extLst>
          </p:cNvPr>
          <p:cNvPicPr>
            <a:picLocks noChangeAspect="1"/>
          </p:cNvPicPr>
          <p:nvPr/>
        </p:nvPicPr>
        <p:blipFill>
          <a:blip r:embed="rId2"/>
          <a:stretch>
            <a:fillRect/>
          </a:stretch>
        </p:blipFill>
        <p:spPr>
          <a:xfrm>
            <a:off x="469900" y="396875"/>
            <a:ext cx="6477000" cy="4500134"/>
          </a:xfrm>
          <a:prstGeom prst="rect">
            <a:avLst/>
          </a:prstGeom>
        </p:spPr>
      </p:pic>
    </p:spTree>
    <p:extLst>
      <p:ext uri="{BB962C8B-B14F-4D97-AF65-F5344CB8AC3E}">
        <p14:creationId xmlns:p14="http://schemas.microsoft.com/office/powerpoint/2010/main" val="1633650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Overfitting &amp; Overparameterization</a:t>
            </a:r>
          </a:p>
        </p:txBody>
      </p:sp>
      <p:sp>
        <p:nvSpPr>
          <p:cNvPr id="3" name="Content Placeholder 2"/>
          <p:cNvSpPr>
            <a:spLocks noGrp="1"/>
          </p:cNvSpPr>
          <p:nvPr>
            <p:ph idx="1"/>
          </p:nvPr>
        </p:nvSpPr>
        <p:spPr/>
        <p:txBody>
          <a:bodyPr/>
          <a:lstStyle/>
          <a:p>
            <a:r>
              <a:t>Simple CNN: Underfits (~0.2M params)</a:t>
            </a:r>
          </a:p>
          <a:p>
            <a:r>
              <a:t>AlexNet-like: Overfits (~10M)</a:t>
            </a:r>
          </a:p>
          <a:p>
            <a:r>
              <a:t>ResNet50: Generalizes (~25M, pretrained)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4117A-C37D-F2F7-5880-BAC21448FDD6}"/>
              </a:ext>
            </a:extLst>
          </p:cNvPr>
          <p:cNvSpPr>
            <a:spLocks noGrp="1"/>
          </p:cNvSpPr>
          <p:nvPr>
            <p:ph type="title"/>
          </p:nvPr>
        </p:nvSpPr>
        <p:spPr/>
        <p:txBody>
          <a:bodyPr/>
          <a:lstStyle/>
          <a:p>
            <a:r>
              <a:rPr lang="en-US" dirty="0" err="1"/>
              <a:t>Keras</a:t>
            </a:r>
            <a:r>
              <a:rPr lang="en-US" dirty="0"/>
              <a:t> example</a:t>
            </a:r>
          </a:p>
        </p:txBody>
      </p:sp>
      <p:pic>
        <p:nvPicPr>
          <p:cNvPr id="5" name="Picture 4">
            <a:extLst>
              <a:ext uri="{FF2B5EF4-FFF2-40B4-BE49-F238E27FC236}">
                <a16:creationId xmlns:a16="http://schemas.microsoft.com/office/drawing/2014/main" id="{70E1AEB1-BC59-D994-9FCB-B80C950C82CE}"/>
              </a:ext>
            </a:extLst>
          </p:cNvPr>
          <p:cNvPicPr>
            <a:picLocks noChangeAspect="1"/>
          </p:cNvPicPr>
          <p:nvPr/>
        </p:nvPicPr>
        <p:blipFill>
          <a:blip r:embed="rId2"/>
          <a:stretch>
            <a:fillRect/>
          </a:stretch>
        </p:blipFill>
        <p:spPr>
          <a:xfrm>
            <a:off x="1308101" y="1555115"/>
            <a:ext cx="6496122" cy="2227242"/>
          </a:xfrm>
          <a:prstGeom prst="rect">
            <a:avLst/>
          </a:prstGeom>
        </p:spPr>
      </p:pic>
    </p:spTree>
    <p:extLst>
      <p:ext uri="{BB962C8B-B14F-4D97-AF65-F5344CB8AC3E}">
        <p14:creationId xmlns:p14="http://schemas.microsoft.com/office/powerpoint/2010/main" val="19159438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2D82D8-F1FC-9623-B20E-7D3764EC656F}"/>
              </a:ext>
            </a:extLst>
          </p:cNvPr>
          <p:cNvPicPr>
            <a:picLocks noChangeAspect="1"/>
          </p:cNvPicPr>
          <p:nvPr/>
        </p:nvPicPr>
        <p:blipFill>
          <a:blip r:embed="rId2"/>
          <a:stretch>
            <a:fillRect/>
          </a:stretch>
        </p:blipFill>
        <p:spPr>
          <a:xfrm>
            <a:off x="2304071" y="1773890"/>
            <a:ext cx="5475658" cy="2122770"/>
          </a:xfrm>
          <a:prstGeom prst="rect">
            <a:avLst/>
          </a:prstGeom>
        </p:spPr>
      </p:pic>
    </p:spTree>
    <p:extLst>
      <p:ext uri="{BB962C8B-B14F-4D97-AF65-F5344CB8AC3E}">
        <p14:creationId xmlns:p14="http://schemas.microsoft.com/office/powerpoint/2010/main" val="1111520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AF2D27-6A7D-0F8D-FEB9-DBDA98D37CF8}"/>
              </a:ext>
            </a:extLst>
          </p:cNvPr>
          <p:cNvPicPr>
            <a:picLocks noChangeAspect="1"/>
          </p:cNvPicPr>
          <p:nvPr/>
        </p:nvPicPr>
        <p:blipFill>
          <a:blip r:embed="rId2"/>
          <a:stretch>
            <a:fillRect/>
          </a:stretch>
        </p:blipFill>
        <p:spPr>
          <a:xfrm>
            <a:off x="1003300" y="3673475"/>
            <a:ext cx="1159359" cy="435440"/>
          </a:xfrm>
          <a:prstGeom prst="rect">
            <a:avLst/>
          </a:prstGeom>
        </p:spPr>
      </p:pic>
      <p:pic>
        <p:nvPicPr>
          <p:cNvPr id="3" name="Picture 2">
            <a:extLst>
              <a:ext uri="{FF2B5EF4-FFF2-40B4-BE49-F238E27FC236}">
                <a16:creationId xmlns:a16="http://schemas.microsoft.com/office/drawing/2014/main" id="{2E3F7755-96CB-C235-B613-7D891FBF6095}"/>
              </a:ext>
            </a:extLst>
          </p:cNvPr>
          <p:cNvPicPr>
            <a:picLocks noChangeAspect="1"/>
          </p:cNvPicPr>
          <p:nvPr/>
        </p:nvPicPr>
        <p:blipFill>
          <a:blip r:embed="rId3"/>
          <a:stretch>
            <a:fillRect/>
          </a:stretch>
        </p:blipFill>
        <p:spPr>
          <a:xfrm>
            <a:off x="774700" y="1082675"/>
            <a:ext cx="6215905" cy="2710614"/>
          </a:xfrm>
          <a:prstGeom prst="rect">
            <a:avLst/>
          </a:prstGeom>
        </p:spPr>
      </p:pic>
    </p:spTree>
    <p:extLst>
      <p:ext uri="{BB962C8B-B14F-4D97-AF65-F5344CB8AC3E}">
        <p14:creationId xmlns:p14="http://schemas.microsoft.com/office/powerpoint/2010/main" val="852836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DE089A-A862-DE06-1FC2-DA56882981BD}"/>
              </a:ext>
            </a:extLst>
          </p:cNvPr>
          <p:cNvPicPr>
            <a:picLocks noChangeAspect="1"/>
          </p:cNvPicPr>
          <p:nvPr/>
        </p:nvPicPr>
        <p:blipFill>
          <a:blip r:embed="rId2"/>
          <a:stretch>
            <a:fillRect/>
          </a:stretch>
        </p:blipFill>
        <p:spPr>
          <a:xfrm>
            <a:off x="1003300" y="1616075"/>
            <a:ext cx="6101602" cy="1790747"/>
          </a:xfrm>
          <a:prstGeom prst="rect">
            <a:avLst/>
          </a:prstGeom>
        </p:spPr>
      </p:pic>
    </p:spTree>
    <p:extLst>
      <p:ext uri="{BB962C8B-B14F-4D97-AF65-F5344CB8AC3E}">
        <p14:creationId xmlns:p14="http://schemas.microsoft.com/office/powerpoint/2010/main" val="6823349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FF625E-022D-2CD8-B5CC-3023745ACE1F}"/>
              </a:ext>
            </a:extLst>
          </p:cNvPr>
          <p:cNvPicPr>
            <a:picLocks noChangeAspect="1"/>
          </p:cNvPicPr>
          <p:nvPr/>
        </p:nvPicPr>
        <p:blipFill>
          <a:blip r:embed="rId2"/>
          <a:stretch>
            <a:fillRect/>
          </a:stretch>
        </p:blipFill>
        <p:spPr>
          <a:xfrm>
            <a:off x="927100" y="396875"/>
            <a:ext cx="3064409" cy="1665558"/>
          </a:xfrm>
          <a:prstGeom prst="rect">
            <a:avLst/>
          </a:prstGeom>
        </p:spPr>
      </p:pic>
      <p:pic>
        <p:nvPicPr>
          <p:cNvPr id="5" name="Picture 4">
            <a:extLst>
              <a:ext uri="{FF2B5EF4-FFF2-40B4-BE49-F238E27FC236}">
                <a16:creationId xmlns:a16="http://schemas.microsoft.com/office/drawing/2014/main" id="{D651B48A-984C-B577-8799-3E2A700737C2}"/>
              </a:ext>
            </a:extLst>
          </p:cNvPr>
          <p:cNvPicPr>
            <a:picLocks noChangeAspect="1"/>
          </p:cNvPicPr>
          <p:nvPr/>
        </p:nvPicPr>
        <p:blipFill>
          <a:blip r:embed="rId3"/>
          <a:stretch>
            <a:fillRect/>
          </a:stretch>
        </p:blipFill>
        <p:spPr>
          <a:xfrm>
            <a:off x="850900" y="2378075"/>
            <a:ext cx="6629573" cy="1730874"/>
          </a:xfrm>
          <a:prstGeom prst="rect">
            <a:avLst/>
          </a:prstGeom>
        </p:spPr>
      </p:pic>
    </p:spTree>
    <p:extLst>
      <p:ext uri="{BB962C8B-B14F-4D97-AF65-F5344CB8AC3E}">
        <p14:creationId xmlns:p14="http://schemas.microsoft.com/office/powerpoint/2010/main" val="3943471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9BC827-4D83-1160-32D2-4BD13D44CD87}"/>
              </a:ext>
            </a:extLst>
          </p:cNvPr>
          <p:cNvPicPr>
            <a:picLocks noChangeAspect="1"/>
          </p:cNvPicPr>
          <p:nvPr/>
        </p:nvPicPr>
        <p:blipFill>
          <a:blip r:embed="rId2"/>
          <a:stretch>
            <a:fillRect/>
          </a:stretch>
        </p:blipFill>
        <p:spPr>
          <a:xfrm>
            <a:off x="698500" y="473075"/>
            <a:ext cx="4495918" cy="1409737"/>
          </a:xfrm>
          <a:prstGeom prst="rect">
            <a:avLst/>
          </a:prstGeom>
        </p:spPr>
      </p:pic>
      <p:pic>
        <p:nvPicPr>
          <p:cNvPr id="5" name="Picture 4">
            <a:extLst>
              <a:ext uri="{FF2B5EF4-FFF2-40B4-BE49-F238E27FC236}">
                <a16:creationId xmlns:a16="http://schemas.microsoft.com/office/drawing/2014/main" id="{A2C3B0CA-EC21-5318-381E-8AD307CCA575}"/>
              </a:ext>
            </a:extLst>
          </p:cNvPr>
          <p:cNvPicPr>
            <a:picLocks noChangeAspect="1"/>
          </p:cNvPicPr>
          <p:nvPr/>
        </p:nvPicPr>
        <p:blipFill>
          <a:blip r:embed="rId3"/>
          <a:stretch>
            <a:fillRect/>
          </a:stretch>
        </p:blipFill>
        <p:spPr>
          <a:xfrm>
            <a:off x="774700" y="1997075"/>
            <a:ext cx="3750227" cy="2558210"/>
          </a:xfrm>
          <a:prstGeom prst="rect">
            <a:avLst/>
          </a:prstGeom>
        </p:spPr>
      </p:pic>
    </p:spTree>
    <p:extLst>
      <p:ext uri="{BB962C8B-B14F-4D97-AF65-F5344CB8AC3E}">
        <p14:creationId xmlns:p14="http://schemas.microsoft.com/office/powerpoint/2010/main" val="3019234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08405A-E90F-D995-706D-2D307F2212BE}"/>
              </a:ext>
            </a:extLst>
          </p:cNvPr>
          <p:cNvPicPr>
            <a:picLocks noChangeAspect="1"/>
          </p:cNvPicPr>
          <p:nvPr/>
        </p:nvPicPr>
        <p:blipFill>
          <a:blip r:embed="rId2"/>
          <a:stretch>
            <a:fillRect/>
          </a:stretch>
        </p:blipFill>
        <p:spPr>
          <a:xfrm>
            <a:off x="469900" y="168275"/>
            <a:ext cx="8246144" cy="2530995"/>
          </a:xfrm>
          <a:prstGeom prst="rect">
            <a:avLst/>
          </a:prstGeom>
        </p:spPr>
      </p:pic>
      <p:pic>
        <p:nvPicPr>
          <p:cNvPr id="5" name="Picture 4">
            <a:extLst>
              <a:ext uri="{FF2B5EF4-FFF2-40B4-BE49-F238E27FC236}">
                <a16:creationId xmlns:a16="http://schemas.microsoft.com/office/drawing/2014/main" id="{BDD8474C-C84A-F1B3-E892-39944899BFD3}"/>
              </a:ext>
            </a:extLst>
          </p:cNvPr>
          <p:cNvPicPr>
            <a:picLocks noChangeAspect="1"/>
          </p:cNvPicPr>
          <p:nvPr/>
        </p:nvPicPr>
        <p:blipFill>
          <a:blip r:embed="rId3"/>
          <a:stretch>
            <a:fillRect/>
          </a:stretch>
        </p:blipFill>
        <p:spPr>
          <a:xfrm>
            <a:off x="469900" y="2835275"/>
            <a:ext cx="8208043" cy="1295434"/>
          </a:xfrm>
          <a:prstGeom prst="rect">
            <a:avLst/>
          </a:prstGeom>
        </p:spPr>
      </p:pic>
    </p:spTree>
    <p:extLst>
      <p:ext uri="{BB962C8B-B14F-4D97-AF65-F5344CB8AC3E}">
        <p14:creationId xmlns:p14="http://schemas.microsoft.com/office/powerpoint/2010/main" val="2382016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0083A1-3387-1068-AC9C-D810C4C30B6E}"/>
              </a:ext>
            </a:extLst>
          </p:cNvPr>
          <p:cNvPicPr>
            <a:picLocks noChangeAspect="1"/>
          </p:cNvPicPr>
          <p:nvPr/>
        </p:nvPicPr>
        <p:blipFill>
          <a:blip r:embed="rId2"/>
          <a:stretch>
            <a:fillRect/>
          </a:stretch>
        </p:blipFill>
        <p:spPr>
          <a:xfrm>
            <a:off x="494274" y="625417"/>
            <a:ext cx="9095252" cy="4419716"/>
          </a:xfrm>
          <a:prstGeom prst="rect">
            <a:avLst/>
          </a:prstGeom>
        </p:spPr>
      </p:pic>
    </p:spTree>
    <p:extLst>
      <p:ext uri="{BB962C8B-B14F-4D97-AF65-F5344CB8AC3E}">
        <p14:creationId xmlns:p14="http://schemas.microsoft.com/office/powerpoint/2010/main" val="9137527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4D999EB-8B55-41BF-2448-574E7D168185}"/>
              </a:ext>
            </a:extLst>
          </p:cNvPr>
          <p:cNvGraphicFramePr>
            <a:graphicFrameLocks noGrp="1"/>
          </p:cNvGraphicFramePr>
          <p:nvPr>
            <p:extLst>
              <p:ext uri="{D42A27DB-BD31-4B8C-83A1-F6EECF244321}">
                <p14:modId xmlns:p14="http://schemas.microsoft.com/office/powerpoint/2010/main" val="1952896016"/>
              </p:ext>
            </p:extLst>
          </p:nvPr>
        </p:nvGraphicFramePr>
        <p:xfrm>
          <a:off x="693738" y="2218436"/>
          <a:ext cx="8696325" cy="2179828"/>
        </p:xfrm>
        <a:graphic>
          <a:graphicData uri="http://schemas.openxmlformats.org/drawingml/2006/table">
            <a:tbl>
              <a:tblPr/>
              <a:tblGrid>
                <a:gridCol w="1739265">
                  <a:extLst>
                    <a:ext uri="{9D8B030D-6E8A-4147-A177-3AD203B41FA5}">
                      <a16:colId xmlns:a16="http://schemas.microsoft.com/office/drawing/2014/main" val="479979570"/>
                    </a:ext>
                  </a:extLst>
                </a:gridCol>
                <a:gridCol w="1739265">
                  <a:extLst>
                    <a:ext uri="{9D8B030D-6E8A-4147-A177-3AD203B41FA5}">
                      <a16:colId xmlns:a16="http://schemas.microsoft.com/office/drawing/2014/main" val="264365208"/>
                    </a:ext>
                  </a:extLst>
                </a:gridCol>
                <a:gridCol w="1739265">
                  <a:extLst>
                    <a:ext uri="{9D8B030D-6E8A-4147-A177-3AD203B41FA5}">
                      <a16:colId xmlns:a16="http://schemas.microsoft.com/office/drawing/2014/main" val="126236436"/>
                    </a:ext>
                  </a:extLst>
                </a:gridCol>
                <a:gridCol w="1739265">
                  <a:extLst>
                    <a:ext uri="{9D8B030D-6E8A-4147-A177-3AD203B41FA5}">
                      <a16:colId xmlns:a16="http://schemas.microsoft.com/office/drawing/2014/main" val="509261218"/>
                    </a:ext>
                  </a:extLst>
                </a:gridCol>
                <a:gridCol w="1739265">
                  <a:extLst>
                    <a:ext uri="{9D8B030D-6E8A-4147-A177-3AD203B41FA5}">
                      <a16:colId xmlns:a16="http://schemas.microsoft.com/office/drawing/2014/main" val="3715519379"/>
                    </a:ext>
                  </a:extLst>
                </a:gridCol>
              </a:tblGrid>
              <a:tr h="0">
                <a:tc>
                  <a:txBody>
                    <a:bodyPr/>
                    <a:lstStyle/>
                    <a:p>
                      <a:pPr>
                        <a:buNone/>
                      </a:pPr>
                      <a:r>
                        <a:rPr lang="en-US"/>
                        <a:t>Model</a:t>
                      </a:r>
                    </a:p>
                  </a:txBody>
                  <a:tcPr anchor="ctr">
                    <a:lnL>
                      <a:noFill/>
                    </a:lnL>
                    <a:lnR>
                      <a:noFill/>
                    </a:lnR>
                    <a:lnT>
                      <a:noFill/>
                    </a:lnT>
                    <a:lnB>
                      <a:noFill/>
                    </a:lnB>
                    <a:solidFill>
                      <a:schemeClr val="bg2"/>
                    </a:solidFill>
                  </a:tcPr>
                </a:tc>
                <a:tc>
                  <a:txBody>
                    <a:bodyPr/>
                    <a:lstStyle/>
                    <a:p>
                      <a:pPr>
                        <a:buNone/>
                      </a:pPr>
                      <a:r>
                        <a:rPr lang="en-US" dirty="0"/>
                        <a:t>Depth</a:t>
                      </a:r>
                    </a:p>
                  </a:txBody>
                  <a:tcPr anchor="ctr">
                    <a:lnL>
                      <a:noFill/>
                    </a:lnL>
                    <a:lnR>
                      <a:noFill/>
                    </a:lnR>
                    <a:lnT>
                      <a:noFill/>
                    </a:lnT>
                    <a:lnB>
                      <a:noFill/>
                    </a:lnB>
                    <a:solidFill>
                      <a:schemeClr val="bg2"/>
                    </a:solidFill>
                  </a:tcPr>
                </a:tc>
                <a:tc>
                  <a:txBody>
                    <a:bodyPr/>
                    <a:lstStyle/>
                    <a:p>
                      <a:pPr>
                        <a:buNone/>
                      </a:pPr>
                      <a:r>
                        <a:rPr lang="en-US"/>
                        <a:t>Parameters</a:t>
                      </a:r>
                    </a:p>
                  </a:txBody>
                  <a:tcPr anchor="ctr">
                    <a:lnL>
                      <a:noFill/>
                    </a:lnL>
                    <a:lnR>
                      <a:noFill/>
                    </a:lnR>
                    <a:lnT>
                      <a:noFill/>
                    </a:lnT>
                    <a:lnB>
                      <a:noFill/>
                    </a:lnB>
                    <a:solidFill>
                      <a:schemeClr val="bg2"/>
                    </a:solidFill>
                  </a:tcPr>
                </a:tc>
                <a:tc>
                  <a:txBody>
                    <a:bodyPr/>
                    <a:lstStyle/>
                    <a:p>
                      <a:pPr>
                        <a:buNone/>
                      </a:pPr>
                      <a:r>
                        <a:rPr lang="en-US"/>
                        <a:t>Expected Accuracy (1 Epoch)</a:t>
                      </a:r>
                    </a:p>
                  </a:txBody>
                  <a:tcPr anchor="ctr">
                    <a:lnL>
                      <a:noFill/>
                    </a:lnL>
                    <a:lnR>
                      <a:noFill/>
                    </a:lnR>
                    <a:lnT>
                      <a:noFill/>
                    </a:lnT>
                    <a:lnB>
                      <a:noFill/>
                    </a:lnB>
                    <a:solidFill>
                      <a:schemeClr val="bg2"/>
                    </a:solidFill>
                  </a:tcPr>
                </a:tc>
                <a:tc>
                  <a:txBody>
                    <a:bodyPr/>
                    <a:lstStyle/>
                    <a:p>
                      <a:pPr>
                        <a:buNone/>
                      </a:pPr>
                      <a:r>
                        <a:rPr lang="en-US"/>
                        <a:t>Notes</a:t>
                      </a:r>
                    </a:p>
                  </a:txBody>
                  <a:tcPr anchor="ctr">
                    <a:lnL>
                      <a:noFill/>
                    </a:lnL>
                    <a:lnR>
                      <a:noFill/>
                    </a:lnR>
                    <a:lnT>
                      <a:noFill/>
                    </a:lnT>
                    <a:lnB>
                      <a:noFill/>
                    </a:lnB>
                    <a:solidFill>
                      <a:schemeClr val="bg2"/>
                    </a:solidFill>
                  </a:tcPr>
                </a:tc>
                <a:extLst>
                  <a:ext uri="{0D108BD9-81ED-4DB2-BD59-A6C34878D82A}">
                    <a16:rowId xmlns:a16="http://schemas.microsoft.com/office/drawing/2014/main" val="2396400491"/>
                  </a:ext>
                </a:extLst>
              </a:tr>
              <a:tr h="0">
                <a:tc>
                  <a:txBody>
                    <a:bodyPr/>
                    <a:lstStyle/>
                    <a:p>
                      <a:pPr>
                        <a:buNone/>
                      </a:pPr>
                      <a:r>
                        <a:rPr lang="en-US"/>
                        <a:t>Simple CNN</a:t>
                      </a:r>
                    </a:p>
                  </a:txBody>
                  <a:tcPr anchor="ctr">
                    <a:lnL>
                      <a:noFill/>
                    </a:lnL>
                    <a:lnR>
                      <a:noFill/>
                    </a:lnR>
                    <a:lnT>
                      <a:noFill/>
                    </a:lnT>
                    <a:lnB>
                      <a:noFill/>
                    </a:lnB>
                    <a:solidFill>
                      <a:schemeClr val="bg2"/>
                    </a:solidFill>
                  </a:tcPr>
                </a:tc>
                <a:tc>
                  <a:txBody>
                    <a:bodyPr/>
                    <a:lstStyle/>
                    <a:p>
                      <a:pPr>
                        <a:buNone/>
                      </a:pPr>
                      <a:r>
                        <a:rPr lang="en-US"/>
                        <a:t>Shallow (2 conv blocks)</a:t>
                      </a:r>
                    </a:p>
                  </a:txBody>
                  <a:tcPr anchor="ctr">
                    <a:lnL>
                      <a:noFill/>
                    </a:lnL>
                    <a:lnR>
                      <a:noFill/>
                    </a:lnR>
                    <a:lnT>
                      <a:noFill/>
                    </a:lnT>
                    <a:lnB>
                      <a:noFill/>
                    </a:lnB>
                    <a:solidFill>
                      <a:schemeClr val="bg2"/>
                    </a:solidFill>
                  </a:tcPr>
                </a:tc>
                <a:tc>
                  <a:txBody>
                    <a:bodyPr/>
                    <a:lstStyle/>
                    <a:p>
                      <a:pPr>
                        <a:buNone/>
                      </a:pPr>
                      <a:r>
                        <a:rPr lang="en-US"/>
                        <a:t>~0.2M</a:t>
                      </a:r>
                    </a:p>
                  </a:txBody>
                  <a:tcPr anchor="ctr">
                    <a:lnL>
                      <a:noFill/>
                    </a:lnL>
                    <a:lnR>
                      <a:noFill/>
                    </a:lnR>
                    <a:lnT>
                      <a:noFill/>
                    </a:lnT>
                    <a:lnB>
                      <a:noFill/>
                    </a:lnB>
                    <a:solidFill>
                      <a:schemeClr val="bg2"/>
                    </a:solidFill>
                  </a:tcPr>
                </a:tc>
                <a:tc>
                  <a:txBody>
                    <a:bodyPr/>
                    <a:lstStyle/>
                    <a:p>
                      <a:pPr>
                        <a:buNone/>
                      </a:pPr>
                      <a:r>
                        <a:rPr lang="en-US"/>
                        <a:t>~60%</a:t>
                      </a:r>
                    </a:p>
                  </a:txBody>
                  <a:tcPr anchor="ctr">
                    <a:lnL>
                      <a:noFill/>
                    </a:lnL>
                    <a:lnR>
                      <a:noFill/>
                    </a:lnR>
                    <a:lnT>
                      <a:noFill/>
                    </a:lnT>
                    <a:lnB>
                      <a:noFill/>
                    </a:lnB>
                    <a:solidFill>
                      <a:schemeClr val="bg2"/>
                    </a:solidFill>
                  </a:tcPr>
                </a:tc>
                <a:tc>
                  <a:txBody>
                    <a:bodyPr/>
                    <a:lstStyle/>
                    <a:p>
                      <a:pPr>
                        <a:buNone/>
                      </a:pPr>
                      <a:r>
                        <a:rPr lang="en-US"/>
                        <a:t>Fast, underfits</a:t>
                      </a:r>
                    </a:p>
                  </a:txBody>
                  <a:tcPr anchor="ctr">
                    <a:lnL>
                      <a:noFill/>
                    </a:lnL>
                    <a:lnR>
                      <a:noFill/>
                    </a:lnR>
                    <a:lnT>
                      <a:noFill/>
                    </a:lnT>
                    <a:lnB>
                      <a:noFill/>
                    </a:lnB>
                    <a:solidFill>
                      <a:schemeClr val="bg2"/>
                    </a:solidFill>
                  </a:tcPr>
                </a:tc>
                <a:extLst>
                  <a:ext uri="{0D108BD9-81ED-4DB2-BD59-A6C34878D82A}">
                    <a16:rowId xmlns:a16="http://schemas.microsoft.com/office/drawing/2014/main" val="2494728823"/>
                  </a:ext>
                </a:extLst>
              </a:tr>
              <a:tr h="0">
                <a:tc>
                  <a:txBody>
                    <a:bodyPr/>
                    <a:lstStyle/>
                    <a:p>
                      <a:pPr>
                        <a:buNone/>
                      </a:pPr>
                      <a:r>
                        <a:rPr lang="en-US"/>
                        <a:t>AlexNet-like</a:t>
                      </a:r>
                    </a:p>
                  </a:txBody>
                  <a:tcPr anchor="ctr">
                    <a:lnL>
                      <a:noFill/>
                    </a:lnL>
                    <a:lnR>
                      <a:noFill/>
                    </a:lnR>
                    <a:lnT>
                      <a:noFill/>
                    </a:lnT>
                    <a:lnB>
                      <a:noFill/>
                    </a:lnB>
                    <a:solidFill>
                      <a:schemeClr val="bg2"/>
                    </a:solidFill>
                  </a:tcPr>
                </a:tc>
                <a:tc>
                  <a:txBody>
                    <a:bodyPr/>
                    <a:lstStyle/>
                    <a:p>
                      <a:pPr>
                        <a:buNone/>
                      </a:pPr>
                      <a:r>
                        <a:rPr lang="en-US"/>
                        <a:t>Deep (5 conv + 2 FC)</a:t>
                      </a:r>
                    </a:p>
                  </a:txBody>
                  <a:tcPr anchor="ctr">
                    <a:lnL>
                      <a:noFill/>
                    </a:lnL>
                    <a:lnR>
                      <a:noFill/>
                    </a:lnR>
                    <a:lnT>
                      <a:noFill/>
                    </a:lnT>
                    <a:lnB>
                      <a:noFill/>
                    </a:lnB>
                    <a:solidFill>
                      <a:schemeClr val="bg2"/>
                    </a:solidFill>
                  </a:tcPr>
                </a:tc>
                <a:tc>
                  <a:txBody>
                    <a:bodyPr/>
                    <a:lstStyle/>
                    <a:p>
                      <a:pPr>
                        <a:buNone/>
                      </a:pPr>
                      <a:r>
                        <a:rPr lang="en-US"/>
                        <a:t>~10M</a:t>
                      </a:r>
                    </a:p>
                  </a:txBody>
                  <a:tcPr anchor="ctr">
                    <a:lnL>
                      <a:noFill/>
                    </a:lnL>
                    <a:lnR>
                      <a:noFill/>
                    </a:lnR>
                    <a:lnT>
                      <a:noFill/>
                    </a:lnT>
                    <a:lnB>
                      <a:noFill/>
                    </a:lnB>
                    <a:solidFill>
                      <a:schemeClr val="bg2"/>
                    </a:solidFill>
                  </a:tcPr>
                </a:tc>
                <a:tc>
                  <a:txBody>
                    <a:bodyPr/>
                    <a:lstStyle/>
                    <a:p>
                      <a:pPr>
                        <a:buNone/>
                      </a:pPr>
                      <a:r>
                        <a:rPr lang="en-US"/>
                        <a:t>~70%</a:t>
                      </a:r>
                    </a:p>
                  </a:txBody>
                  <a:tcPr anchor="ctr">
                    <a:lnL>
                      <a:noFill/>
                    </a:lnL>
                    <a:lnR>
                      <a:noFill/>
                    </a:lnR>
                    <a:lnT>
                      <a:noFill/>
                    </a:lnT>
                    <a:lnB>
                      <a:noFill/>
                    </a:lnB>
                    <a:solidFill>
                      <a:schemeClr val="bg2"/>
                    </a:solidFill>
                  </a:tcPr>
                </a:tc>
                <a:tc>
                  <a:txBody>
                    <a:bodyPr/>
                    <a:lstStyle/>
                    <a:p>
                      <a:pPr>
                        <a:buNone/>
                      </a:pPr>
                      <a:r>
                        <a:rPr lang="en-US"/>
                        <a:t>Larger receptive fields</a:t>
                      </a:r>
                    </a:p>
                  </a:txBody>
                  <a:tcPr anchor="ctr">
                    <a:lnL>
                      <a:noFill/>
                    </a:lnL>
                    <a:lnR>
                      <a:noFill/>
                    </a:lnR>
                    <a:lnT>
                      <a:noFill/>
                    </a:lnT>
                    <a:lnB>
                      <a:noFill/>
                    </a:lnB>
                    <a:solidFill>
                      <a:schemeClr val="bg2"/>
                    </a:solidFill>
                  </a:tcPr>
                </a:tc>
                <a:extLst>
                  <a:ext uri="{0D108BD9-81ED-4DB2-BD59-A6C34878D82A}">
                    <a16:rowId xmlns:a16="http://schemas.microsoft.com/office/drawing/2014/main" val="1955683496"/>
                  </a:ext>
                </a:extLst>
              </a:tr>
              <a:tr h="0">
                <a:tc>
                  <a:txBody>
                    <a:bodyPr/>
                    <a:lstStyle/>
                    <a:p>
                      <a:pPr>
                        <a:buNone/>
                      </a:pPr>
                      <a:r>
                        <a:rPr lang="en-US"/>
                        <a:t>ResNet50</a:t>
                      </a:r>
                    </a:p>
                  </a:txBody>
                  <a:tcPr anchor="ctr">
                    <a:lnL>
                      <a:noFill/>
                    </a:lnL>
                    <a:lnR>
                      <a:noFill/>
                    </a:lnR>
                    <a:lnT>
                      <a:noFill/>
                    </a:lnT>
                    <a:lnB>
                      <a:noFill/>
                    </a:lnB>
                    <a:solidFill>
                      <a:schemeClr val="bg2"/>
                    </a:solidFill>
                  </a:tcPr>
                </a:tc>
                <a:tc>
                  <a:txBody>
                    <a:bodyPr/>
                    <a:lstStyle/>
                    <a:p>
                      <a:pPr>
                        <a:buNone/>
                      </a:pPr>
                      <a:r>
                        <a:rPr lang="en-US"/>
                        <a:t>50 layers</a:t>
                      </a:r>
                    </a:p>
                  </a:txBody>
                  <a:tcPr anchor="ctr">
                    <a:lnL>
                      <a:noFill/>
                    </a:lnL>
                    <a:lnR>
                      <a:noFill/>
                    </a:lnR>
                    <a:lnT>
                      <a:noFill/>
                    </a:lnT>
                    <a:lnB>
                      <a:noFill/>
                    </a:lnB>
                    <a:solidFill>
                      <a:schemeClr val="bg2"/>
                    </a:solidFill>
                  </a:tcPr>
                </a:tc>
                <a:tc>
                  <a:txBody>
                    <a:bodyPr/>
                    <a:lstStyle/>
                    <a:p>
                      <a:pPr>
                        <a:buNone/>
                      </a:pPr>
                      <a:r>
                        <a:rPr lang="en-US"/>
                        <a:t>~25M</a:t>
                      </a:r>
                    </a:p>
                  </a:txBody>
                  <a:tcPr anchor="ctr">
                    <a:lnL>
                      <a:noFill/>
                    </a:lnL>
                    <a:lnR>
                      <a:noFill/>
                    </a:lnR>
                    <a:lnT>
                      <a:noFill/>
                    </a:lnT>
                    <a:lnB>
                      <a:noFill/>
                    </a:lnB>
                    <a:solidFill>
                      <a:schemeClr val="bg2"/>
                    </a:solidFill>
                  </a:tcPr>
                </a:tc>
                <a:tc>
                  <a:txBody>
                    <a:bodyPr/>
                    <a:lstStyle/>
                    <a:p>
                      <a:pPr>
                        <a:buNone/>
                      </a:pPr>
                      <a:r>
                        <a:rPr lang="en-US"/>
                        <a:t>~80%</a:t>
                      </a:r>
                    </a:p>
                  </a:txBody>
                  <a:tcPr anchor="ctr">
                    <a:lnL>
                      <a:noFill/>
                    </a:lnL>
                    <a:lnR>
                      <a:noFill/>
                    </a:lnR>
                    <a:lnT>
                      <a:noFill/>
                    </a:lnT>
                    <a:lnB>
                      <a:noFill/>
                    </a:lnB>
                    <a:solidFill>
                      <a:schemeClr val="bg2"/>
                    </a:solidFill>
                  </a:tcPr>
                </a:tc>
                <a:tc>
                  <a:txBody>
                    <a:bodyPr/>
                    <a:lstStyle/>
                    <a:p>
                      <a:pPr>
                        <a:buNone/>
                      </a:pPr>
                      <a:r>
                        <a:rPr lang="en-US" dirty="0"/>
                        <a:t>Skip connections help generalization</a:t>
                      </a:r>
                    </a:p>
                  </a:txBody>
                  <a:tcPr anchor="ctr">
                    <a:lnL>
                      <a:noFill/>
                    </a:lnL>
                    <a:lnR>
                      <a:noFill/>
                    </a:lnR>
                    <a:lnT>
                      <a:noFill/>
                    </a:lnT>
                    <a:lnB>
                      <a:noFill/>
                    </a:lnB>
                    <a:solidFill>
                      <a:schemeClr val="bg2"/>
                    </a:solidFill>
                  </a:tcPr>
                </a:tc>
                <a:extLst>
                  <a:ext uri="{0D108BD9-81ED-4DB2-BD59-A6C34878D82A}">
                    <a16:rowId xmlns:a16="http://schemas.microsoft.com/office/drawing/2014/main" val="1538333193"/>
                  </a:ext>
                </a:extLst>
              </a:tr>
            </a:tbl>
          </a:graphicData>
        </a:graphic>
      </p:graphicFrame>
    </p:spTree>
    <p:extLst>
      <p:ext uri="{BB962C8B-B14F-4D97-AF65-F5344CB8AC3E}">
        <p14:creationId xmlns:p14="http://schemas.microsoft.com/office/powerpoint/2010/main" val="3155260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95B8A-7191-6E8D-7B2A-3BB342F3EA7A}"/>
              </a:ext>
            </a:extLst>
          </p:cNvPr>
          <p:cNvSpPr>
            <a:spLocks noGrp="1"/>
          </p:cNvSpPr>
          <p:nvPr>
            <p:ph type="title"/>
          </p:nvPr>
        </p:nvSpPr>
        <p:spPr/>
        <p:txBody>
          <a:bodyPr/>
          <a:lstStyle/>
          <a:p>
            <a:r>
              <a:rPr lang="en-US" dirty="0"/>
              <a:t>1. </a:t>
            </a:r>
            <a:r>
              <a:rPr lang="en-US" b="1" dirty="0"/>
              <a:t>Vanishing Gradients and Deep Networks</a:t>
            </a:r>
            <a:endParaRPr lang="en-US" dirty="0"/>
          </a:p>
        </p:txBody>
      </p:sp>
      <p:sp>
        <p:nvSpPr>
          <p:cNvPr id="3" name="Content Placeholder 2">
            <a:extLst>
              <a:ext uri="{FF2B5EF4-FFF2-40B4-BE49-F238E27FC236}">
                <a16:creationId xmlns:a16="http://schemas.microsoft.com/office/drawing/2014/main" id="{5BC00F75-4F8F-D65B-6EB1-158870FC70F3}"/>
              </a:ext>
            </a:extLst>
          </p:cNvPr>
          <p:cNvSpPr>
            <a:spLocks noGrp="1"/>
          </p:cNvSpPr>
          <p:nvPr>
            <p:ph idx="1"/>
          </p:nvPr>
        </p:nvSpPr>
        <p:spPr>
          <a:xfrm>
            <a:off x="546100" y="1006475"/>
            <a:ext cx="8844439" cy="4100958"/>
          </a:xfrm>
        </p:spPr>
        <p:txBody>
          <a:bodyPr/>
          <a:lstStyle/>
          <a:p>
            <a:r>
              <a:rPr lang="en-US" dirty="0"/>
              <a:t>As neural networks become deeper (many stacked layers), the </a:t>
            </a:r>
            <a:r>
              <a:rPr lang="en-US" b="1" dirty="0"/>
              <a:t>gradients</a:t>
            </a:r>
            <a:r>
              <a:rPr lang="en-US" dirty="0"/>
              <a:t> used during backpropagation tend to become </a:t>
            </a:r>
            <a:r>
              <a:rPr lang="en-US" b="1" dirty="0"/>
              <a:t>very small</a:t>
            </a:r>
            <a:r>
              <a:rPr lang="en-US" dirty="0"/>
              <a:t> in the early </a:t>
            </a:r>
            <a:r>
              <a:rPr lang="en-US" dirty="0" err="1"/>
              <a:t>layers.When</a:t>
            </a:r>
            <a:r>
              <a:rPr lang="en-US" dirty="0"/>
              <a:t> this happens, earlier layers </a:t>
            </a:r>
            <a:r>
              <a:rPr lang="en-US" b="1" dirty="0"/>
              <a:t>learn very slowly or not at all</a:t>
            </a:r>
            <a:r>
              <a:rPr lang="en-US" dirty="0"/>
              <a:t> — this is known as the </a:t>
            </a:r>
            <a:r>
              <a:rPr lang="en-US" b="1" dirty="0"/>
              <a:t>vanishing gradient</a:t>
            </a:r>
          </a:p>
          <a:p>
            <a:r>
              <a:rPr lang="en-US" dirty="0"/>
              <a:t>Simple CNN: Only 2–3 convolutional layers — shallow, so gradients flow easily.</a:t>
            </a:r>
          </a:p>
          <a:p>
            <a:r>
              <a:rPr lang="en-US" dirty="0" err="1"/>
              <a:t>AlexNet</a:t>
            </a:r>
            <a:r>
              <a:rPr lang="en-US" dirty="0"/>
              <a:t>-like: Deeper (5 conv + 2 dense) — prone to vanishing gradients if not designed carefully.</a:t>
            </a:r>
          </a:p>
          <a:p>
            <a:r>
              <a:rPr lang="en-US" dirty="0"/>
              <a:t>ResNet50: Introduces skip (residual) connections, which bypass one or more layers and allow gradients to flow directly back to earlier layers.</a:t>
            </a:r>
          </a:p>
        </p:txBody>
      </p:sp>
    </p:spTree>
    <p:extLst>
      <p:ext uri="{BB962C8B-B14F-4D97-AF65-F5344CB8AC3E}">
        <p14:creationId xmlns:p14="http://schemas.microsoft.com/office/powerpoint/2010/main" val="11843754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F5F3C-3CFA-A176-6720-DFDDE29C3433}"/>
              </a:ext>
            </a:extLst>
          </p:cNvPr>
          <p:cNvSpPr>
            <a:spLocks noGrp="1"/>
          </p:cNvSpPr>
          <p:nvPr>
            <p:ph type="title"/>
          </p:nvPr>
        </p:nvSpPr>
        <p:spPr/>
        <p:txBody>
          <a:bodyPr/>
          <a:lstStyle/>
          <a:p>
            <a:r>
              <a:rPr lang="en-US" dirty="0"/>
              <a:t>2. </a:t>
            </a:r>
            <a:r>
              <a:rPr lang="en-US" b="1" dirty="0"/>
              <a:t>Transfer Learning (ResNet50)</a:t>
            </a:r>
            <a:endParaRPr lang="en-US" dirty="0"/>
          </a:p>
        </p:txBody>
      </p:sp>
      <p:sp>
        <p:nvSpPr>
          <p:cNvPr id="3" name="Content Placeholder 2">
            <a:extLst>
              <a:ext uri="{FF2B5EF4-FFF2-40B4-BE49-F238E27FC236}">
                <a16:creationId xmlns:a16="http://schemas.microsoft.com/office/drawing/2014/main" id="{AD9C4C1E-5545-3C61-E880-4047AD919B14}"/>
              </a:ext>
            </a:extLst>
          </p:cNvPr>
          <p:cNvSpPr>
            <a:spLocks noGrp="1"/>
          </p:cNvSpPr>
          <p:nvPr>
            <p:ph idx="1"/>
          </p:nvPr>
        </p:nvSpPr>
        <p:spPr>
          <a:xfrm>
            <a:off x="693261" y="1006475"/>
            <a:ext cx="8697278" cy="4100958"/>
          </a:xfrm>
        </p:spPr>
        <p:txBody>
          <a:bodyPr/>
          <a:lstStyle/>
          <a:p>
            <a:r>
              <a:rPr lang="en-US" dirty="0"/>
              <a:t>Transfer learning uses </a:t>
            </a:r>
            <a:r>
              <a:rPr lang="en-US" b="1" dirty="0"/>
              <a:t>weights pre-trained on a large dataset (like ImageNet)</a:t>
            </a:r>
            <a:r>
              <a:rPr lang="en-US" dirty="0"/>
              <a:t> and applies them to a </a:t>
            </a:r>
            <a:r>
              <a:rPr lang="en-US" b="1" dirty="0"/>
              <a:t>smaller or different dataset</a:t>
            </a:r>
            <a:r>
              <a:rPr lang="en-US" dirty="0"/>
              <a:t> (like CIFAR-10).</a:t>
            </a:r>
            <a:br>
              <a:rPr lang="en-US" dirty="0"/>
            </a:br>
            <a:r>
              <a:rPr lang="en-US" dirty="0"/>
              <a:t>The model already knows general visual patterns (edges, shapes, textures), so it only needs to adapt to new classes. </a:t>
            </a:r>
          </a:p>
          <a:p>
            <a:r>
              <a:rPr lang="en-US" dirty="0"/>
              <a:t>The ResNet50 base is pre-trained on </a:t>
            </a:r>
            <a:r>
              <a:rPr lang="en-US" dirty="0" err="1"/>
              <a:t>ImageNet.You</a:t>
            </a:r>
            <a:r>
              <a:rPr lang="en-US" dirty="0"/>
              <a:t> freeze its convolutional layers (so they’re not retrained).You add a small dense head to classify CIFAR-10.</a:t>
            </a:r>
          </a:p>
          <a:p>
            <a:r>
              <a:rPr lang="en-US" dirty="0"/>
              <a:t>🔹 Benefits:</a:t>
            </a:r>
          </a:p>
          <a:p>
            <a:pPr lvl="1"/>
            <a:r>
              <a:rPr lang="en-US" dirty="0"/>
              <a:t>Faster convergence (learns in fewer epochs).</a:t>
            </a:r>
          </a:p>
          <a:p>
            <a:pPr lvl="1"/>
            <a:r>
              <a:rPr lang="en-US" dirty="0"/>
              <a:t>Higher accuracy with limited data.</a:t>
            </a:r>
          </a:p>
          <a:p>
            <a:pPr lvl="1"/>
            <a:r>
              <a:rPr lang="en-US" dirty="0"/>
              <a:t>Less overfitting, since the convolutional base is already generalized.</a:t>
            </a:r>
            <a:br>
              <a:rPr lang="en-US" dirty="0"/>
            </a:br>
            <a:endParaRPr lang="en-US" dirty="0"/>
          </a:p>
        </p:txBody>
      </p:sp>
    </p:spTree>
    <p:extLst>
      <p:ext uri="{BB962C8B-B14F-4D97-AF65-F5344CB8AC3E}">
        <p14:creationId xmlns:p14="http://schemas.microsoft.com/office/powerpoint/2010/main" val="2477705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234EB-5C4B-B912-9022-66249CFD4582}"/>
              </a:ext>
            </a:extLst>
          </p:cNvPr>
          <p:cNvSpPr>
            <a:spLocks noGrp="1"/>
          </p:cNvSpPr>
          <p:nvPr>
            <p:ph type="title"/>
          </p:nvPr>
        </p:nvSpPr>
        <p:spPr/>
        <p:txBody>
          <a:bodyPr/>
          <a:lstStyle/>
          <a:p>
            <a:r>
              <a:rPr lang="en-US" dirty="0"/>
              <a:t>3. </a:t>
            </a:r>
            <a:r>
              <a:rPr lang="en-US" b="1" dirty="0"/>
              <a:t>Overparameterization and Overfitting</a:t>
            </a:r>
            <a:endParaRPr lang="en-US" dirty="0"/>
          </a:p>
        </p:txBody>
      </p:sp>
      <p:sp>
        <p:nvSpPr>
          <p:cNvPr id="3" name="Content Placeholder 2">
            <a:extLst>
              <a:ext uri="{FF2B5EF4-FFF2-40B4-BE49-F238E27FC236}">
                <a16:creationId xmlns:a16="http://schemas.microsoft.com/office/drawing/2014/main" id="{7176C3F5-65D6-17AE-3203-25EE10EACB62}"/>
              </a:ext>
            </a:extLst>
          </p:cNvPr>
          <p:cNvSpPr>
            <a:spLocks noGrp="1"/>
          </p:cNvSpPr>
          <p:nvPr>
            <p:ph idx="1"/>
          </p:nvPr>
        </p:nvSpPr>
        <p:spPr>
          <a:xfrm>
            <a:off x="693260" y="1463675"/>
            <a:ext cx="8996839" cy="3643758"/>
          </a:xfrm>
        </p:spPr>
        <p:txBody>
          <a:bodyPr/>
          <a:lstStyle/>
          <a:p>
            <a:r>
              <a:rPr lang="en-US" dirty="0"/>
              <a:t>More parameters (weights) mean more capacity to learn complex patterns, but also a higher risk of memorizing the training data — that’s overfitting.</a:t>
            </a:r>
          </a:p>
          <a:p>
            <a:r>
              <a:rPr lang="en-US" dirty="0"/>
              <a:t>Simple CNN: Small parameter count (~200K) — underfits complex data.</a:t>
            </a:r>
          </a:p>
          <a:p>
            <a:r>
              <a:rPr lang="en-US" dirty="0" err="1"/>
              <a:t>AlexNet</a:t>
            </a:r>
            <a:r>
              <a:rPr lang="en-US" dirty="0"/>
              <a:t>-like: Large (~10M) — may overfit small datasets like CIFAR-10.</a:t>
            </a:r>
          </a:p>
          <a:p>
            <a:r>
              <a:rPr lang="en-US" dirty="0"/>
              <a:t>ResNet50: Very large (~25M) but benefits from pretraining and regularization.</a:t>
            </a:r>
          </a:p>
        </p:txBody>
      </p:sp>
    </p:spTree>
    <p:extLst>
      <p:ext uri="{BB962C8B-B14F-4D97-AF65-F5344CB8AC3E}">
        <p14:creationId xmlns:p14="http://schemas.microsoft.com/office/powerpoint/2010/main" val="31049963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6387C-51BB-2572-88BD-15E4BA465ADD}"/>
              </a:ext>
            </a:extLst>
          </p:cNvPr>
          <p:cNvSpPr>
            <a:spLocks noGrp="1"/>
          </p:cNvSpPr>
          <p:nvPr>
            <p:ph type="title"/>
          </p:nvPr>
        </p:nvSpPr>
        <p:spPr/>
        <p:txBody>
          <a:bodyPr/>
          <a:lstStyle/>
          <a:p>
            <a:r>
              <a:rPr lang="en-US" dirty="0"/>
              <a:t>4. </a:t>
            </a:r>
            <a:r>
              <a:rPr lang="en-US" b="1" dirty="0"/>
              <a:t>Skip Connections and Model Depth</a:t>
            </a:r>
            <a:endParaRPr lang="en-US" dirty="0"/>
          </a:p>
        </p:txBody>
      </p:sp>
      <p:sp>
        <p:nvSpPr>
          <p:cNvPr id="3" name="Content Placeholder 2">
            <a:extLst>
              <a:ext uri="{FF2B5EF4-FFF2-40B4-BE49-F238E27FC236}">
                <a16:creationId xmlns:a16="http://schemas.microsoft.com/office/drawing/2014/main" id="{D9841B4F-88DD-AF9C-1E54-0A375D6BF32B}"/>
              </a:ext>
            </a:extLst>
          </p:cNvPr>
          <p:cNvSpPr>
            <a:spLocks noGrp="1"/>
          </p:cNvSpPr>
          <p:nvPr>
            <p:ph idx="1"/>
          </p:nvPr>
        </p:nvSpPr>
        <p:spPr/>
        <p:txBody>
          <a:bodyPr/>
          <a:lstStyle/>
          <a:p>
            <a:r>
              <a:rPr lang="en-US" dirty="0"/>
              <a:t>Deeper networks can theoretically represent more complex </a:t>
            </a:r>
            <a:r>
              <a:rPr lang="en-US" dirty="0" err="1"/>
              <a:t>functions.However</a:t>
            </a:r>
            <a:r>
              <a:rPr lang="en-US" dirty="0"/>
              <a:t>, before </a:t>
            </a:r>
            <a:r>
              <a:rPr lang="en-US" dirty="0" err="1"/>
              <a:t>ResNet</a:t>
            </a:r>
            <a:r>
              <a:rPr lang="en-US" dirty="0"/>
              <a:t>, adding layers degraded performance because optimization became unstable.</a:t>
            </a:r>
          </a:p>
          <a:p>
            <a:r>
              <a:rPr lang="en-US" dirty="0" err="1">
                <a:solidFill>
                  <a:srgbClr val="FF0000"/>
                </a:solidFill>
              </a:rPr>
              <a:t>ResNet’s</a:t>
            </a:r>
            <a:r>
              <a:rPr lang="en-US" dirty="0">
                <a:solidFill>
                  <a:srgbClr val="FF0000"/>
                </a:solidFill>
              </a:rPr>
              <a:t> </a:t>
            </a:r>
            <a:r>
              <a:rPr lang="en-US" dirty="0" err="1">
                <a:solidFill>
                  <a:srgbClr val="FF0000"/>
                </a:solidFill>
              </a:rPr>
              <a:t>Innovation</a:t>
            </a:r>
            <a:r>
              <a:rPr lang="en-US" dirty="0" err="1"/>
              <a:t>:Residual</a:t>
            </a:r>
            <a:r>
              <a:rPr lang="en-US" dirty="0"/>
              <a:t> learning allows 50, 101, or even 152 layers to be trained </a:t>
            </a:r>
            <a:r>
              <a:rPr lang="en-US" dirty="0" err="1"/>
              <a:t>effectively.The</a:t>
            </a:r>
            <a:r>
              <a:rPr lang="en-US" dirty="0"/>
              <a:t> residual path ensures that even if deeper layers fail to learn something useful, the model still performs as if it were shallower — avoiding degradation.</a:t>
            </a:r>
          </a:p>
        </p:txBody>
      </p:sp>
    </p:spTree>
    <p:extLst>
      <p:ext uri="{BB962C8B-B14F-4D97-AF65-F5344CB8AC3E}">
        <p14:creationId xmlns:p14="http://schemas.microsoft.com/office/powerpoint/2010/main" val="30267225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B8CA4-9285-F5AA-7385-53D23D2690D0}"/>
              </a:ext>
            </a:extLst>
          </p:cNvPr>
          <p:cNvSpPr>
            <a:spLocks noGrp="1"/>
          </p:cNvSpPr>
          <p:nvPr>
            <p:ph type="title"/>
          </p:nvPr>
        </p:nvSpPr>
        <p:spPr/>
        <p:txBody>
          <a:bodyPr/>
          <a:lstStyle/>
          <a:p>
            <a:r>
              <a:rPr lang="en-US" dirty="0"/>
              <a:t>5. Efficiency Trade-offs</a:t>
            </a:r>
          </a:p>
        </p:txBody>
      </p:sp>
      <p:graphicFrame>
        <p:nvGraphicFramePr>
          <p:cNvPr id="4" name="Content Placeholder 3">
            <a:extLst>
              <a:ext uri="{FF2B5EF4-FFF2-40B4-BE49-F238E27FC236}">
                <a16:creationId xmlns:a16="http://schemas.microsoft.com/office/drawing/2014/main" id="{A47FADDC-5A87-38C1-70CB-8D944E7A82C2}"/>
              </a:ext>
            </a:extLst>
          </p:cNvPr>
          <p:cNvGraphicFramePr>
            <a:graphicFrameLocks noGrp="1"/>
          </p:cNvGraphicFramePr>
          <p:nvPr>
            <p:ph idx="1"/>
            <p:extLst>
              <p:ext uri="{D42A27DB-BD31-4B8C-83A1-F6EECF244321}">
                <p14:modId xmlns:p14="http://schemas.microsoft.com/office/powerpoint/2010/main" val="613795980"/>
              </p:ext>
            </p:extLst>
          </p:nvPr>
        </p:nvGraphicFramePr>
        <p:xfrm>
          <a:off x="622300" y="1235075"/>
          <a:ext cx="8696325" cy="1953070"/>
        </p:xfrm>
        <a:graphic>
          <a:graphicData uri="http://schemas.openxmlformats.org/drawingml/2006/table">
            <a:tbl>
              <a:tblPr/>
              <a:tblGrid>
                <a:gridCol w="1739265">
                  <a:extLst>
                    <a:ext uri="{9D8B030D-6E8A-4147-A177-3AD203B41FA5}">
                      <a16:colId xmlns:a16="http://schemas.microsoft.com/office/drawing/2014/main" val="1414167785"/>
                    </a:ext>
                  </a:extLst>
                </a:gridCol>
                <a:gridCol w="1739265">
                  <a:extLst>
                    <a:ext uri="{9D8B030D-6E8A-4147-A177-3AD203B41FA5}">
                      <a16:colId xmlns:a16="http://schemas.microsoft.com/office/drawing/2014/main" val="4210139224"/>
                    </a:ext>
                  </a:extLst>
                </a:gridCol>
                <a:gridCol w="1739265">
                  <a:extLst>
                    <a:ext uri="{9D8B030D-6E8A-4147-A177-3AD203B41FA5}">
                      <a16:colId xmlns:a16="http://schemas.microsoft.com/office/drawing/2014/main" val="2685329023"/>
                    </a:ext>
                  </a:extLst>
                </a:gridCol>
                <a:gridCol w="1739265">
                  <a:extLst>
                    <a:ext uri="{9D8B030D-6E8A-4147-A177-3AD203B41FA5}">
                      <a16:colId xmlns:a16="http://schemas.microsoft.com/office/drawing/2014/main" val="1222562946"/>
                    </a:ext>
                  </a:extLst>
                </a:gridCol>
                <a:gridCol w="1739265">
                  <a:extLst>
                    <a:ext uri="{9D8B030D-6E8A-4147-A177-3AD203B41FA5}">
                      <a16:colId xmlns:a16="http://schemas.microsoft.com/office/drawing/2014/main" val="570945633"/>
                    </a:ext>
                  </a:extLst>
                </a:gridCol>
              </a:tblGrid>
              <a:tr h="0">
                <a:tc>
                  <a:txBody>
                    <a:bodyPr/>
                    <a:lstStyle/>
                    <a:p>
                      <a:pPr>
                        <a:buNone/>
                      </a:pPr>
                      <a:r>
                        <a:rPr lang="en-US"/>
                        <a:t>Model</a:t>
                      </a:r>
                    </a:p>
                  </a:txBody>
                  <a:tcPr anchor="ctr">
                    <a:lnL>
                      <a:noFill/>
                    </a:lnL>
                    <a:lnR>
                      <a:noFill/>
                    </a:lnR>
                    <a:lnT>
                      <a:noFill/>
                    </a:lnT>
                    <a:lnB>
                      <a:noFill/>
                    </a:lnB>
                    <a:noFill/>
                  </a:tcPr>
                </a:tc>
                <a:tc>
                  <a:txBody>
                    <a:bodyPr/>
                    <a:lstStyle/>
                    <a:p>
                      <a:pPr>
                        <a:buNone/>
                      </a:pPr>
                      <a:r>
                        <a:rPr lang="en-US"/>
                        <a:t>Accuracy</a:t>
                      </a:r>
                    </a:p>
                  </a:txBody>
                  <a:tcPr anchor="ctr">
                    <a:lnL>
                      <a:noFill/>
                    </a:lnL>
                    <a:lnR>
                      <a:noFill/>
                    </a:lnR>
                    <a:lnT>
                      <a:noFill/>
                    </a:lnT>
                    <a:lnB>
                      <a:noFill/>
                    </a:lnB>
                    <a:noFill/>
                  </a:tcPr>
                </a:tc>
                <a:tc>
                  <a:txBody>
                    <a:bodyPr/>
                    <a:lstStyle/>
                    <a:p>
                      <a:pPr>
                        <a:buNone/>
                      </a:pPr>
                      <a:r>
                        <a:rPr lang="en-US"/>
                        <a:t>Training Speed</a:t>
                      </a:r>
                    </a:p>
                  </a:txBody>
                  <a:tcPr anchor="ctr">
                    <a:lnL>
                      <a:noFill/>
                    </a:lnL>
                    <a:lnR>
                      <a:noFill/>
                    </a:lnR>
                    <a:lnT>
                      <a:noFill/>
                    </a:lnT>
                    <a:lnB>
                      <a:noFill/>
                    </a:lnB>
                    <a:noFill/>
                  </a:tcPr>
                </a:tc>
                <a:tc>
                  <a:txBody>
                    <a:bodyPr/>
                    <a:lstStyle/>
                    <a:p>
                      <a:pPr>
                        <a:buNone/>
                      </a:pPr>
                      <a:r>
                        <a:rPr lang="en-US"/>
                        <a:t>Memory Use</a:t>
                      </a:r>
                    </a:p>
                  </a:txBody>
                  <a:tcPr anchor="ctr">
                    <a:lnL>
                      <a:noFill/>
                    </a:lnL>
                    <a:lnR>
                      <a:noFill/>
                    </a:lnR>
                    <a:lnT>
                      <a:noFill/>
                    </a:lnT>
                    <a:lnB>
                      <a:noFill/>
                    </a:lnB>
                    <a:noFill/>
                  </a:tcPr>
                </a:tc>
                <a:tc>
                  <a:txBody>
                    <a:bodyPr/>
                    <a:lstStyle/>
                    <a:p>
                      <a:pPr>
                        <a:buNone/>
                      </a:pPr>
                      <a:r>
                        <a:rPr lang="en-US"/>
                        <a:t>Discussion</a:t>
                      </a:r>
                    </a:p>
                  </a:txBody>
                  <a:tcPr anchor="ctr">
                    <a:lnL>
                      <a:noFill/>
                    </a:lnL>
                    <a:lnR>
                      <a:noFill/>
                    </a:lnR>
                    <a:lnT>
                      <a:noFill/>
                    </a:lnT>
                    <a:lnB>
                      <a:noFill/>
                    </a:lnB>
                    <a:noFill/>
                  </a:tcPr>
                </a:tc>
                <a:extLst>
                  <a:ext uri="{0D108BD9-81ED-4DB2-BD59-A6C34878D82A}">
                    <a16:rowId xmlns:a16="http://schemas.microsoft.com/office/drawing/2014/main" val="4184807871"/>
                  </a:ext>
                </a:extLst>
              </a:tr>
              <a:tr h="0">
                <a:tc>
                  <a:txBody>
                    <a:bodyPr/>
                    <a:lstStyle/>
                    <a:p>
                      <a:pPr>
                        <a:buNone/>
                      </a:pPr>
                      <a:r>
                        <a:rPr lang="en-US" b="1"/>
                        <a:t>Simple CNN</a:t>
                      </a:r>
                      <a:endParaRPr lang="en-US"/>
                    </a:p>
                  </a:txBody>
                  <a:tcPr anchor="ctr">
                    <a:lnL>
                      <a:noFill/>
                    </a:lnL>
                    <a:lnR>
                      <a:noFill/>
                    </a:lnR>
                    <a:lnT>
                      <a:noFill/>
                    </a:lnT>
                    <a:lnB>
                      <a:noFill/>
                    </a:lnB>
                    <a:noFill/>
                  </a:tcPr>
                </a:tc>
                <a:tc>
                  <a:txBody>
                    <a:bodyPr/>
                    <a:lstStyle/>
                    <a:p>
                      <a:pPr>
                        <a:buNone/>
                      </a:pPr>
                      <a:r>
                        <a:rPr lang="en-US"/>
                        <a:t>Low (~60%)</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a:t>Low</a:t>
                      </a:r>
                    </a:p>
                  </a:txBody>
                  <a:tcPr anchor="ctr">
                    <a:lnL>
                      <a:noFill/>
                    </a:lnL>
                    <a:lnR>
                      <a:noFill/>
                    </a:lnR>
                    <a:lnT>
                      <a:noFill/>
                    </a:lnT>
                    <a:lnB>
                      <a:noFill/>
                    </a:lnB>
                    <a:noFill/>
                  </a:tcPr>
                </a:tc>
                <a:tc>
                  <a:txBody>
                    <a:bodyPr/>
                    <a:lstStyle/>
                    <a:p>
                      <a:pPr>
                        <a:buNone/>
                      </a:pPr>
                      <a:r>
                        <a:rPr lang="en-US"/>
                        <a:t>Good baseline; underfits</a:t>
                      </a:r>
                    </a:p>
                  </a:txBody>
                  <a:tcPr anchor="ctr">
                    <a:lnL>
                      <a:noFill/>
                    </a:lnL>
                    <a:lnR>
                      <a:noFill/>
                    </a:lnR>
                    <a:lnT>
                      <a:noFill/>
                    </a:lnT>
                    <a:lnB>
                      <a:noFill/>
                    </a:lnB>
                    <a:noFill/>
                  </a:tcPr>
                </a:tc>
                <a:extLst>
                  <a:ext uri="{0D108BD9-81ED-4DB2-BD59-A6C34878D82A}">
                    <a16:rowId xmlns:a16="http://schemas.microsoft.com/office/drawing/2014/main" val="1113280671"/>
                  </a:ext>
                </a:extLst>
              </a:tr>
              <a:tr h="0">
                <a:tc>
                  <a:txBody>
                    <a:bodyPr/>
                    <a:lstStyle/>
                    <a:p>
                      <a:pPr>
                        <a:buNone/>
                      </a:pPr>
                      <a:r>
                        <a:rPr lang="en-US" b="1"/>
                        <a:t>AlexNet-like</a:t>
                      </a:r>
                      <a:endParaRPr lang="en-US"/>
                    </a:p>
                  </a:txBody>
                  <a:tcPr anchor="ctr">
                    <a:lnL>
                      <a:noFill/>
                    </a:lnL>
                    <a:lnR>
                      <a:noFill/>
                    </a:lnR>
                    <a:lnT>
                      <a:noFill/>
                    </a:lnT>
                    <a:lnB>
                      <a:noFill/>
                    </a:lnB>
                    <a:noFill/>
                  </a:tcPr>
                </a:tc>
                <a:tc>
                  <a:txBody>
                    <a:bodyPr/>
                    <a:lstStyle/>
                    <a:p>
                      <a:pPr>
                        <a:buNone/>
                      </a:pPr>
                      <a:r>
                        <a:rPr lang="en-US"/>
                        <a:t>Medium (~70%)</a:t>
                      </a:r>
                    </a:p>
                  </a:txBody>
                  <a:tcPr anchor="ctr">
                    <a:lnL>
                      <a:noFill/>
                    </a:lnL>
                    <a:lnR>
                      <a:noFill/>
                    </a:lnR>
                    <a:lnT>
                      <a:noFill/>
                    </a:lnT>
                    <a:lnB>
                      <a:noFill/>
                    </a:lnB>
                    <a:noFill/>
                  </a:tcPr>
                </a:tc>
                <a:tc>
                  <a:txBody>
                    <a:bodyPr/>
                    <a:lstStyle/>
                    <a:p>
                      <a:pPr>
                        <a:buNone/>
                      </a:pPr>
                      <a:r>
                        <a:rPr lang="en-US"/>
                        <a:t>Moderate</a:t>
                      </a:r>
                    </a:p>
                  </a:txBody>
                  <a:tcPr anchor="ctr">
                    <a:lnL>
                      <a:noFill/>
                    </a:lnL>
                    <a:lnR>
                      <a:noFill/>
                    </a:lnR>
                    <a:lnT>
                      <a:noFill/>
                    </a:lnT>
                    <a:lnB>
                      <a:noFill/>
                    </a:lnB>
                    <a:noFill/>
                  </a:tcPr>
                </a:tc>
                <a:tc>
                  <a:txBody>
                    <a:bodyPr/>
                    <a:lstStyle/>
                    <a:p>
                      <a:pPr>
                        <a:buNone/>
                      </a:pPr>
                      <a:r>
                        <a:rPr lang="en-US"/>
                        <a:t>High</a:t>
                      </a:r>
                    </a:p>
                  </a:txBody>
                  <a:tcPr anchor="ctr">
                    <a:lnL>
                      <a:noFill/>
                    </a:lnL>
                    <a:lnR>
                      <a:noFill/>
                    </a:lnR>
                    <a:lnT>
                      <a:noFill/>
                    </a:lnT>
                    <a:lnB>
                      <a:noFill/>
                    </a:lnB>
                    <a:noFill/>
                  </a:tcPr>
                </a:tc>
                <a:tc>
                  <a:txBody>
                    <a:bodyPr/>
                    <a:lstStyle/>
                    <a:p>
                      <a:pPr>
                        <a:buNone/>
                      </a:pPr>
                      <a:r>
                        <a:rPr lang="en-US"/>
                        <a:t>Heavy, overfits small data</a:t>
                      </a:r>
                    </a:p>
                  </a:txBody>
                  <a:tcPr anchor="ctr">
                    <a:lnL>
                      <a:noFill/>
                    </a:lnL>
                    <a:lnR>
                      <a:noFill/>
                    </a:lnR>
                    <a:lnT>
                      <a:noFill/>
                    </a:lnT>
                    <a:lnB>
                      <a:noFill/>
                    </a:lnB>
                    <a:noFill/>
                  </a:tcPr>
                </a:tc>
                <a:extLst>
                  <a:ext uri="{0D108BD9-81ED-4DB2-BD59-A6C34878D82A}">
                    <a16:rowId xmlns:a16="http://schemas.microsoft.com/office/drawing/2014/main" val="4085071321"/>
                  </a:ext>
                </a:extLst>
              </a:tr>
              <a:tr h="0">
                <a:tc>
                  <a:txBody>
                    <a:bodyPr/>
                    <a:lstStyle/>
                    <a:p>
                      <a:pPr>
                        <a:buNone/>
                      </a:pPr>
                      <a:r>
                        <a:rPr lang="en-US" b="1"/>
                        <a:t>ResNet50 (Transfer)</a:t>
                      </a:r>
                      <a:endParaRPr lang="en-US"/>
                    </a:p>
                  </a:txBody>
                  <a:tcPr anchor="ctr">
                    <a:lnL>
                      <a:noFill/>
                    </a:lnL>
                    <a:lnR>
                      <a:noFill/>
                    </a:lnR>
                    <a:lnT>
                      <a:noFill/>
                    </a:lnT>
                    <a:lnB>
                      <a:noFill/>
                    </a:lnB>
                    <a:noFill/>
                  </a:tcPr>
                </a:tc>
                <a:tc>
                  <a:txBody>
                    <a:bodyPr/>
                    <a:lstStyle/>
                    <a:p>
                      <a:pPr>
                        <a:buNone/>
                      </a:pPr>
                      <a:r>
                        <a:rPr lang="en-US"/>
                        <a:t>High (~80–85%)</a:t>
                      </a:r>
                    </a:p>
                  </a:txBody>
                  <a:tcPr anchor="ctr">
                    <a:lnL>
                      <a:noFill/>
                    </a:lnL>
                    <a:lnR>
                      <a:noFill/>
                    </a:lnR>
                    <a:lnT>
                      <a:noFill/>
                    </a:lnT>
                    <a:lnB>
                      <a:noFill/>
                    </a:lnB>
                    <a:noFill/>
                  </a:tcPr>
                </a:tc>
                <a:tc>
                  <a:txBody>
                    <a:bodyPr/>
                    <a:lstStyle/>
                    <a:p>
                      <a:pPr>
                        <a:buNone/>
                      </a:pPr>
                      <a:r>
                        <a:rPr lang="en-US"/>
                        <a:t>Fast (frozen base)</a:t>
                      </a:r>
                    </a:p>
                  </a:txBody>
                  <a:tcPr anchor="ctr">
                    <a:lnL>
                      <a:noFill/>
                    </a:lnL>
                    <a:lnR>
                      <a:noFill/>
                    </a:lnR>
                    <a:lnT>
                      <a:noFill/>
                    </a:lnT>
                    <a:lnB>
                      <a:noFill/>
                    </a:lnB>
                    <a:noFill/>
                  </a:tcPr>
                </a:tc>
                <a:tc>
                  <a:txBody>
                    <a:bodyPr/>
                    <a:lstStyle/>
                    <a:p>
                      <a:pPr>
                        <a:buNone/>
                      </a:pPr>
                      <a:r>
                        <a:rPr lang="en-US"/>
                        <a:t>Medium</a:t>
                      </a:r>
                    </a:p>
                  </a:txBody>
                  <a:tcPr anchor="ctr">
                    <a:lnL>
                      <a:noFill/>
                    </a:lnL>
                    <a:lnR>
                      <a:noFill/>
                    </a:lnR>
                    <a:lnT>
                      <a:noFill/>
                    </a:lnT>
                    <a:lnB>
                      <a:noFill/>
                    </a:lnB>
                    <a:noFill/>
                  </a:tcPr>
                </a:tc>
                <a:tc>
                  <a:txBody>
                    <a:bodyPr/>
                    <a:lstStyle/>
                    <a:p>
                      <a:pPr>
                        <a:buNone/>
                      </a:pPr>
                      <a:r>
                        <a:rPr lang="en-US" dirty="0"/>
                        <a:t>Most efficient in accuracy/time ratio</a:t>
                      </a:r>
                    </a:p>
                  </a:txBody>
                  <a:tcPr anchor="ctr">
                    <a:lnL>
                      <a:noFill/>
                    </a:lnL>
                    <a:lnR>
                      <a:noFill/>
                    </a:lnR>
                    <a:lnT>
                      <a:noFill/>
                    </a:lnT>
                    <a:lnB>
                      <a:noFill/>
                    </a:lnB>
                    <a:noFill/>
                  </a:tcPr>
                </a:tc>
                <a:extLst>
                  <a:ext uri="{0D108BD9-81ED-4DB2-BD59-A6C34878D82A}">
                    <a16:rowId xmlns:a16="http://schemas.microsoft.com/office/drawing/2014/main" val="3965322231"/>
                  </a:ext>
                </a:extLst>
              </a:tr>
            </a:tbl>
          </a:graphicData>
        </a:graphic>
      </p:graphicFrame>
      <p:sp>
        <p:nvSpPr>
          <p:cNvPr id="6" name="TextBox 5">
            <a:extLst>
              <a:ext uri="{FF2B5EF4-FFF2-40B4-BE49-F238E27FC236}">
                <a16:creationId xmlns:a16="http://schemas.microsoft.com/office/drawing/2014/main" id="{BC6EE1EE-36FB-2B56-F022-077AD7AF5CF4}"/>
              </a:ext>
            </a:extLst>
          </p:cNvPr>
          <p:cNvSpPr txBox="1"/>
          <p:nvPr/>
        </p:nvSpPr>
        <p:spPr>
          <a:xfrm>
            <a:off x="1003300" y="3368675"/>
            <a:ext cx="7543800" cy="1477328"/>
          </a:xfrm>
          <a:prstGeom prst="rect">
            <a:avLst/>
          </a:prstGeom>
          <a:noFill/>
        </p:spPr>
        <p:txBody>
          <a:bodyPr wrap="square">
            <a:spAutoFit/>
          </a:bodyPr>
          <a:lstStyle/>
          <a:p>
            <a:r>
              <a:rPr lang="en-US" dirty="0">
                <a:solidFill>
                  <a:srgbClr val="FF0000"/>
                </a:solidFill>
              </a:rPr>
              <a:t>Should we always use the deepest model?</a:t>
            </a:r>
            <a:r>
              <a:rPr lang="en-US" dirty="0"/>
              <a:t>→ Not necessarily. For small datasets, a simpler CNN might generalize better.</a:t>
            </a:r>
          </a:p>
          <a:p>
            <a:r>
              <a:rPr lang="en-US" dirty="0">
                <a:solidFill>
                  <a:srgbClr val="FF0000"/>
                </a:solidFill>
              </a:rPr>
              <a:t>Is transfer learning always better?</a:t>
            </a:r>
            <a:r>
              <a:rPr lang="en-US" dirty="0"/>
              <a:t>→ Only if the source and target domains are related. (e.g., ImageNet → CIFAR works, but ImageNet → Medical MRI might not.)</a:t>
            </a:r>
          </a:p>
        </p:txBody>
      </p:sp>
    </p:spTree>
    <p:extLst>
      <p:ext uri="{BB962C8B-B14F-4D97-AF65-F5344CB8AC3E}">
        <p14:creationId xmlns:p14="http://schemas.microsoft.com/office/powerpoint/2010/main" val="4522907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D8BCB-6C03-64B1-C2E3-D5DB43DCEC79}"/>
              </a:ext>
            </a:extLst>
          </p:cNvPr>
          <p:cNvSpPr>
            <a:spLocks noGrp="1"/>
          </p:cNvSpPr>
          <p:nvPr>
            <p:ph type="title"/>
          </p:nvPr>
        </p:nvSpPr>
        <p:spPr/>
        <p:txBody>
          <a:bodyPr/>
          <a:lstStyle/>
          <a:p>
            <a:r>
              <a:rPr lang="en-US" dirty="0"/>
              <a:t>6. </a:t>
            </a:r>
            <a:r>
              <a:rPr lang="en-US" b="1" dirty="0"/>
              <a:t>Interpreting Training Curves</a:t>
            </a:r>
            <a:endParaRPr lang="en-US" dirty="0"/>
          </a:p>
        </p:txBody>
      </p:sp>
      <p:sp>
        <p:nvSpPr>
          <p:cNvPr id="3" name="Content Placeholder 2">
            <a:extLst>
              <a:ext uri="{FF2B5EF4-FFF2-40B4-BE49-F238E27FC236}">
                <a16:creationId xmlns:a16="http://schemas.microsoft.com/office/drawing/2014/main" id="{50FF6FC5-1A6A-8C3D-4184-0398C8EB5972}"/>
              </a:ext>
            </a:extLst>
          </p:cNvPr>
          <p:cNvSpPr>
            <a:spLocks noGrp="1"/>
          </p:cNvSpPr>
          <p:nvPr>
            <p:ph idx="1"/>
          </p:nvPr>
        </p:nvSpPr>
        <p:spPr/>
        <p:txBody>
          <a:bodyPr/>
          <a:lstStyle/>
          <a:p>
            <a:r>
              <a:rPr lang="en-US" dirty="0"/>
              <a:t>Show validation accuracy/loss plots:</a:t>
            </a:r>
          </a:p>
          <a:p>
            <a:r>
              <a:rPr lang="en-US" dirty="0"/>
              <a:t>Simple CNN: slow improvement, low ceiling.</a:t>
            </a:r>
          </a:p>
          <a:p>
            <a:pPr lvl="1"/>
            <a:r>
              <a:rPr lang="en-US" dirty="0"/>
              <a:t>high bias (underfits)</a:t>
            </a:r>
          </a:p>
          <a:p>
            <a:r>
              <a:rPr lang="en-US" dirty="0" err="1"/>
              <a:t>AlexNet</a:t>
            </a:r>
            <a:r>
              <a:rPr lang="en-US" dirty="0"/>
              <a:t>-like: high training accuracy but validation plateaus — overfitting.</a:t>
            </a:r>
          </a:p>
          <a:p>
            <a:pPr lvl="1"/>
            <a:r>
              <a:rPr lang="en-US" dirty="0"/>
              <a:t>high variance (overfits)</a:t>
            </a:r>
          </a:p>
          <a:p>
            <a:r>
              <a:rPr lang="en-US" dirty="0"/>
              <a:t>ResNet50: high, stable validation accuracy — good generalization.</a:t>
            </a:r>
          </a:p>
          <a:p>
            <a:pPr lvl="1"/>
            <a:r>
              <a:rPr lang="en-US" dirty="0"/>
              <a:t>balanced (good bias–variance trade-off)</a:t>
            </a:r>
          </a:p>
        </p:txBody>
      </p:sp>
    </p:spTree>
    <p:extLst>
      <p:ext uri="{BB962C8B-B14F-4D97-AF65-F5344CB8AC3E}">
        <p14:creationId xmlns:p14="http://schemas.microsoft.com/office/powerpoint/2010/main" val="1146053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AB594-67F9-71D5-C846-14C7D529F449}"/>
              </a:ext>
            </a:extLst>
          </p:cNvPr>
          <p:cNvSpPr>
            <a:spLocks noGrp="1"/>
          </p:cNvSpPr>
          <p:nvPr>
            <p:ph type="title"/>
          </p:nvPr>
        </p:nvSpPr>
        <p:spPr/>
        <p:txBody>
          <a:bodyPr/>
          <a:lstStyle/>
          <a:p>
            <a:r>
              <a:rPr lang="en-US" dirty="0"/>
              <a:t>Why doesn’t adding more layers always increase performance?</a:t>
            </a:r>
          </a:p>
        </p:txBody>
      </p:sp>
      <p:sp>
        <p:nvSpPr>
          <p:cNvPr id="3" name="Content Placeholder 2">
            <a:extLst>
              <a:ext uri="{FF2B5EF4-FFF2-40B4-BE49-F238E27FC236}">
                <a16:creationId xmlns:a16="http://schemas.microsoft.com/office/drawing/2014/main" id="{64B667A6-C51F-DD8B-E8F4-C7FAB3671430}"/>
              </a:ext>
            </a:extLst>
          </p:cNvPr>
          <p:cNvSpPr>
            <a:spLocks noGrp="1"/>
          </p:cNvSpPr>
          <p:nvPr>
            <p:ph idx="1"/>
          </p:nvPr>
        </p:nvSpPr>
        <p:spPr/>
        <p:txBody>
          <a:bodyPr/>
          <a:lstStyle/>
          <a:p>
            <a:r>
              <a:rPr lang="en-US" dirty="0"/>
              <a:t>Because deeper networks are harder to optimize and can suffer from vanishing/exploding gradients, degradation, or overfitting.</a:t>
            </a:r>
          </a:p>
          <a:p>
            <a:pPr lvl="1"/>
            <a:r>
              <a:rPr lang="en-US" dirty="0"/>
              <a:t>Gradients vanish as they propagate backward, especially through many non-linear activations.</a:t>
            </a:r>
          </a:p>
          <a:p>
            <a:pPr lvl="1"/>
            <a:r>
              <a:rPr lang="en-US" dirty="0"/>
              <a:t>Deeper networks can degrade, meaning training accuracy itself worsens — not because of overfitting, but because the optimization landscape becomes unstable.</a:t>
            </a:r>
          </a:p>
          <a:p>
            <a:pPr lvl="1"/>
            <a:r>
              <a:rPr lang="en-US" dirty="0"/>
              <a:t>Overfitting can also occur when the model memorizes training data but fails to generalize.</a:t>
            </a:r>
          </a:p>
        </p:txBody>
      </p:sp>
    </p:spTree>
    <p:extLst>
      <p:ext uri="{BB962C8B-B14F-4D97-AF65-F5344CB8AC3E}">
        <p14:creationId xmlns:p14="http://schemas.microsoft.com/office/powerpoint/2010/main" val="916343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3445E-A159-4C0B-4FC4-B794CE21273E}"/>
              </a:ext>
            </a:extLst>
          </p:cNvPr>
          <p:cNvSpPr>
            <a:spLocks noGrp="1"/>
          </p:cNvSpPr>
          <p:nvPr>
            <p:ph type="title"/>
          </p:nvPr>
        </p:nvSpPr>
        <p:spPr/>
        <p:txBody>
          <a:bodyPr/>
          <a:lstStyle/>
          <a:p>
            <a:r>
              <a:rPr lang="en-US" dirty="0"/>
              <a:t>What happens if we unfreeze all layers of ResNet50 on CIFAR-10?</a:t>
            </a:r>
          </a:p>
        </p:txBody>
      </p:sp>
      <p:sp>
        <p:nvSpPr>
          <p:cNvPr id="3" name="Content Placeholder 2">
            <a:extLst>
              <a:ext uri="{FF2B5EF4-FFF2-40B4-BE49-F238E27FC236}">
                <a16:creationId xmlns:a16="http://schemas.microsoft.com/office/drawing/2014/main" id="{94169E3F-B955-81E8-3721-3D47F273C7E4}"/>
              </a:ext>
            </a:extLst>
          </p:cNvPr>
          <p:cNvSpPr>
            <a:spLocks noGrp="1"/>
          </p:cNvSpPr>
          <p:nvPr>
            <p:ph idx="1"/>
          </p:nvPr>
        </p:nvSpPr>
        <p:spPr/>
        <p:txBody>
          <a:bodyPr/>
          <a:lstStyle/>
          <a:p>
            <a:r>
              <a:rPr lang="en-US" dirty="0"/>
              <a:t>The model will likely overfit and train slowly, possibly with little improvement in accuracy.</a:t>
            </a:r>
          </a:p>
          <a:p>
            <a:pPr lvl="1"/>
            <a:r>
              <a:rPr lang="en-US" dirty="0"/>
              <a:t>ResNet50 is pre-trained on ImageNet (1.2M images, 1000 classes) — its convolutional filters are tuned to large, high-resolution, natural images.</a:t>
            </a:r>
          </a:p>
          <a:p>
            <a:pPr lvl="1"/>
            <a:r>
              <a:rPr lang="en-US" dirty="0"/>
              <a:t>CIFAR-10 is small and low-resolution (32×32).</a:t>
            </a:r>
          </a:p>
          <a:p>
            <a:pPr lvl="1"/>
            <a:r>
              <a:rPr lang="en-US" dirty="0"/>
              <a:t>If you unfreeze all layers:</a:t>
            </a:r>
          </a:p>
          <a:p>
            <a:pPr lvl="2"/>
            <a:r>
              <a:rPr lang="en-US" dirty="0"/>
              <a:t>You allow the model to update the pre-trained weights, but since CIFAR-10 is small, it doesn’t have enough data to re-learn good general features.</a:t>
            </a:r>
          </a:p>
          <a:p>
            <a:pPr lvl="2"/>
            <a:r>
              <a:rPr lang="en-US" dirty="0"/>
              <a:t>The optimizer will disturb the well-learned low-level filters, leading to catastrophic forgetting.</a:t>
            </a:r>
          </a:p>
          <a:p>
            <a:pPr lvl="2"/>
            <a:r>
              <a:rPr lang="en-US" dirty="0"/>
              <a:t>Training time and memory usage increase significantly.</a:t>
            </a:r>
          </a:p>
        </p:txBody>
      </p:sp>
      <p:sp>
        <p:nvSpPr>
          <p:cNvPr id="5" name="TextBox 4">
            <a:extLst>
              <a:ext uri="{FF2B5EF4-FFF2-40B4-BE49-F238E27FC236}">
                <a16:creationId xmlns:a16="http://schemas.microsoft.com/office/drawing/2014/main" id="{822D0838-23F5-FEEE-016A-168727D1B625}"/>
              </a:ext>
            </a:extLst>
          </p:cNvPr>
          <p:cNvSpPr txBox="1"/>
          <p:nvPr/>
        </p:nvSpPr>
        <p:spPr>
          <a:xfrm>
            <a:off x="1155700" y="1844675"/>
            <a:ext cx="6584679" cy="1200329"/>
          </a:xfrm>
          <a:prstGeom prst="rect">
            <a:avLst/>
          </a:prstGeom>
          <a:solidFill>
            <a:schemeClr val="bg2"/>
          </a:solidFill>
        </p:spPr>
        <p:txBody>
          <a:bodyPr wrap="square">
            <a:spAutoFit/>
          </a:bodyPr>
          <a:lstStyle/>
          <a:p>
            <a:r>
              <a:rPr lang="en-US" dirty="0">
                <a:solidFill>
                  <a:srgbClr val="FF0000"/>
                </a:solidFill>
              </a:rPr>
              <a:t>Correct Strategy:</a:t>
            </a:r>
          </a:p>
          <a:p>
            <a:r>
              <a:rPr lang="en-US" dirty="0">
                <a:solidFill>
                  <a:srgbClr val="FF0000"/>
                </a:solidFill>
              </a:rPr>
              <a:t>Freeze the convolutional base (feature extractor) initially.</a:t>
            </a:r>
          </a:p>
          <a:p>
            <a:r>
              <a:rPr lang="en-US" dirty="0">
                <a:solidFill>
                  <a:srgbClr val="FF0000"/>
                </a:solidFill>
              </a:rPr>
              <a:t>Unfreeze the top few blocks only if you have enough data or want fine-tuning.</a:t>
            </a:r>
          </a:p>
        </p:txBody>
      </p:sp>
    </p:spTree>
    <p:extLst>
      <p:ext uri="{BB962C8B-B14F-4D97-AF65-F5344CB8AC3E}">
        <p14:creationId xmlns:p14="http://schemas.microsoft.com/office/powerpoint/2010/main" val="1764978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303E0-A65D-C13B-D934-D271F1062F09}"/>
              </a:ext>
            </a:extLst>
          </p:cNvPr>
          <p:cNvSpPr>
            <a:spLocks noGrp="1"/>
          </p:cNvSpPr>
          <p:nvPr>
            <p:ph type="title"/>
          </p:nvPr>
        </p:nvSpPr>
        <p:spPr/>
        <p:txBody>
          <a:bodyPr/>
          <a:lstStyle/>
          <a:p>
            <a:r>
              <a:rPr lang="en-US" dirty="0"/>
              <a:t>How do skip connections improve gradient flow mathematically?</a:t>
            </a:r>
          </a:p>
        </p:txBody>
      </p:sp>
      <p:sp>
        <p:nvSpPr>
          <p:cNvPr id="3" name="Content Placeholder 2">
            <a:extLst>
              <a:ext uri="{FF2B5EF4-FFF2-40B4-BE49-F238E27FC236}">
                <a16:creationId xmlns:a16="http://schemas.microsoft.com/office/drawing/2014/main" id="{4FFE4FE3-247A-0364-CAA8-9670DFBD4FAF}"/>
              </a:ext>
            </a:extLst>
          </p:cNvPr>
          <p:cNvSpPr>
            <a:spLocks noGrp="1"/>
          </p:cNvSpPr>
          <p:nvPr>
            <p:ph idx="1"/>
          </p:nvPr>
        </p:nvSpPr>
        <p:spPr/>
        <p:txBody>
          <a:bodyPr/>
          <a:lstStyle/>
          <a:p>
            <a:r>
              <a:rPr lang="en-US" dirty="0"/>
              <a:t>They allow gradients to bypass nonlinear transformations, ensuring that the gradient can flow directly to earlier layers.</a:t>
            </a:r>
          </a:p>
          <a:p>
            <a:r>
              <a:rPr lang="en-US" dirty="0"/>
              <a:t>Use an alternate route:</a:t>
            </a:r>
          </a:p>
          <a:p>
            <a:pPr lvl="1"/>
            <a:r>
              <a:rPr lang="en-US" dirty="0"/>
              <a:t>preserves gradient magnitude during backpropagation.</a:t>
            </a:r>
          </a:p>
          <a:p>
            <a:pPr lvl="1"/>
            <a:r>
              <a:rPr lang="en-US" dirty="0"/>
              <a:t>Enables stable training of very deep networks (e.g., 50–150+ layers).</a:t>
            </a:r>
          </a:p>
          <a:p>
            <a:pPr lvl="1"/>
            <a:r>
              <a:rPr lang="en-US" dirty="0"/>
              <a:t>Prevents degradation — deeper models perform at least as well as shallower ones.</a:t>
            </a:r>
          </a:p>
        </p:txBody>
      </p:sp>
    </p:spTree>
    <p:extLst>
      <p:ext uri="{BB962C8B-B14F-4D97-AF65-F5344CB8AC3E}">
        <p14:creationId xmlns:p14="http://schemas.microsoft.com/office/powerpoint/2010/main" val="5529293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2DA48-3F79-B6E5-BE8B-8F986454705A}"/>
              </a:ext>
            </a:extLst>
          </p:cNvPr>
          <p:cNvSpPr>
            <a:spLocks noGrp="1"/>
          </p:cNvSpPr>
          <p:nvPr>
            <p:ph type="title"/>
          </p:nvPr>
        </p:nvSpPr>
        <p:spPr/>
        <p:txBody>
          <a:bodyPr/>
          <a:lstStyle/>
          <a:p>
            <a:r>
              <a:rPr lang="en-US" dirty="0"/>
              <a:t>Would </a:t>
            </a:r>
            <a:r>
              <a:rPr lang="en-US" dirty="0" err="1"/>
              <a:t>AlexNet</a:t>
            </a:r>
            <a:r>
              <a:rPr lang="en-US" dirty="0"/>
              <a:t> perform better with Batch Normalization?</a:t>
            </a:r>
          </a:p>
        </p:txBody>
      </p:sp>
      <p:sp>
        <p:nvSpPr>
          <p:cNvPr id="3" name="Content Placeholder 2">
            <a:extLst>
              <a:ext uri="{FF2B5EF4-FFF2-40B4-BE49-F238E27FC236}">
                <a16:creationId xmlns:a16="http://schemas.microsoft.com/office/drawing/2014/main" id="{3F1E44A8-22AA-B970-4017-2D59BF0940D6}"/>
              </a:ext>
            </a:extLst>
          </p:cNvPr>
          <p:cNvSpPr>
            <a:spLocks noGrp="1"/>
          </p:cNvSpPr>
          <p:nvPr>
            <p:ph idx="1"/>
          </p:nvPr>
        </p:nvSpPr>
        <p:spPr/>
        <p:txBody>
          <a:bodyPr/>
          <a:lstStyle/>
          <a:p>
            <a:r>
              <a:rPr lang="en-US" dirty="0"/>
              <a:t>Yes — adding Batch Normalization (BN) layers would likely improve convergence, stability, and accuracy.</a:t>
            </a:r>
          </a:p>
          <a:p>
            <a:r>
              <a:rPr lang="en-US" dirty="0"/>
              <a:t>BN after each convolutional layer: :</a:t>
            </a:r>
          </a:p>
          <a:p>
            <a:pPr lvl="1"/>
            <a:r>
              <a:rPr lang="en-US" dirty="0"/>
              <a:t>Stabilizes gradient flow.(Training becomes smoother and faster.)</a:t>
            </a:r>
          </a:p>
          <a:p>
            <a:pPr lvl="1"/>
            <a:r>
              <a:rPr lang="en-US" dirty="0"/>
              <a:t>Allows higher learning rates.(Test accuracy improves (especially on small datasets like CIFAR-10).</a:t>
            </a:r>
          </a:p>
          <a:p>
            <a:pPr lvl="1"/>
            <a:r>
              <a:rPr lang="en-US" dirty="0"/>
              <a:t>Acts as a </a:t>
            </a:r>
            <a:r>
              <a:rPr lang="en-US" dirty="0" err="1"/>
              <a:t>regularizer</a:t>
            </a:r>
            <a:r>
              <a:rPr lang="en-US" dirty="0"/>
              <a:t> (reduces overfitting)=&gt; Dropout can often be reduced because BN provides implicit regularization.</a:t>
            </a:r>
          </a:p>
          <a:p>
            <a:endParaRPr lang="en-US" dirty="0"/>
          </a:p>
        </p:txBody>
      </p:sp>
    </p:spTree>
    <p:extLst>
      <p:ext uri="{BB962C8B-B14F-4D97-AF65-F5344CB8AC3E}">
        <p14:creationId xmlns:p14="http://schemas.microsoft.com/office/powerpoint/2010/main" val="12249594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BAD50-9059-F8D4-6CF3-94A4F15B2704}"/>
              </a:ext>
            </a:extLst>
          </p:cNvPr>
          <p:cNvSpPr>
            <a:spLocks noGrp="1"/>
          </p:cNvSpPr>
          <p:nvPr>
            <p:ph type="title"/>
          </p:nvPr>
        </p:nvSpPr>
        <p:spPr/>
        <p:txBody>
          <a:bodyPr/>
          <a:lstStyle/>
          <a:p>
            <a:r>
              <a:rPr lang="en-US" dirty="0"/>
              <a:t>When might transfer learning not be helpful?</a:t>
            </a:r>
          </a:p>
        </p:txBody>
      </p:sp>
      <p:sp>
        <p:nvSpPr>
          <p:cNvPr id="3" name="Content Placeholder 2">
            <a:extLst>
              <a:ext uri="{FF2B5EF4-FFF2-40B4-BE49-F238E27FC236}">
                <a16:creationId xmlns:a16="http://schemas.microsoft.com/office/drawing/2014/main" id="{91CDC170-14B8-58A2-3325-BB0826938C95}"/>
              </a:ext>
            </a:extLst>
          </p:cNvPr>
          <p:cNvSpPr>
            <a:spLocks noGrp="1"/>
          </p:cNvSpPr>
          <p:nvPr>
            <p:ph idx="1"/>
          </p:nvPr>
        </p:nvSpPr>
        <p:spPr/>
        <p:txBody>
          <a:bodyPr/>
          <a:lstStyle/>
          <a:p>
            <a:r>
              <a:rPr lang="en-US" dirty="0"/>
              <a:t>When the source domain and target domain are too different — the learned features are not transferable.</a:t>
            </a:r>
          </a:p>
          <a:p>
            <a:r>
              <a:rPr lang="en-US" dirty="0"/>
              <a:t>Why It Fails:</a:t>
            </a:r>
          </a:p>
          <a:p>
            <a:r>
              <a:rPr lang="en-US" dirty="0"/>
              <a:t>Early convolutional layers capture generic features (edges, gradients).</a:t>
            </a:r>
          </a:p>
          <a:p>
            <a:r>
              <a:rPr lang="en-US" dirty="0"/>
              <a:t>Later layers capture domain-specific features (animal faces, textures, etc.).</a:t>
            </a:r>
          </a:p>
          <a:p>
            <a:r>
              <a:rPr lang="en-US" dirty="0"/>
              <a:t>If domains differ drastically, these learned representations are not useful, and might even hurt performance (negative transfer).</a:t>
            </a:r>
          </a:p>
        </p:txBody>
      </p:sp>
      <p:sp>
        <p:nvSpPr>
          <p:cNvPr id="4" name="TextBox 3">
            <a:extLst>
              <a:ext uri="{FF2B5EF4-FFF2-40B4-BE49-F238E27FC236}">
                <a16:creationId xmlns:a16="http://schemas.microsoft.com/office/drawing/2014/main" id="{0A0F0008-4250-3377-2207-B7DEE8AE5887}"/>
              </a:ext>
            </a:extLst>
          </p:cNvPr>
          <p:cNvSpPr txBox="1"/>
          <p:nvPr/>
        </p:nvSpPr>
        <p:spPr>
          <a:xfrm>
            <a:off x="1155700" y="1844675"/>
            <a:ext cx="6584679" cy="1200329"/>
          </a:xfrm>
          <a:prstGeom prst="rect">
            <a:avLst/>
          </a:prstGeom>
          <a:solidFill>
            <a:schemeClr val="bg2"/>
          </a:solidFill>
        </p:spPr>
        <p:txBody>
          <a:bodyPr wrap="square">
            <a:spAutoFit/>
          </a:bodyPr>
          <a:lstStyle/>
          <a:p>
            <a:r>
              <a:rPr lang="en-US" dirty="0">
                <a:solidFill>
                  <a:srgbClr val="FF0000"/>
                </a:solidFill>
              </a:rPr>
              <a:t>Solution:</a:t>
            </a:r>
          </a:p>
          <a:p>
            <a:r>
              <a:rPr lang="en-US" dirty="0">
                <a:solidFill>
                  <a:srgbClr val="FF0000"/>
                </a:solidFill>
              </a:rPr>
              <a:t>Use self-supervised pretraining (e.g., </a:t>
            </a:r>
            <a:r>
              <a:rPr lang="en-US" dirty="0" err="1">
                <a:solidFill>
                  <a:srgbClr val="FF0000"/>
                </a:solidFill>
              </a:rPr>
              <a:t>SimCLR</a:t>
            </a:r>
            <a:r>
              <a:rPr lang="en-US" dirty="0">
                <a:solidFill>
                  <a:srgbClr val="FF0000"/>
                </a:solidFill>
              </a:rPr>
              <a:t>, MAE) on unlabeled data from your target domain.</a:t>
            </a:r>
          </a:p>
          <a:p>
            <a:r>
              <a:rPr lang="en-US" dirty="0">
                <a:solidFill>
                  <a:srgbClr val="FF0000"/>
                </a:solidFill>
              </a:rPr>
              <a:t>Train from scratch if the dataset is large enough.</a:t>
            </a:r>
          </a:p>
        </p:txBody>
      </p:sp>
    </p:spTree>
    <p:extLst>
      <p:ext uri="{BB962C8B-B14F-4D97-AF65-F5344CB8AC3E}">
        <p14:creationId xmlns:p14="http://schemas.microsoft.com/office/powerpoint/2010/main" val="3535311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926B0-BCE1-0761-F4B2-15F658353E14}"/>
              </a:ext>
            </a:extLst>
          </p:cNvPr>
          <p:cNvSpPr>
            <a:spLocks noGrp="1"/>
          </p:cNvSpPr>
          <p:nvPr>
            <p:ph type="title"/>
          </p:nvPr>
        </p:nvSpPr>
        <p:spPr/>
        <p:txBody>
          <a:bodyPr/>
          <a:lstStyle/>
          <a:p>
            <a:r>
              <a:rPr lang="en-US" dirty="0"/>
              <a:t>Summary</a:t>
            </a:r>
          </a:p>
        </p:txBody>
      </p:sp>
      <p:graphicFrame>
        <p:nvGraphicFramePr>
          <p:cNvPr id="4" name="Content Placeholder 3">
            <a:extLst>
              <a:ext uri="{FF2B5EF4-FFF2-40B4-BE49-F238E27FC236}">
                <a16:creationId xmlns:a16="http://schemas.microsoft.com/office/drawing/2014/main" id="{4DFC0C61-03EB-E30D-3F32-E2DDF08C3B57}"/>
              </a:ext>
            </a:extLst>
          </p:cNvPr>
          <p:cNvGraphicFramePr>
            <a:graphicFrameLocks noGrp="1"/>
          </p:cNvGraphicFramePr>
          <p:nvPr>
            <p:ph idx="1"/>
            <p:extLst>
              <p:ext uri="{D42A27DB-BD31-4B8C-83A1-F6EECF244321}">
                <p14:modId xmlns:p14="http://schemas.microsoft.com/office/powerpoint/2010/main" val="1343351452"/>
              </p:ext>
            </p:extLst>
          </p:nvPr>
        </p:nvGraphicFramePr>
        <p:xfrm>
          <a:off x="693738" y="1673479"/>
          <a:ext cx="8696325" cy="3269743"/>
        </p:xfrm>
        <a:graphic>
          <a:graphicData uri="http://schemas.openxmlformats.org/drawingml/2006/table">
            <a:tbl>
              <a:tblPr/>
              <a:tblGrid>
                <a:gridCol w="2898775">
                  <a:extLst>
                    <a:ext uri="{9D8B030D-6E8A-4147-A177-3AD203B41FA5}">
                      <a16:colId xmlns:a16="http://schemas.microsoft.com/office/drawing/2014/main" val="912171421"/>
                    </a:ext>
                  </a:extLst>
                </a:gridCol>
                <a:gridCol w="2898775">
                  <a:extLst>
                    <a:ext uri="{9D8B030D-6E8A-4147-A177-3AD203B41FA5}">
                      <a16:colId xmlns:a16="http://schemas.microsoft.com/office/drawing/2014/main" val="4047519823"/>
                    </a:ext>
                  </a:extLst>
                </a:gridCol>
                <a:gridCol w="2898775">
                  <a:extLst>
                    <a:ext uri="{9D8B030D-6E8A-4147-A177-3AD203B41FA5}">
                      <a16:colId xmlns:a16="http://schemas.microsoft.com/office/drawing/2014/main" val="2959667880"/>
                    </a:ext>
                  </a:extLst>
                </a:gridCol>
              </a:tblGrid>
              <a:tr h="0">
                <a:tc>
                  <a:txBody>
                    <a:bodyPr/>
                    <a:lstStyle/>
                    <a:p>
                      <a:pPr>
                        <a:buNone/>
                      </a:pPr>
                      <a:r>
                        <a:rPr lang="en-US" b="1">
                          <a:solidFill>
                            <a:srgbClr val="FF0000"/>
                          </a:solidFill>
                        </a:rPr>
                        <a:t>Question</a:t>
                      </a:r>
                    </a:p>
                  </a:txBody>
                  <a:tcPr anchor="ctr">
                    <a:lnL>
                      <a:noFill/>
                    </a:lnL>
                    <a:lnR>
                      <a:noFill/>
                    </a:lnR>
                    <a:lnT>
                      <a:noFill/>
                    </a:lnT>
                    <a:lnB>
                      <a:noFill/>
                    </a:lnB>
                    <a:noFill/>
                  </a:tcPr>
                </a:tc>
                <a:tc>
                  <a:txBody>
                    <a:bodyPr/>
                    <a:lstStyle/>
                    <a:p>
                      <a:pPr>
                        <a:buNone/>
                      </a:pPr>
                      <a:r>
                        <a:rPr lang="en-US" b="1">
                          <a:solidFill>
                            <a:srgbClr val="FF0000"/>
                          </a:solidFill>
                        </a:rPr>
                        <a:t>Key Concept</a:t>
                      </a:r>
                    </a:p>
                  </a:txBody>
                  <a:tcPr anchor="ctr">
                    <a:lnL>
                      <a:noFill/>
                    </a:lnL>
                    <a:lnR>
                      <a:noFill/>
                    </a:lnR>
                    <a:lnT>
                      <a:noFill/>
                    </a:lnT>
                    <a:lnB>
                      <a:noFill/>
                    </a:lnB>
                    <a:noFill/>
                  </a:tcPr>
                </a:tc>
                <a:tc>
                  <a:txBody>
                    <a:bodyPr/>
                    <a:lstStyle/>
                    <a:p>
                      <a:pPr>
                        <a:buNone/>
                      </a:pPr>
                      <a:r>
                        <a:rPr lang="en-US" b="1" dirty="0">
                          <a:solidFill>
                            <a:srgbClr val="FF0000"/>
                          </a:solidFill>
                        </a:rPr>
                        <a:t>Core Answer</a:t>
                      </a:r>
                    </a:p>
                  </a:txBody>
                  <a:tcPr anchor="ctr">
                    <a:lnL>
                      <a:noFill/>
                    </a:lnL>
                    <a:lnR>
                      <a:noFill/>
                    </a:lnR>
                    <a:lnT>
                      <a:noFill/>
                    </a:lnT>
                    <a:lnB>
                      <a:noFill/>
                    </a:lnB>
                    <a:noFill/>
                  </a:tcPr>
                </a:tc>
                <a:extLst>
                  <a:ext uri="{0D108BD9-81ED-4DB2-BD59-A6C34878D82A}">
                    <a16:rowId xmlns:a16="http://schemas.microsoft.com/office/drawing/2014/main" val="1306349832"/>
                  </a:ext>
                </a:extLst>
              </a:tr>
              <a:tr h="0">
                <a:tc>
                  <a:txBody>
                    <a:bodyPr/>
                    <a:lstStyle/>
                    <a:p>
                      <a:pPr>
                        <a:buNone/>
                      </a:pPr>
                      <a:r>
                        <a:rPr lang="en-US"/>
                        <a:t>Why doesn’t more depth always help?</a:t>
                      </a:r>
                    </a:p>
                  </a:txBody>
                  <a:tcPr anchor="ctr">
                    <a:lnL>
                      <a:noFill/>
                    </a:lnL>
                    <a:lnR>
                      <a:noFill/>
                    </a:lnR>
                    <a:lnT>
                      <a:noFill/>
                    </a:lnT>
                    <a:lnB>
                      <a:noFill/>
                    </a:lnB>
                    <a:noFill/>
                  </a:tcPr>
                </a:tc>
                <a:tc>
                  <a:txBody>
                    <a:bodyPr/>
                    <a:lstStyle/>
                    <a:p>
                      <a:pPr>
                        <a:buNone/>
                      </a:pPr>
                      <a:r>
                        <a:rPr lang="en-US"/>
                        <a:t>Optimization issues</a:t>
                      </a:r>
                    </a:p>
                  </a:txBody>
                  <a:tcPr anchor="ctr">
                    <a:lnL>
                      <a:noFill/>
                    </a:lnL>
                    <a:lnR>
                      <a:noFill/>
                    </a:lnR>
                    <a:lnT>
                      <a:noFill/>
                    </a:lnT>
                    <a:lnB>
                      <a:noFill/>
                    </a:lnB>
                    <a:noFill/>
                  </a:tcPr>
                </a:tc>
                <a:tc>
                  <a:txBody>
                    <a:bodyPr/>
                    <a:lstStyle/>
                    <a:p>
                      <a:pPr>
                        <a:buNone/>
                      </a:pPr>
                      <a:r>
                        <a:rPr lang="en-US"/>
                        <a:t>Deep networks may degrade due to vanishing gradients; ResNet fixes it.</a:t>
                      </a:r>
                    </a:p>
                  </a:txBody>
                  <a:tcPr anchor="ctr">
                    <a:lnL>
                      <a:noFill/>
                    </a:lnL>
                    <a:lnR>
                      <a:noFill/>
                    </a:lnR>
                    <a:lnT>
                      <a:noFill/>
                    </a:lnT>
                    <a:lnB>
                      <a:noFill/>
                    </a:lnB>
                    <a:noFill/>
                  </a:tcPr>
                </a:tc>
                <a:extLst>
                  <a:ext uri="{0D108BD9-81ED-4DB2-BD59-A6C34878D82A}">
                    <a16:rowId xmlns:a16="http://schemas.microsoft.com/office/drawing/2014/main" val="2292967"/>
                  </a:ext>
                </a:extLst>
              </a:tr>
              <a:tr h="0">
                <a:tc>
                  <a:txBody>
                    <a:bodyPr/>
                    <a:lstStyle/>
                    <a:p>
                      <a:pPr>
                        <a:buNone/>
                      </a:pPr>
                      <a:r>
                        <a:rPr lang="en-US"/>
                        <a:t>What if we unfreeze all ResNet layers?</a:t>
                      </a:r>
                    </a:p>
                  </a:txBody>
                  <a:tcPr anchor="ctr">
                    <a:lnL>
                      <a:noFill/>
                    </a:lnL>
                    <a:lnR>
                      <a:noFill/>
                    </a:lnR>
                    <a:lnT>
                      <a:noFill/>
                    </a:lnT>
                    <a:lnB>
                      <a:noFill/>
                    </a:lnB>
                    <a:noFill/>
                  </a:tcPr>
                </a:tc>
                <a:tc>
                  <a:txBody>
                    <a:bodyPr/>
                    <a:lstStyle/>
                    <a:p>
                      <a:pPr>
                        <a:buNone/>
                      </a:pPr>
                      <a:r>
                        <a:rPr lang="en-US"/>
                        <a:t>Fine-tuning &amp; overfitting</a:t>
                      </a:r>
                    </a:p>
                  </a:txBody>
                  <a:tcPr anchor="ctr">
                    <a:lnL>
                      <a:noFill/>
                    </a:lnL>
                    <a:lnR>
                      <a:noFill/>
                    </a:lnR>
                    <a:lnT>
                      <a:noFill/>
                    </a:lnT>
                    <a:lnB>
                      <a:noFill/>
                    </a:lnB>
                    <a:noFill/>
                  </a:tcPr>
                </a:tc>
                <a:tc>
                  <a:txBody>
                    <a:bodyPr/>
                    <a:lstStyle/>
                    <a:p>
                      <a:pPr>
                        <a:buNone/>
                      </a:pPr>
                      <a:r>
                        <a:rPr lang="en-US"/>
                        <a:t>Overfits small data; better to freeze or partially fine-tune.</a:t>
                      </a:r>
                    </a:p>
                  </a:txBody>
                  <a:tcPr anchor="ctr">
                    <a:lnL>
                      <a:noFill/>
                    </a:lnL>
                    <a:lnR>
                      <a:noFill/>
                    </a:lnR>
                    <a:lnT>
                      <a:noFill/>
                    </a:lnT>
                    <a:lnB>
                      <a:noFill/>
                    </a:lnB>
                    <a:noFill/>
                  </a:tcPr>
                </a:tc>
                <a:extLst>
                  <a:ext uri="{0D108BD9-81ED-4DB2-BD59-A6C34878D82A}">
                    <a16:rowId xmlns:a16="http://schemas.microsoft.com/office/drawing/2014/main" val="2582298363"/>
                  </a:ext>
                </a:extLst>
              </a:tr>
              <a:tr h="0">
                <a:tc>
                  <a:txBody>
                    <a:bodyPr/>
                    <a:lstStyle/>
                    <a:p>
                      <a:pPr>
                        <a:buNone/>
                      </a:pPr>
                      <a:r>
                        <a:rPr lang="en-US"/>
                        <a:t>How do skip connections help?</a:t>
                      </a:r>
                    </a:p>
                  </a:txBody>
                  <a:tcPr anchor="ctr">
                    <a:lnL>
                      <a:noFill/>
                    </a:lnL>
                    <a:lnR>
                      <a:noFill/>
                    </a:lnR>
                    <a:lnT>
                      <a:noFill/>
                    </a:lnT>
                    <a:lnB>
                      <a:noFill/>
                    </a:lnB>
                    <a:noFill/>
                  </a:tcPr>
                </a:tc>
                <a:tc>
                  <a:txBody>
                    <a:bodyPr/>
                    <a:lstStyle/>
                    <a:p>
                      <a:pPr>
                        <a:buNone/>
                      </a:pPr>
                      <a:r>
                        <a:rPr lang="en-US"/>
                        <a:t>Gradient flow</a:t>
                      </a:r>
                    </a:p>
                  </a:txBody>
                  <a:tcPr anchor="ctr">
                    <a:lnL>
                      <a:noFill/>
                    </a:lnL>
                    <a:lnR>
                      <a:noFill/>
                    </a:lnR>
                    <a:lnT>
                      <a:noFill/>
                    </a:lnT>
                    <a:lnB>
                      <a:noFill/>
                    </a:lnB>
                    <a:noFill/>
                  </a:tcPr>
                </a:tc>
                <a:tc>
                  <a:txBody>
                    <a:bodyPr/>
                    <a:lstStyle/>
                    <a:p>
                      <a:pPr>
                        <a:buNone/>
                      </a:pPr>
                      <a:r>
                        <a:rPr lang="en-US"/>
                        <a:t>Preserve identity gradient; prevent vanishing.</a:t>
                      </a:r>
                    </a:p>
                  </a:txBody>
                  <a:tcPr anchor="ctr">
                    <a:lnL>
                      <a:noFill/>
                    </a:lnL>
                    <a:lnR>
                      <a:noFill/>
                    </a:lnR>
                    <a:lnT>
                      <a:noFill/>
                    </a:lnT>
                    <a:lnB>
                      <a:noFill/>
                    </a:lnB>
                    <a:noFill/>
                  </a:tcPr>
                </a:tc>
                <a:extLst>
                  <a:ext uri="{0D108BD9-81ED-4DB2-BD59-A6C34878D82A}">
                    <a16:rowId xmlns:a16="http://schemas.microsoft.com/office/drawing/2014/main" val="2354423522"/>
                  </a:ext>
                </a:extLst>
              </a:tr>
              <a:tr h="0">
                <a:tc>
                  <a:txBody>
                    <a:bodyPr/>
                    <a:lstStyle/>
                    <a:p>
                      <a:pPr>
                        <a:buNone/>
                      </a:pPr>
                      <a:r>
                        <a:rPr lang="en-US"/>
                        <a:t>AlexNet + BN?</a:t>
                      </a:r>
                    </a:p>
                  </a:txBody>
                  <a:tcPr anchor="ctr">
                    <a:lnL>
                      <a:noFill/>
                    </a:lnL>
                    <a:lnR>
                      <a:noFill/>
                    </a:lnR>
                    <a:lnT>
                      <a:noFill/>
                    </a:lnT>
                    <a:lnB>
                      <a:noFill/>
                    </a:lnB>
                    <a:noFill/>
                  </a:tcPr>
                </a:tc>
                <a:tc>
                  <a:txBody>
                    <a:bodyPr/>
                    <a:lstStyle/>
                    <a:p>
                      <a:pPr>
                        <a:buNone/>
                      </a:pPr>
                      <a:r>
                        <a:rPr lang="en-US"/>
                        <a:t>Normalization</a:t>
                      </a:r>
                    </a:p>
                  </a:txBody>
                  <a:tcPr anchor="ctr">
                    <a:lnL>
                      <a:noFill/>
                    </a:lnL>
                    <a:lnR>
                      <a:noFill/>
                    </a:lnR>
                    <a:lnT>
                      <a:noFill/>
                    </a:lnT>
                    <a:lnB>
                      <a:noFill/>
                    </a:lnB>
                    <a:noFill/>
                  </a:tcPr>
                </a:tc>
                <a:tc>
                  <a:txBody>
                    <a:bodyPr/>
                    <a:lstStyle/>
                    <a:p>
                      <a:pPr>
                        <a:buNone/>
                      </a:pPr>
                      <a:r>
                        <a:rPr lang="en-US"/>
                        <a:t>Yes — improves stability and accuracy.</a:t>
                      </a:r>
                    </a:p>
                  </a:txBody>
                  <a:tcPr anchor="ctr">
                    <a:lnL>
                      <a:noFill/>
                    </a:lnL>
                    <a:lnR>
                      <a:noFill/>
                    </a:lnR>
                    <a:lnT>
                      <a:noFill/>
                    </a:lnT>
                    <a:lnB>
                      <a:noFill/>
                    </a:lnB>
                    <a:noFill/>
                  </a:tcPr>
                </a:tc>
                <a:extLst>
                  <a:ext uri="{0D108BD9-81ED-4DB2-BD59-A6C34878D82A}">
                    <a16:rowId xmlns:a16="http://schemas.microsoft.com/office/drawing/2014/main" val="803746635"/>
                  </a:ext>
                </a:extLst>
              </a:tr>
              <a:tr h="0">
                <a:tc>
                  <a:txBody>
                    <a:bodyPr/>
                    <a:lstStyle/>
                    <a:p>
                      <a:pPr>
                        <a:buNone/>
                      </a:pPr>
                      <a:r>
                        <a:rPr lang="en-US"/>
                        <a:t>When not to use transfer learning?</a:t>
                      </a:r>
                    </a:p>
                  </a:txBody>
                  <a:tcPr anchor="ctr">
                    <a:lnL>
                      <a:noFill/>
                    </a:lnL>
                    <a:lnR>
                      <a:noFill/>
                    </a:lnR>
                    <a:lnT>
                      <a:noFill/>
                    </a:lnT>
                    <a:lnB>
                      <a:noFill/>
                    </a:lnB>
                    <a:noFill/>
                  </a:tcPr>
                </a:tc>
                <a:tc>
                  <a:txBody>
                    <a:bodyPr/>
                    <a:lstStyle/>
                    <a:p>
                      <a:pPr>
                        <a:buNone/>
                      </a:pPr>
                      <a:r>
                        <a:rPr lang="en-US"/>
                        <a:t>Domain mismatch</a:t>
                      </a:r>
                    </a:p>
                  </a:txBody>
                  <a:tcPr anchor="ctr">
                    <a:lnL>
                      <a:noFill/>
                    </a:lnL>
                    <a:lnR>
                      <a:noFill/>
                    </a:lnR>
                    <a:lnT>
                      <a:noFill/>
                    </a:lnT>
                    <a:lnB>
                      <a:noFill/>
                    </a:lnB>
                    <a:noFill/>
                  </a:tcPr>
                </a:tc>
                <a:tc>
                  <a:txBody>
                    <a:bodyPr/>
                    <a:lstStyle/>
                    <a:p>
                      <a:pPr>
                        <a:buNone/>
                      </a:pPr>
                      <a:r>
                        <a:rPr lang="en-US" dirty="0"/>
                        <a:t>When pretraining domain differs from target domain.</a:t>
                      </a:r>
                    </a:p>
                  </a:txBody>
                  <a:tcPr anchor="ctr">
                    <a:lnL>
                      <a:noFill/>
                    </a:lnL>
                    <a:lnR>
                      <a:noFill/>
                    </a:lnR>
                    <a:lnT>
                      <a:noFill/>
                    </a:lnT>
                    <a:lnB>
                      <a:noFill/>
                    </a:lnB>
                    <a:noFill/>
                  </a:tcPr>
                </a:tc>
                <a:extLst>
                  <a:ext uri="{0D108BD9-81ED-4DB2-BD59-A6C34878D82A}">
                    <a16:rowId xmlns:a16="http://schemas.microsoft.com/office/drawing/2014/main" val="2792574869"/>
                  </a:ext>
                </a:extLst>
              </a:tr>
            </a:tbl>
          </a:graphicData>
        </a:graphic>
      </p:graphicFrame>
    </p:spTree>
    <p:extLst>
      <p:ext uri="{BB962C8B-B14F-4D97-AF65-F5344CB8AC3E}">
        <p14:creationId xmlns:p14="http://schemas.microsoft.com/office/powerpoint/2010/main" val="4059138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Questions</a:t>
            </a:r>
          </a:p>
        </p:txBody>
      </p:sp>
      <p:sp>
        <p:nvSpPr>
          <p:cNvPr id="3" name="Content Placeholder 2"/>
          <p:cNvSpPr>
            <a:spLocks noGrp="1"/>
          </p:cNvSpPr>
          <p:nvPr>
            <p:ph idx="1"/>
          </p:nvPr>
        </p:nvSpPr>
        <p:spPr>
          <a:xfrm>
            <a:off x="1639570" y="952307"/>
            <a:ext cx="6804660" cy="4113123"/>
          </a:xfrm>
        </p:spPr>
        <p:txBody>
          <a:bodyPr>
            <a:normAutofit/>
          </a:bodyPr>
          <a:lstStyle/>
          <a:p>
            <a:r>
              <a:rPr dirty="0"/>
              <a:t>1. Why doesn’t adding layers always help?</a:t>
            </a:r>
            <a:br>
              <a:rPr lang="en-US" dirty="0"/>
            </a:br>
            <a:r>
              <a:rPr lang="en-US" dirty="0">
                <a:highlight>
                  <a:srgbClr val="FFFF00"/>
                </a:highlight>
              </a:rPr>
              <a:t>Deep networks degrade w/o skip connections</a:t>
            </a:r>
            <a:endParaRPr dirty="0">
              <a:highlight>
                <a:srgbClr val="FFFF00"/>
              </a:highlight>
            </a:endParaRPr>
          </a:p>
          <a:p>
            <a:r>
              <a:rPr dirty="0"/>
              <a:t>2. What if we unfreeze all </a:t>
            </a:r>
            <a:r>
              <a:rPr dirty="0" err="1"/>
              <a:t>ResNet</a:t>
            </a:r>
            <a:r>
              <a:rPr dirty="0"/>
              <a:t> layers?</a:t>
            </a:r>
            <a:br>
              <a:rPr lang="en-US" dirty="0"/>
            </a:br>
            <a:r>
              <a:rPr lang="en-US" dirty="0">
                <a:highlight>
                  <a:srgbClr val="FFFF00"/>
                </a:highlight>
              </a:rPr>
              <a:t>Overfits small data</a:t>
            </a:r>
            <a:endParaRPr dirty="0">
              <a:highlight>
                <a:srgbClr val="FFFF00"/>
              </a:highlight>
            </a:endParaRPr>
          </a:p>
          <a:p>
            <a:r>
              <a:rPr dirty="0"/>
              <a:t>3. How do skip connections help?</a:t>
            </a:r>
            <a:br>
              <a:rPr lang="en-US" dirty="0"/>
            </a:br>
            <a:r>
              <a:rPr lang="en-US" dirty="0">
                <a:highlight>
                  <a:srgbClr val="FFFF00"/>
                </a:highlight>
              </a:rPr>
              <a:t>Skip connections preserve gradient flow</a:t>
            </a:r>
            <a:endParaRPr dirty="0">
              <a:highlight>
                <a:srgbClr val="FFFF00"/>
              </a:highlight>
            </a:endParaRPr>
          </a:p>
          <a:p>
            <a:r>
              <a:rPr dirty="0"/>
              <a:t>4. Would </a:t>
            </a:r>
            <a:r>
              <a:rPr dirty="0" err="1"/>
              <a:t>AlexNet</a:t>
            </a:r>
            <a:r>
              <a:rPr dirty="0"/>
              <a:t> improve with </a:t>
            </a:r>
            <a:r>
              <a:rPr dirty="0" err="1"/>
              <a:t>BatchNorm</a:t>
            </a:r>
            <a:r>
              <a:rPr dirty="0"/>
              <a:t>?</a:t>
            </a:r>
            <a:br>
              <a:rPr lang="en-US" dirty="0"/>
            </a:br>
            <a:r>
              <a:rPr lang="en-US" dirty="0">
                <a:highlight>
                  <a:srgbClr val="FFFF00"/>
                </a:highlight>
              </a:rPr>
              <a:t>BN stabilizes &amp; regularizes</a:t>
            </a:r>
            <a:endParaRPr dirty="0">
              <a:highlight>
                <a:srgbClr val="FFFF00"/>
              </a:highlight>
            </a:endParaRPr>
          </a:p>
          <a:p>
            <a:r>
              <a:rPr dirty="0"/>
              <a:t>5. When might transfer learning fail?</a:t>
            </a:r>
            <a:br>
              <a:rPr lang="en-US" dirty="0"/>
            </a:br>
            <a:r>
              <a:rPr lang="en-US" dirty="0">
                <a:highlight>
                  <a:srgbClr val="FFFF00"/>
                </a:highlight>
              </a:rPr>
              <a:t>Fails with domain mismatch</a:t>
            </a:r>
            <a:endParaRPr dirty="0">
              <a:highlight>
                <a:srgbClr val="FFFF00"/>
              </a:highligh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1834758" y="1248150"/>
            <a:ext cx="7191360" cy="1974814"/>
          </a:xfrm>
          <a:prstGeom prst="rect">
            <a:avLst/>
          </a:prstGeom>
        </p:spPr>
        <p:txBody>
          <a:bodyPr vert="horz" wrap="square" lIns="0" tIns="97895" rIns="0" bIns="0" rtlCol="0">
            <a:spAutoFit/>
          </a:bodyPr>
          <a:lstStyle/>
          <a:p>
            <a:pPr marL="262541" marR="4201" indent="-252564">
              <a:lnSpc>
                <a:spcPts val="2729"/>
              </a:lnSpc>
              <a:spcBef>
                <a:spcPts val="252"/>
              </a:spcBef>
              <a:tabLst>
                <a:tab pos="262541" algn="l"/>
              </a:tabLst>
            </a:pPr>
            <a:r>
              <a:rPr sz="2357" dirty="0"/>
              <a:t>Change</a:t>
            </a:r>
            <a:r>
              <a:rPr sz="2357" spc="-70" dirty="0"/>
              <a:t> </a:t>
            </a:r>
            <a:r>
              <a:rPr sz="2357" dirty="0"/>
              <a:t>activation</a:t>
            </a:r>
            <a:r>
              <a:rPr sz="2357" spc="-70" dirty="0"/>
              <a:t> </a:t>
            </a:r>
            <a:r>
              <a:rPr sz="2357" dirty="0"/>
              <a:t>function</a:t>
            </a:r>
            <a:r>
              <a:rPr sz="2357" spc="-70" dirty="0"/>
              <a:t> </a:t>
            </a:r>
            <a:r>
              <a:rPr sz="2357" dirty="0"/>
              <a:t>from</a:t>
            </a:r>
            <a:r>
              <a:rPr sz="2357" spc="-70" dirty="0"/>
              <a:t> </a:t>
            </a:r>
            <a:r>
              <a:rPr sz="2357" dirty="0"/>
              <a:t>sigmoid</a:t>
            </a:r>
            <a:r>
              <a:rPr sz="2357" spc="-66" dirty="0"/>
              <a:t> </a:t>
            </a:r>
            <a:r>
              <a:rPr sz="2357" dirty="0"/>
              <a:t>to</a:t>
            </a:r>
            <a:r>
              <a:rPr sz="2357" spc="-70" dirty="0"/>
              <a:t> </a:t>
            </a:r>
            <a:r>
              <a:rPr sz="2357" spc="-17" dirty="0"/>
              <a:t>ReLu </a:t>
            </a:r>
            <a:r>
              <a:rPr sz="2357" dirty="0"/>
              <a:t>(no</a:t>
            </a:r>
            <a:r>
              <a:rPr sz="2357" spc="-74" dirty="0"/>
              <a:t> </a:t>
            </a:r>
            <a:r>
              <a:rPr sz="2357" dirty="0"/>
              <a:t>more</a:t>
            </a:r>
            <a:r>
              <a:rPr sz="2357" spc="-74" dirty="0"/>
              <a:t> </a:t>
            </a:r>
            <a:r>
              <a:rPr sz="2357" dirty="0"/>
              <a:t>vanishing</a:t>
            </a:r>
            <a:r>
              <a:rPr sz="2357" spc="-74" dirty="0"/>
              <a:t> </a:t>
            </a:r>
            <a:r>
              <a:rPr sz="2357" spc="-8" dirty="0"/>
              <a:t>gradient)</a:t>
            </a:r>
            <a:endParaRPr sz="2357" dirty="0"/>
          </a:p>
          <a:p>
            <a:pPr marL="262541" marR="87689" indent="-252564">
              <a:lnSpc>
                <a:spcPts val="2729"/>
              </a:lnSpc>
              <a:spcBef>
                <a:spcPts val="566"/>
              </a:spcBef>
              <a:tabLst>
                <a:tab pos="262541" algn="l"/>
              </a:tabLst>
            </a:pPr>
            <a:r>
              <a:rPr sz="2357" dirty="0"/>
              <a:t>Add</a:t>
            </a:r>
            <a:r>
              <a:rPr sz="2357" spc="-54" dirty="0"/>
              <a:t> </a:t>
            </a:r>
            <a:r>
              <a:rPr sz="2357" dirty="0"/>
              <a:t>a</a:t>
            </a:r>
            <a:r>
              <a:rPr sz="2357" spc="-50" dirty="0"/>
              <a:t> </a:t>
            </a:r>
            <a:r>
              <a:rPr sz="2357" dirty="0"/>
              <a:t>dropout</a:t>
            </a:r>
            <a:r>
              <a:rPr sz="2357" spc="-50" dirty="0"/>
              <a:t> </a:t>
            </a:r>
            <a:r>
              <a:rPr sz="2357" dirty="0"/>
              <a:t>layer</a:t>
            </a:r>
            <a:r>
              <a:rPr sz="2357" spc="-50" dirty="0"/>
              <a:t> </a:t>
            </a:r>
            <a:r>
              <a:rPr sz="2357" dirty="0"/>
              <a:t>after</a:t>
            </a:r>
            <a:r>
              <a:rPr sz="2357" spc="-50" dirty="0"/>
              <a:t> </a:t>
            </a:r>
            <a:r>
              <a:rPr sz="2357" dirty="0"/>
              <a:t>two</a:t>
            </a:r>
            <a:r>
              <a:rPr sz="2357" spc="-50" dirty="0"/>
              <a:t> </a:t>
            </a:r>
            <a:r>
              <a:rPr sz="2357" dirty="0"/>
              <a:t>hidden</a:t>
            </a:r>
            <a:r>
              <a:rPr sz="2357" spc="-50" dirty="0"/>
              <a:t> </a:t>
            </a:r>
            <a:r>
              <a:rPr sz="2357" dirty="0"/>
              <a:t>FFN</a:t>
            </a:r>
            <a:r>
              <a:rPr sz="2357" spc="-50" dirty="0"/>
              <a:t> </a:t>
            </a:r>
            <a:r>
              <a:rPr sz="2357" spc="-8" dirty="0"/>
              <a:t>layers </a:t>
            </a:r>
            <a:r>
              <a:rPr sz="2357" dirty="0"/>
              <a:t>(better</a:t>
            </a:r>
            <a:r>
              <a:rPr sz="2357" spc="-62" dirty="0"/>
              <a:t> </a:t>
            </a:r>
            <a:r>
              <a:rPr sz="2357" dirty="0"/>
              <a:t>robustness</a:t>
            </a:r>
            <a:r>
              <a:rPr sz="2357" spc="-62" dirty="0"/>
              <a:t> </a:t>
            </a:r>
            <a:r>
              <a:rPr sz="2357" dirty="0"/>
              <a:t>/</a:t>
            </a:r>
            <a:r>
              <a:rPr sz="2357" spc="-62" dirty="0"/>
              <a:t> </a:t>
            </a:r>
            <a:r>
              <a:rPr sz="2357" spc="-8" dirty="0"/>
              <a:t>regularization)</a:t>
            </a:r>
            <a:endParaRPr sz="2357" dirty="0"/>
          </a:p>
          <a:p>
            <a:pPr marL="262541" indent="-252039">
              <a:lnSpc>
                <a:spcPct val="100000"/>
              </a:lnSpc>
              <a:spcBef>
                <a:spcPts val="393"/>
              </a:spcBef>
              <a:tabLst>
                <a:tab pos="262541" algn="l"/>
              </a:tabLst>
            </a:pPr>
            <a:r>
              <a:rPr sz="2357" dirty="0"/>
              <a:t>Data</a:t>
            </a:r>
            <a:r>
              <a:rPr sz="2357" spc="-54" dirty="0"/>
              <a:t> </a:t>
            </a:r>
            <a:r>
              <a:rPr sz="2357" spc="-8" dirty="0"/>
              <a:t>augmentation</a:t>
            </a:r>
            <a:endParaRPr sz="2357" dirty="0"/>
          </a:p>
        </p:txBody>
      </p:sp>
      <p:sp>
        <p:nvSpPr>
          <p:cNvPr id="4" name="object 4"/>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8100">
              <a:lnSpc>
                <a:spcPts val="1485"/>
              </a:lnSpc>
            </a:pPr>
            <a:fld id="{81D60167-4931-47E6-BA6A-407CBD079E47}" type="slidenum">
              <a:rPr lang="en-US" spc="-25" smtClean="0"/>
              <a:pPr marL="38100">
                <a:lnSpc>
                  <a:spcPts val="1485"/>
                </a:lnSpc>
              </a:pPr>
              <a:t>46</a:t>
            </a:fld>
            <a:endParaRPr spc="-21" dirty="0"/>
          </a:p>
        </p:txBody>
      </p:sp>
      <p:sp>
        <p:nvSpPr>
          <p:cNvPr id="3" name="object 3"/>
          <p:cNvSpPr txBox="1">
            <a:spLocks noGrp="1"/>
          </p:cNvSpPr>
          <p:nvPr>
            <p:ph type="title"/>
          </p:nvPr>
        </p:nvSpPr>
        <p:spPr>
          <a:xfrm>
            <a:off x="3630620" y="234179"/>
            <a:ext cx="2823199" cy="570437"/>
          </a:xfrm>
          <a:prstGeom prst="rect">
            <a:avLst/>
          </a:prstGeom>
        </p:spPr>
        <p:txBody>
          <a:bodyPr vert="horz" wrap="square" lIns="0" tIns="10501" rIns="0" bIns="0" rtlCol="0">
            <a:spAutoFit/>
          </a:bodyPr>
          <a:lstStyle/>
          <a:p>
            <a:pPr marL="10502">
              <a:lnSpc>
                <a:spcPct val="100000"/>
              </a:lnSpc>
              <a:spcBef>
                <a:spcPts val="83"/>
              </a:spcBef>
              <a:tabLst>
                <a:tab pos="1354710" algn="l"/>
              </a:tabLst>
            </a:pPr>
            <a:r>
              <a:rPr spc="-17" dirty="0">
                <a:latin typeface="Arial"/>
                <a:cs typeface="Arial"/>
              </a:rPr>
              <a:t>More</a:t>
            </a:r>
            <a:r>
              <a:rPr dirty="0">
                <a:latin typeface="Arial"/>
                <a:cs typeface="Arial"/>
              </a:rPr>
              <a:t>	</a:t>
            </a:r>
            <a:r>
              <a:rPr spc="-37" dirty="0">
                <a:latin typeface="Arial"/>
                <a:cs typeface="Arial"/>
              </a:rPr>
              <a:t>Tricks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66872" y="1131715"/>
            <a:ext cx="6712251" cy="831141"/>
          </a:xfrm>
          <a:prstGeom prst="rect">
            <a:avLst/>
          </a:prstGeom>
        </p:spPr>
        <p:txBody>
          <a:bodyPr vert="horz" wrap="square" lIns="0" tIns="35703" rIns="0" bIns="0" rtlCol="0">
            <a:spAutoFit/>
          </a:bodyPr>
          <a:lstStyle/>
          <a:p>
            <a:pPr marL="293521" marR="4201" indent="-283544">
              <a:lnSpc>
                <a:spcPts val="3060"/>
              </a:lnSpc>
              <a:spcBef>
                <a:spcPts val="281"/>
              </a:spcBef>
              <a:buChar char="•"/>
              <a:tabLst>
                <a:tab pos="293521" algn="l"/>
              </a:tabLst>
            </a:pPr>
            <a:r>
              <a:rPr sz="2646" dirty="0">
                <a:latin typeface="Arial"/>
                <a:cs typeface="Arial"/>
              </a:rPr>
              <a:t>Create</a:t>
            </a:r>
            <a:r>
              <a:rPr sz="2646" spc="-21" dirty="0">
                <a:latin typeface="Arial"/>
                <a:cs typeface="Arial"/>
              </a:rPr>
              <a:t> </a:t>
            </a:r>
            <a:r>
              <a:rPr sz="2646" dirty="0">
                <a:latin typeface="Arial"/>
                <a:cs typeface="Arial"/>
              </a:rPr>
              <a:t>additional</a:t>
            </a:r>
            <a:r>
              <a:rPr sz="2646" spc="-21" dirty="0">
                <a:latin typeface="Arial"/>
                <a:cs typeface="Arial"/>
              </a:rPr>
              <a:t> </a:t>
            </a:r>
            <a:r>
              <a:rPr sz="2646" dirty="0">
                <a:latin typeface="Arial"/>
                <a:cs typeface="Arial"/>
              </a:rPr>
              <a:t>training</a:t>
            </a:r>
            <a:r>
              <a:rPr sz="2646" spc="-21" dirty="0">
                <a:latin typeface="Arial"/>
                <a:cs typeface="Arial"/>
              </a:rPr>
              <a:t> </a:t>
            </a:r>
            <a:r>
              <a:rPr sz="2646" dirty="0">
                <a:latin typeface="Arial"/>
                <a:cs typeface="Arial"/>
              </a:rPr>
              <a:t>data</a:t>
            </a:r>
            <a:r>
              <a:rPr sz="2646" spc="-21" dirty="0">
                <a:latin typeface="Arial"/>
                <a:cs typeface="Arial"/>
              </a:rPr>
              <a:t> </a:t>
            </a:r>
            <a:r>
              <a:rPr sz="2646" dirty="0">
                <a:latin typeface="Arial"/>
                <a:cs typeface="Arial"/>
              </a:rPr>
              <a:t>with</a:t>
            </a:r>
            <a:r>
              <a:rPr sz="2646" spc="-21" dirty="0">
                <a:latin typeface="Arial"/>
                <a:cs typeface="Arial"/>
              </a:rPr>
              <a:t> </a:t>
            </a:r>
            <a:r>
              <a:rPr sz="2646" spc="-8" dirty="0">
                <a:latin typeface="Arial"/>
                <a:cs typeface="Arial"/>
              </a:rPr>
              <a:t>existing </a:t>
            </a:r>
            <a:r>
              <a:rPr sz="2646" spc="-17" dirty="0">
                <a:latin typeface="Arial"/>
                <a:cs typeface="Arial"/>
              </a:rPr>
              <a:t>data</a:t>
            </a:r>
            <a:endParaRPr sz="2646">
              <a:latin typeface="Arial"/>
              <a:cs typeface="Arial"/>
            </a:endParaRPr>
          </a:p>
        </p:txBody>
      </p:sp>
      <p:sp>
        <p:nvSpPr>
          <p:cNvPr id="3" name="object 3"/>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1453950">
              <a:lnSpc>
                <a:spcPct val="100000"/>
              </a:lnSpc>
              <a:spcBef>
                <a:spcPts val="83"/>
              </a:spcBef>
            </a:pPr>
            <a:r>
              <a:rPr dirty="0">
                <a:latin typeface="Arial"/>
                <a:cs typeface="Arial"/>
              </a:rPr>
              <a:t>Data</a:t>
            </a:r>
            <a:r>
              <a:rPr spc="-210" dirty="0">
                <a:latin typeface="Arial"/>
                <a:cs typeface="Arial"/>
              </a:rPr>
              <a:t> </a:t>
            </a:r>
            <a:r>
              <a:rPr spc="-8" dirty="0">
                <a:latin typeface="Arial"/>
                <a:cs typeface="Arial"/>
              </a:rPr>
              <a:t>Augmentation</a:t>
            </a:r>
          </a:p>
        </p:txBody>
      </p:sp>
      <p:pic>
        <p:nvPicPr>
          <p:cNvPr id="4" name="object 4"/>
          <p:cNvPicPr/>
          <p:nvPr/>
        </p:nvPicPr>
        <p:blipFill>
          <a:blip r:embed="rId2" cstate="print"/>
          <a:stretch>
            <a:fillRect/>
          </a:stretch>
        </p:blipFill>
        <p:spPr>
          <a:xfrm>
            <a:off x="1735555" y="3799708"/>
            <a:ext cx="1394136" cy="1111624"/>
          </a:xfrm>
          <a:prstGeom prst="rect">
            <a:avLst/>
          </a:prstGeom>
        </p:spPr>
      </p:pic>
      <p:pic>
        <p:nvPicPr>
          <p:cNvPr id="5" name="object 5"/>
          <p:cNvPicPr/>
          <p:nvPr/>
        </p:nvPicPr>
        <p:blipFill>
          <a:blip r:embed="rId3" cstate="print"/>
          <a:stretch>
            <a:fillRect/>
          </a:stretch>
        </p:blipFill>
        <p:spPr>
          <a:xfrm>
            <a:off x="3303245" y="3664514"/>
            <a:ext cx="1394136" cy="1382013"/>
          </a:xfrm>
          <a:prstGeom prst="rect">
            <a:avLst/>
          </a:prstGeom>
        </p:spPr>
      </p:pic>
      <p:pic>
        <p:nvPicPr>
          <p:cNvPr id="6" name="object 6"/>
          <p:cNvPicPr/>
          <p:nvPr/>
        </p:nvPicPr>
        <p:blipFill>
          <a:blip r:embed="rId4" cstate="print"/>
          <a:stretch>
            <a:fillRect/>
          </a:stretch>
        </p:blipFill>
        <p:spPr>
          <a:xfrm>
            <a:off x="4870936" y="3676731"/>
            <a:ext cx="1528187" cy="1376798"/>
          </a:xfrm>
          <a:prstGeom prst="rect">
            <a:avLst/>
          </a:prstGeom>
        </p:spPr>
      </p:pic>
      <p:pic>
        <p:nvPicPr>
          <p:cNvPr id="7" name="object 7"/>
          <p:cNvPicPr/>
          <p:nvPr/>
        </p:nvPicPr>
        <p:blipFill>
          <a:blip r:embed="rId5" cstate="print"/>
          <a:stretch>
            <a:fillRect/>
          </a:stretch>
        </p:blipFill>
        <p:spPr>
          <a:xfrm>
            <a:off x="6572678" y="3641478"/>
            <a:ext cx="1528187" cy="1428086"/>
          </a:xfrm>
          <a:prstGeom prst="rect">
            <a:avLst/>
          </a:prstGeom>
        </p:spPr>
      </p:pic>
      <p:sp>
        <p:nvSpPr>
          <p:cNvPr id="8" name="object 8"/>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8100">
              <a:lnSpc>
                <a:spcPts val="1485"/>
              </a:lnSpc>
            </a:pPr>
            <a:fld id="{81D60167-4931-47E6-BA6A-407CBD079E47}" type="slidenum">
              <a:rPr lang="en-US" spc="-25" smtClean="0"/>
              <a:pPr marL="38100">
                <a:lnSpc>
                  <a:spcPts val="1485"/>
                </a:lnSpc>
              </a:pPr>
              <a:t>47</a:t>
            </a:fld>
            <a:endParaRPr spc="-2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2816537">
              <a:lnSpc>
                <a:spcPct val="100000"/>
              </a:lnSpc>
              <a:spcBef>
                <a:spcPts val="83"/>
              </a:spcBef>
            </a:pPr>
            <a:r>
              <a:rPr spc="-8" dirty="0">
                <a:latin typeface="Arial"/>
                <a:cs typeface="Arial"/>
              </a:rPr>
              <a:t>AlexNet</a:t>
            </a:r>
          </a:p>
        </p:txBody>
      </p:sp>
      <p:pic>
        <p:nvPicPr>
          <p:cNvPr id="3" name="object 3"/>
          <p:cNvPicPr/>
          <p:nvPr/>
        </p:nvPicPr>
        <p:blipFill>
          <a:blip r:embed="rId2" cstate="print"/>
          <a:stretch>
            <a:fillRect/>
          </a:stretch>
        </p:blipFill>
        <p:spPr>
          <a:xfrm>
            <a:off x="1261534" y="1137459"/>
            <a:ext cx="7560733" cy="4252913"/>
          </a:xfrm>
          <a:prstGeom prst="rect">
            <a:avLst/>
          </a:prstGeom>
        </p:spPr>
      </p:pic>
      <p:sp>
        <p:nvSpPr>
          <p:cNvPr id="4" name="object 4"/>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8100">
              <a:lnSpc>
                <a:spcPts val="1485"/>
              </a:lnSpc>
            </a:pPr>
            <a:fld id="{81D60167-4931-47E6-BA6A-407CBD079E47}" type="slidenum">
              <a:rPr lang="en-US" spc="-25" smtClean="0"/>
              <a:pPr marL="38100">
                <a:lnSpc>
                  <a:spcPts val="1485"/>
                </a:lnSpc>
              </a:pPr>
              <a:t>48</a:t>
            </a:fld>
            <a:endParaRPr spc="-2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257402" y="5211237"/>
            <a:ext cx="149114" cy="144976"/>
          </a:xfrm>
          <a:prstGeom prst="rect">
            <a:avLst/>
          </a:prstGeom>
        </p:spPr>
        <p:txBody>
          <a:bodyPr vert="horz" wrap="square" lIns="0" tIns="0" rIns="0" bIns="0" rtlCol="0">
            <a:spAutoFit/>
          </a:bodyPr>
          <a:lstStyle/>
          <a:p>
            <a:pPr>
              <a:lnSpc>
                <a:spcPts val="1100"/>
              </a:lnSpc>
            </a:pPr>
            <a:r>
              <a:rPr sz="1158" spc="-29" dirty="0">
                <a:latin typeface="Calibri"/>
                <a:cs typeface="Calibri"/>
              </a:rPr>
              <a:t>25</a:t>
            </a:r>
            <a:endParaRPr sz="1158">
              <a:latin typeface="Calibri"/>
              <a:cs typeface="Calibri"/>
            </a:endParaRPr>
          </a:p>
        </p:txBody>
      </p:sp>
      <p:sp>
        <p:nvSpPr>
          <p:cNvPr id="3" name="object 3"/>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2396472">
              <a:lnSpc>
                <a:spcPct val="100000"/>
              </a:lnSpc>
              <a:spcBef>
                <a:spcPts val="83"/>
              </a:spcBef>
            </a:pPr>
            <a:r>
              <a:rPr spc="-8" dirty="0">
                <a:latin typeface="Arial"/>
                <a:cs typeface="Arial"/>
              </a:rPr>
              <a:t>Complexity</a:t>
            </a:r>
          </a:p>
        </p:txBody>
      </p:sp>
      <p:graphicFrame>
        <p:nvGraphicFramePr>
          <p:cNvPr id="4" name="object 4"/>
          <p:cNvGraphicFramePr>
            <a:graphicFrameLocks noGrp="1"/>
          </p:cNvGraphicFramePr>
          <p:nvPr/>
        </p:nvGraphicFramePr>
        <p:xfrm>
          <a:off x="1319289" y="1380884"/>
          <a:ext cx="6038086" cy="3255840"/>
        </p:xfrm>
        <a:graphic>
          <a:graphicData uri="http://schemas.openxmlformats.org/drawingml/2006/table">
            <a:tbl>
              <a:tblPr firstRow="1" bandRow="1">
                <a:tableStyleId>{2D5ABB26-0587-4C30-8999-92F81FD0307C}</a:tableStyleId>
              </a:tblPr>
              <a:tblGrid>
                <a:gridCol w="1249621">
                  <a:extLst>
                    <a:ext uri="{9D8B030D-6E8A-4147-A177-3AD203B41FA5}">
                      <a16:colId xmlns:a16="http://schemas.microsoft.com/office/drawing/2014/main" val="20000"/>
                    </a:ext>
                  </a:extLst>
                </a:gridCol>
                <a:gridCol w="1561501">
                  <a:extLst>
                    <a:ext uri="{9D8B030D-6E8A-4147-A177-3AD203B41FA5}">
                      <a16:colId xmlns:a16="http://schemas.microsoft.com/office/drawing/2014/main" val="20001"/>
                    </a:ext>
                  </a:extLst>
                </a:gridCol>
                <a:gridCol w="1027000">
                  <a:extLst>
                    <a:ext uri="{9D8B030D-6E8A-4147-A177-3AD203B41FA5}">
                      <a16:colId xmlns:a16="http://schemas.microsoft.com/office/drawing/2014/main" val="20002"/>
                    </a:ext>
                  </a:extLst>
                </a:gridCol>
                <a:gridCol w="1328379">
                  <a:extLst>
                    <a:ext uri="{9D8B030D-6E8A-4147-A177-3AD203B41FA5}">
                      <a16:colId xmlns:a16="http://schemas.microsoft.com/office/drawing/2014/main" val="20003"/>
                    </a:ext>
                  </a:extLst>
                </a:gridCol>
                <a:gridCol w="871585">
                  <a:extLst>
                    <a:ext uri="{9D8B030D-6E8A-4147-A177-3AD203B41FA5}">
                      <a16:colId xmlns:a16="http://schemas.microsoft.com/office/drawing/2014/main" val="20004"/>
                    </a:ext>
                  </a:extLst>
                </a:gridCol>
              </a:tblGrid>
              <a:tr h="336557">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gridSpan="2">
                  <a:txBody>
                    <a:bodyPr/>
                    <a:lstStyle/>
                    <a:p>
                      <a:pPr marL="507365">
                        <a:lnSpc>
                          <a:spcPts val="3110"/>
                        </a:lnSpc>
                      </a:pPr>
                      <a:r>
                        <a:rPr sz="2300" b="1" spc="-10" dirty="0">
                          <a:latin typeface="Arial"/>
                          <a:cs typeface="Arial"/>
                        </a:rPr>
                        <a:t>#parameters</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hMerge="1">
                  <a:txBody>
                    <a:bodyPr/>
                    <a:lstStyle/>
                    <a:p>
                      <a:endParaRPr/>
                    </a:p>
                  </a:txBody>
                  <a:tcPr marL="0" marR="0" marT="0" marB="0"/>
                </a:tc>
                <a:tc gridSpan="2">
                  <a:txBody>
                    <a:bodyPr/>
                    <a:lstStyle/>
                    <a:p>
                      <a:pPr marL="855980">
                        <a:lnSpc>
                          <a:spcPts val="3110"/>
                        </a:lnSpc>
                      </a:pPr>
                      <a:r>
                        <a:rPr sz="2300" b="1" spc="-20" dirty="0">
                          <a:latin typeface="Arial"/>
                          <a:cs typeface="Arial"/>
                        </a:rPr>
                        <a:t>FLOP</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hMerge="1">
                  <a:txBody>
                    <a:bodyPr/>
                    <a:lstStyle/>
                    <a:p>
                      <a:endParaRPr/>
                    </a:p>
                  </a:txBody>
                  <a:tcPr marL="0" marR="0" marT="0" marB="0"/>
                </a:tc>
                <a:extLst>
                  <a:ext uri="{0D108BD9-81ED-4DB2-BD59-A6C34878D82A}">
                    <a16:rowId xmlns:a16="http://schemas.microsoft.com/office/drawing/2014/main" val="10000"/>
                  </a:ext>
                </a:extLst>
              </a:tr>
              <a:tr h="336557">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b="1" spc="-10" dirty="0">
                          <a:latin typeface="Arial"/>
                          <a:cs typeface="Arial"/>
                        </a:rPr>
                        <a:t>AlexNet</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b="1" spc="-10" dirty="0">
                          <a:latin typeface="Arial"/>
                          <a:cs typeface="Arial"/>
                        </a:rPr>
                        <a:t>LeNet</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b="1" spc="-10" dirty="0">
                          <a:latin typeface="Arial"/>
                          <a:cs typeface="Arial"/>
                        </a:rPr>
                        <a:t>AlexNet</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b="1" spc="-10" dirty="0">
                          <a:latin typeface="Arial"/>
                          <a:cs typeface="Arial"/>
                        </a:rPr>
                        <a:t>LeNet</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extLst>
                  <a:ext uri="{0D108BD9-81ED-4DB2-BD59-A6C34878D82A}">
                    <a16:rowId xmlns:a16="http://schemas.microsoft.com/office/drawing/2014/main" val="10001"/>
                  </a:ext>
                </a:extLst>
              </a:tr>
              <a:tr h="336557">
                <a:tc>
                  <a:txBody>
                    <a:bodyPr/>
                    <a:lstStyle/>
                    <a:p>
                      <a:pPr algn="ctr">
                        <a:lnSpc>
                          <a:spcPts val="3110"/>
                        </a:lnSpc>
                      </a:pPr>
                      <a:r>
                        <a:rPr sz="2300" b="1" spc="-10" dirty="0">
                          <a:latin typeface="Arial"/>
                          <a:cs typeface="Arial"/>
                        </a:rPr>
                        <a:t>Conv1</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5" dirty="0">
                          <a:latin typeface="Arial"/>
                          <a:cs typeface="Arial"/>
                        </a:rPr>
                        <a:t>35K</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5" dirty="0">
                          <a:latin typeface="Arial"/>
                          <a:cs typeface="Arial"/>
                        </a:rPr>
                        <a:t>150</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0" dirty="0">
                          <a:latin typeface="Arial"/>
                          <a:cs typeface="Arial"/>
                        </a:rPr>
                        <a:t>101M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0" dirty="0">
                          <a:latin typeface="Arial"/>
                          <a:cs typeface="Arial"/>
                        </a:rPr>
                        <a:t>1.2M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extLst>
                  <a:ext uri="{0D108BD9-81ED-4DB2-BD59-A6C34878D82A}">
                    <a16:rowId xmlns:a16="http://schemas.microsoft.com/office/drawing/2014/main" val="10002"/>
                  </a:ext>
                </a:extLst>
              </a:tr>
              <a:tr h="336557">
                <a:tc>
                  <a:txBody>
                    <a:bodyPr/>
                    <a:lstStyle/>
                    <a:p>
                      <a:pPr algn="ctr">
                        <a:lnSpc>
                          <a:spcPts val="3110"/>
                        </a:lnSpc>
                      </a:pPr>
                      <a:r>
                        <a:rPr sz="2300" b="1" spc="-10" dirty="0">
                          <a:latin typeface="Arial"/>
                          <a:cs typeface="Arial"/>
                        </a:rPr>
                        <a:t>Conv2</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spc="-20" dirty="0">
                          <a:latin typeface="Arial"/>
                          <a:cs typeface="Arial"/>
                        </a:rPr>
                        <a:t>614K</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spc="-20" dirty="0">
                          <a:latin typeface="Arial"/>
                          <a:cs typeface="Arial"/>
                        </a:rPr>
                        <a:t>2.4K</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spc="-20" dirty="0">
                          <a:latin typeface="Arial"/>
                          <a:cs typeface="Arial"/>
                        </a:rPr>
                        <a:t>415M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spc="-20" dirty="0">
                          <a:latin typeface="Arial"/>
                          <a:cs typeface="Arial"/>
                        </a:rPr>
                        <a:t>2.4M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extLst>
                  <a:ext uri="{0D108BD9-81ED-4DB2-BD59-A6C34878D82A}">
                    <a16:rowId xmlns:a16="http://schemas.microsoft.com/office/drawing/2014/main" val="10003"/>
                  </a:ext>
                </a:extLst>
              </a:tr>
              <a:tr h="336557">
                <a:tc>
                  <a:txBody>
                    <a:bodyPr/>
                    <a:lstStyle/>
                    <a:p>
                      <a:pPr algn="ctr">
                        <a:lnSpc>
                          <a:spcPts val="3110"/>
                        </a:lnSpc>
                      </a:pPr>
                      <a:r>
                        <a:rPr sz="2300" b="1" spc="-25" dirty="0">
                          <a:latin typeface="Arial"/>
                          <a:cs typeface="Arial"/>
                        </a:rPr>
                        <a:t>Conv3-</a:t>
                      </a:r>
                      <a:r>
                        <a:rPr sz="2300" b="1" spc="-50" dirty="0">
                          <a:latin typeface="Arial"/>
                          <a:cs typeface="Arial"/>
                        </a:rPr>
                        <a:t>5</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5" dirty="0">
                          <a:latin typeface="Arial"/>
                          <a:cs typeface="Arial"/>
                        </a:rPr>
                        <a:t>3M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0" dirty="0">
                          <a:latin typeface="Arial"/>
                          <a:cs typeface="Arial"/>
                        </a:rPr>
                        <a:t>445M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nSpc>
                          <a:spcPct val="100000"/>
                        </a:lnSpc>
                      </a:pPr>
                      <a:endParaRPr sz="2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extLst>
                  <a:ext uri="{0D108BD9-81ED-4DB2-BD59-A6C34878D82A}">
                    <a16:rowId xmlns:a16="http://schemas.microsoft.com/office/drawing/2014/main" val="10004"/>
                  </a:ext>
                </a:extLst>
              </a:tr>
              <a:tr h="336557">
                <a:tc>
                  <a:txBody>
                    <a:bodyPr/>
                    <a:lstStyle/>
                    <a:p>
                      <a:pPr algn="ctr">
                        <a:lnSpc>
                          <a:spcPts val="3110"/>
                        </a:lnSpc>
                      </a:pPr>
                      <a:r>
                        <a:rPr sz="2300" b="1" spc="-10" dirty="0">
                          <a:latin typeface="Arial"/>
                          <a:cs typeface="Arial"/>
                        </a:rPr>
                        <a:t>Dense1</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spc="-25" dirty="0">
                          <a:latin typeface="Arial"/>
                          <a:cs typeface="Arial"/>
                        </a:rPr>
                        <a:t>26M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spc="-10" dirty="0">
                          <a:latin typeface="Arial"/>
                          <a:cs typeface="Arial"/>
                        </a:rPr>
                        <a:t>0.48M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spc="-25" dirty="0">
                          <a:latin typeface="Arial"/>
                          <a:cs typeface="Arial"/>
                        </a:rPr>
                        <a:t>26M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spc="-10" dirty="0">
                          <a:latin typeface="Arial"/>
                          <a:cs typeface="Arial"/>
                        </a:rPr>
                        <a:t>0.48M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extLst>
                  <a:ext uri="{0D108BD9-81ED-4DB2-BD59-A6C34878D82A}">
                    <a16:rowId xmlns:a16="http://schemas.microsoft.com/office/drawing/2014/main" val="10005"/>
                  </a:ext>
                </a:extLst>
              </a:tr>
              <a:tr h="336557">
                <a:tc>
                  <a:txBody>
                    <a:bodyPr/>
                    <a:lstStyle/>
                    <a:p>
                      <a:pPr algn="ctr">
                        <a:lnSpc>
                          <a:spcPts val="3110"/>
                        </a:lnSpc>
                      </a:pPr>
                      <a:r>
                        <a:rPr sz="2300" b="1" spc="-10" dirty="0">
                          <a:latin typeface="Arial"/>
                          <a:cs typeface="Arial"/>
                        </a:rPr>
                        <a:t>Dense2</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5" dirty="0">
                          <a:latin typeface="Arial"/>
                          <a:cs typeface="Arial"/>
                        </a:rPr>
                        <a:t>16M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0" dirty="0">
                          <a:latin typeface="Arial"/>
                          <a:cs typeface="Arial"/>
                        </a:rPr>
                        <a:t>0.1M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5" dirty="0">
                          <a:latin typeface="Arial"/>
                          <a:cs typeface="Arial"/>
                        </a:rPr>
                        <a:t>16M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0" dirty="0">
                          <a:latin typeface="Arial"/>
                          <a:cs typeface="Arial"/>
                        </a:rPr>
                        <a:t>0.1M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extLst>
                  <a:ext uri="{0D108BD9-81ED-4DB2-BD59-A6C34878D82A}">
                    <a16:rowId xmlns:a16="http://schemas.microsoft.com/office/drawing/2014/main" val="10006"/>
                  </a:ext>
                </a:extLst>
              </a:tr>
              <a:tr h="336557">
                <a:tc>
                  <a:txBody>
                    <a:bodyPr/>
                    <a:lstStyle/>
                    <a:p>
                      <a:pPr algn="ctr">
                        <a:lnSpc>
                          <a:spcPts val="3110"/>
                        </a:lnSpc>
                      </a:pPr>
                      <a:r>
                        <a:rPr sz="2300" b="1" spc="-10" dirty="0">
                          <a:latin typeface="Arial"/>
                          <a:cs typeface="Arial"/>
                        </a:rPr>
                        <a:t>Total</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spc="-25" dirty="0">
                          <a:latin typeface="Arial"/>
                          <a:cs typeface="Arial"/>
                        </a:rPr>
                        <a:t>46M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spc="-20" dirty="0">
                          <a:latin typeface="Arial"/>
                          <a:cs typeface="Arial"/>
                        </a:rPr>
                        <a:t>0.6M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spc="-25" dirty="0">
                          <a:latin typeface="Arial"/>
                          <a:cs typeface="Arial"/>
                        </a:rPr>
                        <a:t>1G</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tc>
                  <a:txBody>
                    <a:bodyPr/>
                    <a:lstStyle/>
                    <a:p>
                      <a:pPr algn="ctr">
                        <a:lnSpc>
                          <a:spcPts val="3110"/>
                        </a:lnSpc>
                      </a:pPr>
                      <a:r>
                        <a:rPr sz="2300" spc="-25" dirty="0">
                          <a:latin typeface="Arial"/>
                          <a:cs typeface="Arial"/>
                        </a:rPr>
                        <a:t>4M</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F2E8"/>
                    </a:solidFill>
                  </a:tcPr>
                </a:tc>
                <a:extLst>
                  <a:ext uri="{0D108BD9-81ED-4DB2-BD59-A6C34878D82A}">
                    <a16:rowId xmlns:a16="http://schemas.microsoft.com/office/drawing/2014/main" val="10007"/>
                  </a:ext>
                </a:extLst>
              </a:tr>
              <a:tr h="336557">
                <a:tc>
                  <a:txBody>
                    <a:bodyPr/>
                    <a:lstStyle/>
                    <a:p>
                      <a:pPr algn="ctr">
                        <a:lnSpc>
                          <a:spcPts val="3110"/>
                        </a:lnSpc>
                      </a:pPr>
                      <a:r>
                        <a:rPr sz="2300" b="1" spc="-10" dirty="0">
                          <a:latin typeface="Arial"/>
                          <a:cs typeface="Arial"/>
                        </a:rPr>
                        <a:t>Increase</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5" dirty="0">
                          <a:latin typeface="Arial"/>
                          <a:cs typeface="Arial"/>
                        </a:rPr>
                        <a:t>11x</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5" dirty="0">
                          <a:latin typeface="Arial"/>
                          <a:cs typeface="Arial"/>
                        </a:rPr>
                        <a:t>1x</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0" dirty="0">
                          <a:latin typeface="Arial"/>
                          <a:cs typeface="Arial"/>
                        </a:rPr>
                        <a:t>250x</a:t>
                      </a:r>
                      <a:endParaRPr sz="23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tc>
                  <a:txBody>
                    <a:bodyPr/>
                    <a:lstStyle/>
                    <a:p>
                      <a:pPr algn="ctr">
                        <a:lnSpc>
                          <a:spcPts val="3110"/>
                        </a:lnSpc>
                      </a:pPr>
                      <a:r>
                        <a:rPr sz="2300" spc="-25" dirty="0">
                          <a:latin typeface="Arial"/>
                          <a:cs typeface="Arial"/>
                        </a:rPr>
                        <a:t>1x</a:t>
                      </a:r>
                      <a:endParaRPr sz="23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EE5CE"/>
                    </a:solidFill>
                  </a:tcPr>
                </a:tc>
                <a:extLst>
                  <a:ext uri="{0D108BD9-81ED-4DB2-BD59-A6C34878D82A}">
                    <a16:rowId xmlns:a16="http://schemas.microsoft.com/office/drawing/2014/main" val="10008"/>
                  </a:ext>
                </a:extLst>
              </a:tr>
            </a:tbl>
          </a:graphicData>
        </a:graphic>
      </p:graphicFrame>
      <p:pic>
        <p:nvPicPr>
          <p:cNvPr id="5" name="object 5"/>
          <p:cNvPicPr/>
          <p:nvPr/>
        </p:nvPicPr>
        <p:blipFill>
          <a:blip r:embed="rId2" cstate="print"/>
          <a:stretch>
            <a:fillRect/>
          </a:stretch>
        </p:blipFill>
        <p:spPr>
          <a:xfrm>
            <a:off x="7406089" y="1102314"/>
            <a:ext cx="1368963" cy="4248915"/>
          </a:xfrm>
          <a:prstGeom prst="rect">
            <a:avLst/>
          </a:prstGeom>
        </p:spPr>
      </p:pic>
      <p:sp>
        <p:nvSpPr>
          <p:cNvPr id="7" name="TextBox 6">
            <a:extLst>
              <a:ext uri="{FF2B5EF4-FFF2-40B4-BE49-F238E27FC236}">
                <a16:creationId xmlns:a16="http://schemas.microsoft.com/office/drawing/2014/main" id="{C4268343-1D66-8669-AB44-A030E2B1F116}"/>
              </a:ext>
            </a:extLst>
          </p:cNvPr>
          <p:cNvSpPr txBox="1"/>
          <p:nvPr/>
        </p:nvSpPr>
        <p:spPr>
          <a:xfrm>
            <a:off x="1450552" y="4713359"/>
            <a:ext cx="5650008" cy="779252"/>
          </a:xfrm>
          <a:prstGeom prst="rect">
            <a:avLst/>
          </a:prstGeom>
          <a:noFill/>
        </p:spPr>
        <p:txBody>
          <a:bodyPr wrap="square">
            <a:spAutoFit/>
          </a:bodyPr>
          <a:lstStyle/>
          <a:p>
            <a:r>
              <a:rPr lang="en-US" sz="1488" dirty="0">
                <a:solidFill>
                  <a:srgbClr val="FF0000"/>
                </a:solidFill>
                <a:latin typeface="Google Sans"/>
              </a:rPr>
              <a:t>FLOPS, or floating-point operations per second, is a metric for computer performance that quantifies the number of floating-point calculations a system can perform in one second.</a:t>
            </a:r>
            <a:endParaRPr lang="en-US" sz="1488" dirty="0">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85827" y="189018"/>
            <a:ext cx="1384559" cy="774018"/>
          </a:xfrm>
          <a:prstGeom prst="rect">
            <a:avLst/>
          </a:prstGeom>
        </p:spPr>
        <p:txBody>
          <a:bodyPr vert="horz" wrap="square" lIns="0" tIns="10501" rIns="0" bIns="0" rtlCol="0">
            <a:spAutoFit/>
          </a:bodyPr>
          <a:lstStyle/>
          <a:p>
            <a:pPr marL="10502">
              <a:spcBef>
                <a:spcPts val="83"/>
              </a:spcBef>
            </a:pPr>
            <a:r>
              <a:rPr sz="4961" b="1" spc="-21" dirty="0">
                <a:solidFill>
                  <a:srgbClr val="C00001"/>
                </a:solidFill>
                <a:latin typeface="Tahoma"/>
                <a:cs typeface="Tahoma"/>
              </a:rPr>
              <a:t>VGG</a:t>
            </a:r>
            <a:endParaRPr sz="4961" dirty="0">
              <a:latin typeface="Tahoma"/>
              <a:cs typeface="Tahoma"/>
            </a:endParaRPr>
          </a:p>
        </p:txBody>
      </p:sp>
      <p:pic>
        <p:nvPicPr>
          <p:cNvPr id="2050" name="Picture 2">
            <a:extLst>
              <a:ext uri="{FF2B5EF4-FFF2-40B4-BE49-F238E27FC236}">
                <a16:creationId xmlns:a16="http://schemas.microsoft.com/office/drawing/2014/main" id="{23C0ABF1-EA0C-7C87-4A89-B4D93A1F2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1534" y="1575153"/>
            <a:ext cx="7560733" cy="332488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E46EC74-785D-70C9-8CCF-240DE4228135}"/>
              </a:ext>
            </a:extLst>
          </p:cNvPr>
          <p:cNvSpPr txBox="1"/>
          <p:nvPr/>
        </p:nvSpPr>
        <p:spPr>
          <a:xfrm>
            <a:off x="3466747" y="4403790"/>
            <a:ext cx="4095397" cy="1008225"/>
          </a:xfrm>
          <a:prstGeom prst="rect">
            <a:avLst/>
          </a:prstGeom>
          <a:noFill/>
        </p:spPr>
        <p:txBody>
          <a:bodyPr wrap="square">
            <a:spAutoFit/>
          </a:bodyPr>
          <a:lstStyle/>
          <a:p>
            <a:r>
              <a:rPr lang="en-US" sz="1488" dirty="0">
                <a:solidFill>
                  <a:srgbClr val="273239"/>
                </a:solidFill>
                <a:latin typeface="Nunito" panose="020F0502020204030204" pitchFamily="2" charset="0"/>
              </a:rPr>
              <a:t>model achieves </a:t>
            </a:r>
            <a:r>
              <a:rPr lang="en-US" sz="1488" i="1" dirty="0">
                <a:solidFill>
                  <a:srgbClr val="273239"/>
                </a:solidFill>
                <a:latin typeface="Nunito" panose="020F0502020204030204" pitchFamily="2" charset="0"/>
              </a:rPr>
              <a:t>92.7% top-5</a:t>
            </a:r>
            <a:r>
              <a:rPr lang="en-US" sz="1488" dirty="0">
                <a:solidFill>
                  <a:srgbClr val="273239"/>
                </a:solidFill>
                <a:latin typeface="Nunito" panose="020F0502020204030204" pitchFamily="2" charset="0"/>
              </a:rPr>
              <a:t> test accuracy on the ImageNet dataset which contains </a:t>
            </a:r>
            <a:r>
              <a:rPr lang="en-US" sz="1488" i="1" dirty="0">
                <a:solidFill>
                  <a:srgbClr val="273239"/>
                </a:solidFill>
                <a:latin typeface="Nunito" panose="020F0502020204030204" pitchFamily="2" charset="0"/>
              </a:rPr>
              <a:t>14</a:t>
            </a:r>
            <a:r>
              <a:rPr lang="en-US" sz="1488" dirty="0">
                <a:solidFill>
                  <a:srgbClr val="273239"/>
                </a:solidFill>
                <a:latin typeface="Nunito" panose="020F0502020204030204" pitchFamily="2" charset="0"/>
              </a:rPr>
              <a:t> million images belonging to 1000 classes</a:t>
            </a:r>
            <a:endParaRPr lang="en-US" sz="1488" dirty="0"/>
          </a:p>
        </p:txBody>
      </p:sp>
      <p:sp>
        <p:nvSpPr>
          <p:cNvPr id="4" name="TextBox 3">
            <a:extLst>
              <a:ext uri="{FF2B5EF4-FFF2-40B4-BE49-F238E27FC236}">
                <a16:creationId xmlns:a16="http://schemas.microsoft.com/office/drawing/2014/main" id="{87757E54-4CC4-28BC-1D27-0F021398457D}"/>
              </a:ext>
            </a:extLst>
          </p:cNvPr>
          <p:cNvSpPr txBox="1"/>
          <p:nvPr/>
        </p:nvSpPr>
        <p:spPr>
          <a:xfrm>
            <a:off x="4033802" y="826497"/>
            <a:ext cx="3780367" cy="321306"/>
          </a:xfrm>
          <a:prstGeom prst="rect">
            <a:avLst/>
          </a:prstGeom>
          <a:noFill/>
        </p:spPr>
        <p:txBody>
          <a:bodyPr wrap="square">
            <a:spAutoFit/>
          </a:bodyPr>
          <a:lstStyle/>
          <a:p>
            <a:r>
              <a:rPr lang="en-US" sz="1488" dirty="0">
                <a:solidFill>
                  <a:srgbClr val="1F1F1F"/>
                </a:solidFill>
                <a:latin typeface="Google Sans"/>
              </a:rPr>
              <a:t>Visual Geometry Group</a:t>
            </a:r>
            <a:endParaRPr lang="en-US" sz="1488"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61659" y="1119598"/>
            <a:ext cx="2818330" cy="4252913"/>
          </a:xfrm>
          <a:prstGeom prst="rect">
            <a:avLst/>
          </a:prstGeom>
        </p:spPr>
      </p:pic>
      <p:sp>
        <p:nvSpPr>
          <p:cNvPr id="3" name="object 3"/>
          <p:cNvSpPr txBox="1"/>
          <p:nvPr/>
        </p:nvSpPr>
        <p:spPr>
          <a:xfrm>
            <a:off x="1407554" y="1159337"/>
            <a:ext cx="3910579" cy="4143715"/>
          </a:xfrm>
          <a:prstGeom prst="rect">
            <a:avLst/>
          </a:prstGeom>
        </p:spPr>
        <p:txBody>
          <a:bodyPr vert="horz" wrap="square" lIns="0" tIns="35703" rIns="0" bIns="0" rtlCol="0">
            <a:spAutoFit/>
          </a:bodyPr>
          <a:lstStyle/>
          <a:p>
            <a:pPr marL="294046" marR="4201" indent="-283544">
              <a:lnSpc>
                <a:spcPts val="3060"/>
              </a:lnSpc>
              <a:spcBef>
                <a:spcPts val="281"/>
              </a:spcBef>
              <a:buChar char="•"/>
              <a:tabLst>
                <a:tab pos="294046" algn="l"/>
              </a:tabLst>
            </a:pPr>
            <a:r>
              <a:rPr sz="2646" dirty="0">
                <a:latin typeface="Arial"/>
                <a:cs typeface="Arial"/>
              </a:rPr>
              <a:t>AlexNet</a:t>
            </a:r>
            <a:r>
              <a:rPr sz="2646" spc="-29" dirty="0">
                <a:latin typeface="Arial"/>
                <a:cs typeface="Arial"/>
              </a:rPr>
              <a:t> </a:t>
            </a:r>
            <a:r>
              <a:rPr sz="2646" dirty="0">
                <a:latin typeface="Arial"/>
                <a:cs typeface="Arial"/>
              </a:rPr>
              <a:t>is</a:t>
            </a:r>
            <a:r>
              <a:rPr sz="2646" spc="-29" dirty="0">
                <a:latin typeface="Arial"/>
                <a:cs typeface="Arial"/>
              </a:rPr>
              <a:t> </a:t>
            </a:r>
            <a:r>
              <a:rPr sz="2646" dirty="0">
                <a:latin typeface="Arial"/>
                <a:cs typeface="Arial"/>
              </a:rPr>
              <a:t>deeper</a:t>
            </a:r>
            <a:r>
              <a:rPr sz="2646" spc="-25" dirty="0">
                <a:latin typeface="Arial"/>
                <a:cs typeface="Arial"/>
              </a:rPr>
              <a:t> </a:t>
            </a:r>
            <a:r>
              <a:rPr sz="2646" spc="-21" dirty="0">
                <a:latin typeface="Arial"/>
                <a:cs typeface="Arial"/>
              </a:rPr>
              <a:t>and </a:t>
            </a:r>
            <a:r>
              <a:rPr sz="2646" dirty="0">
                <a:latin typeface="Arial"/>
                <a:cs typeface="Arial"/>
              </a:rPr>
              <a:t>bigger</a:t>
            </a:r>
            <a:r>
              <a:rPr sz="2646" spc="-12" dirty="0">
                <a:latin typeface="Arial"/>
                <a:cs typeface="Arial"/>
              </a:rPr>
              <a:t> </a:t>
            </a:r>
            <a:r>
              <a:rPr sz="2646" dirty="0">
                <a:latin typeface="Arial"/>
                <a:cs typeface="Arial"/>
              </a:rPr>
              <a:t>than</a:t>
            </a:r>
            <a:r>
              <a:rPr sz="2646" spc="-12" dirty="0">
                <a:latin typeface="Arial"/>
                <a:cs typeface="Arial"/>
              </a:rPr>
              <a:t> </a:t>
            </a:r>
            <a:r>
              <a:rPr sz="2646" dirty="0">
                <a:latin typeface="Arial"/>
                <a:cs typeface="Arial"/>
              </a:rPr>
              <a:t>LeNet</a:t>
            </a:r>
            <a:r>
              <a:rPr sz="2646" spc="-12" dirty="0">
                <a:latin typeface="Arial"/>
                <a:cs typeface="Arial"/>
              </a:rPr>
              <a:t> </a:t>
            </a:r>
            <a:r>
              <a:rPr sz="2646" dirty="0">
                <a:latin typeface="Arial"/>
                <a:cs typeface="Arial"/>
              </a:rPr>
              <a:t>to</a:t>
            </a:r>
            <a:r>
              <a:rPr sz="2646" spc="-8" dirty="0">
                <a:latin typeface="Arial"/>
                <a:cs typeface="Arial"/>
              </a:rPr>
              <a:t> </a:t>
            </a:r>
            <a:r>
              <a:rPr sz="2646" spc="-21" dirty="0">
                <a:latin typeface="Arial"/>
                <a:cs typeface="Arial"/>
              </a:rPr>
              <a:t>get </a:t>
            </a:r>
            <a:r>
              <a:rPr sz="2646" spc="-8" dirty="0">
                <a:latin typeface="Arial"/>
                <a:cs typeface="Arial"/>
              </a:rPr>
              <a:t>performance</a:t>
            </a:r>
            <a:endParaRPr sz="2646">
              <a:latin typeface="Arial"/>
              <a:cs typeface="Arial"/>
            </a:endParaRPr>
          </a:p>
          <a:p>
            <a:pPr marL="294046" marR="994504" indent="-283544">
              <a:lnSpc>
                <a:spcPts val="3060"/>
              </a:lnSpc>
              <a:spcBef>
                <a:spcPts val="633"/>
              </a:spcBef>
              <a:buChar char="•"/>
              <a:tabLst>
                <a:tab pos="294046" algn="l"/>
              </a:tabLst>
            </a:pPr>
            <a:r>
              <a:rPr sz="2646" dirty="0">
                <a:latin typeface="Arial"/>
                <a:cs typeface="Arial"/>
              </a:rPr>
              <a:t>Go</a:t>
            </a:r>
            <a:r>
              <a:rPr sz="2646" spc="-8" dirty="0">
                <a:latin typeface="Arial"/>
                <a:cs typeface="Arial"/>
              </a:rPr>
              <a:t> </a:t>
            </a:r>
            <a:r>
              <a:rPr sz="2646" dirty="0">
                <a:latin typeface="Arial"/>
                <a:cs typeface="Arial"/>
              </a:rPr>
              <a:t>even</a:t>
            </a:r>
            <a:r>
              <a:rPr sz="2646" spc="-4" dirty="0">
                <a:latin typeface="Arial"/>
                <a:cs typeface="Arial"/>
              </a:rPr>
              <a:t> </a:t>
            </a:r>
            <a:r>
              <a:rPr sz="2646" dirty="0">
                <a:latin typeface="Arial"/>
                <a:cs typeface="Arial"/>
              </a:rPr>
              <a:t>bigger</a:t>
            </a:r>
            <a:r>
              <a:rPr sz="2646" spc="-8" dirty="0">
                <a:latin typeface="Arial"/>
                <a:cs typeface="Arial"/>
              </a:rPr>
              <a:t> </a:t>
            </a:r>
            <a:r>
              <a:rPr sz="2646" spc="-41" dirty="0">
                <a:latin typeface="Arial"/>
                <a:cs typeface="Arial"/>
              </a:rPr>
              <a:t>&amp; </a:t>
            </a:r>
            <a:r>
              <a:rPr sz="2646" spc="-8" dirty="0">
                <a:latin typeface="Arial"/>
                <a:cs typeface="Arial"/>
              </a:rPr>
              <a:t>deeper?</a:t>
            </a:r>
            <a:endParaRPr sz="2646">
              <a:latin typeface="Arial"/>
              <a:cs typeface="Arial"/>
            </a:endParaRPr>
          </a:p>
          <a:p>
            <a:pPr marL="293521" indent="-283019">
              <a:spcBef>
                <a:spcPts val="438"/>
              </a:spcBef>
              <a:buChar char="•"/>
              <a:tabLst>
                <a:tab pos="293521" algn="l"/>
              </a:tabLst>
            </a:pPr>
            <a:r>
              <a:rPr sz="2646" spc="-8" dirty="0">
                <a:latin typeface="Arial"/>
                <a:cs typeface="Arial"/>
              </a:rPr>
              <a:t>Options</a:t>
            </a:r>
            <a:endParaRPr sz="2646">
              <a:latin typeface="Arial"/>
              <a:cs typeface="Arial"/>
            </a:endParaRPr>
          </a:p>
          <a:p>
            <a:pPr marL="657402" marR="826478" lvl="1" indent="-269367">
              <a:lnSpc>
                <a:spcPts val="2646"/>
              </a:lnSpc>
              <a:spcBef>
                <a:spcPts val="715"/>
              </a:spcBef>
              <a:buChar char="–"/>
              <a:tabLst>
                <a:tab pos="658452" algn="l"/>
              </a:tabLst>
            </a:pPr>
            <a:r>
              <a:rPr sz="2315" dirty="0">
                <a:latin typeface="Arial"/>
                <a:cs typeface="Arial"/>
              </a:rPr>
              <a:t>More</a:t>
            </a:r>
            <a:r>
              <a:rPr sz="2315" spc="-66" dirty="0">
                <a:latin typeface="Arial"/>
                <a:cs typeface="Arial"/>
              </a:rPr>
              <a:t> </a:t>
            </a:r>
            <a:r>
              <a:rPr sz="2315" dirty="0">
                <a:latin typeface="Arial"/>
                <a:cs typeface="Arial"/>
              </a:rPr>
              <a:t>dense</a:t>
            </a:r>
            <a:r>
              <a:rPr sz="2315" spc="-66" dirty="0">
                <a:latin typeface="Arial"/>
                <a:cs typeface="Arial"/>
              </a:rPr>
              <a:t> </a:t>
            </a:r>
            <a:r>
              <a:rPr sz="2315" spc="-8" dirty="0">
                <a:latin typeface="Arial"/>
                <a:cs typeface="Arial"/>
              </a:rPr>
              <a:t>layers 	</a:t>
            </a:r>
            <a:r>
              <a:rPr sz="2315" dirty="0">
                <a:latin typeface="Arial"/>
                <a:cs typeface="Arial"/>
              </a:rPr>
              <a:t>(too</a:t>
            </a:r>
            <a:r>
              <a:rPr sz="2315" spc="-45" dirty="0">
                <a:latin typeface="Arial"/>
                <a:cs typeface="Arial"/>
              </a:rPr>
              <a:t> </a:t>
            </a:r>
            <a:r>
              <a:rPr sz="2315" spc="-8" dirty="0">
                <a:latin typeface="Arial"/>
                <a:cs typeface="Arial"/>
              </a:rPr>
              <a:t>expensive)</a:t>
            </a:r>
            <a:endParaRPr sz="2315">
              <a:latin typeface="Arial"/>
              <a:cs typeface="Arial"/>
            </a:endParaRPr>
          </a:p>
          <a:p>
            <a:pPr marL="657927" lvl="1" indent="-269367">
              <a:spcBef>
                <a:spcPts val="438"/>
              </a:spcBef>
              <a:buFont typeface="Arial"/>
              <a:buChar char="–"/>
              <a:tabLst>
                <a:tab pos="657927" algn="l"/>
              </a:tabLst>
            </a:pPr>
            <a:r>
              <a:rPr sz="2315" b="1" dirty="0">
                <a:latin typeface="Arial"/>
                <a:cs typeface="Arial"/>
              </a:rPr>
              <a:t>More</a:t>
            </a:r>
            <a:r>
              <a:rPr sz="2315" b="1" spc="-58" dirty="0">
                <a:latin typeface="Arial"/>
                <a:cs typeface="Arial"/>
              </a:rPr>
              <a:t> </a:t>
            </a:r>
            <a:r>
              <a:rPr sz="2315" spc="-8" dirty="0">
                <a:latin typeface="Arial"/>
                <a:cs typeface="Arial"/>
              </a:rPr>
              <a:t>convolutions</a:t>
            </a:r>
            <a:endParaRPr sz="2315">
              <a:latin typeface="Arial"/>
              <a:cs typeface="Arial"/>
            </a:endParaRPr>
          </a:p>
          <a:p>
            <a:pPr marL="657927" lvl="1" indent="-269367">
              <a:spcBef>
                <a:spcPts val="500"/>
              </a:spcBef>
              <a:buChar char="–"/>
              <a:tabLst>
                <a:tab pos="657927" algn="l"/>
              </a:tabLst>
            </a:pPr>
            <a:r>
              <a:rPr sz="2315" dirty="0">
                <a:latin typeface="Arial"/>
                <a:cs typeface="Arial"/>
              </a:rPr>
              <a:t>Group</a:t>
            </a:r>
            <a:r>
              <a:rPr sz="2315" spc="-45" dirty="0">
                <a:latin typeface="Arial"/>
                <a:cs typeface="Arial"/>
              </a:rPr>
              <a:t> </a:t>
            </a:r>
            <a:r>
              <a:rPr sz="2315" dirty="0">
                <a:latin typeface="Arial"/>
                <a:cs typeface="Arial"/>
              </a:rPr>
              <a:t>into</a:t>
            </a:r>
            <a:r>
              <a:rPr sz="2315" spc="-45" dirty="0">
                <a:latin typeface="Arial"/>
                <a:cs typeface="Arial"/>
              </a:rPr>
              <a:t> </a:t>
            </a:r>
            <a:r>
              <a:rPr sz="2315" b="1" spc="-8" dirty="0">
                <a:latin typeface="Arial"/>
                <a:cs typeface="Arial"/>
              </a:rPr>
              <a:t>blocks</a:t>
            </a:r>
            <a:endParaRPr sz="2315">
              <a:latin typeface="Arial"/>
              <a:cs typeface="Arial"/>
            </a:endParaRPr>
          </a:p>
        </p:txBody>
      </p:sp>
      <p:sp>
        <p:nvSpPr>
          <p:cNvPr id="5" name="object 5"/>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8100">
              <a:lnSpc>
                <a:spcPts val="1485"/>
              </a:lnSpc>
            </a:pPr>
            <a:fld id="{81D60167-4931-47E6-BA6A-407CBD079E47}" type="slidenum">
              <a:rPr lang="en-US" spc="-25" smtClean="0"/>
              <a:pPr marL="38100">
                <a:lnSpc>
                  <a:spcPts val="1485"/>
                </a:lnSpc>
              </a:pPr>
              <a:t>51</a:t>
            </a:fld>
            <a:endParaRPr spc="-21" dirty="0"/>
          </a:p>
        </p:txBody>
      </p:sp>
      <p:sp>
        <p:nvSpPr>
          <p:cNvPr id="4" name="object 4"/>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3194596">
              <a:lnSpc>
                <a:spcPct val="100000"/>
              </a:lnSpc>
              <a:spcBef>
                <a:spcPts val="83"/>
              </a:spcBef>
            </a:pPr>
            <a:r>
              <a:rPr spc="-21" dirty="0">
                <a:latin typeface="Arial"/>
                <a:cs typeface="Arial"/>
              </a:rPr>
              <a:t>VGG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2298282">
              <a:lnSpc>
                <a:spcPct val="100000"/>
              </a:lnSpc>
              <a:spcBef>
                <a:spcPts val="83"/>
              </a:spcBef>
            </a:pPr>
            <a:r>
              <a:rPr dirty="0">
                <a:latin typeface="Arial"/>
                <a:cs typeface="Arial"/>
              </a:rPr>
              <a:t>VGG</a:t>
            </a:r>
            <a:r>
              <a:rPr spc="-99" dirty="0">
                <a:latin typeface="Arial"/>
                <a:cs typeface="Arial"/>
              </a:rPr>
              <a:t> </a:t>
            </a:r>
            <a:r>
              <a:rPr spc="-8" dirty="0">
                <a:latin typeface="Arial"/>
                <a:cs typeface="Arial"/>
              </a:rPr>
              <a:t>Blocks</a:t>
            </a:r>
          </a:p>
        </p:txBody>
      </p:sp>
      <p:sp>
        <p:nvSpPr>
          <p:cNvPr id="3" name="object 3"/>
          <p:cNvSpPr txBox="1"/>
          <p:nvPr/>
        </p:nvSpPr>
        <p:spPr>
          <a:xfrm>
            <a:off x="7174923" y="1424202"/>
            <a:ext cx="1197641" cy="831141"/>
          </a:xfrm>
          <a:prstGeom prst="rect">
            <a:avLst/>
          </a:prstGeom>
        </p:spPr>
        <p:txBody>
          <a:bodyPr vert="horz" wrap="square" lIns="0" tIns="35703" rIns="0" bIns="0" rtlCol="0">
            <a:spAutoFit/>
          </a:bodyPr>
          <a:lstStyle/>
          <a:p>
            <a:pPr marL="10502" marR="4201">
              <a:lnSpc>
                <a:spcPts val="3060"/>
              </a:lnSpc>
              <a:spcBef>
                <a:spcPts val="281"/>
              </a:spcBef>
            </a:pPr>
            <a:r>
              <a:rPr sz="2646" dirty="0">
                <a:solidFill>
                  <a:srgbClr val="474746"/>
                </a:solidFill>
                <a:latin typeface="Arial"/>
                <a:cs typeface="Arial"/>
              </a:rPr>
              <a:t>Part</a:t>
            </a:r>
            <a:r>
              <a:rPr sz="2646" spc="-8" dirty="0">
                <a:solidFill>
                  <a:srgbClr val="474746"/>
                </a:solidFill>
                <a:latin typeface="Arial"/>
                <a:cs typeface="Arial"/>
              </a:rPr>
              <a:t> </a:t>
            </a:r>
            <a:r>
              <a:rPr sz="2646" spc="-21" dirty="0">
                <a:solidFill>
                  <a:srgbClr val="474746"/>
                </a:solidFill>
                <a:latin typeface="Arial"/>
                <a:cs typeface="Arial"/>
              </a:rPr>
              <a:t>of </a:t>
            </a:r>
            <a:r>
              <a:rPr sz="2646" spc="-8" dirty="0">
                <a:solidFill>
                  <a:srgbClr val="474746"/>
                </a:solidFill>
                <a:latin typeface="Arial"/>
                <a:cs typeface="Arial"/>
              </a:rPr>
              <a:t>AlexNet</a:t>
            </a:r>
            <a:endParaRPr sz="2646">
              <a:latin typeface="Arial"/>
              <a:cs typeface="Arial"/>
            </a:endParaRPr>
          </a:p>
        </p:txBody>
      </p:sp>
      <p:pic>
        <p:nvPicPr>
          <p:cNvPr id="4" name="object 4"/>
          <p:cNvPicPr/>
          <p:nvPr/>
        </p:nvPicPr>
        <p:blipFill>
          <a:blip r:embed="rId2" cstate="print"/>
          <a:stretch>
            <a:fillRect/>
          </a:stretch>
        </p:blipFill>
        <p:spPr>
          <a:xfrm>
            <a:off x="7065432" y="2295030"/>
            <a:ext cx="1722536" cy="1772464"/>
          </a:xfrm>
          <a:prstGeom prst="rect">
            <a:avLst/>
          </a:prstGeom>
        </p:spPr>
      </p:pic>
      <p:pic>
        <p:nvPicPr>
          <p:cNvPr id="5" name="object 5"/>
          <p:cNvPicPr/>
          <p:nvPr/>
        </p:nvPicPr>
        <p:blipFill>
          <a:blip r:embed="rId3" cstate="print"/>
          <a:stretch>
            <a:fillRect/>
          </a:stretch>
        </p:blipFill>
        <p:spPr>
          <a:xfrm>
            <a:off x="5155188" y="2295030"/>
            <a:ext cx="1755583" cy="1772464"/>
          </a:xfrm>
          <a:prstGeom prst="rect">
            <a:avLst/>
          </a:prstGeom>
        </p:spPr>
      </p:pic>
      <p:sp>
        <p:nvSpPr>
          <p:cNvPr id="6" name="object 6"/>
          <p:cNvSpPr txBox="1"/>
          <p:nvPr/>
        </p:nvSpPr>
        <p:spPr>
          <a:xfrm>
            <a:off x="1292438" y="1075912"/>
            <a:ext cx="5558188" cy="3749287"/>
          </a:xfrm>
          <a:prstGeom prst="rect">
            <a:avLst/>
          </a:prstGeom>
        </p:spPr>
        <p:txBody>
          <a:bodyPr vert="horz" wrap="square" lIns="0" tIns="95559" rIns="0" bIns="0" rtlCol="0">
            <a:spAutoFit/>
          </a:bodyPr>
          <a:lstStyle/>
          <a:p>
            <a:pPr marL="309273" indent="-277768">
              <a:spcBef>
                <a:spcPts val="752"/>
              </a:spcBef>
              <a:buChar char="•"/>
              <a:tabLst>
                <a:tab pos="309273" algn="l"/>
              </a:tabLst>
            </a:pPr>
            <a:r>
              <a:rPr sz="2563" dirty="0">
                <a:latin typeface="Arial"/>
                <a:cs typeface="Arial"/>
              </a:rPr>
              <a:t>Deeper</a:t>
            </a:r>
            <a:r>
              <a:rPr sz="2563" spc="58" dirty="0">
                <a:latin typeface="Arial"/>
                <a:cs typeface="Arial"/>
              </a:rPr>
              <a:t> </a:t>
            </a:r>
            <a:r>
              <a:rPr sz="2563" dirty="0">
                <a:latin typeface="Arial"/>
                <a:cs typeface="Arial"/>
              </a:rPr>
              <a:t>vs.</a:t>
            </a:r>
            <a:r>
              <a:rPr sz="2563" spc="58" dirty="0">
                <a:latin typeface="Arial"/>
                <a:cs typeface="Arial"/>
              </a:rPr>
              <a:t> </a:t>
            </a:r>
            <a:r>
              <a:rPr sz="2563" spc="-8" dirty="0">
                <a:latin typeface="Arial"/>
                <a:cs typeface="Arial"/>
              </a:rPr>
              <a:t>wider?</a:t>
            </a:r>
            <a:endParaRPr sz="2563">
              <a:latin typeface="Arial"/>
              <a:cs typeface="Arial"/>
            </a:endParaRPr>
          </a:p>
          <a:p>
            <a:pPr marL="673154" lvl="1" indent="-263591">
              <a:spcBef>
                <a:spcPts val="558"/>
              </a:spcBef>
              <a:buChar char="–"/>
              <a:tabLst>
                <a:tab pos="673154" algn="l"/>
              </a:tabLst>
            </a:pPr>
            <a:r>
              <a:rPr sz="2274" dirty="0">
                <a:latin typeface="Arial"/>
                <a:cs typeface="Arial"/>
              </a:rPr>
              <a:t>5x5</a:t>
            </a:r>
            <a:r>
              <a:rPr sz="2274" spc="-33" dirty="0">
                <a:latin typeface="Arial"/>
                <a:cs typeface="Arial"/>
              </a:rPr>
              <a:t> </a:t>
            </a:r>
            <a:r>
              <a:rPr sz="2274" spc="-8" dirty="0">
                <a:latin typeface="Arial"/>
                <a:cs typeface="Arial"/>
              </a:rPr>
              <a:t>convolutions</a:t>
            </a:r>
            <a:endParaRPr sz="2274">
              <a:latin typeface="Arial"/>
              <a:cs typeface="Arial"/>
            </a:endParaRPr>
          </a:p>
          <a:p>
            <a:pPr marL="673154" lvl="1" indent="-263591">
              <a:spcBef>
                <a:spcPts val="169"/>
              </a:spcBef>
              <a:buChar char="–"/>
              <a:tabLst>
                <a:tab pos="673154" algn="l"/>
                <a:tab pos="3901881" algn="l"/>
              </a:tabLst>
            </a:pPr>
            <a:r>
              <a:rPr sz="2274" dirty="0">
                <a:latin typeface="Arial"/>
                <a:cs typeface="Arial"/>
              </a:rPr>
              <a:t>3x3</a:t>
            </a:r>
            <a:r>
              <a:rPr sz="2274" spc="-66" dirty="0">
                <a:latin typeface="Arial"/>
                <a:cs typeface="Arial"/>
              </a:rPr>
              <a:t> </a:t>
            </a:r>
            <a:r>
              <a:rPr sz="2274" dirty="0">
                <a:latin typeface="Arial"/>
                <a:cs typeface="Arial"/>
              </a:rPr>
              <a:t>convolutions</a:t>
            </a:r>
            <a:r>
              <a:rPr sz="2274" spc="-62" dirty="0">
                <a:latin typeface="Arial"/>
                <a:cs typeface="Arial"/>
              </a:rPr>
              <a:t> </a:t>
            </a:r>
            <a:r>
              <a:rPr sz="2274" spc="-8" dirty="0">
                <a:latin typeface="Arial"/>
                <a:cs typeface="Arial"/>
              </a:rPr>
              <a:t>(more)</a:t>
            </a:r>
            <a:r>
              <a:rPr sz="2274" dirty="0">
                <a:latin typeface="Arial"/>
                <a:cs typeface="Arial"/>
              </a:rPr>
              <a:t>	</a:t>
            </a:r>
            <a:r>
              <a:rPr sz="3969" baseline="21701" dirty="0">
                <a:solidFill>
                  <a:srgbClr val="474746"/>
                </a:solidFill>
                <a:latin typeface="Arial"/>
                <a:cs typeface="Arial"/>
              </a:rPr>
              <a:t>VGG</a:t>
            </a:r>
            <a:r>
              <a:rPr sz="3969" spc="-74" baseline="21701" dirty="0">
                <a:solidFill>
                  <a:srgbClr val="474746"/>
                </a:solidFill>
                <a:latin typeface="Arial"/>
                <a:cs typeface="Arial"/>
              </a:rPr>
              <a:t> </a:t>
            </a:r>
            <a:r>
              <a:rPr sz="3969" spc="-12" baseline="21701" dirty="0">
                <a:solidFill>
                  <a:srgbClr val="474746"/>
                </a:solidFill>
                <a:latin typeface="Arial"/>
                <a:cs typeface="Arial"/>
              </a:rPr>
              <a:t>block</a:t>
            </a:r>
            <a:endParaRPr sz="3969" baseline="21701">
              <a:latin typeface="Arial"/>
              <a:cs typeface="Arial"/>
            </a:endParaRPr>
          </a:p>
          <a:p>
            <a:pPr marL="673154" lvl="1" indent="-263591">
              <a:spcBef>
                <a:spcPts val="463"/>
              </a:spcBef>
              <a:buChar char="–"/>
              <a:tabLst>
                <a:tab pos="673154" algn="l"/>
              </a:tabLst>
            </a:pPr>
            <a:r>
              <a:rPr sz="2274" b="1" dirty="0">
                <a:latin typeface="Arial"/>
                <a:cs typeface="Arial"/>
              </a:rPr>
              <a:t>Deep</a:t>
            </a:r>
            <a:r>
              <a:rPr sz="2274" b="1" spc="-33" dirty="0">
                <a:latin typeface="Arial"/>
                <a:cs typeface="Arial"/>
              </a:rPr>
              <a:t> </a:t>
            </a:r>
            <a:r>
              <a:rPr sz="2274" b="1" dirty="0">
                <a:latin typeface="Arial"/>
                <a:cs typeface="Arial"/>
              </a:rPr>
              <a:t>&amp;</a:t>
            </a:r>
            <a:r>
              <a:rPr sz="2274" b="1" spc="-29" dirty="0">
                <a:latin typeface="Arial"/>
                <a:cs typeface="Arial"/>
              </a:rPr>
              <a:t> </a:t>
            </a:r>
            <a:r>
              <a:rPr sz="2274" b="1" dirty="0">
                <a:latin typeface="Arial"/>
                <a:cs typeface="Arial"/>
              </a:rPr>
              <a:t>narrow</a:t>
            </a:r>
            <a:r>
              <a:rPr sz="2274" b="1" spc="-29" dirty="0">
                <a:latin typeface="Arial"/>
                <a:cs typeface="Arial"/>
              </a:rPr>
              <a:t> </a:t>
            </a:r>
            <a:r>
              <a:rPr sz="2274" b="1" spc="-8" dirty="0">
                <a:latin typeface="Arial"/>
                <a:cs typeface="Arial"/>
              </a:rPr>
              <a:t>better</a:t>
            </a:r>
            <a:endParaRPr sz="2274">
              <a:latin typeface="Arial"/>
              <a:cs typeface="Arial"/>
            </a:endParaRPr>
          </a:p>
          <a:p>
            <a:pPr marL="309273" indent="-277768">
              <a:spcBef>
                <a:spcPts val="504"/>
              </a:spcBef>
              <a:buChar char="•"/>
              <a:tabLst>
                <a:tab pos="309273" algn="l"/>
              </a:tabLst>
            </a:pPr>
            <a:r>
              <a:rPr sz="2563" dirty="0">
                <a:latin typeface="Arial"/>
                <a:cs typeface="Arial"/>
              </a:rPr>
              <a:t>VGG</a:t>
            </a:r>
            <a:r>
              <a:rPr sz="2563" spc="54" dirty="0">
                <a:latin typeface="Arial"/>
                <a:cs typeface="Arial"/>
              </a:rPr>
              <a:t> </a:t>
            </a:r>
            <a:r>
              <a:rPr sz="2563" spc="-17" dirty="0">
                <a:latin typeface="Arial"/>
                <a:cs typeface="Arial"/>
              </a:rPr>
              <a:t>block</a:t>
            </a:r>
            <a:endParaRPr sz="2563">
              <a:latin typeface="Arial"/>
              <a:cs typeface="Arial"/>
            </a:endParaRPr>
          </a:p>
          <a:p>
            <a:pPr marL="673154" lvl="1" indent="-263591">
              <a:lnSpc>
                <a:spcPts val="2687"/>
              </a:lnSpc>
              <a:spcBef>
                <a:spcPts val="562"/>
              </a:spcBef>
              <a:buFont typeface="Arial"/>
              <a:buChar char="–"/>
              <a:tabLst>
                <a:tab pos="673154" algn="l"/>
              </a:tabLst>
            </a:pPr>
            <a:r>
              <a:rPr sz="2274" i="1" dirty="0">
                <a:latin typeface="Arial"/>
                <a:cs typeface="Arial"/>
              </a:rPr>
              <a:t>3x3</a:t>
            </a:r>
            <a:r>
              <a:rPr sz="2274" i="1" spc="-45" dirty="0">
                <a:latin typeface="Arial"/>
                <a:cs typeface="Arial"/>
              </a:rPr>
              <a:t> </a:t>
            </a:r>
            <a:r>
              <a:rPr sz="2274" dirty="0">
                <a:latin typeface="Arial"/>
                <a:cs typeface="Arial"/>
              </a:rPr>
              <a:t>convolutions</a:t>
            </a:r>
            <a:r>
              <a:rPr sz="2274" spc="-45" dirty="0">
                <a:latin typeface="Arial"/>
                <a:cs typeface="Arial"/>
              </a:rPr>
              <a:t> </a:t>
            </a:r>
            <a:r>
              <a:rPr sz="2274" dirty="0">
                <a:latin typeface="Arial"/>
                <a:cs typeface="Arial"/>
              </a:rPr>
              <a:t>(pad</a:t>
            </a:r>
            <a:r>
              <a:rPr sz="2274" spc="-45" dirty="0">
                <a:latin typeface="Arial"/>
                <a:cs typeface="Arial"/>
              </a:rPr>
              <a:t> </a:t>
            </a:r>
            <a:r>
              <a:rPr sz="2274" spc="-21" dirty="0">
                <a:latin typeface="Arial"/>
                <a:cs typeface="Arial"/>
              </a:rPr>
              <a:t>1)</a:t>
            </a:r>
            <a:endParaRPr sz="2274">
              <a:latin typeface="Arial"/>
              <a:cs typeface="Arial"/>
            </a:endParaRPr>
          </a:p>
          <a:p>
            <a:pPr marL="674205">
              <a:lnSpc>
                <a:spcPts val="2687"/>
              </a:lnSpc>
            </a:pPr>
            <a:r>
              <a:rPr sz="2274" b="1" dirty="0">
                <a:latin typeface="Arial"/>
                <a:cs typeface="Arial"/>
              </a:rPr>
              <a:t>(n</a:t>
            </a:r>
            <a:r>
              <a:rPr sz="2274" b="1" spc="-21" dirty="0">
                <a:latin typeface="Arial"/>
                <a:cs typeface="Arial"/>
              </a:rPr>
              <a:t> </a:t>
            </a:r>
            <a:r>
              <a:rPr sz="2274" b="1" dirty="0">
                <a:latin typeface="Arial"/>
                <a:cs typeface="Arial"/>
              </a:rPr>
              <a:t>layers,</a:t>
            </a:r>
            <a:r>
              <a:rPr sz="2274" b="1" spc="-21" dirty="0">
                <a:latin typeface="Arial"/>
                <a:cs typeface="Arial"/>
              </a:rPr>
              <a:t> </a:t>
            </a:r>
            <a:r>
              <a:rPr sz="2274" b="1" dirty="0">
                <a:latin typeface="Arial"/>
                <a:cs typeface="Arial"/>
              </a:rPr>
              <a:t>m</a:t>
            </a:r>
            <a:r>
              <a:rPr sz="2274" b="1" spc="-21" dirty="0">
                <a:latin typeface="Arial"/>
                <a:cs typeface="Arial"/>
              </a:rPr>
              <a:t> </a:t>
            </a:r>
            <a:r>
              <a:rPr sz="2274" b="1" spc="-8" dirty="0">
                <a:latin typeface="Arial"/>
                <a:cs typeface="Arial"/>
              </a:rPr>
              <a:t>channels)</a:t>
            </a:r>
            <a:endParaRPr sz="2274">
              <a:latin typeface="Arial"/>
              <a:cs typeface="Arial"/>
            </a:endParaRPr>
          </a:p>
          <a:p>
            <a:pPr marL="673154" marR="2763503" lvl="1" indent="-263591">
              <a:lnSpc>
                <a:spcPts val="2646"/>
              </a:lnSpc>
              <a:spcBef>
                <a:spcPts val="695"/>
              </a:spcBef>
              <a:buChar char="–"/>
              <a:tabLst>
                <a:tab pos="674205" algn="l"/>
              </a:tabLst>
            </a:pPr>
            <a:r>
              <a:rPr sz="2274" dirty="0">
                <a:latin typeface="Arial"/>
                <a:cs typeface="Arial"/>
              </a:rPr>
              <a:t>2x2</a:t>
            </a:r>
            <a:r>
              <a:rPr sz="2274" spc="-12" dirty="0">
                <a:latin typeface="Arial"/>
                <a:cs typeface="Arial"/>
              </a:rPr>
              <a:t> </a:t>
            </a:r>
            <a:r>
              <a:rPr sz="2274" spc="-21" dirty="0">
                <a:latin typeface="Arial"/>
                <a:cs typeface="Arial"/>
              </a:rPr>
              <a:t>max-</a:t>
            </a:r>
            <a:r>
              <a:rPr sz="2274" spc="-8" dirty="0">
                <a:latin typeface="Arial"/>
                <a:cs typeface="Arial"/>
              </a:rPr>
              <a:t>pooling 	</a:t>
            </a:r>
            <a:r>
              <a:rPr sz="2274" dirty="0">
                <a:latin typeface="Arial"/>
                <a:cs typeface="Arial"/>
              </a:rPr>
              <a:t>(stride</a:t>
            </a:r>
            <a:r>
              <a:rPr sz="2274" spc="-54" dirty="0">
                <a:latin typeface="Arial"/>
                <a:cs typeface="Arial"/>
              </a:rPr>
              <a:t> </a:t>
            </a:r>
            <a:r>
              <a:rPr sz="2274" spc="-21" dirty="0">
                <a:latin typeface="Arial"/>
                <a:cs typeface="Arial"/>
              </a:rPr>
              <a:t>2)</a:t>
            </a:r>
            <a:endParaRPr sz="2274">
              <a:latin typeface="Arial"/>
              <a:cs typeface="Arial"/>
            </a:endParaRPr>
          </a:p>
        </p:txBody>
      </p:sp>
      <p:sp>
        <p:nvSpPr>
          <p:cNvPr id="7" name="object 7"/>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8100">
              <a:lnSpc>
                <a:spcPts val="1485"/>
              </a:lnSpc>
            </a:pPr>
            <a:fld id="{81D60167-4931-47E6-BA6A-407CBD079E47}" type="slidenum">
              <a:rPr lang="en-US" spc="-25" smtClean="0"/>
              <a:pPr marL="38100">
                <a:lnSpc>
                  <a:spcPts val="1485"/>
                </a:lnSpc>
              </a:pPr>
              <a:t>52</a:t>
            </a:fld>
            <a:endParaRPr spc="-2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14983" y="1159336"/>
            <a:ext cx="3679557" cy="2895809"/>
          </a:xfrm>
          <a:prstGeom prst="rect">
            <a:avLst/>
          </a:prstGeom>
        </p:spPr>
        <p:txBody>
          <a:bodyPr vert="horz" wrap="square" lIns="0" tIns="35703" rIns="0" bIns="0" rtlCol="0">
            <a:spAutoFit/>
          </a:bodyPr>
          <a:lstStyle/>
          <a:p>
            <a:pPr marL="294046" marR="335002" indent="-283544">
              <a:lnSpc>
                <a:spcPts val="3060"/>
              </a:lnSpc>
              <a:spcBef>
                <a:spcPts val="281"/>
              </a:spcBef>
              <a:buChar char="•"/>
              <a:tabLst>
                <a:tab pos="294046" algn="l"/>
              </a:tabLst>
            </a:pPr>
            <a:r>
              <a:rPr sz="2646" dirty="0">
                <a:latin typeface="Arial"/>
                <a:cs typeface="Arial"/>
              </a:rPr>
              <a:t>Multiple</a:t>
            </a:r>
            <a:r>
              <a:rPr sz="2646" spc="-37" dirty="0">
                <a:latin typeface="Arial"/>
                <a:cs typeface="Arial"/>
              </a:rPr>
              <a:t> </a:t>
            </a:r>
            <a:r>
              <a:rPr sz="2646" dirty="0">
                <a:latin typeface="Arial"/>
                <a:cs typeface="Arial"/>
              </a:rPr>
              <a:t>VGG</a:t>
            </a:r>
            <a:r>
              <a:rPr sz="2646" spc="-37" dirty="0">
                <a:latin typeface="Arial"/>
                <a:cs typeface="Arial"/>
              </a:rPr>
              <a:t> </a:t>
            </a:r>
            <a:r>
              <a:rPr sz="2646" spc="-8" dirty="0">
                <a:latin typeface="Arial"/>
                <a:cs typeface="Arial"/>
              </a:rPr>
              <a:t>blocks </a:t>
            </a:r>
            <a:r>
              <a:rPr sz="2646" dirty="0">
                <a:latin typeface="Arial"/>
                <a:cs typeface="Arial"/>
              </a:rPr>
              <a:t>followed</a:t>
            </a:r>
            <a:r>
              <a:rPr sz="2646" spc="-21" dirty="0">
                <a:latin typeface="Arial"/>
                <a:cs typeface="Arial"/>
              </a:rPr>
              <a:t> </a:t>
            </a:r>
            <a:r>
              <a:rPr sz="2646" dirty="0">
                <a:latin typeface="Arial"/>
                <a:cs typeface="Arial"/>
              </a:rPr>
              <a:t>by</a:t>
            </a:r>
            <a:r>
              <a:rPr sz="2646" spc="-21" dirty="0">
                <a:latin typeface="Arial"/>
                <a:cs typeface="Arial"/>
              </a:rPr>
              <a:t> </a:t>
            </a:r>
            <a:r>
              <a:rPr sz="2646" spc="-8" dirty="0">
                <a:latin typeface="Arial"/>
                <a:cs typeface="Arial"/>
              </a:rPr>
              <a:t>dense layers</a:t>
            </a:r>
            <a:endParaRPr sz="2646">
              <a:latin typeface="Arial"/>
              <a:cs typeface="Arial"/>
            </a:endParaRPr>
          </a:p>
          <a:p>
            <a:pPr marL="294046" marR="4201" indent="-283544">
              <a:lnSpc>
                <a:spcPts val="3060"/>
              </a:lnSpc>
              <a:spcBef>
                <a:spcPts val="633"/>
              </a:spcBef>
              <a:buChar char="•"/>
              <a:tabLst>
                <a:tab pos="294046" algn="l"/>
              </a:tabLst>
            </a:pPr>
            <a:r>
              <a:rPr sz="2646" spc="-17" dirty="0">
                <a:latin typeface="Arial"/>
                <a:cs typeface="Arial"/>
              </a:rPr>
              <a:t>Vary</a:t>
            </a:r>
            <a:r>
              <a:rPr sz="2646" spc="-83" dirty="0">
                <a:latin typeface="Arial"/>
                <a:cs typeface="Arial"/>
              </a:rPr>
              <a:t> </a:t>
            </a:r>
            <a:r>
              <a:rPr sz="2646" dirty="0">
                <a:latin typeface="Arial"/>
                <a:cs typeface="Arial"/>
              </a:rPr>
              <a:t>the</a:t>
            </a:r>
            <a:r>
              <a:rPr sz="2646" spc="-79" dirty="0">
                <a:latin typeface="Arial"/>
                <a:cs typeface="Arial"/>
              </a:rPr>
              <a:t> </a:t>
            </a:r>
            <a:r>
              <a:rPr sz="2646" spc="-8" dirty="0">
                <a:latin typeface="Arial"/>
                <a:cs typeface="Arial"/>
              </a:rPr>
              <a:t>repeating </a:t>
            </a:r>
            <a:r>
              <a:rPr sz="2646" dirty="0">
                <a:latin typeface="Arial"/>
                <a:cs typeface="Arial"/>
              </a:rPr>
              <a:t>number</a:t>
            </a:r>
            <a:r>
              <a:rPr sz="2646" spc="-17" dirty="0">
                <a:latin typeface="Arial"/>
                <a:cs typeface="Arial"/>
              </a:rPr>
              <a:t> </a:t>
            </a:r>
            <a:r>
              <a:rPr sz="2646" dirty="0">
                <a:latin typeface="Arial"/>
                <a:cs typeface="Arial"/>
              </a:rPr>
              <a:t>to</a:t>
            </a:r>
            <a:r>
              <a:rPr sz="2646" spc="-4" dirty="0">
                <a:latin typeface="Arial"/>
                <a:cs typeface="Arial"/>
              </a:rPr>
              <a:t> </a:t>
            </a:r>
            <a:r>
              <a:rPr sz="2646" dirty="0">
                <a:latin typeface="Arial"/>
                <a:cs typeface="Arial"/>
              </a:rPr>
              <a:t>get</a:t>
            </a:r>
            <a:r>
              <a:rPr sz="2646" spc="-4" dirty="0">
                <a:latin typeface="Arial"/>
                <a:cs typeface="Arial"/>
              </a:rPr>
              <a:t> </a:t>
            </a:r>
            <a:r>
              <a:rPr sz="2646" spc="-8" dirty="0">
                <a:latin typeface="Arial"/>
                <a:cs typeface="Arial"/>
              </a:rPr>
              <a:t>different </a:t>
            </a:r>
            <a:r>
              <a:rPr sz="2646" dirty="0">
                <a:latin typeface="Arial"/>
                <a:cs typeface="Arial"/>
              </a:rPr>
              <a:t>architectures,</a:t>
            </a:r>
            <a:r>
              <a:rPr sz="2646" spc="-25" dirty="0">
                <a:latin typeface="Arial"/>
                <a:cs typeface="Arial"/>
              </a:rPr>
              <a:t> </a:t>
            </a:r>
            <a:r>
              <a:rPr sz="2646" dirty="0">
                <a:latin typeface="Arial"/>
                <a:cs typeface="Arial"/>
              </a:rPr>
              <a:t>such</a:t>
            </a:r>
            <a:r>
              <a:rPr sz="2646" spc="-17" dirty="0">
                <a:latin typeface="Arial"/>
                <a:cs typeface="Arial"/>
              </a:rPr>
              <a:t> </a:t>
            </a:r>
            <a:r>
              <a:rPr sz="2646" spc="-21" dirty="0">
                <a:latin typeface="Arial"/>
                <a:cs typeface="Arial"/>
              </a:rPr>
              <a:t>as VGG-</a:t>
            </a:r>
            <a:r>
              <a:rPr sz="2646" dirty="0">
                <a:latin typeface="Arial"/>
                <a:cs typeface="Arial"/>
              </a:rPr>
              <a:t>16,</a:t>
            </a:r>
            <a:r>
              <a:rPr sz="2646" spc="25" dirty="0">
                <a:latin typeface="Arial"/>
                <a:cs typeface="Arial"/>
              </a:rPr>
              <a:t> </a:t>
            </a:r>
            <a:r>
              <a:rPr sz="2646" spc="-21" dirty="0">
                <a:latin typeface="Arial"/>
                <a:cs typeface="Arial"/>
              </a:rPr>
              <a:t>VGG-</a:t>
            </a:r>
            <a:r>
              <a:rPr sz="2646" dirty="0">
                <a:latin typeface="Arial"/>
                <a:cs typeface="Arial"/>
              </a:rPr>
              <a:t>19,</a:t>
            </a:r>
            <a:r>
              <a:rPr sz="2646" spc="29" dirty="0">
                <a:latin typeface="Arial"/>
                <a:cs typeface="Arial"/>
              </a:rPr>
              <a:t> </a:t>
            </a:r>
            <a:r>
              <a:rPr sz="2646" spc="-41" dirty="0">
                <a:latin typeface="Arial"/>
                <a:cs typeface="Arial"/>
              </a:rPr>
              <a:t>…</a:t>
            </a:r>
            <a:endParaRPr sz="2646">
              <a:latin typeface="Arial"/>
              <a:cs typeface="Arial"/>
            </a:endParaRPr>
          </a:p>
        </p:txBody>
      </p:sp>
      <p:sp>
        <p:nvSpPr>
          <p:cNvPr id="3" name="object 3"/>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1649281">
              <a:lnSpc>
                <a:spcPct val="100000"/>
              </a:lnSpc>
              <a:spcBef>
                <a:spcPts val="83"/>
              </a:spcBef>
            </a:pPr>
            <a:r>
              <a:rPr dirty="0">
                <a:latin typeface="Arial"/>
                <a:cs typeface="Arial"/>
              </a:rPr>
              <a:t>VGG</a:t>
            </a:r>
            <a:r>
              <a:rPr spc="-244" dirty="0">
                <a:latin typeface="Arial"/>
                <a:cs typeface="Arial"/>
              </a:rPr>
              <a:t> </a:t>
            </a:r>
            <a:r>
              <a:rPr spc="-8" dirty="0">
                <a:latin typeface="Arial"/>
                <a:cs typeface="Arial"/>
              </a:rPr>
              <a:t>Architecture</a:t>
            </a:r>
          </a:p>
        </p:txBody>
      </p:sp>
      <p:sp>
        <p:nvSpPr>
          <p:cNvPr id="4" name="object 4"/>
          <p:cNvSpPr txBox="1"/>
          <p:nvPr/>
        </p:nvSpPr>
        <p:spPr>
          <a:xfrm>
            <a:off x="7581997" y="971438"/>
            <a:ext cx="903613" cy="316072"/>
          </a:xfrm>
          <a:prstGeom prst="rect">
            <a:avLst/>
          </a:prstGeom>
        </p:spPr>
        <p:txBody>
          <a:bodyPr vert="horz" wrap="square" lIns="0" tIns="10501" rIns="0" bIns="0" rtlCol="0">
            <a:spAutoFit/>
          </a:bodyPr>
          <a:lstStyle/>
          <a:p>
            <a:pPr marL="10502">
              <a:spcBef>
                <a:spcPts val="83"/>
              </a:spcBef>
            </a:pPr>
            <a:r>
              <a:rPr sz="1985" spc="-8" dirty="0">
                <a:solidFill>
                  <a:srgbClr val="474746"/>
                </a:solidFill>
                <a:latin typeface="Arial"/>
                <a:cs typeface="Arial"/>
              </a:rPr>
              <a:t>AlexNet</a:t>
            </a:r>
            <a:endParaRPr sz="1985">
              <a:latin typeface="Arial"/>
              <a:cs typeface="Arial"/>
            </a:endParaRPr>
          </a:p>
        </p:txBody>
      </p:sp>
      <p:sp>
        <p:nvSpPr>
          <p:cNvPr id="5" name="object 5"/>
          <p:cNvSpPr txBox="1"/>
          <p:nvPr/>
        </p:nvSpPr>
        <p:spPr>
          <a:xfrm>
            <a:off x="5831606" y="1075034"/>
            <a:ext cx="581231" cy="316072"/>
          </a:xfrm>
          <a:prstGeom prst="rect">
            <a:avLst/>
          </a:prstGeom>
        </p:spPr>
        <p:txBody>
          <a:bodyPr vert="horz" wrap="square" lIns="0" tIns="10501" rIns="0" bIns="0" rtlCol="0">
            <a:spAutoFit/>
          </a:bodyPr>
          <a:lstStyle/>
          <a:p>
            <a:pPr marL="10502">
              <a:spcBef>
                <a:spcPts val="83"/>
              </a:spcBef>
            </a:pPr>
            <a:r>
              <a:rPr sz="1985" spc="-21" dirty="0">
                <a:solidFill>
                  <a:srgbClr val="474746"/>
                </a:solidFill>
                <a:latin typeface="Arial"/>
                <a:cs typeface="Arial"/>
              </a:rPr>
              <a:t>VGG</a:t>
            </a:r>
            <a:endParaRPr sz="1985">
              <a:latin typeface="Arial"/>
              <a:cs typeface="Arial"/>
            </a:endParaRPr>
          </a:p>
        </p:txBody>
      </p:sp>
      <p:pic>
        <p:nvPicPr>
          <p:cNvPr id="6" name="object 6"/>
          <p:cNvPicPr/>
          <p:nvPr/>
        </p:nvPicPr>
        <p:blipFill>
          <a:blip r:embed="rId2" cstate="print"/>
          <a:stretch>
            <a:fillRect/>
          </a:stretch>
        </p:blipFill>
        <p:spPr>
          <a:xfrm>
            <a:off x="7302128" y="1380228"/>
            <a:ext cx="1244475" cy="3541979"/>
          </a:xfrm>
          <a:prstGeom prst="rect">
            <a:avLst/>
          </a:prstGeom>
        </p:spPr>
      </p:pic>
      <p:pic>
        <p:nvPicPr>
          <p:cNvPr id="7" name="object 7"/>
          <p:cNvPicPr/>
          <p:nvPr/>
        </p:nvPicPr>
        <p:blipFill>
          <a:blip r:embed="rId3" cstate="print"/>
          <a:stretch>
            <a:fillRect/>
          </a:stretch>
        </p:blipFill>
        <p:spPr>
          <a:xfrm>
            <a:off x="5389697" y="1380119"/>
            <a:ext cx="1801983" cy="3510760"/>
          </a:xfrm>
          <a:prstGeom prst="rect">
            <a:avLst/>
          </a:prstGeom>
        </p:spPr>
      </p:pic>
      <p:sp>
        <p:nvSpPr>
          <p:cNvPr id="8" name="object 8"/>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8100">
              <a:lnSpc>
                <a:spcPts val="1485"/>
              </a:lnSpc>
            </a:pPr>
            <a:fld id="{81D60167-4931-47E6-BA6A-407CBD079E47}" type="slidenum">
              <a:rPr lang="en-US" spc="-25" smtClean="0"/>
              <a:pPr marL="38100">
                <a:lnSpc>
                  <a:spcPts val="1485"/>
                </a:lnSpc>
              </a:pPr>
              <a:t>53</a:t>
            </a:fld>
            <a:endParaRPr spc="-21"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75096" y="1056605"/>
            <a:ext cx="6259131" cy="3874251"/>
          </a:xfrm>
          <a:prstGeom prst="rect">
            <a:avLst/>
          </a:prstGeom>
        </p:spPr>
        <p:txBody>
          <a:bodyPr vert="horz" wrap="square" lIns="0" tIns="85583" rIns="0" bIns="0" rtlCol="0">
            <a:spAutoFit/>
          </a:bodyPr>
          <a:lstStyle/>
          <a:p>
            <a:pPr marL="293521" indent="-283019">
              <a:spcBef>
                <a:spcPts val="674"/>
              </a:spcBef>
              <a:buChar char="•"/>
              <a:tabLst>
                <a:tab pos="293521" algn="l"/>
              </a:tabLst>
            </a:pPr>
            <a:r>
              <a:rPr sz="2646" dirty="0">
                <a:latin typeface="Arial"/>
                <a:cs typeface="Arial"/>
              </a:rPr>
              <a:t>LeNet</a:t>
            </a:r>
            <a:r>
              <a:rPr sz="2646" spc="-25" dirty="0">
                <a:latin typeface="Arial"/>
                <a:cs typeface="Arial"/>
              </a:rPr>
              <a:t> </a:t>
            </a:r>
            <a:r>
              <a:rPr sz="2646" spc="-8" dirty="0">
                <a:latin typeface="Arial"/>
                <a:cs typeface="Arial"/>
              </a:rPr>
              <a:t>(1995)</a:t>
            </a:r>
            <a:endParaRPr sz="2646">
              <a:latin typeface="Arial"/>
              <a:cs typeface="Arial"/>
            </a:endParaRPr>
          </a:p>
          <a:p>
            <a:pPr marL="657927" lvl="1" indent="-269367">
              <a:spcBef>
                <a:spcPts val="517"/>
              </a:spcBef>
              <a:buChar char="–"/>
              <a:tabLst>
                <a:tab pos="657927" algn="l"/>
              </a:tabLst>
            </a:pPr>
            <a:r>
              <a:rPr sz="2315" dirty="0">
                <a:latin typeface="Arial"/>
                <a:cs typeface="Arial"/>
              </a:rPr>
              <a:t>2</a:t>
            </a:r>
            <a:r>
              <a:rPr sz="2315" spc="-58" dirty="0">
                <a:latin typeface="Arial"/>
                <a:cs typeface="Arial"/>
              </a:rPr>
              <a:t> </a:t>
            </a:r>
            <a:r>
              <a:rPr sz="2315" dirty="0">
                <a:latin typeface="Arial"/>
                <a:cs typeface="Arial"/>
              </a:rPr>
              <a:t>convolution</a:t>
            </a:r>
            <a:r>
              <a:rPr sz="2315" spc="-58" dirty="0">
                <a:latin typeface="Arial"/>
                <a:cs typeface="Arial"/>
              </a:rPr>
              <a:t> </a:t>
            </a:r>
            <a:r>
              <a:rPr sz="2315" dirty="0">
                <a:latin typeface="Arial"/>
                <a:cs typeface="Arial"/>
              </a:rPr>
              <a:t>+</a:t>
            </a:r>
            <a:r>
              <a:rPr sz="2315" spc="-54" dirty="0">
                <a:latin typeface="Arial"/>
                <a:cs typeface="Arial"/>
              </a:rPr>
              <a:t> </a:t>
            </a:r>
            <a:r>
              <a:rPr sz="2315" dirty="0">
                <a:latin typeface="Arial"/>
                <a:cs typeface="Arial"/>
              </a:rPr>
              <a:t>pooling</a:t>
            </a:r>
            <a:r>
              <a:rPr sz="2315" spc="-58" dirty="0">
                <a:latin typeface="Arial"/>
                <a:cs typeface="Arial"/>
              </a:rPr>
              <a:t> </a:t>
            </a:r>
            <a:r>
              <a:rPr sz="2315" spc="-8" dirty="0">
                <a:latin typeface="Arial"/>
                <a:cs typeface="Arial"/>
              </a:rPr>
              <a:t>layers</a:t>
            </a:r>
            <a:endParaRPr sz="2315">
              <a:latin typeface="Arial"/>
              <a:cs typeface="Arial"/>
            </a:endParaRPr>
          </a:p>
          <a:p>
            <a:pPr marL="657927" lvl="1" indent="-269367">
              <a:spcBef>
                <a:spcPts val="504"/>
              </a:spcBef>
              <a:buChar char="–"/>
              <a:tabLst>
                <a:tab pos="657927" algn="l"/>
              </a:tabLst>
            </a:pPr>
            <a:r>
              <a:rPr sz="2315" dirty="0">
                <a:latin typeface="Arial"/>
                <a:cs typeface="Arial"/>
              </a:rPr>
              <a:t>2</a:t>
            </a:r>
            <a:r>
              <a:rPr sz="2315" spc="-54" dirty="0">
                <a:latin typeface="Arial"/>
                <a:cs typeface="Arial"/>
              </a:rPr>
              <a:t> </a:t>
            </a:r>
            <a:r>
              <a:rPr sz="2315" dirty="0">
                <a:latin typeface="Arial"/>
                <a:cs typeface="Arial"/>
              </a:rPr>
              <a:t>hidden</a:t>
            </a:r>
            <a:r>
              <a:rPr sz="2315" spc="-50" dirty="0">
                <a:latin typeface="Arial"/>
                <a:cs typeface="Arial"/>
              </a:rPr>
              <a:t> </a:t>
            </a:r>
            <a:r>
              <a:rPr sz="2315" dirty="0">
                <a:latin typeface="Arial"/>
                <a:cs typeface="Arial"/>
              </a:rPr>
              <a:t>dense</a:t>
            </a:r>
            <a:r>
              <a:rPr sz="2315" spc="-50" dirty="0">
                <a:latin typeface="Arial"/>
                <a:cs typeface="Arial"/>
              </a:rPr>
              <a:t> </a:t>
            </a:r>
            <a:r>
              <a:rPr sz="2315" spc="-8" dirty="0">
                <a:latin typeface="Arial"/>
                <a:cs typeface="Arial"/>
              </a:rPr>
              <a:t>layers</a:t>
            </a:r>
            <a:endParaRPr sz="2315">
              <a:latin typeface="Arial"/>
              <a:cs typeface="Arial"/>
            </a:endParaRPr>
          </a:p>
          <a:p>
            <a:pPr marL="293521" indent="-283019">
              <a:spcBef>
                <a:spcPts val="504"/>
              </a:spcBef>
              <a:buChar char="•"/>
              <a:tabLst>
                <a:tab pos="293521" algn="l"/>
              </a:tabLst>
            </a:pPr>
            <a:r>
              <a:rPr sz="2646" spc="-8" dirty="0">
                <a:latin typeface="Arial"/>
                <a:cs typeface="Arial"/>
              </a:rPr>
              <a:t>AlexNet</a:t>
            </a:r>
            <a:endParaRPr sz="2646">
              <a:latin typeface="Arial"/>
              <a:cs typeface="Arial"/>
            </a:endParaRPr>
          </a:p>
          <a:p>
            <a:pPr marL="657927" lvl="1" indent="-269367">
              <a:spcBef>
                <a:spcPts val="517"/>
              </a:spcBef>
              <a:buChar char="–"/>
              <a:tabLst>
                <a:tab pos="657927" algn="l"/>
              </a:tabLst>
            </a:pPr>
            <a:r>
              <a:rPr sz="2315" dirty="0">
                <a:latin typeface="Arial"/>
                <a:cs typeface="Arial"/>
              </a:rPr>
              <a:t>Bigger</a:t>
            </a:r>
            <a:r>
              <a:rPr sz="2315" spc="-62" dirty="0">
                <a:latin typeface="Arial"/>
                <a:cs typeface="Arial"/>
              </a:rPr>
              <a:t> </a:t>
            </a:r>
            <a:r>
              <a:rPr sz="2315" dirty="0">
                <a:latin typeface="Arial"/>
                <a:cs typeface="Arial"/>
              </a:rPr>
              <a:t>and</a:t>
            </a:r>
            <a:r>
              <a:rPr sz="2315" spc="-54" dirty="0">
                <a:latin typeface="Arial"/>
                <a:cs typeface="Arial"/>
              </a:rPr>
              <a:t> </a:t>
            </a:r>
            <a:r>
              <a:rPr sz="2315" dirty="0">
                <a:latin typeface="Arial"/>
                <a:cs typeface="Arial"/>
              </a:rPr>
              <a:t>deeper</a:t>
            </a:r>
            <a:r>
              <a:rPr sz="2315" spc="-58" dirty="0">
                <a:latin typeface="Arial"/>
                <a:cs typeface="Arial"/>
              </a:rPr>
              <a:t> </a:t>
            </a:r>
            <a:r>
              <a:rPr sz="2315" spc="-8" dirty="0">
                <a:latin typeface="Arial"/>
                <a:cs typeface="Arial"/>
              </a:rPr>
              <a:t>LeNet</a:t>
            </a:r>
            <a:endParaRPr sz="2315">
              <a:latin typeface="Arial"/>
              <a:cs typeface="Arial"/>
            </a:endParaRPr>
          </a:p>
          <a:p>
            <a:pPr marL="657927" lvl="1" indent="-269367">
              <a:spcBef>
                <a:spcPts val="500"/>
              </a:spcBef>
              <a:buChar char="–"/>
              <a:tabLst>
                <a:tab pos="657927" algn="l"/>
              </a:tabLst>
            </a:pPr>
            <a:r>
              <a:rPr sz="2315" dirty="0">
                <a:latin typeface="Arial"/>
                <a:cs typeface="Arial"/>
              </a:rPr>
              <a:t>ReLu,</a:t>
            </a:r>
            <a:r>
              <a:rPr sz="2315" spc="-74" dirty="0">
                <a:latin typeface="Arial"/>
                <a:cs typeface="Arial"/>
              </a:rPr>
              <a:t> </a:t>
            </a:r>
            <a:r>
              <a:rPr sz="2315" dirty="0">
                <a:latin typeface="Arial"/>
                <a:cs typeface="Arial"/>
              </a:rPr>
              <a:t>Dropout,</a:t>
            </a:r>
            <a:r>
              <a:rPr sz="2315" spc="-74" dirty="0">
                <a:latin typeface="Arial"/>
                <a:cs typeface="Arial"/>
              </a:rPr>
              <a:t> </a:t>
            </a:r>
            <a:r>
              <a:rPr sz="2315" spc="-8" dirty="0">
                <a:latin typeface="Arial"/>
                <a:cs typeface="Arial"/>
              </a:rPr>
              <a:t>preprocessing</a:t>
            </a:r>
            <a:endParaRPr sz="2315">
              <a:latin typeface="Arial"/>
              <a:cs typeface="Arial"/>
            </a:endParaRPr>
          </a:p>
          <a:p>
            <a:pPr marL="293521" indent="-283019">
              <a:spcBef>
                <a:spcPts val="504"/>
              </a:spcBef>
              <a:buChar char="•"/>
              <a:tabLst>
                <a:tab pos="293521" algn="l"/>
              </a:tabLst>
            </a:pPr>
            <a:r>
              <a:rPr sz="2646" spc="-21" dirty="0">
                <a:latin typeface="Arial"/>
                <a:cs typeface="Arial"/>
              </a:rPr>
              <a:t>VGG</a:t>
            </a:r>
            <a:endParaRPr sz="2646">
              <a:latin typeface="Arial"/>
              <a:cs typeface="Arial"/>
            </a:endParaRPr>
          </a:p>
          <a:p>
            <a:pPr marL="657402" marR="4201" lvl="1" indent="-269367">
              <a:lnSpc>
                <a:spcPts val="2646"/>
              </a:lnSpc>
              <a:spcBef>
                <a:spcPts val="719"/>
              </a:spcBef>
              <a:buChar char="–"/>
              <a:tabLst>
                <a:tab pos="658452" algn="l"/>
              </a:tabLst>
            </a:pPr>
            <a:r>
              <a:rPr sz="2315" dirty="0">
                <a:latin typeface="Arial"/>
                <a:cs typeface="Arial"/>
              </a:rPr>
              <a:t>Bigger</a:t>
            </a:r>
            <a:r>
              <a:rPr sz="2315" spc="-87" dirty="0">
                <a:latin typeface="Arial"/>
                <a:cs typeface="Arial"/>
              </a:rPr>
              <a:t> </a:t>
            </a:r>
            <a:r>
              <a:rPr sz="2315" dirty="0">
                <a:latin typeface="Arial"/>
                <a:cs typeface="Arial"/>
              </a:rPr>
              <a:t>and</a:t>
            </a:r>
            <a:r>
              <a:rPr sz="2315" spc="-58" dirty="0">
                <a:latin typeface="Arial"/>
                <a:cs typeface="Arial"/>
              </a:rPr>
              <a:t> </a:t>
            </a:r>
            <a:r>
              <a:rPr sz="2315" spc="-8" dirty="0">
                <a:latin typeface="Arial"/>
                <a:cs typeface="Arial"/>
              </a:rPr>
              <a:t>deeper</a:t>
            </a:r>
            <a:r>
              <a:rPr sz="2315" spc="-153" dirty="0">
                <a:latin typeface="Arial"/>
                <a:cs typeface="Arial"/>
              </a:rPr>
              <a:t> </a:t>
            </a:r>
            <a:r>
              <a:rPr sz="2315" dirty="0">
                <a:latin typeface="Arial"/>
                <a:cs typeface="Arial"/>
              </a:rPr>
              <a:t>AlexNet</a:t>
            </a:r>
            <a:r>
              <a:rPr sz="2315" spc="-62" dirty="0">
                <a:latin typeface="Arial"/>
                <a:cs typeface="Arial"/>
              </a:rPr>
              <a:t> </a:t>
            </a:r>
            <a:r>
              <a:rPr sz="2315" dirty="0">
                <a:latin typeface="Arial"/>
                <a:cs typeface="Arial"/>
              </a:rPr>
              <a:t>(repeated</a:t>
            </a:r>
            <a:r>
              <a:rPr sz="2315" spc="-58" dirty="0">
                <a:latin typeface="Arial"/>
                <a:cs typeface="Arial"/>
              </a:rPr>
              <a:t> </a:t>
            </a:r>
            <a:r>
              <a:rPr sz="2315" spc="-21" dirty="0">
                <a:latin typeface="Arial"/>
                <a:cs typeface="Arial"/>
              </a:rPr>
              <a:t>VGG 	</a:t>
            </a:r>
            <a:r>
              <a:rPr sz="2315" spc="-8" dirty="0">
                <a:latin typeface="Arial"/>
                <a:cs typeface="Arial"/>
              </a:rPr>
              <a:t>blocks)</a:t>
            </a:r>
            <a:endParaRPr sz="2315">
              <a:latin typeface="Arial"/>
              <a:cs typeface="Arial"/>
            </a:endParaRPr>
          </a:p>
        </p:txBody>
      </p:sp>
      <p:sp>
        <p:nvSpPr>
          <p:cNvPr id="4" name="object 4"/>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8100">
              <a:lnSpc>
                <a:spcPts val="1485"/>
              </a:lnSpc>
            </a:pPr>
            <a:fld id="{81D60167-4931-47E6-BA6A-407CBD079E47}" type="slidenum">
              <a:rPr lang="en-US" spc="-25" smtClean="0"/>
              <a:pPr marL="38100">
                <a:lnSpc>
                  <a:spcPts val="1485"/>
                </a:lnSpc>
              </a:pPr>
              <a:t>54</a:t>
            </a:fld>
            <a:endParaRPr spc="-21" dirty="0"/>
          </a:p>
        </p:txBody>
      </p:sp>
      <p:sp>
        <p:nvSpPr>
          <p:cNvPr id="3" name="object 3"/>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2102426">
              <a:lnSpc>
                <a:spcPct val="100000"/>
              </a:lnSpc>
              <a:spcBef>
                <a:spcPts val="83"/>
              </a:spcBef>
            </a:pPr>
            <a:r>
              <a:rPr dirty="0">
                <a:latin typeface="Arial"/>
                <a:cs typeface="Arial"/>
              </a:rPr>
              <a:t>Going</a:t>
            </a:r>
            <a:r>
              <a:rPr spc="-136" dirty="0">
                <a:latin typeface="Arial"/>
                <a:cs typeface="Arial"/>
              </a:rPr>
              <a:t> </a:t>
            </a:r>
            <a:r>
              <a:rPr spc="-8" dirty="0">
                <a:latin typeface="Arial"/>
                <a:cs typeface="Arial"/>
              </a:rPr>
              <a:t>Deeper</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17607" y="693067"/>
            <a:ext cx="5966769" cy="774018"/>
          </a:xfrm>
          <a:prstGeom prst="rect">
            <a:avLst/>
          </a:prstGeom>
        </p:spPr>
        <p:txBody>
          <a:bodyPr vert="horz" wrap="square" lIns="0" tIns="10501" rIns="0" bIns="0" rtlCol="0">
            <a:spAutoFit/>
          </a:bodyPr>
          <a:lstStyle/>
          <a:p>
            <a:pPr marL="10502">
              <a:lnSpc>
                <a:spcPct val="100000"/>
              </a:lnSpc>
              <a:spcBef>
                <a:spcPts val="83"/>
              </a:spcBef>
            </a:pPr>
            <a:r>
              <a:rPr sz="4961" dirty="0">
                <a:latin typeface="Tahoma"/>
                <a:cs typeface="Tahoma"/>
              </a:rPr>
              <a:t>Residual</a:t>
            </a:r>
            <a:r>
              <a:rPr sz="4961" spc="-83" dirty="0">
                <a:latin typeface="Tahoma"/>
                <a:cs typeface="Tahoma"/>
              </a:rPr>
              <a:t> </a:t>
            </a:r>
            <a:r>
              <a:rPr sz="4961" spc="-8" dirty="0">
                <a:latin typeface="Tahoma"/>
                <a:cs typeface="Tahoma"/>
              </a:rPr>
              <a:t>Networks</a:t>
            </a:r>
            <a:endParaRPr sz="4961" dirty="0">
              <a:latin typeface="Tahoma"/>
              <a:cs typeface="Tahoma"/>
            </a:endParaRPr>
          </a:p>
        </p:txBody>
      </p:sp>
      <p:sp>
        <p:nvSpPr>
          <p:cNvPr id="3" name="object 3"/>
          <p:cNvSpPr txBox="1"/>
          <p:nvPr/>
        </p:nvSpPr>
        <p:spPr>
          <a:xfrm>
            <a:off x="3151716" y="2648357"/>
            <a:ext cx="3077849" cy="366855"/>
          </a:xfrm>
          <a:prstGeom prst="rect">
            <a:avLst/>
          </a:prstGeom>
        </p:spPr>
        <p:txBody>
          <a:bodyPr vert="horz" wrap="square" lIns="0" tIns="10501" rIns="0" bIns="0" rtlCol="0">
            <a:spAutoFit/>
          </a:bodyPr>
          <a:lstStyle/>
          <a:p>
            <a:pPr marL="10502">
              <a:spcBef>
                <a:spcPts val="83"/>
              </a:spcBef>
            </a:pPr>
            <a:r>
              <a:rPr sz="2315" dirty="0">
                <a:latin typeface="Arial"/>
                <a:cs typeface="Arial"/>
              </a:rPr>
              <a:t>Best</a:t>
            </a:r>
            <a:r>
              <a:rPr sz="2315" spc="-45" dirty="0">
                <a:latin typeface="Arial"/>
                <a:cs typeface="Arial"/>
              </a:rPr>
              <a:t> </a:t>
            </a:r>
            <a:r>
              <a:rPr sz="2315" dirty="0">
                <a:latin typeface="Arial"/>
                <a:cs typeface="Arial"/>
              </a:rPr>
              <a:t>paper</a:t>
            </a:r>
            <a:r>
              <a:rPr sz="2315" spc="-41" dirty="0">
                <a:latin typeface="Arial"/>
                <a:cs typeface="Arial"/>
              </a:rPr>
              <a:t> </a:t>
            </a:r>
            <a:r>
              <a:rPr sz="2315" dirty="0">
                <a:latin typeface="Arial"/>
                <a:cs typeface="Arial"/>
              </a:rPr>
              <a:t>CVPR</a:t>
            </a:r>
            <a:r>
              <a:rPr sz="2315" spc="-41" dirty="0">
                <a:latin typeface="Arial"/>
                <a:cs typeface="Arial"/>
              </a:rPr>
              <a:t> </a:t>
            </a:r>
            <a:r>
              <a:rPr sz="2315" spc="-17" dirty="0">
                <a:latin typeface="Arial"/>
                <a:cs typeface="Arial"/>
              </a:rPr>
              <a:t>2016</a:t>
            </a:r>
            <a:endParaRPr sz="2315" dirty="0">
              <a:latin typeface="Arial"/>
              <a:cs typeface="Arial"/>
            </a:endParaRPr>
          </a:p>
        </p:txBody>
      </p:sp>
      <p:sp>
        <p:nvSpPr>
          <p:cNvPr id="5" name="TextBox 4">
            <a:extLst>
              <a:ext uri="{FF2B5EF4-FFF2-40B4-BE49-F238E27FC236}">
                <a16:creationId xmlns:a16="http://schemas.microsoft.com/office/drawing/2014/main" id="{2285FB1C-F3AB-3421-1DFD-C8E2CA8216AD}"/>
              </a:ext>
            </a:extLst>
          </p:cNvPr>
          <p:cNvSpPr txBox="1"/>
          <p:nvPr/>
        </p:nvSpPr>
        <p:spPr>
          <a:xfrm>
            <a:off x="1639570" y="3475125"/>
            <a:ext cx="6848854" cy="1466171"/>
          </a:xfrm>
          <a:prstGeom prst="rect">
            <a:avLst/>
          </a:prstGeom>
          <a:noFill/>
        </p:spPr>
        <p:txBody>
          <a:bodyPr wrap="square">
            <a:spAutoFit/>
          </a:bodyPr>
          <a:lstStyle/>
          <a:p>
            <a:r>
              <a:rPr lang="en-US" sz="1488" dirty="0"/>
              <a:t>Types of </a:t>
            </a:r>
            <a:r>
              <a:rPr lang="en-US" sz="1488" dirty="0" err="1"/>
              <a:t>ResNets</a:t>
            </a:r>
            <a:r>
              <a:rPr lang="en-US" sz="1488" dirty="0"/>
              <a:t>:</a:t>
            </a:r>
          </a:p>
          <a:p>
            <a:endParaRPr lang="en-US" sz="1488" dirty="0"/>
          </a:p>
          <a:p>
            <a:r>
              <a:rPr lang="en-US" sz="1488" dirty="0">
                <a:solidFill>
                  <a:srgbClr val="FF0000"/>
                </a:solidFill>
              </a:rPr>
              <a:t>1.ResNet18, 2. ResNet34, 3.ResNet50, 4. ResNet101, 5. ResNet152</a:t>
            </a:r>
          </a:p>
          <a:p>
            <a:endParaRPr lang="en-US" sz="1488" dirty="0"/>
          </a:p>
          <a:p>
            <a:endParaRPr lang="en-US" sz="1488" dirty="0"/>
          </a:p>
          <a:p>
            <a:r>
              <a:rPr lang="en-US" sz="1488" dirty="0"/>
              <a:t>Suffix number refers to the number of layers used in their network architecture.</a:t>
            </a:r>
          </a:p>
        </p:txBody>
      </p:sp>
      <p:sp>
        <p:nvSpPr>
          <p:cNvPr id="7" name="TextBox 6">
            <a:extLst>
              <a:ext uri="{FF2B5EF4-FFF2-40B4-BE49-F238E27FC236}">
                <a16:creationId xmlns:a16="http://schemas.microsoft.com/office/drawing/2014/main" id="{443F026A-3DBE-0726-AFC5-95AF579AFA86}"/>
              </a:ext>
            </a:extLst>
          </p:cNvPr>
          <p:cNvSpPr txBox="1"/>
          <p:nvPr/>
        </p:nvSpPr>
        <p:spPr>
          <a:xfrm>
            <a:off x="2989715" y="1703931"/>
            <a:ext cx="3780367" cy="550279"/>
          </a:xfrm>
          <a:prstGeom prst="rect">
            <a:avLst/>
          </a:prstGeom>
          <a:noFill/>
        </p:spPr>
        <p:txBody>
          <a:bodyPr wrap="square">
            <a:spAutoFit/>
          </a:bodyPr>
          <a:lstStyle/>
          <a:p>
            <a:r>
              <a:rPr lang="en-US" sz="1488" dirty="0"/>
              <a:t>A pre-trained Convolutional Neural Network for image classification and computer vision.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16833" y="1168267"/>
            <a:ext cx="3062621" cy="2546354"/>
          </a:xfrm>
          <a:prstGeom prst="rect">
            <a:avLst/>
          </a:prstGeom>
        </p:spPr>
        <p:txBody>
          <a:bodyPr vert="horz" wrap="square" lIns="0" tIns="35703" rIns="0" bIns="0" rtlCol="0">
            <a:spAutoFit/>
          </a:bodyPr>
          <a:lstStyle/>
          <a:p>
            <a:pPr marL="275668" marR="146498" indent="-265691">
              <a:lnSpc>
                <a:spcPts val="3060"/>
              </a:lnSpc>
              <a:spcBef>
                <a:spcPts val="281"/>
              </a:spcBef>
              <a:buChar char="•"/>
              <a:tabLst>
                <a:tab pos="275668" algn="l"/>
              </a:tabLst>
            </a:pPr>
            <a:r>
              <a:rPr sz="2646" dirty="0">
                <a:latin typeface="Arial"/>
                <a:cs typeface="Arial"/>
              </a:rPr>
              <a:t>Adding</a:t>
            </a:r>
            <a:r>
              <a:rPr sz="2646" spc="-8" dirty="0">
                <a:latin typeface="Arial"/>
                <a:cs typeface="Arial"/>
              </a:rPr>
              <a:t> </a:t>
            </a:r>
            <a:r>
              <a:rPr sz="2646" dirty="0">
                <a:latin typeface="Arial"/>
                <a:cs typeface="Arial"/>
              </a:rPr>
              <a:t>a</a:t>
            </a:r>
            <a:r>
              <a:rPr sz="2646" spc="-4" dirty="0">
                <a:latin typeface="Arial"/>
                <a:cs typeface="Arial"/>
              </a:rPr>
              <a:t> </a:t>
            </a:r>
            <a:r>
              <a:rPr sz="2646" spc="-17" dirty="0">
                <a:latin typeface="Arial"/>
                <a:cs typeface="Arial"/>
              </a:rPr>
              <a:t>layer </a:t>
            </a:r>
            <a:r>
              <a:rPr sz="2646" b="1" dirty="0">
                <a:latin typeface="Arial"/>
                <a:cs typeface="Arial"/>
              </a:rPr>
              <a:t>changes</a:t>
            </a:r>
            <a:r>
              <a:rPr sz="2646" b="1" spc="-4" dirty="0">
                <a:latin typeface="Arial"/>
                <a:cs typeface="Arial"/>
              </a:rPr>
              <a:t> </a:t>
            </a:r>
            <a:r>
              <a:rPr sz="2646" spc="-8" dirty="0">
                <a:latin typeface="Arial"/>
                <a:cs typeface="Arial"/>
              </a:rPr>
              <a:t>function class</a:t>
            </a:r>
            <a:endParaRPr sz="2646">
              <a:latin typeface="Arial"/>
              <a:cs typeface="Arial"/>
            </a:endParaRPr>
          </a:p>
          <a:p>
            <a:pPr marL="275668" indent="-265166">
              <a:lnSpc>
                <a:spcPts val="3117"/>
              </a:lnSpc>
              <a:spcBef>
                <a:spcPts val="434"/>
              </a:spcBef>
              <a:buChar char="•"/>
              <a:tabLst>
                <a:tab pos="275668" algn="l"/>
              </a:tabLst>
            </a:pPr>
            <a:r>
              <a:rPr sz="2646" dirty="0">
                <a:latin typeface="Arial"/>
                <a:cs typeface="Arial"/>
              </a:rPr>
              <a:t>We</a:t>
            </a:r>
            <a:r>
              <a:rPr sz="2646" spc="-29" dirty="0">
                <a:latin typeface="Arial"/>
                <a:cs typeface="Arial"/>
              </a:rPr>
              <a:t> </a:t>
            </a:r>
            <a:r>
              <a:rPr sz="2646" dirty="0">
                <a:latin typeface="Arial"/>
                <a:cs typeface="Arial"/>
              </a:rPr>
              <a:t>want</a:t>
            </a:r>
            <a:r>
              <a:rPr sz="2646" spc="-25" dirty="0">
                <a:latin typeface="Arial"/>
                <a:cs typeface="Arial"/>
              </a:rPr>
              <a:t> </a:t>
            </a:r>
            <a:r>
              <a:rPr sz="2646" dirty="0">
                <a:latin typeface="Arial"/>
                <a:cs typeface="Arial"/>
              </a:rPr>
              <a:t>to</a:t>
            </a:r>
            <a:r>
              <a:rPr sz="2646" spc="-21" dirty="0">
                <a:latin typeface="Arial"/>
                <a:cs typeface="Arial"/>
              </a:rPr>
              <a:t> </a:t>
            </a:r>
            <a:r>
              <a:rPr sz="2646" b="1" dirty="0">
                <a:latin typeface="Arial"/>
                <a:cs typeface="Arial"/>
              </a:rPr>
              <a:t>add</a:t>
            </a:r>
            <a:r>
              <a:rPr sz="2646" b="1" spc="-25" dirty="0">
                <a:latin typeface="Arial"/>
                <a:cs typeface="Arial"/>
              </a:rPr>
              <a:t> </a:t>
            </a:r>
            <a:r>
              <a:rPr sz="2646" b="1" spc="-21" dirty="0">
                <a:latin typeface="Arial"/>
                <a:cs typeface="Arial"/>
              </a:rPr>
              <a:t>to</a:t>
            </a:r>
            <a:endParaRPr sz="2646">
              <a:latin typeface="Arial"/>
              <a:cs typeface="Arial"/>
            </a:endParaRPr>
          </a:p>
          <a:p>
            <a:pPr marR="183779" algn="r">
              <a:lnSpc>
                <a:spcPts val="3117"/>
              </a:lnSpc>
            </a:pPr>
            <a:r>
              <a:rPr sz="2646" dirty="0">
                <a:latin typeface="Arial"/>
                <a:cs typeface="Arial"/>
              </a:rPr>
              <a:t>the</a:t>
            </a:r>
            <a:r>
              <a:rPr sz="2646" spc="-12" dirty="0">
                <a:latin typeface="Arial"/>
                <a:cs typeface="Arial"/>
              </a:rPr>
              <a:t> </a:t>
            </a:r>
            <a:r>
              <a:rPr sz="2646" dirty="0">
                <a:latin typeface="Arial"/>
                <a:cs typeface="Arial"/>
              </a:rPr>
              <a:t>function</a:t>
            </a:r>
            <a:r>
              <a:rPr sz="2646" spc="-8" dirty="0">
                <a:latin typeface="Arial"/>
                <a:cs typeface="Arial"/>
              </a:rPr>
              <a:t> </a:t>
            </a:r>
            <a:r>
              <a:rPr sz="2646" spc="-17" dirty="0">
                <a:latin typeface="Arial"/>
                <a:cs typeface="Arial"/>
              </a:rPr>
              <a:t>class</a:t>
            </a:r>
            <a:endParaRPr sz="2646">
              <a:latin typeface="Arial"/>
              <a:cs typeface="Arial"/>
            </a:endParaRPr>
          </a:p>
          <a:p>
            <a:pPr marL="265166" marR="119719" indent="-265166" algn="r">
              <a:spcBef>
                <a:spcPts val="521"/>
              </a:spcBef>
              <a:buChar char="•"/>
              <a:tabLst>
                <a:tab pos="265166" algn="l"/>
              </a:tabLst>
            </a:pPr>
            <a:r>
              <a:rPr sz="2646" spc="-25" dirty="0">
                <a:latin typeface="Arial"/>
                <a:cs typeface="Arial"/>
              </a:rPr>
              <a:t>‘Taylor</a:t>
            </a:r>
            <a:r>
              <a:rPr sz="2646" spc="-157" dirty="0">
                <a:latin typeface="Arial"/>
                <a:cs typeface="Arial"/>
              </a:rPr>
              <a:t> </a:t>
            </a:r>
            <a:r>
              <a:rPr sz="2646" spc="-8" dirty="0">
                <a:latin typeface="Arial"/>
                <a:cs typeface="Arial"/>
              </a:rPr>
              <a:t>expansion'</a:t>
            </a:r>
            <a:endParaRPr sz="2646">
              <a:latin typeface="Arial"/>
              <a:cs typeface="Arial"/>
            </a:endParaRPr>
          </a:p>
        </p:txBody>
      </p:sp>
      <p:sp>
        <p:nvSpPr>
          <p:cNvPr id="3" name="object 3"/>
          <p:cNvSpPr txBox="1"/>
          <p:nvPr/>
        </p:nvSpPr>
        <p:spPr>
          <a:xfrm>
            <a:off x="1682121" y="3660789"/>
            <a:ext cx="711969" cy="417766"/>
          </a:xfrm>
          <a:prstGeom prst="rect">
            <a:avLst/>
          </a:prstGeom>
        </p:spPr>
        <p:txBody>
          <a:bodyPr vert="horz" wrap="square" lIns="0" tIns="10501" rIns="0" bIns="0" rtlCol="0">
            <a:spAutoFit/>
          </a:bodyPr>
          <a:lstStyle/>
          <a:p>
            <a:pPr marL="10502">
              <a:spcBef>
                <a:spcPts val="83"/>
              </a:spcBef>
            </a:pPr>
            <a:r>
              <a:rPr sz="2646" spc="-8" dirty="0">
                <a:latin typeface="Arial"/>
                <a:cs typeface="Arial"/>
              </a:rPr>
              <a:t>style</a:t>
            </a:r>
            <a:endParaRPr sz="2646">
              <a:latin typeface="Arial"/>
              <a:cs typeface="Arial"/>
            </a:endParaRPr>
          </a:p>
        </p:txBody>
      </p:sp>
      <p:sp>
        <p:nvSpPr>
          <p:cNvPr id="4" name="object 4"/>
          <p:cNvSpPr txBox="1"/>
          <p:nvPr/>
        </p:nvSpPr>
        <p:spPr>
          <a:xfrm>
            <a:off x="1682122" y="4049326"/>
            <a:ext cx="2337002" cy="417766"/>
          </a:xfrm>
          <a:prstGeom prst="rect">
            <a:avLst/>
          </a:prstGeom>
        </p:spPr>
        <p:txBody>
          <a:bodyPr vert="horz" wrap="square" lIns="0" tIns="10501" rIns="0" bIns="0" rtlCol="0">
            <a:spAutoFit/>
          </a:bodyPr>
          <a:lstStyle/>
          <a:p>
            <a:pPr marL="10502">
              <a:spcBef>
                <a:spcPts val="83"/>
              </a:spcBef>
            </a:pPr>
            <a:r>
              <a:rPr sz="2646" spc="-8" dirty="0">
                <a:latin typeface="Arial"/>
                <a:cs typeface="Arial"/>
              </a:rPr>
              <a:t>parametrization</a:t>
            </a:r>
            <a:endParaRPr sz="2646">
              <a:latin typeface="Arial"/>
              <a:cs typeface="Arial"/>
            </a:endParaRPr>
          </a:p>
        </p:txBody>
      </p:sp>
      <p:sp>
        <p:nvSpPr>
          <p:cNvPr id="5" name="object 5"/>
          <p:cNvSpPr txBox="1"/>
          <p:nvPr/>
        </p:nvSpPr>
        <p:spPr>
          <a:xfrm>
            <a:off x="1414536" y="5107667"/>
            <a:ext cx="7370665" cy="513223"/>
          </a:xfrm>
          <a:prstGeom prst="rect">
            <a:avLst/>
          </a:prstGeom>
        </p:spPr>
        <p:txBody>
          <a:bodyPr vert="horz" wrap="square" lIns="0" tIns="66681" rIns="0" bIns="0" rtlCol="0">
            <a:spAutoFit/>
          </a:bodyPr>
          <a:lstStyle/>
          <a:p>
            <a:pPr marR="372283" algn="r">
              <a:spcBef>
                <a:spcPts val="525"/>
              </a:spcBef>
            </a:pPr>
            <a:r>
              <a:rPr sz="1158" spc="-21" dirty="0">
                <a:latin typeface="Calibri"/>
                <a:cs typeface="Calibri"/>
              </a:rPr>
              <a:t>33</a:t>
            </a:r>
            <a:endParaRPr sz="1158">
              <a:latin typeface="Calibri"/>
              <a:cs typeface="Calibri"/>
            </a:endParaRPr>
          </a:p>
          <a:p>
            <a:pPr marL="10502">
              <a:spcBef>
                <a:spcPts val="509"/>
              </a:spcBef>
            </a:pPr>
            <a:r>
              <a:rPr sz="1323" dirty="0">
                <a:solidFill>
                  <a:srgbClr val="231F20"/>
                </a:solidFill>
                <a:latin typeface="Times New Roman"/>
                <a:cs typeface="Times New Roman"/>
              </a:rPr>
              <a:t>Kaiming</a:t>
            </a:r>
            <a:r>
              <a:rPr sz="1323" spc="-33" dirty="0">
                <a:solidFill>
                  <a:srgbClr val="231F20"/>
                </a:solidFill>
                <a:latin typeface="Times New Roman"/>
                <a:cs typeface="Times New Roman"/>
              </a:rPr>
              <a:t> </a:t>
            </a:r>
            <a:r>
              <a:rPr sz="1323" dirty="0">
                <a:solidFill>
                  <a:srgbClr val="231F20"/>
                </a:solidFill>
                <a:latin typeface="Times New Roman"/>
                <a:cs typeface="Times New Roman"/>
              </a:rPr>
              <a:t>He,</a:t>
            </a:r>
            <a:r>
              <a:rPr sz="1323" spc="-29" dirty="0">
                <a:solidFill>
                  <a:srgbClr val="231F20"/>
                </a:solidFill>
                <a:latin typeface="Times New Roman"/>
                <a:cs typeface="Times New Roman"/>
              </a:rPr>
              <a:t> </a:t>
            </a:r>
            <a:r>
              <a:rPr sz="1323" dirty="0">
                <a:solidFill>
                  <a:srgbClr val="231F20"/>
                </a:solidFill>
                <a:latin typeface="Times New Roman"/>
                <a:cs typeface="Times New Roman"/>
              </a:rPr>
              <a:t>Xiangyu</a:t>
            </a:r>
            <a:r>
              <a:rPr sz="1323" spc="-29" dirty="0">
                <a:solidFill>
                  <a:srgbClr val="231F20"/>
                </a:solidFill>
                <a:latin typeface="Times New Roman"/>
                <a:cs typeface="Times New Roman"/>
              </a:rPr>
              <a:t> </a:t>
            </a:r>
            <a:r>
              <a:rPr sz="1323" dirty="0">
                <a:solidFill>
                  <a:srgbClr val="231F20"/>
                </a:solidFill>
                <a:latin typeface="Times New Roman"/>
                <a:cs typeface="Times New Roman"/>
              </a:rPr>
              <a:t>Zhang,</a:t>
            </a:r>
            <a:r>
              <a:rPr sz="1323" spc="-29" dirty="0">
                <a:solidFill>
                  <a:srgbClr val="231F20"/>
                </a:solidFill>
                <a:latin typeface="Times New Roman"/>
                <a:cs typeface="Times New Roman"/>
              </a:rPr>
              <a:t> </a:t>
            </a:r>
            <a:r>
              <a:rPr sz="1323" dirty="0">
                <a:solidFill>
                  <a:srgbClr val="231F20"/>
                </a:solidFill>
                <a:latin typeface="Times New Roman"/>
                <a:cs typeface="Times New Roman"/>
              </a:rPr>
              <a:t>Shaoqing</a:t>
            </a:r>
            <a:r>
              <a:rPr sz="1323" spc="-29" dirty="0">
                <a:solidFill>
                  <a:srgbClr val="231F20"/>
                </a:solidFill>
                <a:latin typeface="Times New Roman"/>
                <a:cs typeface="Times New Roman"/>
              </a:rPr>
              <a:t> </a:t>
            </a:r>
            <a:r>
              <a:rPr sz="1323" dirty="0">
                <a:solidFill>
                  <a:srgbClr val="231F20"/>
                </a:solidFill>
                <a:latin typeface="Times New Roman"/>
                <a:cs typeface="Times New Roman"/>
              </a:rPr>
              <a:t>Ren,</a:t>
            </a:r>
            <a:r>
              <a:rPr sz="1323" spc="-29" dirty="0">
                <a:solidFill>
                  <a:srgbClr val="231F20"/>
                </a:solidFill>
                <a:latin typeface="Times New Roman"/>
                <a:cs typeface="Times New Roman"/>
              </a:rPr>
              <a:t> </a:t>
            </a:r>
            <a:r>
              <a:rPr sz="1323" dirty="0">
                <a:solidFill>
                  <a:srgbClr val="231F20"/>
                </a:solidFill>
                <a:latin typeface="Times New Roman"/>
                <a:cs typeface="Times New Roman"/>
              </a:rPr>
              <a:t>Jian</a:t>
            </a:r>
            <a:r>
              <a:rPr sz="1323" spc="-29" dirty="0">
                <a:solidFill>
                  <a:srgbClr val="231F20"/>
                </a:solidFill>
                <a:latin typeface="Times New Roman"/>
                <a:cs typeface="Times New Roman"/>
              </a:rPr>
              <a:t> </a:t>
            </a:r>
            <a:r>
              <a:rPr sz="1323" dirty="0">
                <a:solidFill>
                  <a:srgbClr val="231F20"/>
                </a:solidFill>
                <a:latin typeface="Times New Roman"/>
                <a:cs typeface="Times New Roman"/>
              </a:rPr>
              <a:t>Sun,</a:t>
            </a:r>
            <a:r>
              <a:rPr sz="1323" spc="-29" dirty="0">
                <a:solidFill>
                  <a:srgbClr val="231F20"/>
                </a:solidFill>
                <a:latin typeface="Times New Roman"/>
                <a:cs typeface="Times New Roman"/>
              </a:rPr>
              <a:t> </a:t>
            </a:r>
            <a:r>
              <a:rPr sz="1323" dirty="0">
                <a:solidFill>
                  <a:srgbClr val="231F20"/>
                </a:solidFill>
                <a:latin typeface="Times New Roman"/>
                <a:cs typeface="Times New Roman"/>
              </a:rPr>
              <a:t>Deep</a:t>
            </a:r>
            <a:r>
              <a:rPr sz="1323" spc="-29" dirty="0">
                <a:solidFill>
                  <a:srgbClr val="231F20"/>
                </a:solidFill>
                <a:latin typeface="Times New Roman"/>
                <a:cs typeface="Times New Roman"/>
              </a:rPr>
              <a:t> </a:t>
            </a:r>
            <a:r>
              <a:rPr sz="1323" dirty="0">
                <a:solidFill>
                  <a:srgbClr val="231F20"/>
                </a:solidFill>
                <a:latin typeface="Times New Roman"/>
                <a:cs typeface="Times New Roman"/>
              </a:rPr>
              <a:t>Residual</a:t>
            </a:r>
            <a:r>
              <a:rPr sz="1323" spc="-33" dirty="0">
                <a:solidFill>
                  <a:srgbClr val="231F20"/>
                </a:solidFill>
                <a:latin typeface="Times New Roman"/>
                <a:cs typeface="Times New Roman"/>
              </a:rPr>
              <a:t> </a:t>
            </a:r>
            <a:r>
              <a:rPr sz="1323" dirty="0">
                <a:solidFill>
                  <a:srgbClr val="231F20"/>
                </a:solidFill>
                <a:latin typeface="Times New Roman"/>
                <a:cs typeface="Times New Roman"/>
              </a:rPr>
              <a:t>Learning</a:t>
            </a:r>
            <a:r>
              <a:rPr sz="1323" spc="-29" dirty="0">
                <a:solidFill>
                  <a:srgbClr val="231F20"/>
                </a:solidFill>
                <a:latin typeface="Times New Roman"/>
                <a:cs typeface="Times New Roman"/>
              </a:rPr>
              <a:t> </a:t>
            </a:r>
            <a:r>
              <a:rPr sz="1323" dirty="0">
                <a:solidFill>
                  <a:srgbClr val="231F20"/>
                </a:solidFill>
                <a:latin typeface="Times New Roman"/>
                <a:cs typeface="Times New Roman"/>
              </a:rPr>
              <a:t>for</a:t>
            </a:r>
            <a:r>
              <a:rPr sz="1323" spc="-29" dirty="0">
                <a:solidFill>
                  <a:srgbClr val="231F20"/>
                </a:solidFill>
                <a:latin typeface="Times New Roman"/>
                <a:cs typeface="Times New Roman"/>
              </a:rPr>
              <a:t> </a:t>
            </a:r>
            <a:r>
              <a:rPr sz="1323" dirty="0">
                <a:solidFill>
                  <a:srgbClr val="231F20"/>
                </a:solidFill>
                <a:latin typeface="Times New Roman"/>
                <a:cs typeface="Times New Roman"/>
              </a:rPr>
              <a:t>Image</a:t>
            </a:r>
            <a:r>
              <a:rPr sz="1323" spc="-33" dirty="0">
                <a:solidFill>
                  <a:srgbClr val="231F20"/>
                </a:solidFill>
                <a:latin typeface="Times New Roman"/>
                <a:cs typeface="Times New Roman"/>
              </a:rPr>
              <a:t> </a:t>
            </a:r>
            <a:r>
              <a:rPr sz="1323" dirty="0">
                <a:solidFill>
                  <a:srgbClr val="231F20"/>
                </a:solidFill>
                <a:latin typeface="Times New Roman"/>
                <a:cs typeface="Times New Roman"/>
              </a:rPr>
              <a:t>Recognition.</a:t>
            </a:r>
            <a:r>
              <a:rPr sz="1323" spc="-29" dirty="0">
                <a:solidFill>
                  <a:srgbClr val="231F20"/>
                </a:solidFill>
                <a:latin typeface="Times New Roman"/>
                <a:cs typeface="Times New Roman"/>
              </a:rPr>
              <a:t> </a:t>
            </a:r>
            <a:r>
              <a:rPr sz="1323" spc="-17" dirty="0">
                <a:solidFill>
                  <a:srgbClr val="231F20"/>
                </a:solidFill>
                <a:latin typeface="Times New Roman"/>
                <a:cs typeface="Times New Roman"/>
              </a:rPr>
              <a:t>2016</a:t>
            </a:r>
            <a:endParaRPr sz="1323">
              <a:latin typeface="Times New Roman"/>
              <a:cs typeface="Times New Roman"/>
            </a:endParaRPr>
          </a:p>
        </p:txBody>
      </p:sp>
      <p:sp>
        <p:nvSpPr>
          <p:cNvPr id="6" name="object 6"/>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1499633">
              <a:lnSpc>
                <a:spcPct val="100000"/>
              </a:lnSpc>
              <a:spcBef>
                <a:spcPts val="83"/>
              </a:spcBef>
            </a:pPr>
            <a:r>
              <a:rPr dirty="0">
                <a:latin typeface="Arial"/>
                <a:cs typeface="Arial"/>
              </a:rPr>
              <a:t>Residual</a:t>
            </a:r>
            <a:r>
              <a:rPr spc="-157" dirty="0">
                <a:latin typeface="Arial"/>
                <a:cs typeface="Arial"/>
              </a:rPr>
              <a:t> </a:t>
            </a:r>
            <a:r>
              <a:rPr spc="-8" dirty="0">
                <a:latin typeface="Arial"/>
                <a:cs typeface="Arial"/>
              </a:rPr>
              <a:t>Networks</a:t>
            </a:r>
          </a:p>
        </p:txBody>
      </p:sp>
      <p:grpSp>
        <p:nvGrpSpPr>
          <p:cNvPr id="7" name="object 7"/>
          <p:cNvGrpSpPr/>
          <p:nvPr/>
        </p:nvGrpSpPr>
        <p:grpSpPr>
          <a:xfrm>
            <a:off x="6887851" y="945120"/>
            <a:ext cx="1937438" cy="2974939"/>
            <a:chOff x="6805521" y="2086151"/>
            <a:chExt cx="2343150" cy="3597910"/>
          </a:xfrm>
        </p:grpSpPr>
        <p:sp>
          <p:nvSpPr>
            <p:cNvPr id="8" name="object 8"/>
            <p:cNvSpPr/>
            <p:nvPr/>
          </p:nvSpPr>
          <p:spPr>
            <a:xfrm>
              <a:off x="6814716" y="3675823"/>
              <a:ext cx="2131695" cy="1720850"/>
            </a:xfrm>
            <a:custGeom>
              <a:avLst/>
              <a:gdLst/>
              <a:ahLst/>
              <a:cxnLst/>
              <a:rect l="l" t="t" r="r" b="b"/>
              <a:pathLst>
                <a:path w="2131695" h="1720850">
                  <a:moveTo>
                    <a:pt x="0" y="0"/>
                  </a:moveTo>
                  <a:lnTo>
                    <a:pt x="2131218" y="0"/>
                  </a:lnTo>
                  <a:lnTo>
                    <a:pt x="2131218" y="1720244"/>
                  </a:lnTo>
                  <a:lnTo>
                    <a:pt x="0" y="1720244"/>
                  </a:lnTo>
                  <a:lnTo>
                    <a:pt x="0" y="0"/>
                  </a:lnTo>
                  <a:close/>
                </a:path>
              </a:pathLst>
            </a:custGeom>
            <a:ln w="18388">
              <a:solidFill>
                <a:srgbClr val="000000"/>
              </a:solidFill>
              <a:prstDash val="dash"/>
            </a:ln>
          </p:spPr>
          <p:txBody>
            <a:bodyPr wrap="square" lIns="0" tIns="0" rIns="0" bIns="0" rtlCol="0"/>
            <a:lstStyle/>
            <a:p>
              <a:endParaRPr sz="1488"/>
            </a:p>
          </p:txBody>
        </p:sp>
        <p:pic>
          <p:nvPicPr>
            <p:cNvPr id="9" name="object 9"/>
            <p:cNvPicPr/>
            <p:nvPr/>
          </p:nvPicPr>
          <p:blipFill>
            <a:blip r:embed="rId2" cstate="print"/>
            <a:stretch>
              <a:fillRect/>
            </a:stretch>
          </p:blipFill>
          <p:spPr>
            <a:xfrm>
              <a:off x="7013767" y="2371171"/>
              <a:ext cx="1746900" cy="3312667"/>
            </a:xfrm>
            <a:prstGeom prst="rect">
              <a:avLst/>
            </a:prstGeom>
          </p:spPr>
        </p:pic>
        <p:sp>
          <p:nvSpPr>
            <p:cNvPr id="10" name="object 10"/>
            <p:cNvSpPr/>
            <p:nvPr/>
          </p:nvSpPr>
          <p:spPr>
            <a:xfrm>
              <a:off x="7887217" y="3182101"/>
              <a:ext cx="1252220" cy="2353945"/>
            </a:xfrm>
            <a:custGeom>
              <a:avLst/>
              <a:gdLst/>
              <a:ahLst/>
              <a:cxnLst/>
              <a:rect l="l" t="t" r="r" b="b"/>
              <a:pathLst>
                <a:path w="1252220" h="2353945">
                  <a:moveTo>
                    <a:pt x="0" y="2353659"/>
                  </a:moveTo>
                  <a:lnTo>
                    <a:pt x="1196630" y="2353659"/>
                  </a:lnTo>
                  <a:lnTo>
                    <a:pt x="1218096" y="2349322"/>
                  </a:lnTo>
                  <a:lnTo>
                    <a:pt x="1235632" y="2337496"/>
                  </a:lnTo>
                  <a:lnTo>
                    <a:pt x="1247458" y="2319960"/>
                  </a:lnTo>
                  <a:lnTo>
                    <a:pt x="1251795" y="2298494"/>
                  </a:lnTo>
                  <a:lnTo>
                    <a:pt x="1251795" y="55165"/>
                  </a:lnTo>
                  <a:lnTo>
                    <a:pt x="1247458" y="33699"/>
                  </a:lnTo>
                  <a:lnTo>
                    <a:pt x="1235632" y="16163"/>
                  </a:lnTo>
                  <a:lnTo>
                    <a:pt x="1218096" y="4337"/>
                  </a:lnTo>
                  <a:lnTo>
                    <a:pt x="1196630" y="0"/>
                  </a:lnTo>
                  <a:lnTo>
                    <a:pt x="255599" y="0"/>
                  </a:lnTo>
                </a:path>
              </a:pathLst>
            </a:custGeom>
            <a:ln w="18388">
              <a:solidFill>
                <a:srgbClr val="000000"/>
              </a:solidFill>
            </a:ln>
          </p:spPr>
          <p:txBody>
            <a:bodyPr wrap="square" lIns="0" tIns="0" rIns="0" bIns="0" rtlCol="0"/>
            <a:lstStyle/>
            <a:p>
              <a:endParaRPr sz="1488"/>
            </a:p>
          </p:txBody>
        </p:sp>
        <p:sp>
          <p:nvSpPr>
            <p:cNvPr id="11" name="object 11"/>
            <p:cNvSpPr/>
            <p:nvPr/>
          </p:nvSpPr>
          <p:spPr>
            <a:xfrm>
              <a:off x="8069262" y="3154518"/>
              <a:ext cx="73660" cy="55244"/>
            </a:xfrm>
            <a:custGeom>
              <a:avLst/>
              <a:gdLst/>
              <a:ahLst/>
              <a:cxnLst/>
              <a:rect l="l" t="t" r="r" b="b"/>
              <a:pathLst>
                <a:path w="73659" h="55244">
                  <a:moveTo>
                    <a:pt x="0" y="27582"/>
                  </a:moveTo>
                  <a:lnTo>
                    <a:pt x="73553" y="27582"/>
                  </a:lnTo>
                </a:path>
                <a:path w="73659" h="55244">
                  <a:moveTo>
                    <a:pt x="73553" y="55165"/>
                  </a:moveTo>
                  <a:lnTo>
                    <a:pt x="0" y="27582"/>
                  </a:lnTo>
                  <a:lnTo>
                    <a:pt x="73553" y="0"/>
                  </a:lnTo>
                </a:path>
              </a:pathLst>
            </a:custGeom>
            <a:ln w="18388">
              <a:solidFill>
                <a:srgbClr val="000000"/>
              </a:solidFill>
            </a:ln>
          </p:spPr>
          <p:txBody>
            <a:bodyPr wrap="square" lIns="0" tIns="0" rIns="0" bIns="0" rtlCol="0"/>
            <a:lstStyle/>
            <a:p>
              <a:endParaRPr sz="1488"/>
            </a:p>
          </p:txBody>
        </p:sp>
        <p:pic>
          <p:nvPicPr>
            <p:cNvPr id="12" name="object 12"/>
            <p:cNvPicPr/>
            <p:nvPr/>
          </p:nvPicPr>
          <p:blipFill>
            <a:blip r:embed="rId3" cstate="print"/>
            <a:stretch>
              <a:fillRect/>
            </a:stretch>
          </p:blipFill>
          <p:spPr>
            <a:xfrm>
              <a:off x="7413368" y="3414824"/>
              <a:ext cx="231355" cy="155154"/>
            </a:xfrm>
            <a:prstGeom prst="rect">
              <a:avLst/>
            </a:prstGeom>
          </p:spPr>
        </p:pic>
        <p:pic>
          <p:nvPicPr>
            <p:cNvPr id="13" name="object 13"/>
            <p:cNvPicPr/>
            <p:nvPr/>
          </p:nvPicPr>
          <p:blipFill>
            <a:blip r:embed="rId4" cstate="print"/>
            <a:stretch>
              <a:fillRect/>
            </a:stretch>
          </p:blipFill>
          <p:spPr>
            <a:xfrm>
              <a:off x="8372096" y="3001556"/>
              <a:ext cx="105167" cy="85895"/>
            </a:xfrm>
            <a:prstGeom prst="rect">
              <a:avLst/>
            </a:prstGeom>
          </p:spPr>
        </p:pic>
        <p:pic>
          <p:nvPicPr>
            <p:cNvPr id="14" name="object 14"/>
            <p:cNvPicPr/>
            <p:nvPr/>
          </p:nvPicPr>
          <p:blipFill>
            <a:blip r:embed="rId5" cstate="print"/>
            <a:stretch>
              <a:fillRect/>
            </a:stretch>
          </p:blipFill>
          <p:spPr>
            <a:xfrm>
              <a:off x="7273042" y="2836515"/>
              <a:ext cx="231355" cy="155154"/>
            </a:xfrm>
            <a:prstGeom prst="rect">
              <a:avLst/>
            </a:prstGeom>
          </p:spPr>
        </p:pic>
        <p:pic>
          <p:nvPicPr>
            <p:cNvPr id="15" name="object 15"/>
            <p:cNvPicPr/>
            <p:nvPr/>
          </p:nvPicPr>
          <p:blipFill>
            <a:blip r:embed="rId6" cstate="print"/>
            <a:stretch>
              <a:fillRect/>
            </a:stretch>
          </p:blipFill>
          <p:spPr>
            <a:xfrm>
              <a:off x="7574731" y="2859494"/>
              <a:ext cx="78158" cy="78158"/>
            </a:xfrm>
            <a:prstGeom prst="rect">
              <a:avLst/>
            </a:prstGeom>
          </p:spPr>
        </p:pic>
        <p:pic>
          <p:nvPicPr>
            <p:cNvPr id="16" name="object 16"/>
            <p:cNvPicPr/>
            <p:nvPr/>
          </p:nvPicPr>
          <p:blipFill>
            <a:blip r:embed="rId7" cstate="print"/>
            <a:stretch>
              <a:fillRect/>
            </a:stretch>
          </p:blipFill>
          <p:spPr>
            <a:xfrm>
              <a:off x="7698683" y="2870997"/>
              <a:ext cx="105152" cy="85896"/>
            </a:xfrm>
            <a:prstGeom prst="rect">
              <a:avLst/>
            </a:prstGeom>
          </p:spPr>
        </p:pic>
        <p:sp>
          <p:nvSpPr>
            <p:cNvPr id="17" name="object 17"/>
            <p:cNvSpPr/>
            <p:nvPr/>
          </p:nvSpPr>
          <p:spPr>
            <a:xfrm>
              <a:off x="7881126" y="2168899"/>
              <a:ext cx="3810" cy="212090"/>
            </a:xfrm>
            <a:custGeom>
              <a:avLst/>
              <a:gdLst/>
              <a:ahLst/>
              <a:cxnLst/>
              <a:rect l="l" t="t" r="r" b="b"/>
              <a:pathLst>
                <a:path w="3809" h="212089">
                  <a:moveTo>
                    <a:pt x="3457" y="211466"/>
                  </a:moveTo>
                  <a:lnTo>
                    <a:pt x="0" y="0"/>
                  </a:lnTo>
                </a:path>
              </a:pathLst>
            </a:custGeom>
            <a:ln w="18388">
              <a:solidFill>
                <a:srgbClr val="000000"/>
              </a:solidFill>
            </a:ln>
          </p:spPr>
          <p:txBody>
            <a:bodyPr wrap="square" lIns="0" tIns="0" rIns="0" bIns="0" rtlCol="0"/>
            <a:lstStyle/>
            <a:p>
              <a:endParaRPr sz="1488"/>
            </a:p>
          </p:txBody>
        </p:sp>
        <p:sp>
          <p:nvSpPr>
            <p:cNvPr id="18" name="object 18"/>
            <p:cNvSpPr/>
            <p:nvPr/>
          </p:nvSpPr>
          <p:spPr>
            <a:xfrm>
              <a:off x="7853544" y="2095345"/>
              <a:ext cx="55244" cy="74295"/>
            </a:xfrm>
            <a:custGeom>
              <a:avLst/>
              <a:gdLst/>
              <a:ahLst/>
              <a:cxnLst/>
              <a:rect l="l" t="t" r="r" b="b"/>
              <a:pathLst>
                <a:path w="55245" h="74294">
                  <a:moveTo>
                    <a:pt x="26435" y="0"/>
                  </a:moveTo>
                  <a:lnTo>
                    <a:pt x="27582" y="73553"/>
                  </a:lnTo>
                </a:path>
                <a:path w="55245" h="74294">
                  <a:moveTo>
                    <a:pt x="0" y="73950"/>
                  </a:moveTo>
                  <a:lnTo>
                    <a:pt x="26435" y="0"/>
                  </a:lnTo>
                  <a:lnTo>
                    <a:pt x="55165" y="73097"/>
                  </a:lnTo>
                </a:path>
              </a:pathLst>
            </a:custGeom>
            <a:ln w="18388">
              <a:solidFill>
                <a:srgbClr val="000000"/>
              </a:solidFill>
            </a:ln>
          </p:spPr>
          <p:txBody>
            <a:bodyPr wrap="square" lIns="0" tIns="0" rIns="0" bIns="0" rtlCol="0"/>
            <a:lstStyle/>
            <a:p>
              <a:endParaRPr sz="1488"/>
            </a:p>
          </p:txBody>
        </p:sp>
      </p:grpSp>
      <p:pic>
        <p:nvPicPr>
          <p:cNvPr id="19" name="object 19"/>
          <p:cNvPicPr/>
          <p:nvPr/>
        </p:nvPicPr>
        <p:blipFill>
          <a:blip r:embed="rId8" cstate="print"/>
          <a:stretch>
            <a:fillRect/>
          </a:stretch>
        </p:blipFill>
        <p:spPr>
          <a:xfrm>
            <a:off x="7738774" y="3933604"/>
            <a:ext cx="86958" cy="71035"/>
          </a:xfrm>
          <a:prstGeom prst="rect">
            <a:avLst/>
          </a:prstGeom>
        </p:spPr>
      </p:pic>
      <p:grpSp>
        <p:nvGrpSpPr>
          <p:cNvPr id="20" name="object 20"/>
          <p:cNvGrpSpPr/>
          <p:nvPr/>
        </p:nvGrpSpPr>
        <p:grpSpPr>
          <a:xfrm>
            <a:off x="4549756" y="1029883"/>
            <a:ext cx="1777822" cy="2974939"/>
            <a:chOff x="4010480" y="2095345"/>
            <a:chExt cx="2150110" cy="3597910"/>
          </a:xfrm>
        </p:grpSpPr>
        <p:sp>
          <p:nvSpPr>
            <p:cNvPr id="21" name="object 21"/>
            <p:cNvSpPr/>
            <p:nvPr/>
          </p:nvSpPr>
          <p:spPr>
            <a:xfrm>
              <a:off x="4019674" y="3675823"/>
              <a:ext cx="2131695" cy="1720850"/>
            </a:xfrm>
            <a:custGeom>
              <a:avLst/>
              <a:gdLst/>
              <a:ahLst/>
              <a:cxnLst/>
              <a:rect l="l" t="t" r="r" b="b"/>
              <a:pathLst>
                <a:path w="2131695" h="1720850">
                  <a:moveTo>
                    <a:pt x="0" y="0"/>
                  </a:moveTo>
                  <a:lnTo>
                    <a:pt x="2131218" y="0"/>
                  </a:lnTo>
                  <a:lnTo>
                    <a:pt x="2131218" y="1720244"/>
                  </a:lnTo>
                  <a:lnTo>
                    <a:pt x="0" y="1720244"/>
                  </a:lnTo>
                  <a:lnTo>
                    <a:pt x="0" y="0"/>
                  </a:lnTo>
                  <a:close/>
                </a:path>
              </a:pathLst>
            </a:custGeom>
            <a:ln w="18388">
              <a:solidFill>
                <a:srgbClr val="000000"/>
              </a:solidFill>
              <a:prstDash val="dash"/>
            </a:ln>
          </p:spPr>
          <p:txBody>
            <a:bodyPr wrap="square" lIns="0" tIns="0" rIns="0" bIns="0" rtlCol="0"/>
            <a:lstStyle/>
            <a:p>
              <a:endParaRPr sz="1488"/>
            </a:p>
          </p:txBody>
        </p:sp>
        <p:pic>
          <p:nvPicPr>
            <p:cNvPr id="22" name="object 22"/>
            <p:cNvPicPr/>
            <p:nvPr/>
          </p:nvPicPr>
          <p:blipFill>
            <a:blip r:embed="rId9" cstate="print"/>
            <a:stretch>
              <a:fillRect/>
            </a:stretch>
          </p:blipFill>
          <p:spPr>
            <a:xfrm>
              <a:off x="4218726" y="2095345"/>
              <a:ext cx="1746900" cy="3597688"/>
            </a:xfrm>
            <a:prstGeom prst="rect">
              <a:avLst/>
            </a:prstGeom>
          </p:spPr>
        </p:pic>
        <p:pic>
          <p:nvPicPr>
            <p:cNvPr id="23" name="object 23"/>
            <p:cNvPicPr/>
            <p:nvPr/>
          </p:nvPicPr>
          <p:blipFill>
            <a:blip r:embed="rId10" cstate="print"/>
            <a:stretch>
              <a:fillRect/>
            </a:stretch>
          </p:blipFill>
          <p:spPr>
            <a:xfrm>
              <a:off x="4728658" y="3414824"/>
              <a:ext cx="231355" cy="155154"/>
            </a:xfrm>
            <a:prstGeom prst="rect">
              <a:avLst/>
            </a:prstGeom>
          </p:spPr>
        </p:pic>
      </p:grpSp>
      <p:pic>
        <p:nvPicPr>
          <p:cNvPr id="24" name="object 24"/>
          <p:cNvPicPr/>
          <p:nvPr/>
        </p:nvPicPr>
        <p:blipFill>
          <a:blip r:embed="rId11" cstate="print"/>
          <a:stretch>
            <a:fillRect/>
          </a:stretch>
        </p:blipFill>
        <p:spPr>
          <a:xfrm>
            <a:off x="5395182" y="3998331"/>
            <a:ext cx="86945" cy="71035"/>
          </a:xfrm>
          <a:prstGeom prst="rect">
            <a:avLst/>
          </a:prstGeom>
        </p:spPr>
      </p:pic>
      <p:sp>
        <p:nvSpPr>
          <p:cNvPr id="25" name="object 25"/>
          <p:cNvSpPr txBox="1"/>
          <p:nvPr/>
        </p:nvSpPr>
        <p:spPr>
          <a:xfrm>
            <a:off x="2591393" y="3712539"/>
            <a:ext cx="1507946" cy="316072"/>
          </a:xfrm>
          <a:prstGeom prst="rect">
            <a:avLst/>
          </a:prstGeom>
        </p:spPr>
        <p:txBody>
          <a:bodyPr vert="horz" wrap="square" lIns="0" tIns="10501" rIns="0" bIns="0" rtlCol="0">
            <a:spAutoFit/>
          </a:bodyPr>
          <a:lstStyle/>
          <a:p>
            <a:pPr marL="10502">
              <a:spcBef>
                <a:spcPts val="83"/>
              </a:spcBef>
            </a:pPr>
            <a:r>
              <a:rPr sz="1985" i="1" dirty="0">
                <a:latin typeface="Times New Roman"/>
                <a:cs typeface="Times New Roman"/>
              </a:rPr>
              <a:t>f</a:t>
            </a:r>
            <a:r>
              <a:rPr sz="1985" dirty="0">
                <a:latin typeface="Cambria"/>
                <a:cs typeface="Cambria"/>
              </a:rPr>
              <a:t>(</a:t>
            </a:r>
            <a:r>
              <a:rPr sz="1985" i="1" dirty="0">
                <a:latin typeface="Times New Roman"/>
                <a:cs typeface="Times New Roman"/>
              </a:rPr>
              <a:t>x</a:t>
            </a:r>
            <a:r>
              <a:rPr sz="1985" dirty="0">
                <a:latin typeface="Cambria"/>
                <a:cs typeface="Cambria"/>
              </a:rPr>
              <a:t>)</a:t>
            </a:r>
            <a:r>
              <a:rPr sz="1985" spc="103" dirty="0">
                <a:latin typeface="Cambria"/>
                <a:cs typeface="Cambria"/>
              </a:rPr>
              <a:t> </a:t>
            </a:r>
            <a:r>
              <a:rPr sz="1985" spc="260" dirty="0">
                <a:latin typeface="Cambria"/>
                <a:cs typeface="Cambria"/>
              </a:rPr>
              <a:t>=</a:t>
            </a:r>
            <a:r>
              <a:rPr sz="1985" spc="107" dirty="0">
                <a:latin typeface="Cambria"/>
                <a:cs typeface="Cambria"/>
              </a:rPr>
              <a:t> </a:t>
            </a:r>
            <a:r>
              <a:rPr sz="1985" i="1" dirty="0">
                <a:latin typeface="Times New Roman"/>
                <a:cs typeface="Times New Roman"/>
              </a:rPr>
              <a:t>x</a:t>
            </a:r>
            <a:r>
              <a:rPr sz="1985" i="1" spc="-66" dirty="0">
                <a:latin typeface="Times New Roman"/>
                <a:cs typeface="Times New Roman"/>
              </a:rPr>
              <a:t> </a:t>
            </a:r>
            <a:r>
              <a:rPr sz="1985" spc="260" dirty="0">
                <a:latin typeface="Cambria"/>
                <a:cs typeface="Cambria"/>
              </a:rPr>
              <a:t>+</a:t>
            </a:r>
            <a:r>
              <a:rPr sz="1985" spc="-4" dirty="0">
                <a:latin typeface="Cambria"/>
                <a:cs typeface="Cambria"/>
              </a:rPr>
              <a:t> </a:t>
            </a:r>
            <a:r>
              <a:rPr sz="1985" i="1" spc="-29" dirty="0">
                <a:latin typeface="Times New Roman"/>
                <a:cs typeface="Times New Roman"/>
              </a:rPr>
              <a:t>g</a:t>
            </a:r>
            <a:r>
              <a:rPr sz="1985" spc="-29" dirty="0">
                <a:latin typeface="Cambria"/>
                <a:cs typeface="Cambria"/>
              </a:rPr>
              <a:t>(</a:t>
            </a:r>
            <a:r>
              <a:rPr sz="1985" i="1" spc="-29" dirty="0">
                <a:latin typeface="Times New Roman"/>
                <a:cs typeface="Times New Roman"/>
              </a:rPr>
              <a:t>x</a:t>
            </a:r>
            <a:r>
              <a:rPr sz="1985" spc="-29" dirty="0">
                <a:latin typeface="Cambria"/>
                <a:cs typeface="Cambria"/>
              </a:rPr>
              <a:t>)</a:t>
            </a:r>
            <a:endParaRPr sz="1985">
              <a:latin typeface="Cambria"/>
              <a:cs typeface="Cambria"/>
            </a:endParaRPr>
          </a:p>
        </p:txBody>
      </p:sp>
      <p:sp>
        <p:nvSpPr>
          <p:cNvPr id="26" name="TextBox 25">
            <a:extLst>
              <a:ext uri="{FF2B5EF4-FFF2-40B4-BE49-F238E27FC236}">
                <a16:creationId xmlns:a16="http://schemas.microsoft.com/office/drawing/2014/main" id="{55AE29BF-0C8E-CC50-BD1D-0D1E3C7CAC83}"/>
              </a:ext>
            </a:extLst>
          </p:cNvPr>
          <p:cNvSpPr txBox="1"/>
          <p:nvPr/>
        </p:nvSpPr>
        <p:spPr>
          <a:xfrm>
            <a:off x="2745560" y="4546225"/>
            <a:ext cx="2736568" cy="779252"/>
          </a:xfrm>
          <a:prstGeom prst="rect">
            <a:avLst/>
          </a:prstGeom>
          <a:noFill/>
        </p:spPr>
        <p:txBody>
          <a:bodyPr wrap="square">
            <a:spAutoFit/>
          </a:bodyPr>
          <a:lstStyle/>
          <a:p>
            <a:r>
              <a:rPr lang="en-US" sz="1488" dirty="0"/>
              <a:t>Regular block the portion within the dotted-line box must directly learn the mapping </a:t>
            </a:r>
          </a:p>
        </p:txBody>
      </p:sp>
      <p:sp>
        <p:nvSpPr>
          <p:cNvPr id="27" name="TextBox 26">
            <a:extLst>
              <a:ext uri="{FF2B5EF4-FFF2-40B4-BE49-F238E27FC236}">
                <a16:creationId xmlns:a16="http://schemas.microsoft.com/office/drawing/2014/main" id="{591249AA-CED7-B651-EDBF-A6F770824F14}"/>
              </a:ext>
            </a:extLst>
          </p:cNvPr>
          <p:cNvSpPr txBox="1"/>
          <p:nvPr/>
        </p:nvSpPr>
        <p:spPr>
          <a:xfrm>
            <a:off x="5671961" y="4184353"/>
            <a:ext cx="3150306" cy="1237198"/>
          </a:xfrm>
          <a:prstGeom prst="rect">
            <a:avLst/>
          </a:prstGeom>
          <a:noFill/>
        </p:spPr>
        <p:txBody>
          <a:bodyPr wrap="square">
            <a:spAutoFit/>
          </a:bodyPr>
          <a:lstStyle/>
          <a:p>
            <a:r>
              <a:rPr lang="en-US" sz="1488" dirty="0"/>
              <a:t>Residual block, the portion within the dotted-line box needs to learn the residual mapping g(x)=f(x)-x, making the identity mapping f(x)=x  easier to learn.</a:t>
            </a:r>
          </a:p>
        </p:txBody>
      </p:sp>
    </p:spTree>
    <p:extLst>
      <p:ext uri="{BB962C8B-B14F-4D97-AF65-F5344CB8AC3E}">
        <p14:creationId xmlns:p14="http://schemas.microsoft.com/office/powerpoint/2010/main" val="11194207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353717-F2E8-C891-D658-6B3B3A5E9D05}"/>
              </a:ext>
            </a:extLst>
          </p:cNvPr>
          <p:cNvPicPr>
            <a:picLocks noChangeAspect="1"/>
          </p:cNvPicPr>
          <p:nvPr/>
        </p:nvPicPr>
        <p:blipFill>
          <a:blip r:embed="rId2"/>
          <a:stretch>
            <a:fillRect/>
          </a:stretch>
        </p:blipFill>
        <p:spPr>
          <a:xfrm>
            <a:off x="1231900" y="1006475"/>
            <a:ext cx="4607142" cy="3311758"/>
          </a:xfrm>
          <a:prstGeom prst="rect">
            <a:avLst/>
          </a:prstGeom>
        </p:spPr>
      </p:pic>
      <p:sp>
        <p:nvSpPr>
          <p:cNvPr id="4" name="TextBox 3">
            <a:extLst>
              <a:ext uri="{FF2B5EF4-FFF2-40B4-BE49-F238E27FC236}">
                <a16:creationId xmlns:a16="http://schemas.microsoft.com/office/drawing/2014/main" id="{AF23B381-396A-A301-1351-EE4642121A65}"/>
              </a:ext>
            </a:extLst>
          </p:cNvPr>
          <p:cNvSpPr txBox="1"/>
          <p:nvPr/>
        </p:nvSpPr>
        <p:spPr>
          <a:xfrm>
            <a:off x="546100" y="4479713"/>
            <a:ext cx="3780367" cy="550279"/>
          </a:xfrm>
          <a:prstGeom prst="rect">
            <a:avLst/>
          </a:prstGeom>
          <a:noFill/>
        </p:spPr>
        <p:txBody>
          <a:bodyPr wrap="square">
            <a:spAutoFit/>
          </a:bodyPr>
          <a:lstStyle/>
          <a:p>
            <a:r>
              <a:rPr lang="en-US" sz="1488" dirty="0"/>
              <a:t>Add the input to the output before applying the </a:t>
            </a:r>
            <a:r>
              <a:rPr lang="en-US" sz="1488" dirty="0" err="1"/>
              <a:t>ReLU</a:t>
            </a:r>
            <a:r>
              <a:rPr lang="en-US" sz="1488" dirty="0"/>
              <a:t> </a:t>
            </a:r>
          </a:p>
        </p:txBody>
      </p:sp>
      <p:sp>
        <p:nvSpPr>
          <p:cNvPr id="6" name="TextBox 5">
            <a:extLst>
              <a:ext uri="{FF2B5EF4-FFF2-40B4-BE49-F238E27FC236}">
                <a16:creationId xmlns:a16="http://schemas.microsoft.com/office/drawing/2014/main" id="{3A13E18E-6525-AC85-2424-E1D37B64B8AD}"/>
              </a:ext>
            </a:extLst>
          </p:cNvPr>
          <p:cNvSpPr txBox="1"/>
          <p:nvPr/>
        </p:nvSpPr>
        <p:spPr>
          <a:xfrm>
            <a:off x="4474845" y="4080212"/>
            <a:ext cx="3780367" cy="550279"/>
          </a:xfrm>
          <a:prstGeom prst="rect">
            <a:avLst/>
          </a:prstGeom>
          <a:noFill/>
        </p:spPr>
        <p:txBody>
          <a:bodyPr wrap="square">
            <a:spAutoFit/>
          </a:bodyPr>
          <a:lstStyle/>
          <a:p>
            <a:r>
              <a:rPr lang="en-US" sz="1488" dirty="0"/>
              <a:t>Adjust channels and resolution by means of a 1x1 convolution before adding</a:t>
            </a:r>
          </a:p>
        </p:txBody>
      </p:sp>
      <p:sp>
        <p:nvSpPr>
          <p:cNvPr id="8" name="TextBox 7">
            <a:extLst>
              <a:ext uri="{FF2B5EF4-FFF2-40B4-BE49-F238E27FC236}">
                <a16:creationId xmlns:a16="http://schemas.microsoft.com/office/drawing/2014/main" id="{5E08F939-227D-BE6B-3685-810C0C1909C0}"/>
              </a:ext>
            </a:extLst>
          </p:cNvPr>
          <p:cNvSpPr txBox="1"/>
          <p:nvPr/>
        </p:nvSpPr>
        <p:spPr>
          <a:xfrm>
            <a:off x="4537851" y="4678056"/>
            <a:ext cx="3780367" cy="1008225"/>
          </a:xfrm>
          <a:prstGeom prst="rect">
            <a:avLst/>
          </a:prstGeom>
          <a:noFill/>
        </p:spPr>
        <p:txBody>
          <a:bodyPr wrap="square">
            <a:spAutoFit/>
          </a:bodyPr>
          <a:lstStyle/>
          <a:p>
            <a:r>
              <a:rPr lang="en-US" sz="1488" dirty="0"/>
              <a:t> 1x1 convolutional layer to transform the input into the desired shape for the addition operation, if the number of channels has changed</a:t>
            </a:r>
          </a:p>
        </p:txBody>
      </p:sp>
      <p:sp>
        <p:nvSpPr>
          <p:cNvPr id="10" name="TextBox 9">
            <a:extLst>
              <a:ext uri="{FF2B5EF4-FFF2-40B4-BE49-F238E27FC236}">
                <a16:creationId xmlns:a16="http://schemas.microsoft.com/office/drawing/2014/main" id="{5437A767-24E6-777B-4F6F-652454E7FD2A}"/>
              </a:ext>
            </a:extLst>
          </p:cNvPr>
          <p:cNvSpPr txBox="1"/>
          <p:nvPr/>
        </p:nvSpPr>
        <p:spPr>
          <a:xfrm>
            <a:off x="6176010" y="819080"/>
            <a:ext cx="2394232" cy="1924116"/>
          </a:xfrm>
          <a:prstGeom prst="rect">
            <a:avLst/>
          </a:prstGeom>
          <a:noFill/>
        </p:spPr>
        <p:txBody>
          <a:bodyPr wrap="square">
            <a:spAutoFit/>
          </a:bodyPr>
          <a:lstStyle/>
          <a:p>
            <a:r>
              <a:rPr lang="en-US" sz="1488" dirty="0"/>
              <a:t>This block includes a convolutional layer with a stride of (2, 2) to </a:t>
            </a:r>
            <a:r>
              <a:rPr lang="en-US" sz="1488" dirty="0" err="1"/>
              <a:t>downsample</a:t>
            </a:r>
            <a:r>
              <a:rPr lang="en-US" sz="1488" dirty="0"/>
              <a:t> the input, and a convolutional layer with a (1, 1) filter size to change the depth of the input to match the output.</a:t>
            </a:r>
          </a:p>
        </p:txBody>
      </p:sp>
      <p:sp>
        <p:nvSpPr>
          <p:cNvPr id="3" name="object 6">
            <a:extLst>
              <a:ext uri="{FF2B5EF4-FFF2-40B4-BE49-F238E27FC236}">
                <a16:creationId xmlns:a16="http://schemas.microsoft.com/office/drawing/2014/main" id="{C5812F0D-8F81-1C0C-01DF-962F8499E603}"/>
              </a:ext>
            </a:extLst>
          </p:cNvPr>
          <p:cNvSpPr txBox="1">
            <a:spLocks/>
          </p:cNvSpPr>
          <p:nvPr/>
        </p:nvSpPr>
        <p:spPr>
          <a:xfrm>
            <a:off x="1003300" y="92041"/>
            <a:ext cx="7509809" cy="662252"/>
          </a:xfrm>
          <a:prstGeom prst="rect">
            <a:avLst/>
          </a:prstGeom>
        </p:spPr>
        <p:txBody>
          <a:bodyPr vert="horz" wrap="square" lIns="0" tIns="50946" rIns="0" bIns="0" rtlCol="0">
            <a:spAutoFit/>
          </a:bodyPr>
          <a:lstStyle>
            <a:lvl1pPr>
              <a:defRPr>
                <a:latin typeface="+mj-lt"/>
                <a:ea typeface="+mj-ea"/>
                <a:cs typeface="+mj-cs"/>
              </a:defRPr>
            </a:lvl1pPr>
          </a:lstStyle>
          <a:p>
            <a:pPr marL="1499633">
              <a:spcBef>
                <a:spcPts val="83"/>
              </a:spcBef>
            </a:pPr>
            <a:r>
              <a:rPr lang="en-US" sz="3969" b="1" dirty="0">
                <a:solidFill>
                  <a:srgbClr val="C00001"/>
                </a:solidFill>
                <a:latin typeface="Arial"/>
                <a:cs typeface="Arial"/>
              </a:rPr>
              <a:t>Residual Networks</a:t>
            </a:r>
          </a:p>
        </p:txBody>
      </p:sp>
    </p:spTree>
    <p:extLst>
      <p:ext uri="{BB962C8B-B14F-4D97-AF65-F5344CB8AC3E}">
        <p14:creationId xmlns:p14="http://schemas.microsoft.com/office/powerpoint/2010/main" val="5302691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80289" y="1150406"/>
            <a:ext cx="4432480" cy="2559178"/>
          </a:xfrm>
          <a:prstGeom prst="rect">
            <a:avLst/>
          </a:prstGeom>
        </p:spPr>
        <p:txBody>
          <a:bodyPr vert="horz" wrap="square" lIns="0" tIns="35703" rIns="0" bIns="0" rtlCol="0">
            <a:spAutoFit/>
          </a:bodyPr>
          <a:lstStyle/>
          <a:p>
            <a:pPr marL="293521" marR="414814" indent="-283544">
              <a:lnSpc>
                <a:spcPts val="3060"/>
              </a:lnSpc>
              <a:spcBef>
                <a:spcPts val="281"/>
              </a:spcBef>
              <a:buChar char="•"/>
              <a:tabLst>
                <a:tab pos="293521" algn="l"/>
              </a:tabLst>
            </a:pPr>
            <a:r>
              <a:rPr sz="2646" dirty="0">
                <a:latin typeface="Arial"/>
                <a:cs typeface="Arial"/>
              </a:rPr>
              <a:t>Downsample</a:t>
            </a:r>
            <a:r>
              <a:rPr sz="2646" spc="-29" dirty="0">
                <a:latin typeface="Arial"/>
                <a:cs typeface="Arial"/>
              </a:rPr>
              <a:t> </a:t>
            </a:r>
            <a:r>
              <a:rPr sz="2646" dirty="0">
                <a:latin typeface="Arial"/>
                <a:cs typeface="Arial"/>
              </a:rPr>
              <a:t>per</a:t>
            </a:r>
            <a:r>
              <a:rPr sz="2646" spc="-29" dirty="0">
                <a:latin typeface="Arial"/>
                <a:cs typeface="Arial"/>
              </a:rPr>
              <a:t> </a:t>
            </a:r>
            <a:r>
              <a:rPr sz="2646" spc="-8" dirty="0">
                <a:latin typeface="Arial"/>
                <a:cs typeface="Arial"/>
              </a:rPr>
              <a:t>module (stride=2)</a:t>
            </a:r>
            <a:endParaRPr sz="2646">
              <a:latin typeface="Arial"/>
              <a:cs typeface="Arial"/>
            </a:endParaRPr>
          </a:p>
          <a:p>
            <a:pPr marL="293521" marR="4201" indent="-283544">
              <a:lnSpc>
                <a:spcPts val="3060"/>
              </a:lnSpc>
              <a:spcBef>
                <a:spcPts val="633"/>
              </a:spcBef>
              <a:buChar char="•"/>
              <a:tabLst>
                <a:tab pos="293521" algn="l"/>
              </a:tabLst>
            </a:pPr>
            <a:r>
              <a:rPr sz="2646" dirty="0">
                <a:latin typeface="Arial"/>
                <a:cs typeface="Arial"/>
              </a:rPr>
              <a:t>Enforce</a:t>
            </a:r>
            <a:r>
              <a:rPr sz="2646" spc="-21" dirty="0">
                <a:latin typeface="Arial"/>
                <a:cs typeface="Arial"/>
              </a:rPr>
              <a:t> </a:t>
            </a:r>
            <a:r>
              <a:rPr sz="2646" dirty="0">
                <a:latin typeface="Arial"/>
                <a:cs typeface="Arial"/>
              </a:rPr>
              <a:t>some</a:t>
            </a:r>
            <a:r>
              <a:rPr sz="2646" spc="-12" dirty="0">
                <a:latin typeface="Arial"/>
                <a:cs typeface="Arial"/>
              </a:rPr>
              <a:t> </a:t>
            </a:r>
            <a:r>
              <a:rPr sz="2646" spc="-8" dirty="0">
                <a:latin typeface="Arial"/>
                <a:cs typeface="Arial"/>
              </a:rPr>
              <a:t>nontrivial </a:t>
            </a:r>
            <a:r>
              <a:rPr sz="2646" dirty="0">
                <a:latin typeface="Arial"/>
                <a:cs typeface="Arial"/>
              </a:rPr>
              <a:t>nonlinearity</a:t>
            </a:r>
            <a:r>
              <a:rPr sz="2646" spc="-17" dirty="0">
                <a:latin typeface="Arial"/>
                <a:cs typeface="Arial"/>
              </a:rPr>
              <a:t> </a:t>
            </a:r>
            <a:r>
              <a:rPr sz="2646" dirty="0">
                <a:latin typeface="Arial"/>
                <a:cs typeface="Arial"/>
              </a:rPr>
              <a:t>per</a:t>
            </a:r>
            <a:r>
              <a:rPr sz="2646" spc="-12" dirty="0">
                <a:latin typeface="Arial"/>
                <a:cs typeface="Arial"/>
              </a:rPr>
              <a:t> </a:t>
            </a:r>
            <a:r>
              <a:rPr sz="2646" dirty="0">
                <a:latin typeface="Arial"/>
                <a:cs typeface="Arial"/>
              </a:rPr>
              <a:t>module</a:t>
            </a:r>
            <a:r>
              <a:rPr sz="2646" spc="-12" dirty="0">
                <a:latin typeface="Arial"/>
                <a:cs typeface="Arial"/>
              </a:rPr>
              <a:t> </a:t>
            </a:r>
            <a:r>
              <a:rPr sz="2646" spc="-17" dirty="0">
                <a:latin typeface="Arial"/>
                <a:cs typeface="Arial"/>
              </a:rPr>
              <a:t>(via </a:t>
            </a:r>
            <a:r>
              <a:rPr sz="2646" dirty="0">
                <a:latin typeface="Arial"/>
                <a:cs typeface="Arial"/>
              </a:rPr>
              <a:t>1x1</a:t>
            </a:r>
            <a:r>
              <a:rPr sz="2646" spc="-4" dirty="0">
                <a:latin typeface="Arial"/>
                <a:cs typeface="Arial"/>
              </a:rPr>
              <a:t> </a:t>
            </a:r>
            <a:r>
              <a:rPr sz="2646" spc="-8" dirty="0">
                <a:latin typeface="Arial"/>
                <a:cs typeface="Arial"/>
              </a:rPr>
              <a:t>convolution)</a:t>
            </a:r>
            <a:endParaRPr sz="2646">
              <a:latin typeface="Arial"/>
              <a:cs typeface="Arial"/>
            </a:endParaRPr>
          </a:p>
          <a:p>
            <a:pPr marL="293521" indent="-283019">
              <a:spcBef>
                <a:spcPts val="438"/>
              </a:spcBef>
              <a:buChar char="•"/>
              <a:tabLst>
                <a:tab pos="293521" algn="l"/>
              </a:tabLst>
            </a:pPr>
            <a:r>
              <a:rPr sz="2646" dirty="0">
                <a:latin typeface="Arial"/>
                <a:cs typeface="Arial"/>
              </a:rPr>
              <a:t>Stack</a:t>
            </a:r>
            <a:r>
              <a:rPr sz="2646" spc="-17" dirty="0">
                <a:latin typeface="Arial"/>
                <a:cs typeface="Arial"/>
              </a:rPr>
              <a:t> </a:t>
            </a:r>
            <a:r>
              <a:rPr sz="2646" dirty="0">
                <a:latin typeface="Arial"/>
                <a:cs typeface="Arial"/>
              </a:rPr>
              <a:t>up</a:t>
            </a:r>
            <a:r>
              <a:rPr sz="2646" spc="-12" dirty="0">
                <a:latin typeface="Arial"/>
                <a:cs typeface="Arial"/>
              </a:rPr>
              <a:t> </a:t>
            </a:r>
            <a:r>
              <a:rPr sz="2646" dirty="0">
                <a:latin typeface="Arial"/>
                <a:cs typeface="Arial"/>
              </a:rPr>
              <a:t>in</a:t>
            </a:r>
            <a:r>
              <a:rPr sz="2646" spc="-12" dirty="0">
                <a:latin typeface="Arial"/>
                <a:cs typeface="Arial"/>
              </a:rPr>
              <a:t> </a:t>
            </a:r>
            <a:r>
              <a:rPr sz="2646" spc="-8" dirty="0">
                <a:latin typeface="Arial"/>
                <a:cs typeface="Arial"/>
              </a:rPr>
              <a:t>blocks</a:t>
            </a:r>
            <a:endParaRPr sz="2646">
              <a:latin typeface="Arial"/>
              <a:cs typeface="Arial"/>
            </a:endParaRPr>
          </a:p>
        </p:txBody>
      </p:sp>
      <p:sp>
        <p:nvSpPr>
          <p:cNvPr id="3" name="object 3"/>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1934400">
              <a:lnSpc>
                <a:spcPct val="100000"/>
              </a:lnSpc>
              <a:spcBef>
                <a:spcPts val="83"/>
              </a:spcBef>
            </a:pPr>
            <a:r>
              <a:rPr dirty="0">
                <a:latin typeface="Arial"/>
                <a:cs typeface="Arial"/>
              </a:rPr>
              <a:t>ResNet</a:t>
            </a:r>
            <a:r>
              <a:rPr spc="-87" dirty="0">
                <a:latin typeface="Arial"/>
                <a:cs typeface="Arial"/>
              </a:rPr>
              <a:t> </a:t>
            </a:r>
            <a:r>
              <a:rPr spc="-8" dirty="0">
                <a:latin typeface="Arial"/>
                <a:cs typeface="Arial"/>
              </a:rPr>
              <a:t>Module</a:t>
            </a:r>
          </a:p>
        </p:txBody>
      </p:sp>
      <p:grpSp>
        <p:nvGrpSpPr>
          <p:cNvPr id="4" name="object 4"/>
          <p:cNvGrpSpPr/>
          <p:nvPr/>
        </p:nvGrpSpPr>
        <p:grpSpPr>
          <a:xfrm>
            <a:off x="6229425" y="1240495"/>
            <a:ext cx="2474040" cy="3602899"/>
            <a:chOff x="6008200" y="1500263"/>
            <a:chExt cx="2992120" cy="4357370"/>
          </a:xfrm>
        </p:grpSpPr>
        <p:pic>
          <p:nvPicPr>
            <p:cNvPr id="5" name="object 5"/>
            <p:cNvPicPr/>
            <p:nvPr/>
          </p:nvPicPr>
          <p:blipFill>
            <a:blip r:embed="rId2" cstate="print"/>
            <a:stretch>
              <a:fillRect/>
            </a:stretch>
          </p:blipFill>
          <p:spPr>
            <a:xfrm>
              <a:off x="6008200" y="1500263"/>
              <a:ext cx="2991908" cy="4356767"/>
            </a:xfrm>
            <a:prstGeom prst="rect">
              <a:avLst/>
            </a:prstGeom>
          </p:spPr>
        </p:pic>
        <p:sp>
          <p:nvSpPr>
            <p:cNvPr id="6" name="object 6"/>
            <p:cNvSpPr/>
            <p:nvPr/>
          </p:nvSpPr>
          <p:spPr>
            <a:xfrm>
              <a:off x="6529026" y="5763015"/>
              <a:ext cx="52705" cy="43180"/>
            </a:xfrm>
            <a:custGeom>
              <a:avLst/>
              <a:gdLst/>
              <a:ahLst/>
              <a:cxnLst/>
              <a:rect l="l" t="t" r="r" b="b"/>
              <a:pathLst>
                <a:path w="52704" h="43179">
                  <a:moveTo>
                    <a:pt x="21139" y="0"/>
                  </a:moveTo>
                  <a:lnTo>
                    <a:pt x="9000" y="0"/>
                  </a:lnTo>
                  <a:lnTo>
                    <a:pt x="19712" y="20853"/>
                  </a:lnTo>
                  <a:lnTo>
                    <a:pt x="0" y="42702"/>
                  </a:lnTo>
                  <a:lnTo>
                    <a:pt x="14141" y="42702"/>
                  </a:lnTo>
                  <a:lnTo>
                    <a:pt x="24853" y="30703"/>
                  </a:lnTo>
                  <a:lnTo>
                    <a:pt x="36885" y="30703"/>
                  </a:lnTo>
                  <a:lnTo>
                    <a:pt x="32421" y="22133"/>
                  </a:lnTo>
                  <a:lnTo>
                    <a:pt x="41256" y="12284"/>
                  </a:lnTo>
                  <a:lnTo>
                    <a:pt x="27420" y="12284"/>
                  </a:lnTo>
                  <a:lnTo>
                    <a:pt x="21139" y="0"/>
                  </a:lnTo>
                  <a:close/>
                </a:path>
                <a:path w="52704" h="43179">
                  <a:moveTo>
                    <a:pt x="36885" y="30703"/>
                  </a:moveTo>
                  <a:lnTo>
                    <a:pt x="24853" y="30703"/>
                  </a:lnTo>
                  <a:lnTo>
                    <a:pt x="30995" y="42702"/>
                  </a:lnTo>
                  <a:lnTo>
                    <a:pt x="43134" y="42702"/>
                  </a:lnTo>
                  <a:lnTo>
                    <a:pt x="36885" y="30703"/>
                  </a:lnTo>
                  <a:close/>
                </a:path>
                <a:path w="52704" h="43179">
                  <a:moveTo>
                    <a:pt x="52274" y="0"/>
                  </a:moveTo>
                  <a:lnTo>
                    <a:pt x="38279" y="0"/>
                  </a:lnTo>
                  <a:lnTo>
                    <a:pt x="27420" y="12284"/>
                  </a:lnTo>
                  <a:lnTo>
                    <a:pt x="41256" y="12284"/>
                  </a:lnTo>
                  <a:lnTo>
                    <a:pt x="52274" y="0"/>
                  </a:lnTo>
                  <a:close/>
                </a:path>
              </a:pathLst>
            </a:custGeom>
            <a:solidFill>
              <a:srgbClr val="000000"/>
            </a:solidFill>
          </p:spPr>
          <p:txBody>
            <a:bodyPr wrap="square" lIns="0" tIns="0" rIns="0" bIns="0" rtlCol="0"/>
            <a:lstStyle/>
            <a:p>
              <a:endParaRPr sz="1488"/>
            </a:p>
          </p:txBody>
        </p:sp>
      </p:grpSp>
      <p:sp>
        <p:nvSpPr>
          <p:cNvPr id="7" name="object 7"/>
          <p:cNvSpPr txBox="1"/>
          <p:nvPr/>
        </p:nvSpPr>
        <p:spPr>
          <a:xfrm>
            <a:off x="7733785" y="4401632"/>
            <a:ext cx="889961" cy="316072"/>
          </a:xfrm>
          <a:prstGeom prst="rect">
            <a:avLst/>
          </a:prstGeom>
        </p:spPr>
        <p:txBody>
          <a:bodyPr vert="horz" wrap="square" lIns="0" tIns="10501" rIns="0" bIns="0" rtlCol="0">
            <a:spAutoFit/>
          </a:bodyPr>
          <a:lstStyle/>
          <a:p>
            <a:pPr marL="10502">
              <a:spcBef>
                <a:spcPts val="83"/>
              </a:spcBef>
            </a:pPr>
            <a:r>
              <a:rPr sz="1985" dirty="0">
                <a:solidFill>
                  <a:srgbClr val="FFFFFF"/>
                </a:solidFill>
                <a:latin typeface="Arial"/>
                <a:cs typeface="Arial"/>
              </a:rPr>
              <a:t>Stride</a:t>
            </a:r>
            <a:r>
              <a:rPr sz="1985" spc="-45" dirty="0">
                <a:solidFill>
                  <a:srgbClr val="FFFFFF"/>
                </a:solidFill>
                <a:latin typeface="Arial"/>
                <a:cs typeface="Arial"/>
              </a:rPr>
              <a:t> </a:t>
            </a:r>
            <a:r>
              <a:rPr sz="1985" spc="-41" dirty="0">
                <a:solidFill>
                  <a:srgbClr val="FFFFFF"/>
                </a:solidFill>
                <a:latin typeface="Arial"/>
                <a:cs typeface="Arial"/>
              </a:rPr>
              <a:t>2</a:t>
            </a:r>
            <a:endParaRPr sz="1985">
              <a:latin typeface="Arial"/>
              <a:cs typeface="Arial"/>
            </a:endParaRPr>
          </a:p>
        </p:txBody>
      </p:sp>
      <p:sp>
        <p:nvSpPr>
          <p:cNvPr id="8" name="object 8"/>
          <p:cNvSpPr/>
          <p:nvPr/>
        </p:nvSpPr>
        <p:spPr>
          <a:xfrm>
            <a:off x="7204302" y="1911244"/>
            <a:ext cx="1618207" cy="655789"/>
          </a:xfrm>
          <a:custGeom>
            <a:avLst/>
            <a:gdLst/>
            <a:ahLst/>
            <a:cxnLst/>
            <a:rect l="l" t="t" r="r" b="b"/>
            <a:pathLst>
              <a:path w="1957070" h="793114">
                <a:moveTo>
                  <a:pt x="1956776" y="0"/>
                </a:moveTo>
                <a:lnTo>
                  <a:pt x="692546" y="0"/>
                </a:lnTo>
                <a:lnTo>
                  <a:pt x="664467" y="5688"/>
                </a:lnTo>
                <a:lnTo>
                  <a:pt x="641503" y="21188"/>
                </a:lnTo>
                <a:lnTo>
                  <a:pt x="626003" y="44151"/>
                </a:lnTo>
                <a:lnTo>
                  <a:pt x="620314" y="72231"/>
                </a:lnTo>
                <a:lnTo>
                  <a:pt x="620314" y="283764"/>
                </a:lnTo>
                <a:lnTo>
                  <a:pt x="0" y="427831"/>
                </a:lnTo>
                <a:lnTo>
                  <a:pt x="620314" y="572293"/>
                </a:lnTo>
                <a:lnTo>
                  <a:pt x="620314" y="720725"/>
                </a:lnTo>
                <a:lnTo>
                  <a:pt x="626003" y="748742"/>
                </a:lnTo>
                <a:lnTo>
                  <a:pt x="641503" y="771569"/>
                </a:lnTo>
                <a:lnTo>
                  <a:pt x="664467" y="786932"/>
                </a:lnTo>
                <a:lnTo>
                  <a:pt x="692546" y="792558"/>
                </a:lnTo>
                <a:lnTo>
                  <a:pt x="1956776" y="792558"/>
                </a:lnTo>
                <a:lnTo>
                  <a:pt x="1956776" y="0"/>
                </a:lnTo>
                <a:close/>
              </a:path>
            </a:pathLst>
          </a:custGeom>
          <a:solidFill>
            <a:srgbClr val="FCB64C"/>
          </a:solidFill>
        </p:spPr>
        <p:txBody>
          <a:bodyPr wrap="square" lIns="0" tIns="0" rIns="0" bIns="0" rtlCol="0"/>
          <a:lstStyle/>
          <a:p>
            <a:endParaRPr sz="1488"/>
          </a:p>
        </p:txBody>
      </p:sp>
      <p:sp>
        <p:nvSpPr>
          <p:cNvPr id="9" name="object 9"/>
          <p:cNvSpPr txBox="1"/>
          <p:nvPr/>
        </p:nvSpPr>
        <p:spPr>
          <a:xfrm>
            <a:off x="7869611" y="2062762"/>
            <a:ext cx="889436" cy="316072"/>
          </a:xfrm>
          <a:prstGeom prst="rect">
            <a:avLst/>
          </a:prstGeom>
        </p:spPr>
        <p:txBody>
          <a:bodyPr vert="horz" wrap="square" lIns="0" tIns="10501" rIns="0" bIns="0" rtlCol="0">
            <a:spAutoFit/>
          </a:bodyPr>
          <a:lstStyle/>
          <a:p>
            <a:pPr marL="10502">
              <a:spcBef>
                <a:spcPts val="83"/>
              </a:spcBef>
            </a:pPr>
            <a:r>
              <a:rPr sz="1985" spc="-8" dirty="0">
                <a:solidFill>
                  <a:srgbClr val="FFFFFF"/>
                </a:solidFill>
                <a:latin typeface="Arial"/>
                <a:cs typeface="Arial"/>
              </a:rPr>
              <a:t>Multiple</a:t>
            </a:r>
            <a:endParaRPr sz="1985">
              <a:latin typeface="Arial"/>
              <a:cs typeface="Arial"/>
            </a:endParaRPr>
          </a:p>
        </p:txBody>
      </p:sp>
      <p:sp>
        <p:nvSpPr>
          <p:cNvPr id="10" name="object 10"/>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8100">
              <a:lnSpc>
                <a:spcPts val="1485"/>
              </a:lnSpc>
            </a:pPr>
            <a:fld id="{81D60167-4931-47E6-BA6A-407CBD079E47}" type="slidenum">
              <a:rPr lang="en-US" spc="-25" smtClean="0"/>
              <a:pPr marL="38100">
                <a:lnSpc>
                  <a:spcPts val="1485"/>
                </a:lnSpc>
              </a:pPr>
              <a:t>58</a:t>
            </a:fld>
            <a:endParaRPr spc="-21" dirty="0"/>
          </a:p>
        </p:txBody>
      </p:sp>
    </p:spTree>
    <p:extLst>
      <p:ext uri="{BB962C8B-B14F-4D97-AF65-F5344CB8AC3E}">
        <p14:creationId xmlns:p14="http://schemas.microsoft.com/office/powerpoint/2010/main" val="4507397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03057" y="999695"/>
            <a:ext cx="7077686" cy="84008"/>
            <a:chOff x="292100" y="1209037"/>
            <a:chExt cx="8559800" cy="101600"/>
          </a:xfrm>
        </p:grpSpPr>
        <p:pic>
          <p:nvPicPr>
            <p:cNvPr id="3" name="object 3"/>
            <p:cNvPicPr/>
            <p:nvPr/>
          </p:nvPicPr>
          <p:blipFill>
            <a:blip r:embed="rId2" cstate="print"/>
            <a:stretch>
              <a:fillRect/>
            </a:stretch>
          </p:blipFill>
          <p:spPr>
            <a:xfrm>
              <a:off x="292100" y="1209037"/>
              <a:ext cx="8559800" cy="101600"/>
            </a:xfrm>
            <a:prstGeom prst="rect">
              <a:avLst/>
            </a:prstGeom>
          </p:spPr>
        </p:pic>
        <p:sp>
          <p:nvSpPr>
            <p:cNvPr id="4" name="object 4"/>
            <p:cNvSpPr/>
            <p:nvPr/>
          </p:nvSpPr>
          <p:spPr>
            <a:xfrm>
              <a:off x="330200" y="1239837"/>
              <a:ext cx="8483600" cy="0"/>
            </a:xfrm>
            <a:custGeom>
              <a:avLst/>
              <a:gdLst/>
              <a:ahLst/>
              <a:cxnLst/>
              <a:rect l="l" t="t" r="r" b="b"/>
              <a:pathLst>
                <a:path w="8483600">
                  <a:moveTo>
                    <a:pt x="0" y="0"/>
                  </a:moveTo>
                  <a:lnTo>
                    <a:pt x="8483600" y="0"/>
                  </a:lnTo>
                </a:path>
              </a:pathLst>
            </a:custGeom>
            <a:ln w="25400">
              <a:solidFill>
                <a:srgbClr val="006CDB"/>
              </a:solidFill>
            </a:ln>
          </p:spPr>
          <p:txBody>
            <a:bodyPr wrap="square" lIns="0" tIns="0" rIns="0" bIns="0" rtlCol="0"/>
            <a:lstStyle/>
            <a:p>
              <a:endParaRPr sz="1488"/>
            </a:p>
          </p:txBody>
        </p:sp>
      </p:grpSp>
      <p:sp>
        <p:nvSpPr>
          <p:cNvPr id="5" name="object 5"/>
          <p:cNvSpPr txBox="1"/>
          <p:nvPr/>
        </p:nvSpPr>
        <p:spPr>
          <a:xfrm>
            <a:off x="2517362" y="1701165"/>
            <a:ext cx="4815767" cy="1770998"/>
          </a:xfrm>
          <a:prstGeom prst="rect">
            <a:avLst/>
          </a:prstGeom>
          <a:solidFill>
            <a:srgbClr val="F6F7F7"/>
          </a:solidFill>
        </p:spPr>
        <p:txBody>
          <a:bodyPr vert="horz" wrap="square" lIns="0" tIns="0" rIns="0" bIns="0" rtlCol="0">
            <a:spAutoFit/>
          </a:bodyPr>
          <a:lstStyle/>
          <a:p>
            <a:pPr>
              <a:lnSpc>
                <a:spcPts val="1927"/>
              </a:lnSpc>
            </a:pPr>
            <a:r>
              <a:rPr sz="1654" dirty="0">
                <a:solidFill>
                  <a:srgbClr val="455A64"/>
                </a:solidFill>
                <a:latin typeface="Courier New"/>
                <a:cs typeface="Courier New"/>
              </a:rPr>
              <a:t>blk </a:t>
            </a:r>
            <a:r>
              <a:rPr sz="1654" dirty="0">
                <a:solidFill>
                  <a:srgbClr val="666666"/>
                </a:solidFill>
                <a:latin typeface="Courier New"/>
                <a:cs typeface="Courier New"/>
              </a:rPr>
              <a:t>= </a:t>
            </a:r>
            <a:r>
              <a:rPr sz="1654" spc="-8" dirty="0">
                <a:solidFill>
                  <a:srgbClr val="455A64"/>
                </a:solidFill>
                <a:latin typeface="Courier New"/>
                <a:cs typeface="Courier New"/>
              </a:rPr>
              <a:t>nn</a:t>
            </a:r>
            <a:r>
              <a:rPr sz="1654" spc="-8" dirty="0">
                <a:solidFill>
                  <a:srgbClr val="666666"/>
                </a:solidFill>
                <a:latin typeface="Courier New"/>
                <a:cs typeface="Courier New"/>
              </a:rPr>
              <a:t>.</a:t>
            </a:r>
            <a:r>
              <a:rPr sz="1654" spc="-8" dirty="0">
                <a:solidFill>
                  <a:srgbClr val="455A64"/>
                </a:solidFill>
                <a:latin typeface="Courier New"/>
                <a:cs typeface="Courier New"/>
              </a:rPr>
              <a:t>Sequential()</a:t>
            </a:r>
            <a:endParaRPr sz="1654">
              <a:latin typeface="Courier New"/>
              <a:cs typeface="Courier New"/>
            </a:endParaRPr>
          </a:p>
          <a:p>
            <a:pPr>
              <a:lnSpc>
                <a:spcPct val="100000"/>
              </a:lnSpc>
            </a:pPr>
            <a:r>
              <a:rPr sz="1654" b="1" dirty="0">
                <a:solidFill>
                  <a:srgbClr val="007020"/>
                </a:solidFill>
                <a:latin typeface="Courier New"/>
                <a:cs typeface="Courier New"/>
              </a:rPr>
              <a:t>for </a:t>
            </a:r>
            <a:r>
              <a:rPr sz="1654" dirty="0">
                <a:solidFill>
                  <a:srgbClr val="455A64"/>
                </a:solidFill>
                <a:latin typeface="Courier New"/>
                <a:cs typeface="Courier New"/>
              </a:rPr>
              <a:t>i </a:t>
            </a:r>
            <a:r>
              <a:rPr sz="1654" b="1" dirty="0">
                <a:solidFill>
                  <a:srgbClr val="007020"/>
                </a:solidFill>
                <a:latin typeface="Courier New"/>
                <a:cs typeface="Courier New"/>
              </a:rPr>
              <a:t>in </a:t>
            </a:r>
            <a:r>
              <a:rPr sz="1654" spc="-8" dirty="0">
                <a:solidFill>
                  <a:srgbClr val="007020"/>
                </a:solidFill>
                <a:latin typeface="Courier New"/>
                <a:cs typeface="Courier New"/>
              </a:rPr>
              <a:t>range</a:t>
            </a:r>
            <a:r>
              <a:rPr sz="1654" spc="-8" dirty="0">
                <a:solidFill>
                  <a:srgbClr val="455A64"/>
                </a:solidFill>
                <a:latin typeface="Courier New"/>
                <a:cs typeface="Courier New"/>
              </a:rPr>
              <a:t>(num_residuals):</a:t>
            </a:r>
            <a:endParaRPr sz="1654">
              <a:latin typeface="Courier New"/>
              <a:cs typeface="Courier New"/>
            </a:endParaRPr>
          </a:p>
          <a:p>
            <a:pPr marL="758743" marR="256765" indent="-379634"/>
            <a:r>
              <a:rPr sz="1654" b="1" dirty="0">
                <a:solidFill>
                  <a:srgbClr val="007020"/>
                </a:solidFill>
                <a:latin typeface="Courier New"/>
                <a:cs typeface="Courier New"/>
              </a:rPr>
              <a:t>if </a:t>
            </a:r>
            <a:r>
              <a:rPr sz="1654" dirty="0">
                <a:solidFill>
                  <a:srgbClr val="455A64"/>
                </a:solidFill>
                <a:latin typeface="Courier New"/>
                <a:cs typeface="Courier New"/>
              </a:rPr>
              <a:t>i </a:t>
            </a:r>
            <a:r>
              <a:rPr sz="1654" dirty="0">
                <a:solidFill>
                  <a:srgbClr val="666666"/>
                </a:solidFill>
                <a:latin typeface="Courier New"/>
                <a:cs typeface="Courier New"/>
              </a:rPr>
              <a:t>== </a:t>
            </a:r>
            <a:r>
              <a:rPr sz="1654" dirty="0">
                <a:solidFill>
                  <a:srgbClr val="208050"/>
                </a:solidFill>
                <a:latin typeface="Courier New"/>
                <a:cs typeface="Courier New"/>
              </a:rPr>
              <a:t>0 </a:t>
            </a:r>
            <a:r>
              <a:rPr sz="1654" b="1" dirty="0">
                <a:solidFill>
                  <a:srgbClr val="007020"/>
                </a:solidFill>
                <a:latin typeface="Courier New"/>
                <a:cs typeface="Courier New"/>
              </a:rPr>
              <a:t>and not </a:t>
            </a:r>
            <a:r>
              <a:rPr sz="1654" spc="-8" dirty="0">
                <a:solidFill>
                  <a:srgbClr val="455A64"/>
                </a:solidFill>
                <a:latin typeface="Courier New"/>
                <a:cs typeface="Courier New"/>
              </a:rPr>
              <a:t>first_block: blk</a:t>
            </a:r>
            <a:r>
              <a:rPr sz="1654" spc="-8" dirty="0">
                <a:solidFill>
                  <a:srgbClr val="666666"/>
                </a:solidFill>
                <a:latin typeface="Courier New"/>
                <a:cs typeface="Courier New"/>
              </a:rPr>
              <a:t>.</a:t>
            </a:r>
            <a:r>
              <a:rPr sz="1654" spc="-8" dirty="0">
                <a:solidFill>
                  <a:srgbClr val="455A64"/>
                </a:solidFill>
                <a:latin typeface="Courier New"/>
                <a:cs typeface="Courier New"/>
              </a:rPr>
              <a:t>add(Residual(num_channels,</a:t>
            </a:r>
            <a:endParaRPr sz="1654">
              <a:latin typeface="Courier New"/>
              <a:cs typeface="Courier New"/>
            </a:endParaRPr>
          </a:p>
          <a:p>
            <a:pPr marL="1137852"/>
            <a:r>
              <a:rPr sz="1654" dirty="0">
                <a:solidFill>
                  <a:srgbClr val="455A64"/>
                </a:solidFill>
                <a:latin typeface="Courier New"/>
                <a:cs typeface="Courier New"/>
              </a:rPr>
              <a:t>use_1x1conv</a:t>
            </a:r>
            <a:r>
              <a:rPr sz="1654" dirty="0">
                <a:solidFill>
                  <a:srgbClr val="666666"/>
                </a:solidFill>
                <a:latin typeface="Courier New"/>
                <a:cs typeface="Courier New"/>
              </a:rPr>
              <a:t>=</a:t>
            </a:r>
            <a:r>
              <a:rPr sz="1654" dirty="0">
                <a:solidFill>
                  <a:srgbClr val="007020"/>
                </a:solidFill>
                <a:latin typeface="Courier New"/>
                <a:cs typeface="Courier New"/>
              </a:rPr>
              <a:t>True</a:t>
            </a:r>
            <a:r>
              <a:rPr sz="1654" dirty="0">
                <a:solidFill>
                  <a:srgbClr val="455A64"/>
                </a:solidFill>
                <a:latin typeface="Courier New"/>
                <a:cs typeface="Courier New"/>
              </a:rPr>
              <a:t>,</a:t>
            </a:r>
            <a:r>
              <a:rPr sz="1654" spc="-17" dirty="0">
                <a:solidFill>
                  <a:srgbClr val="455A64"/>
                </a:solidFill>
                <a:latin typeface="Courier New"/>
                <a:cs typeface="Courier New"/>
              </a:rPr>
              <a:t> </a:t>
            </a:r>
            <a:r>
              <a:rPr sz="1654" spc="-8" dirty="0">
                <a:solidFill>
                  <a:srgbClr val="455A64"/>
                </a:solidFill>
                <a:latin typeface="Courier New"/>
                <a:cs typeface="Courier New"/>
              </a:rPr>
              <a:t>strides</a:t>
            </a:r>
            <a:r>
              <a:rPr sz="1654" spc="-8" dirty="0">
                <a:solidFill>
                  <a:srgbClr val="666666"/>
                </a:solidFill>
                <a:latin typeface="Courier New"/>
                <a:cs typeface="Courier New"/>
              </a:rPr>
              <a:t>=</a:t>
            </a:r>
            <a:r>
              <a:rPr sz="1654" spc="-8" dirty="0">
                <a:solidFill>
                  <a:srgbClr val="208050"/>
                </a:solidFill>
                <a:latin typeface="Courier New"/>
                <a:cs typeface="Courier New"/>
              </a:rPr>
              <a:t>2</a:t>
            </a:r>
            <a:r>
              <a:rPr sz="1654" spc="-8" dirty="0">
                <a:solidFill>
                  <a:srgbClr val="455A64"/>
                </a:solidFill>
                <a:latin typeface="Courier New"/>
                <a:cs typeface="Courier New"/>
              </a:rPr>
              <a:t>))</a:t>
            </a:r>
            <a:endParaRPr sz="1654">
              <a:latin typeface="Courier New"/>
              <a:cs typeface="Courier New"/>
            </a:endParaRPr>
          </a:p>
          <a:p>
            <a:pPr marL="379109"/>
            <a:r>
              <a:rPr sz="1654" b="1" spc="-8" dirty="0">
                <a:solidFill>
                  <a:srgbClr val="007020"/>
                </a:solidFill>
                <a:latin typeface="Courier New"/>
                <a:cs typeface="Courier New"/>
              </a:rPr>
              <a:t>else</a:t>
            </a:r>
            <a:r>
              <a:rPr sz="1654" spc="-8" dirty="0">
                <a:solidFill>
                  <a:srgbClr val="455A64"/>
                </a:solidFill>
                <a:latin typeface="Courier New"/>
                <a:cs typeface="Courier New"/>
              </a:rPr>
              <a:t>:</a:t>
            </a:r>
            <a:endParaRPr sz="1654">
              <a:latin typeface="Courier New"/>
              <a:cs typeface="Courier New"/>
            </a:endParaRPr>
          </a:p>
          <a:p>
            <a:pPr marL="758743"/>
            <a:r>
              <a:rPr sz="1654" spc="-8" dirty="0">
                <a:solidFill>
                  <a:srgbClr val="455A64"/>
                </a:solidFill>
                <a:latin typeface="Courier New"/>
                <a:cs typeface="Courier New"/>
              </a:rPr>
              <a:t>blk</a:t>
            </a:r>
            <a:r>
              <a:rPr sz="1654" spc="-8" dirty="0">
                <a:solidFill>
                  <a:srgbClr val="666666"/>
                </a:solidFill>
                <a:latin typeface="Courier New"/>
                <a:cs typeface="Courier New"/>
              </a:rPr>
              <a:t>.</a:t>
            </a:r>
            <a:r>
              <a:rPr sz="1654" spc="-8" dirty="0">
                <a:solidFill>
                  <a:srgbClr val="455A64"/>
                </a:solidFill>
                <a:latin typeface="Courier New"/>
                <a:cs typeface="Courier New"/>
              </a:rPr>
              <a:t>add(Residual(num_channels))</a:t>
            </a:r>
            <a:endParaRPr sz="1654">
              <a:latin typeface="Courier New"/>
              <a:cs typeface="Courier New"/>
            </a:endParaRPr>
          </a:p>
        </p:txBody>
      </p:sp>
      <p:sp>
        <p:nvSpPr>
          <p:cNvPr id="6" name="object 6"/>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8100">
              <a:lnSpc>
                <a:spcPts val="1485"/>
              </a:lnSpc>
            </a:pPr>
            <a:fld id="{81D60167-4931-47E6-BA6A-407CBD079E47}" type="slidenum">
              <a:rPr lang="en-US" spc="-25" smtClean="0"/>
              <a:pPr marL="38100">
                <a:lnSpc>
                  <a:spcPts val="1485"/>
                </a:lnSpc>
              </a:pPr>
              <a:t>59</a:t>
            </a:fld>
            <a:endParaRPr spc="-21" dirty="0"/>
          </a:p>
        </p:txBody>
      </p:sp>
    </p:spTree>
    <p:extLst>
      <p:ext uri="{BB962C8B-B14F-4D97-AF65-F5344CB8AC3E}">
        <p14:creationId xmlns:p14="http://schemas.microsoft.com/office/powerpoint/2010/main" val="30130933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03057" y="971362"/>
            <a:ext cx="7077686" cy="1654961"/>
            <a:chOff x="292100" y="1174772"/>
            <a:chExt cx="8559800" cy="2001520"/>
          </a:xfrm>
        </p:grpSpPr>
        <p:pic>
          <p:nvPicPr>
            <p:cNvPr id="3" name="object 3"/>
            <p:cNvPicPr/>
            <p:nvPr/>
          </p:nvPicPr>
          <p:blipFill>
            <a:blip r:embed="rId2" cstate="print"/>
            <a:stretch>
              <a:fillRect/>
            </a:stretch>
          </p:blipFill>
          <p:spPr>
            <a:xfrm>
              <a:off x="292100" y="1209037"/>
              <a:ext cx="8559800" cy="101600"/>
            </a:xfrm>
            <a:prstGeom prst="rect">
              <a:avLst/>
            </a:prstGeom>
          </p:spPr>
        </p:pic>
        <p:sp>
          <p:nvSpPr>
            <p:cNvPr id="4" name="object 4"/>
            <p:cNvSpPr/>
            <p:nvPr/>
          </p:nvSpPr>
          <p:spPr>
            <a:xfrm>
              <a:off x="330200" y="1239837"/>
              <a:ext cx="7123430" cy="0"/>
            </a:xfrm>
            <a:custGeom>
              <a:avLst/>
              <a:gdLst/>
              <a:ahLst/>
              <a:cxnLst/>
              <a:rect l="l" t="t" r="r" b="b"/>
              <a:pathLst>
                <a:path w="7123430">
                  <a:moveTo>
                    <a:pt x="0" y="0"/>
                  </a:moveTo>
                  <a:lnTo>
                    <a:pt x="7123346" y="0"/>
                  </a:lnTo>
                </a:path>
              </a:pathLst>
            </a:custGeom>
            <a:ln w="25400">
              <a:solidFill>
                <a:srgbClr val="006CDB"/>
              </a:solidFill>
            </a:ln>
          </p:spPr>
          <p:txBody>
            <a:bodyPr wrap="square" lIns="0" tIns="0" rIns="0" bIns="0" rtlCol="0"/>
            <a:lstStyle/>
            <a:p>
              <a:endParaRPr sz="1488"/>
            </a:p>
          </p:txBody>
        </p:sp>
        <p:pic>
          <p:nvPicPr>
            <p:cNvPr id="5" name="object 5"/>
            <p:cNvPicPr/>
            <p:nvPr/>
          </p:nvPicPr>
          <p:blipFill>
            <a:blip r:embed="rId3" cstate="print"/>
            <a:stretch>
              <a:fillRect/>
            </a:stretch>
          </p:blipFill>
          <p:spPr>
            <a:xfrm>
              <a:off x="7625655" y="1301657"/>
              <a:ext cx="70360" cy="70360"/>
            </a:xfrm>
            <a:prstGeom prst="rect">
              <a:avLst/>
            </a:prstGeom>
          </p:spPr>
        </p:pic>
        <p:sp>
          <p:nvSpPr>
            <p:cNvPr id="6" name="object 6"/>
            <p:cNvSpPr/>
            <p:nvPr/>
          </p:nvSpPr>
          <p:spPr>
            <a:xfrm>
              <a:off x="7453546" y="1452885"/>
              <a:ext cx="418465" cy="80645"/>
            </a:xfrm>
            <a:custGeom>
              <a:avLst/>
              <a:gdLst/>
              <a:ahLst/>
              <a:cxnLst/>
              <a:rect l="l" t="t" r="r" b="b"/>
              <a:pathLst>
                <a:path w="418465" h="80644">
                  <a:moveTo>
                    <a:pt x="417948" y="80043"/>
                  </a:moveTo>
                  <a:lnTo>
                    <a:pt x="0" y="80043"/>
                  </a:lnTo>
                  <a:lnTo>
                    <a:pt x="0" y="0"/>
                  </a:lnTo>
                  <a:lnTo>
                    <a:pt x="417948" y="0"/>
                  </a:lnTo>
                  <a:lnTo>
                    <a:pt x="417948" y="80043"/>
                  </a:lnTo>
                  <a:close/>
                </a:path>
              </a:pathLst>
            </a:custGeom>
            <a:solidFill>
              <a:srgbClr val="FFFFFF"/>
            </a:solidFill>
          </p:spPr>
          <p:txBody>
            <a:bodyPr wrap="square" lIns="0" tIns="0" rIns="0" bIns="0" rtlCol="0"/>
            <a:lstStyle/>
            <a:p>
              <a:endParaRPr sz="1488"/>
            </a:p>
          </p:txBody>
        </p:sp>
        <p:pic>
          <p:nvPicPr>
            <p:cNvPr id="7" name="object 7"/>
            <p:cNvPicPr/>
            <p:nvPr/>
          </p:nvPicPr>
          <p:blipFill>
            <a:blip r:embed="rId4" cstate="print"/>
            <a:stretch>
              <a:fillRect/>
            </a:stretch>
          </p:blipFill>
          <p:spPr>
            <a:xfrm>
              <a:off x="7871495" y="1174772"/>
              <a:ext cx="942304" cy="2000929"/>
            </a:xfrm>
            <a:prstGeom prst="rect">
              <a:avLst/>
            </a:prstGeom>
          </p:spPr>
        </p:pic>
      </p:grpSp>
      <p:sp>
        <p:nvSpPr>
          <p:cNvPr id="8" name="object 8"/>
          <p:cNvSpPr txBox="1"/>
          <p:nvPr/>
        </p:nvSpPr>
        <p:spPr>
          <a:xfrm>
            <a:off x="1666872" y="1154973"/>
            <a:ext cx="4902400" cy="3893494"/>
          </a:xfrm>
          <a:prstGeom prst="rect">
            <a:avLst/>
          </a:prstGeom>
        </p:spPr>
        <p:txBody>
          <a:bodyPr vert="horz" wrap="square" lIns="0" tIns="38854" rIns="0" bIns="0" rtlCol="0">
            <a:spAutoFit/>
          </a:bodyPr>
          <a:lstStyle/>
          <a:p>
            <a:pPr marL="251514" marR="4201" indent="-241537">
              <a:lnSpc>
                <a:spcPts val="2729"/>
              </a:lnSpc>
              <a:spcBef>
                <a:spcPts val="306"/>
              </a:spcBef>
              <a:buChar char="•"/>
              <a:tabLst>
                <a:tab pos="251514" algn="l"/>
              </a:tabLst>
            </a:pPr>
            <a:r>
              <a:rPr sz="2398" dirty="0">
                <a:latin typeface="Arial"/>
                <a:cs typeface="Arial"/>
              </a:rPr>
              <a:t>Same</a:t>
            </a:r>
            <a:r>
              <a:rPr sz="2398" spc="-8" dirty="0">
                <a:latin typeface="Arial"/>
                <a:cs typeface="Arial"/>
              </a:rPr>
              <a:t> </a:t>
            </a:r>
            <a:r>
              <a:rPr sz="2398" dirty="0">
                <a:latin typeface="Arial"/>
                <a:cs typeface="Arial"/>
              </a:rPr>
              <a:t>block</a:t>
            </a:r>
            <a:r>
              <a:rPr sz="2398" spc="-4" dirty="0">
                <a:latin typeface="Arial"/>
                <a:cs typeface="Arial"/>
              </a:rPr>
              <a:t> </a:t>
            </a:r>
            <a:r>
              <a:rPr sz="2398" dirty="0">
                <a:latin typeface="Arial"/>
                <a:cs typeface="Arial"/>
              </a:rPr>
              <a:t>structure</a:t>
            </a:r>
            <a:r>
              <a:rPr sz="2398" spc="-4" dirty="0">
                <a:latin typeface="Arial"/>
                <a:cs typeface="Arial"/>
              </a:rPr>
              <a:t> </a:t>
            </a:r>
            <a:r>
              <a:rPr sz="2398" dirty="0">
                <a:latin typeface="Arial"/>
                <a:cs typeface="Arial"/>
              </a:rPr>
              <a:t>as</a:t>
            </a:r>
            <a:r>
              <a:rPr sz="2398" spc="-4" dirty="0">
                <a:latin typeface="Arial"/>
                <a:cs typeface="Arial"/>
              </a:rPr>
              <a:t> </a:t>
            </a:r>
            <a:r>
              <a:rPr sz="2398" dirty="0">
                <a:latin typeface="Arial"/>
                <a:cs typeface="Arial"/>
              </a:rPr>
              <a:t>e.g.</a:t>
            </a:r>
            <a:r>
              <a:rPr sz="2398" spc="-4" dirty="0">
                <a:latin typeface="Arial"/>
                <a:cs typeface="Arial"/>
              </a:rPr>
              <a:t> </a:t>
            </a:r>
            <a:r>
              <a:rPr sz="2398" spc="-21" dirty="0">
                <a:latin typeface="Arial"/>
                <a:cs typeface="Arial"/>
              </a:rPr>
              <a:t>VGG </a:t>
            </a:r>
            <a:r>
              <a:rPr sz="2398" dirty="0">
                <a:latin typeface="Arial"/>
                <a:cs typeface="Arial"/>
              </a:rPr>
              <a:t>or </a:t>
            </a:r>
            <a:r>
              <a:rPr sz="2398" spc="-8" dirty="0">
                <a:latin typeface="Arial"/>
                <a:cs typeface="Arial"/>
              </a:rPr>
              <a:t>GoogleNet</a:t>
            </a:r>
            <a:endParaRPr sz="2398">
              <a:latin typeface="Arial"/>
              <a:cs typeface="Arial"/>
            </a:endParaRPr>
          </a:p>
          <a:p>
            <a:pPr marL="251514" marR="614345" indent="-241537">
              <a:lnSpc>
                <a:spcPts val="2729"/>
              </a:lnSpc>
              <a:spcBef>
                <a:spcPts val="579"/>
              </a:spcBef>
              <a:buChar char="•"/>
              <a:tabLst>
                <a:tab pos="251514" algn="l"/>
              </a:tabLst>
            </a:pPr>
            <a:r>
              <a:rPr sz="2398" dirty="0">
                <a:latin typeface="Arial"/>
                <a:cs typeface="Arial"/>
              </a:rPr>
              <a:t>Residual</a:t>
            </a:r>
            <a:r>
              <a:rPr sz="2398" spc="-8" dirty="0">
                <a:latin typeface="Arial"/>
                <a:cs typeface="Arial"/>
              </a:rPr>
              <a:t> </a:t>
            </a:r>
            <a:r>
              <a:rPr sz="2398" dirty="0">
                <a:latin typeface="Arial"/>
                <a:cs typeface="Arial"/>
              </a:rPr>
              <a:t>connection</a:t>
            </a:r>
            <a:r>
              <a:rPr sz="2398" spc="-4" dirty="0">
                <a:latin typeface="Arial"/>
                <a:cs typeface="Arial"/>
              </a:rPr>
              <a:t> </a:t>
            </a:r>
            <a:r>
              <a:rPr sz="2398" dirty="0">
                <a:latin typeface="Arial"/>
                <a:cs typeface="Arial"/>
              </a:rPr>
              <a:t>to</a:t>
            </a:r>
            <a:r>
              <a:rPr sz="2398" spc="-4" dirty="0">
                <a:latin typeface="Arial"/>
                <a:cs typeface="Arial"/>
              </a:rPr>
              <a:t> </a:t>
            </a:r>
            <a:r>
              <a:rPr sz="2398" dirty="0">
                <a:latin typeface="Arial"/>
                <a:cs typeface="Arial"/>
              </a:rPr>
              <a:t>add</a:t>
            </a:r>
            <a:r>
              <a:rPr sz="2398" spc="-4" dirty="0">
                <a:latin typeface="Arial"/>
                <a:cs typeface="Arial"/>
              </a:rPr>
              <a:t> </a:t>
            </a:r>
            <a:r>
              <a:rPr sz="2398" spc="-21" dirty="0">
                <a:latin typeface="Arial"/>
                <a:cs typeface="Arial"/>
              </a:rPr>
              <a:t>to </a:t>
            </a:r>
            <a:r>
              <a:rPr sz="2398" spc="-8" dirty="0">
                <a:latin typeface="Arial"/>
                <a:cs typeface="Arial"/>
              </a:rPr>
              <a:t>expressiveness</a:t>
            </a:r>
            <a:endParaRPr sz="2398">
              <a:latin typeface="Arial"/>
              <a:cs typeface="Arial"/>
            </a:endParaRPr>
          </a:p>
          <a:p>
            <a:pPr marL="251514" marR="326601" indent="-241537">
              <a:lnSpc>
                <a:spcPts val="2729"/>
              </a:lnSpc>
              <a:spcBef>
                <a:spcPts val="579"/>
              </a:spcBef>
              <a:buChar char="•"/>
              <a:tabLst>
                <a:tab pos="251514" algn="l"/>
              </a:tabLst>
            </a:pPr>
            <a:r>
              <a:rPr sz="2398" dirty="0">
                <a:latin typeface="Arial"/>
                <a:cs typeface="Arial"/>
              </a:rPr>
              <a:t>Pooling/stride</a:t>
            </a:r>
            <a:r>
              <a:rPr sz="2398" spc="-12" dirty="0">
                <a:latin typeface="Arial"/>
                <a:cs typeface="Arial"/>
              </a:rPr>
              <a:t> </a:t>
            </a:r>
            <a:r>
              <a:rPr sz="2398" dirty="0">
                <a:latin typeface="Arial"/>
                <a:cs typeface="Arial"/>
              </a:rPr>
              <a:t>for</a:t>
            </a:r>
            <a:r>
              <a:rPr sz="2398" spc="-8" dirty="0">
                <a:latin typeface="Arial"/>
                <a:cs typeface="Arial"/>
              </a:rPr>
              <a:t> dimensionality reduction</a:t>
            </a:r>
            <a:endParaRPr sz="2398">
              <a:latin typeface="Arial"/>
              <a:cs typeface="Arial"/>
            </a:endParaRPr>
          </a:p>
          <a:p>
            <a:pPr marL="251514" marR="258865" indent="-241537">
              <a:lnSpc>
                <a:spcPts val="2729"/>
              </a:lnSpc>
              <a:spcBef>
                <a:spcPts val="575"/>
              </a:spcBef>
              <a:buChar char="•"/>
              <a:tabLst>
                <a:tab pos="251514" algn="l"/>
              </a:tabLst>
            </a:pPr>
            <a:r>
              <a:rPr sz="2398" dirty="0">
                <a:latin typeface="Arial"/>
                <a:cs typeface="Arial"/>
              </a:rPr>
              <a:t>Batch</a:t>
            </a:r>
            <a:r>
              <a:rPr sz="2398" spc="-12" dirty="0">
                <a:latin typeface="Arial"/>
                <a:cs typeface="Arial"/>
              </a:rPr>
              <a:t> </a:t>
            </a:r>
            <a:r>
              <a:rPr sz="2398" dirty="0">
                <a:latin typeface="Arial"/>
                <a:cs typeface="Arial"/>
              </a:rPr>
              <a:t>Normalization</a:t>
            </a:r>
            <a:r>
              <a:rPr sz="2398" spc="-8" dirty="0">
                <a:latin typeface="Arial"/>
                <a:cs typeface="Arial"/>
              </a:rPr>
              <a:t> </a:t>
            </a:r>
            <a:r>
              <a:rPr sz="2398" dirty="0">
                <a:latin typeface="Arial"/>
                <a:cs typeface="Arial"/>
              </a:rPr>
              <a:t>for</a:t>
            </a:r>
            <a:r>
              <a:rPr sz="2398" spc="-12" dirty="0">
                <a:latin typeface="Arial"/>
                <a:cs typeface="Arial"/>
              </a:rPr>
              <a:t> </a:t>
            </a:r>
            <a:r>
              <a:rPr sz="2398" spc="-8" dirty="0">
                <a:latin typeface="Arial"/>
                <a:cs typeface="Arial"/>
              </a:rPr>
              <a:t>capacity control</a:t>
            </a:r>
            <a:endParaRPr sz="2398">
              <a:latin typeface="Arial"/>
              <a:cs typeface="Arial"/>
            </a:endParaRPr>
          </a:p>
          <a:p>
            <a:pPr>
              <a:spcBef>
                <a:spcPts val="914"/>
              </a:spcBef>
            </a:pPr>
            <a:endParaRPr sz="2398">
              <a:latin typeface="Arial"/>
              <a:cs typeface="Arial"/>
            </a:endParaRPr>
          </a:p>
          <a:p>
            <a:pPr marL="10502"/>
            <a:r>
              <a:rPr sz="2398" dirty="0">
                <a:latin typeface="Arial"/>
                <a:cs typeface="Arial"/>
              </a:rPr>
              <a:t>…</a:t>
            </a:r>
            <a:r>
              <a:rPr sz="2398" spc="-4" dirty="0">
                <a:latin typeface="Arial"/>
                <a:cs typeface="Arial"/>
              </a:rPr>
              <a:t> </a:t>
            </a:r>
            <a:r>
              <a:rPr sz="2398" dirty="0">
                <a:latin typeface="Arial"/>
                <a:cs typeface="Arial"/>
              </a:rPr>
              <a:t>train</a:t>
            </a:r>
            <a:r>
              <a:rPr sz="2398" spc="-4" dirty="0">
                <a:latin typeface="Arial"/>
                <a:cs typeface="Arial"/>
              </a:rPr>
              <a:t> </a:t>
            </a:r>
            <a:r>
              <a:rPr sz="2398" dirty="0">
                <a:latin typeface="Arial"/>
                <a:cs typeface="Arial"/>
              </a:rPr>
              <a:t>it at</a:t>
            </a:r>
            <a:r>
              <a:rPr sz="2398" spc="-4" dirty="0">
                <a:latin typeface="Arial"/>
                <a:cs typeface="Arial"/>
              </a:rPr>
              <a:t> </a:t>
            </a:r>
            <a:r>
              <a:rPr sz="2398" dirty="0">
                <a:latin typeface="Arial"/>
                <a:cs typeface="Arial"/>
              </a:rPr>
              <a:t>scale</a:t>
            </a:r>
            <a:r>
              <a:rPr sz="2398" spc="-4" dirty="0">
                <a:latin typeface="Arial"/>
                <a:cs typeface="Arial"/>
              </a:rPr>
              <a:t> </a:t>
            </a:r>
            <a:r>
              <a:rPr sz="2398" spc="-41" dirty="0">
                <a:latin typeface="Arial"/>
                <a:cs typeface="Arial"/>
              </a:rPr>
              <a:t>…</a:t>
            </a:r>
            <a:endParaRPr sz="2398">
              <a:latin typeface="Arial"/>
              <a:cs typeface="Arial"/>
            </a:endParaRPr>
          </a:p>
        </p:txBody>
      </p:sp>
      <p:sp>
        <p:nvSpPr>
          <p:cNvPr id="9" name="object 9"/>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1234467">
              <a:lnSpc>
                <a:spcPct val="100000"/>
              </a:lnSpc>
              <a:spcBef>
                <a:spcPts val="83"/>
              </a:spcBef>
            </a:pPr>
            <a:r>
              <a:rPr dirty="0">
                <a:latin typeface="Arial"/>
                <a:cs typeface="Arial"/>
              </a:rPr>
              <a:t>Putting</a:t>
            </a:r>
            <a:r>
              <a:rPr spc="-83" dirty="0">
                <a:latin typeface="Arial"/>
                <a:cs typeface="Arial"/>
              </a:rPr>
              <a:t> </a:t>
            </a:r>
            <a:r>
              <a:rPr dirty="0">
                <a:latin typeface="Arial"/>
                <a:cs typeface="Arial"/>
              </a:rPr>
              <a:t>it</a:t>
            </a:r>
            <a:r>
              <a:rPr spc="-79" dirty="0">
                <a:latin typeface="Arial"/>
                <a:cs typeface="Arial"/>
              </a:rPr>
              <a:t> </a:t>
            </a:r>
            <a:r>
              <a:rPr dirty="0">
                <a:latin typeface="Arial"/>
                <a:cs typeface="Arial"/>
              </a:rPr>
              <a:t>all</a:t>
            </a:r>
            <a:r>
              <a:rPr spc="-79" dirty="0">
                <a:latin typeface="Arial"/>
                <a:cs typeface="Arial"/>
              </a:rPr>
              <a:t> </a:t>
            </a:r>
            <a:r>
              <a:rPr spc="-8" dirty="0">
                <a:latin typeface="Arial"/>
                <a:cs typeface="Arial"/>
              </a:rPr>
              <a:t>together</a:t>
            </a:r>
          </a:p>
        </p:txBody>
      </p:sp>
      <p:pic>
        <p:nvPicPr>
          <p:cNvPr id="10" name="object 10"/>
          <p:cNvPicPr/>
          <p:nvPr/>
        </p:nvPicPr>
        <p:blipFill>
          <a:blip r:embed="rId5" cstate="print"/>
          <a:stretch>
            <a:fillRect/>
          </a:stretch>
        </p:blipFill>
        <p:spPr>
          <a:xfrm>
            <a:off x="7566820" y="3558349"/>
            <a:ext cx="58177" cy="58185"/>
          </a:xfrm>
          <a:prstGeom prst="rect">
            <a:avLst/>
          </a:prstGeom>
        </p:spPr>
      </p:pic>
      <p:sp>
        <p:nvSpPr>
          <p:cNvPr id="11" name="object 11"/>
          <p:cNvSpPr/>
          <p:nvPr/>
        </p:nvSpPr>
        <p:spPr>
          <a:xfrm>
            <a:off x="7424512" y="3683392"/>
            <a:ext cx="346009" cy="66681"/>
          </a:xfrm>
          <a:custGeom>
            <a:avLst/>
            <a:gdLst/>
            <a:ahLst/>
            <a:cxnLst/>
            <a:rect l="l" t="t" r="r" b="b"/>
            <a:pathLst>
              <a:path w="418465" h="80645">
                <a:moveTo>
                  <a:pt x="417948" y="80043"/>
                </a:moveTo>
                <a:lnTo>
                  <a:pt x="0" y="80043"/>
                </a:lnTo>
                <a:lnTo>
                  <a:pt x="0" y="0"/>
                </a:lnTo>
                <a:lnTo>
                  <a:pt x="417948" y="0"/>
                </a:lnTo>
                <a:lnTo>
                  <a:pt x="417948" y="80043"/>
                </a:lnTo>
                <a:close/>
              </a:path>
            </a:pathLst>
          </a:custGeom>
          <a:solidFill>
            <a:srgbClr val="FFFFFF"/>
          </a:solidFill>
        </p:spPr>
        <p:txBody>
          <a:bodyPr wrap="square" lIns="0" tIns="0" rIns="0" bIns="0" rtlCol="0"/>
          <a:lstStyle/>
          <a:p>
            <a:endParaRPr sz="1488"/>
          </a:p>
        </p:txBody>
      </p:sp>
      <p:pic>
        <p:nvPicPr>
          <p:cNvPr id="12" name="object 12"/>
          <p:cNvPicPr/>
          <p:nvPr/>
        </p:nvPicPr>
        <p:blipFill>
          <a:blip r:embed="rId6" cstate="print"/>
          <a:stretch>
            <a:fillRect/>
          </a:stretch>
        </p:blipFill>
        <p:spPr>
          <a:xfrm>
            <a:off x="7566820" y="1901602"/>
            <a:ext cx="58177" cy="58185"/>
          </a:xfrm>
          <a:prstGeom prst="rect">
            <a:avLst/>
          </a:prstGeom>
        </p:spPr>
      </p:pic>
      <p:pic>
        <p:nvPicPr>
          <p:cNvPr id="13" name="object 13"/>
          <p:cNvPicPr/>
          <p:nvPr/>
        </p:nvPicPr>
        <p:blipFill>
          <a:blip r:embed="rId7" cstate="print"/>
          <a:stretch>
            <a:fillRect/>
          </a:stretch>
        </p:blipFill>
        <p:spPr>
          <a:xfrm>
            <a:off x="7568184" y="2733023"/>
            <a:ext cx="58191" cy="58177"/>
          </a:xfrm>
          <a:prstGeom prst="rect">
            <a:avLst/>
          </a:prstGeom>
        </p:spPr>
      </p:pic>
      <p:sp>
        <p:nvSpPr>
          <p:cNvPr id="14" name="object 14"/>
          <p:cNvSpPr/>
          <p:nvPr/>
        </p:nvSpPr>
        <p:spPr>
          <a:xfrm>
            <a:off x="7425882" y="2858067"/>
            <a:ext cx="346009" cy="66681"/>
          </a:xfrm>
          <a:custGeom>
            <a:avLst/>
            <a:gdLst/>
            <a:ahLst/>
            <a:cxnLst/>
            <a:rect l="l" t="t" r="r" b="b"/>
            <a:pathLst>
              <a:path w="418465" h="80645">
                <a:moveTo>
                  <a:pt x="417948" y="80043"/>
                </a:moveTo>
                <a:lnTo>
                  <a:pt x="0" y="80043"/>
                </a:lnTo>
                <a:lnTo>
                  <a:pt x="0" y="0"/>
                </a:lnTo>
                <a:lnTo>
                  <a:pt x="417948" y="0"/>
                </a:lnTo>
                <a:lnTo>
                  <a:pt x="417948" y="80043"/>
                </a:lnTo>
                <a:close/>
              </a:path>
            </a:pathLst>
          </a:custGeom>
          <a:solidFill>
            <a:srgbClr val="FFFFFF"/>
          </a:solidFill>
        </p:spPr>
        <p:txBody>
          <a:bodyPr wrap="square" lIns="0" tIns="0" rIns="0" bIns="0" rtlCol="0"/>
          <a:lstStyle/>
          <a:p>
            <a:endParaRPr sz="1488"/>
          </a:p>
        </p:txBody>
      </p:sp>
      <p:grpSp>
        <p:nvGrpSpPr>
          <p:cNvPr id="15" name="object 15"/>
          <p:cNvGrpSpPr/>
          <p:nvPr/>
        </p:nvGrpSpPr>
        <p:grpSpPr>
          <a:xfrm>
            <a:off x="7439552" y="4843458"/>
            <a:ext cx="321331" cy="57231"/>
            <a:chOff x="7471736" y="5857709"/>
            <a:chExt cx="388620" cy="69215"/>
          </a:xfrm>
        </p:grpSpPr>
        <p:pic>
          <p:nvPicPr>
            <p:cNvPr id="16" name="object 16"/>
            <p:cNvPicPr/>
            <p:nvPr/>
          </p:nvPicPr>
          <p:blipFill>
            <a:blip r:embed="rId8" cstate="print"/>
            <a:stretch>
              <a:fillRect/>
            </a:stretch>
          </p:blipFill>
          <p:spPr>
            <a:xfrm>
              <a:off x="7471736" y="5859655"/>
              <a:ext cx="141574" cy="65838"/>
            </a:xfrm>
            <a:prstGeom prst="rect">
              <a:avLst/>
            </a:prstGeom>
          </p:spPr>
        </p:pic>
        <p:pic>
          <p:nvPicPr>
            <p:cNvPr id="17" name="object 17"/>
            <p:cNvPicPr/>
            <p:nvPr/>
          </p:nvPicPr>
          <p:blipFill>
            <a:blip r:embed="rId9" cstate="print"/>
            <a:stretch>
              <a:fillRect/>
            </a:stretch>
          </p:blipFill>
          <p:spPr>
            <a:xfrm>
              <a:off x="7648155" y="5857709"/>
              <a:ext cx="211728" cy="68919"/>
            </a:xfrm>
            <a:prstGeom prst="rect">
              <a:avLst/>
            </a:prstGeom>
          </p:spPr>
        </p:pic>
      </p:grpSp>
      <p:grpSp>
        <p:nvGrpSpPr>
          <p:cNvPr id="18" name="object 18"/>
          <p:cNvGrpSpPr/>
          <p:nvPr/>
        </p:nvGrpSpPr>
        <p:grpSpPr>
          <a:xfrm>
            <a:off x="7400921" y="4599563"/>
            <a:ext cx="396413" cy="56180"/>
            <a:chOff x="7425014" y="5562741"/>
            <a:chExt cx="479425" cy="67945"/>
          </a:xfrm>
        </p:grpSpPr>
        <p:pic>
          <p:nvPicPr>
            <p:cNvPr id="19" name="object 19"/>
            <p:cNvPicPr/>
            <p:nvPr/>
          </p:nvPicPr>
          <p:blipFill>
            <a:blip r:embed="rId10" cstate="print"/>
            <a:stretch>
              <a:fillRect/>
            </a:stretch>
          </p:blipFill>
          <p:spPr>
            <a:xfrm>
              <a:off x="7425014" y="5562741"/>
              <a:ext cx="225120" cy="67784"/>
            </a:xfrm>
            <a:prstGeom prst="rect">
              <a:avLst/>
            </a:prstGeom>
          </p:spPr>
        </p:pic>
        <p:pic>
          <p:nvPicPr>
            <p:cNvPr id="20" name="object 20"/>
            <p:cNvPicPr/>
            <p:nvPr/>
          </p:nvPicPr>
          <p:blipFill>
            <a:blip r:embed="rId11" cstate="print"/>
            <a:stretch>
              <a:fillRect/>
            </a:stretch>
          </p:blipFill>
          <p:spPr>
            <a:xfrm>
              <a:off x="7689510" y="5562741"/>
              <a:ext cx="214668" cy="67784"/>
            </a:xfrm>
            <a:prstGeom prst="rect">
              <a:avLst/>
            </a:prstGeom>
          </p:spPr>
        </p:pic>
      </p:grpSp>
      <p:grpSp>
        <p:nvGrpSpPr>
          <p:cNvPr id="21" name="object 21"/>
          <p:cNvGrpSpPr/>
          <p:nvPr/>
        </p:nvGrpSpPr>
        <p:grpSpPr>
          <a:xfrm>
            <a:off x="7317080" y="4354462"/>
            <a:ext cx="561279" cy="71932"/>
            <a:chOff x="7323617" y="5266314"/>
            <a:chExt cx="678815" cy="86995"/>
          </a:xfrm>
        </p:grpSpPr>
        <p:pic>
          <p:nvPicPr>
            <p:cNvPr id="22" name="object 22"/>
            <p:cNvPicPr/>
            <p:nvPr/>
          </p:nvPicPr>
          <p:blipFill>
            <a:blip r:embed="rId12" cstate="print"/>
            <a:stretch>
              <a:fillRect/>
            </a:stretch>
          </p:blipFill>
          <p:spPr>
            <a:xfrm>
              <a:off x="7323617" y="5266314"/>
              <a:ext cx="142096" cy="68108"/>
            </a:xfrm>
            <a:prstGeom prst="rect">
              <a:avLst/>
            </a:prstGeom>
          </p:spPr>
        </p:pic>
        <p:pic>
          <p:nvPicPr>
            <p:cNvPr id="23" name="object 23"/>
            <p:cNvPicPr/>
            <p:nvPr/>
          </p:nvPicPr>
          <p:blipFill>
            <a:blip r:embed="rId13" cstate="print"/>
            <a:stretch>
              <a:fillRect/>
            </a:stretch>
          </p:blipFill>
          <p:spPr>
            <a:xfrm>
              <a:off x="7502828" y="5266638"/>
              <a:ext cx="168427" cy="67784"/>
            </a:xfrm>
            <a:prstGeom prst="rect">
              <a:avLst/>
            </a:prstGeom>
          </p:spPr>
        </p:pic>
        <p:pic>
          <p:nvPicPr>
            <p:cNvPr id="24" name="object 24"/>
            <p:cNvPicPr/>
            <p:nvPr/>
          </p:nvPicPr>
          <p:blipFill>
            <a:blip r:embed="rId14" cstate="print"/>
            <a:stretch>
              <a:fillRect/>
            </a:stretch>
          </p:blipFill>
          <p:spPr>
            <a:xfrm>
              <a:off x="7704908" y="5266637"/>
              <a:ext cx="297527" cy="86222"/>
            </a:xfrm>
            <a:prstGeom prst="rect">
              <a:avLst/>
            </a:prstGeom>
          </p:spPr>
        </p:pic>
      </p:grpSp>
      <p:grpSp>
        <p:nvGrpSpPr>
          <p:cNvPr id="25" name="object 25"/>
          <p:cNvGrpSpPr/>
          <p:nvPr/>
        </p:nvGrpSpPr>
        <p:grpSpPr>
          <a:xfrm>
            <a:off x="7252287" y="766230"/>
            <a:ext cx="691491" cy="72457"/>
            <a:chOff x="7245256" y="926683"/>
            <a:chExt cx="836294" cy="87630"/>
          </a:xfrm>
        </p:grpSpPr>
        <p:pic>
          <p:nvPicPr>
            <p:cNvPr id="26" name="object 26"/>
            <p:cNvPicPr/>
            <p:nvPr/>
          </p:nvPicPr>
          <p:blipFill>
            <a:blip r:embed="rId15" cstate="print"/>
            <a:stretch>
              <a:fillRect/>
            </a:stretch>
          </p:blipFill>
          <p:spPr>
            <a:xfrm>
              <a:off x="7245256" y="926683"/>
              <a:ext cx="257729" cy="68911"/>
            </a:xfrm>
            <a:prstGeom prst="rect">
              <a:avLst/>
            </a:prstGeom>
          </p:spPr>
        </p:pic>
        <p:pic>
          <p:nvPicPr>
            <p:cNvPr id="27" name="object 27"/>
            <p:cNvPicPr/>
            <p:nvPr/>
          </p:nvPicPr>
          <p:blipFill>
            <a:blip r:embed="rId16" cstate="print"/>
            <a:stretch>
              <a:fillRect/>
            </a:stretch>
          </p:blipFill>
          <p:spPr>
            <a:xfrm>
              <a:off x="7530194" y="927817"/>
              <a:ext cx="341624" cy="86222"/>
            </a:xfrm>
            <a:prstGeom prst="rect">
              <a:avLst/>
            </a:prstGeom>
          </p:spPr>
        </p:pic>
        <p:pic>
          <p:nvPicPr>
            <p:cNvPr id="28" name="object 28"/>
            <p:cNvPicPr/>
            <p:nvPr/>
          </p:nvPicPr>
          <p:blipFill>
            <a:blip r:embed="rId17" cstate="print"/>
            <a:stretch>
              <a:fillRect/>
            </a:stretch>
          </p:blipFill>
          <p:spPr>
            <a:xfrm>
              <a:off x="7908767" y="927817"/>
              <a:ext cx="172742" cy="67777"/>
            </a:xfrm>
            <a:prstGeom prst="rect">
              <a:avLst/>
            </a:prstGeom>
          </p:spPr>
        </p:pic>
      </p:grpSp>
      <p:grpSp>
        <p:nvGrpSpPr>
          <p:cNvPr id="29" name="object 29"/>
          <p:cNvGrpSpPr/>
          <p:nvPr/>
        </p:nvGrpSpPr>
        <p:grpSpPr>
          <a:xfrm>
            <a:off x="7192040" y="716523"/>
            <a:ext cx="1022799" cy="4240311"/>
            <a:chOff x="7172393" y="866567"/>
            <a:chExt cx="1236980" cy="5128260"/>
          </a:xfrm>
        </p:grpSpPr>
        <p:sp>
          <p:nvSpPr>
            <p:cNvPr id="30" name="object 30"/>
            <p:cNvSpPr/>
            <p:nvPr/>
          </p:nvSpPr>
          <p:spPr>
            <a:xfrm>
              <a:off x="7403205" y="4414497"/>
              <a:ext cx="515620" cy="690245"/>
            </a:xfrm>
            <a:custGeom>
              <a:avLst/>
              <a:gdLst/>
              <a:ahLst/>
              <a:cxnLst/>
              <a:rect l="l" t="t" r="r" b="b"/>
              <a:pathLst>
                <a:path w="515620" h="690245">
                  <a:moveTo>
                    <a:pt x="0" y="0"/>
                  </a:moveTo>
                  <a:lnTo>
                    <a:pt x="515302" y="0"/>
                  </a:lnTo>
                  <a:lnTo>
                    <a:pt x="515302" y="690040"/>
                  </a:lnTo>
                  <a:lnTo>
                    <a:pt x="0" y="690040"/>
                  </a:lnTo>
                  <a:lnTo>
                    <a:pt x="0" y="0"/>
                  </a:lnTo>
                  <a:close/>
                </a:path>
              </a:pathLst>
            </a:custGeom>
            <a:ln w="10353">
              <a:solidFill>
                <a:srgbClr val="000000"/>
              </a:solidFill>
              <a:prstDash val="dash"/>
            </a:ln>
          </p:spPr>
          <p:txBody>
            <a:bodyPr wrap="square" lIns="0" tIns="0" rIns="0" bIns="0" rtlCol="0"/>
            <a:lstStyle/>
            <a:p>
              <a:endParaRPr sz="1488"/>
            </a:p>
          </p:txBody>
        </p:sp>
        <p:sp>
          <p:nvSpPr>
            <p:cNvPr id="31" name="object 31"/>
            <p:cNvSpPr/>
            <p:nvPr/>
          </p:nvSpPr>
          <p:spPr>
            <a:xfrm>
              <a:off x="7453547" y="4973606"/>
              <a:ext cx="418465" cy="80010"/>
            </a:xfrm>
            <a:custGeom>
              <a:avLst/>
              <a:gdLst/>
              <a:ahLst/>
              <a:cxnLst/>
              <a:rect l="l" t="t" r="r" b="b"/>
              <a:pathLst>
                <a:path w="418465" h="80010">
                  <a:moveTo>
                    <a:pt x="417948" y="80009"/>
                  </a:moveTo>
                  <a:lnTo>
                    <a:pt x="0" y="80009"/>
                  </a:lnTo>
                  <a:lnTo>
                    <a:pt x="0" y="0"/>
                  </a:lnTo>
                  <a:lnTo>
                    <a:pt x="417948" y="0"/>
                  </a:lnTo>
                  <a:lnTo>
                    <a:pt x="417948" y="80009"/>
                  </a:lnTo>
                  <a:close/>
                </a:path>
              </a:pathLst>
            </a:custGeom>
            <a:solidFill>
              <a:srgbClr val="B2D9FF"/>
            </a:solidFill>
          </p:spPr>
          <p:txBody>
            <a:bodyPr wrap="square" lIns="0" tIns="0" rIns="0" bIns="0" rtlCol="0"/>
            <a:lstStyle/>
            <a:p>
              <a:endParaRPr sz="1488"/>
            </a:p>
          </p:txBody>
        </p:sp>
        <p:sp>
          <p:nvSpPr>
            <p:cNvPr id="32" name="object 32"/>
            <p:cNvSpPr/>
            <p:nvPr/>
          </p:nvSpPr>
          <p:spPr>
            <a:xfrm>
              <a:off x="7453547" y="4973606"/>
              <a:ext cx="418465" cy="200660"/>
            </a:xfrm>
            <a:custGeom>
              <a:avLst/>
              <a:gdLst/>
              <a:ahLst/>
              <a:cxnLst/>
              <a:rect l="l" t="t" r="r" b="b"/>
              <a:pathLst>
                <a:path w="418465" h="200660">
                  <a:moveTo>
                    <a:pt x="0" y="0"/>
                  </a:moveTo>
                  <a:lnTo>
                    <a:pt x="417948" y="0"/>
                  </a:lnTo>
                  <a:lnTo>
                    <a:pt x="417948" y="80009"/>
                  </a:lnTo>
                  <a:lnTo>
                    <a:pt x="0" y="80009"/>
                  </a:lnTo>
                  <a:lnTo>
                    <a:pt x="0" y="0"/>
                  </a:lnTo>
                  <a:close/>
                </a:path>
                <a:path w="418465" h="200660">
                  <a:moveTo>
                    <a:pt x="208978" y="200497"/>
                  </a:moveTo>
                  <a:lnTo>
                    <a:pt x="208978" y="116246"/>
                  </a:lnTo>
                </a:path>
              </a:pathLst>
            </a:custGeom>
            <a:ln w="10353">
              <a:solidFill>
                <a:srgbClr val="000000"/>
              </a:solidFill>
            </a:ln>
          </p:spPr>
          <p:txBody>
            <a:bodyPr wrap="square" lIns="0" tIns="0" rIns="0" bIns="0" rtlCol="0"/>
            <a:lstStyle/>
            <a:p>
              <a:endParaRPr sz="1488"/>
            </a:p>
          </p:txBody>
        </p:sp>
        <p:sp>
          <p:nvSpPr>
            <p:cNvPr id="33" name="object 33"/>
            <p:cNvSpPr/>
            <p:nvPr/>
          </p:nvSpPr>
          <p:spPr>
            <a:xfrm>
              <a:off x="7656280" y="5073287"/>
              <a:ext cx="12700" cy="17145"/>
            </a:xfrm>
            <a:custGeom>
              <a:avLst/>
              <a:gdLst/>
              <a:ahLst/>
              <a:cxnLst/>
              <a:rect l="l" t="t" r="r" b="b"/>
              <a:pathLst>
                <a:path w="12700" h="17145">
                  <a:moveTo>
                    <a:pt x="6245" y="0"/>
                  </a:moveTo>
                  <a:lnTo>
                    <a:pt x="6245" y="16565"/>
                  </a:lnTo>
                </a:path>
                <a:path w="12700" h="17145">
                  <a:moveTo>
                    <a:pt x="0" y="16565"/>
                  </a:moveTo>
                  <a:lnTo>
                    <a:pt x="6245" y="0"/>
                  </a:lnTo>
                  <a:lnTo>
                    <a:pt x="12423" y="16565"/>
                  </a:lnTo>
                </a:path>
              </a:pathLst>
            </a:custGeom>
            <a:ln w="10353">
              <a:solidFill>
                <a:srgbClr val="000000"/>
              </a:solidFill>
            </a:ln>
          </p:spPr>
          <p:txBody>
            <a:bodyPr wrap="square" lIns="0" tIns="0" rIns="0" bIns="0" rtlCol="0"/>
            <a:lstStyle/>
            <a:p>
              <a:endParaRPr sz="1488"/>
            </a:p>
          </p:txBody>
        </p:sp>
        <p:sp>
          <p:nvSpPr>
            <p:cNvPr id="34" name="object 34"/>
            <p:cNvSpPr/>
            <p:nvPr/>
          </p:nvSpPr>
          <p:spPr>
            <a:xfrm>
              <a:off x="7453547" y="4846460"/>
              <a:ext cx="418465" cy="80010"/>
            </a:xfrm>
            <a:custGeom>
              <a:avLst/>
              <a:gdLst/>
              <a:ahLst/>
              <a:cxnLst/>
              <a:rect l="l" t="t" r="r" b="b"/>
              <a:pathLst>
                <a:path w="418465" h="80010">
                  <a:moveTo>
                    <a:pt x="0" y="0"/>
                  </a:moveTo>
                  <a:lnTo>
                    <a:pt x="417948" y="0"/>
                  </a:lnTo>
                  <a:lnTo>
                    <a:pt x="417948" y="80009"/>
                  </a:lnTo>
                  <a:lnTo>
                    <a:pt x="0" y="80009"/>
                  </a:lnTo>
                  <a:lnTo>
                    <a:pt x="0" y="0"/>
                  </a:lnTo>
                  <a:close/>
                </a:path>
              </a:pathLst>
            </a:custGeom>
            <a:ln w="10353">
              <a:solidFill>
                <a:srgbClr val="000000"/>
              </a:solidFill>
            </a:ln>
          </p:spPr>
          <p:txBody>
            <a:bodyPr wrap="square" lIns="0" tIns="0" rIns="0" bIns="0" rtlCol="0"/>
            <a:lstStyle/>
            <a:p>
              <a:endParaRPr sz="1488"/>
            </a:p>
          </p:txBody>
        </p:sp>
        <p:sp>
          <p:nvSpPr>
            <p:cNvPr id="35" name="object 35"/>
            <p:cNvSpPr/>
            <p:nvPr/>
          </p:nvSpPr>
          <p:spPr>
            <a:xfrm>
              <a:off x="7453547" y="4182882"/>
              <a:ext cx="418465" cy="80010"/>
            </a:xfrm>
            <a:custGeom>
              <a:avLst/>
              <a:gdLst/>
              <a:ahLst/>
              <a:cxnLst/>
              <a:rect l="l" t="t" r="r" b="b"/>
              <a:pathLst>
                <a:path w="418465" h="80010">
                  <a:moveTo>
                    <a:pt x="417948" y="79976"/>
                  </a:moveTo>
                  <a:lnTo>
                    <a:pt x="0" y="79976"/>
                  </a:lnTo>
                  <a:lnTo>
                    <a:pt x="0" y="0"/>
                  </a:lnTo>
                  <a:lnTo>
                    <a:pt x="417948" y="0"/>
                  </a:lnTo>
                  <a:lnTo>
                    <a:pt x="417948" y="79976"/>
                  </a:lnTo>
                  <a:close/>
                </a:path>
              </a:pathLst>
            </a:custGeom>
            <a:solidFill>
              <a:srgbClr val="66BFFF"/>
            </a:solidFill>
          </p:spPr>
          <p:txBody>
            <a:bodyPr wrap="square" lIns="0" tIns="0" rIns="0" bIns="0" rtlCol="0"/>
            <a:lstStyle/>
            <a:p>
              <a:endParaRPr sz="1488"/>
            </a:p>
          </p:txBody>
        </p:sp>
        <p:sp>
          <p:nvSpPr>
            <p:cNvPr id="36" name="object 36"/>
            <p:cNvSpPr/>
            <p:nvPr/>
          </p:nvSpPr>
          <p:spPr>
            <a:xfrm>
              <a:off x="7453547" y="4182882"/>
              <a:ext cx="418465" cy="80010"/>
            </a:xfrm>
            <a:custGeom>
              <a:avLst/>
              <a:gdLst/>
              <a:ahLst/>
              <a:cxnLst/>
              <a:rect l="l" t="t" r="r" b="b"/>
              <a:pathLst>
                <a:path w="418465" h="80010">
                  <a:moveTo>
                    <a:pt x="0" y="0"/>
                  </a:moveTo>
                  <a:lnTo>
                    <a:pt x="417948" y="0"/>
                  </a:lnTo>
                  <a:lnTo>
                    <a:pt x="417948" y="79976"/>
                  </a:lnTo>
                  <a:lnTo>
                    <a:pt x="0" y="79976"/>
                  </a:lnTo>
                  <a:lnTo>
                    <a:pt x="0" y="0"/>
                  </a:lnTo>
                  <a:close/>
                </a:path>
              </a:pathLst>
            </a:custGeom>
            <a:ln w="10353">
              <a:solidFill>
                <a:srgbClr val="000000"/>
              </a:solidFill>
            </a:ln>
          </p:spPr>
          <p:txBody>
            <a:bodyPr wrap="square" lIns="0" tIns="0" rIns="0" bIns="0" rtlCol="0"/>
            <a:lstStyle/>
            <a:p>
              <a:endParaRPr sz="1488"/>
            </a:p>
          </p:txBody>
        </p:sp>
        <p:sp>
          <p:nvSpPr>
            <p:cNvPr id="37" name="object 37"/>
            <p:cNvSpPr/>
            <p:nvPr/>
          </p:nvSpPr>
          <p:spPr>
            <a:xfrm>
              <a:off x="7453547" y="4719306"/>
              <a:ext cx="418465" cy="80010"/>
            </a:xfrm>
            <a:custGeom>
              <a:avLst/>
              <a:gdLst/>
              <a:ahLst/>
              <a:cxnLst/>
              <a:rect l="l" t="t" r="r" b="b"/>
              <a:pathLst>
                <a:path w="418465" h="80010">
                  <a:moveTo>
                    <a:pt x="417948" y="80009"/>
                  </a:moveTo>
                  <a:lnTo>
                    <a:pt x="0" y="80009"/>
                  </a:lnTo>
                  <a:lnTo>
                    <a:pt x="0" y="0"/>
                  </a:lnTo>
                  <a:lnTo>
                    <a:pt x="417948" y="0"/>
                  </a:lnTo>
                  <a:lnTo>
                    <a:pt x="417948" y="80009"/>
                  </a:lnTo>
                  <a:close/>
                </a:path>
              </a:pathLst>
            </a:custGeom>
            <a:solidFill>
              <a:srgbClr val="66BFFF"/>
            </a:solidFill>
          </p:spPr>
          <p:txBody>
            <a:bodyPr wrap="square" lIns="0" tIns="0" rIns="0" bIns="0" rtlCol="0"/>
            <a:lstStyle/>
            <a:p>
              <a:endParaRPr sz="1488"/>
            </a:p>
          </p:txBody>
        </p:sp>
        <p:sp>
          <p:nvSpPr>
            <p:cNvPr id="38" name="object 38"/>
            <p:cNvSpPr/>
            <p:nvPr/>
          </p:nvSpPr>
          <p:spPr>
            <a:xfrm>
              <a:off x="7453547" y="4719306"/>
              <a:ext cx="418465" cy="254635"/>
            </a:xfrm>
            <a:custGeom>
              <a:avLst/>
              <a:gdLst/>
              <a:ahLst/>
              <a:cxnLst/>
              <a:rect l="l" t="t" r="r" b="b"/>
              <a:pathLst>
                <a:path w="418465" h="254635">
                  <a:moveTo>
                    <a:pt x="0" y="0"/>
                  </a:moveTo>
                  <a:lnTo>
                    <a:pt x="417948" y="0"/>
                  </a:lnTo>
                  <a:lnTo>
                    <a:pt x="417948" y="80009"/>
                  </a:lnTo>
                  <a:lnTo>
                    <a:pt x="0" y="80009"/>
                  </a:lnTo>
                  <a:lnTo>
                    <a:pt x="0" y="0"/>
                  </a:lnTo>
                  <a:close/>
                </a:path>
                <a:path w="418465" h="254635">
                  <a:moveTo>
                    <a:pt x="208978" y="254300"/>
                  </a:moveTo>
                  <a:lnTo>
                    <a:pt x="208978" y="243401"/>
                  </a:lnTo>
                </a:path>
              </a:pathLst>
            </a:custGeom>
            <a:ln w="10353">
              <a:solidFill>
                <a:srgbClr val="000000"/>
              </a:solidFill>
            </a:ln>
          </p:spPr>
          <p:txBody>
            <a:bodyPr wrap="square" lIns="0" tIns="0" rIns="0" bIns="0" rtlCol="0"/>
            <a:lstStyle/>
            <a:p>
              <a:endParaRPr sz="1488"/>
            </a:p>
          </p:txBody>
        </p:sp>
        <p:sp>
          <p:nvSpPr>
            <p:cNvPr id="39" name="object 39"/>
            <p:cNvSpPr/>
            <p:nvPr/>
          </p:nvSpPr>
          <p:spPr>
            <a:xfrm>
              <a:off x="7656280" y="4946141"/>
              <a:ext cx="12700" cy="17145"/>
            </a:xfrm>
            <a:custGeom>
              <a:avLst/>
              <a:gdLst/>
              <a:ahLst/>
              <a:cxnLst/>
              <a:rect l="l" t="t" r="r" b="b"/>
              <a:pathLst>
                <a:path w="12700" h="17145">
                  <a:moveTo>
                    <a:pt x="6245" y="0"/>
                  </a:moveTo>
                  <a:lnTo>
                    <a:pt x="6245" y="16565"/>
                  </a:lnTo>
                </a:path>
                <a:path w="12700" h="17145">
                  <a:moveTo>
                    <a:pt x="0" y="16565"/>
                  </a:moveTo>
                  <a:lnTo>
                    <a:pt x="6245" y="0"/>
                  </a:lnTo>
                  <a:lnTo>
                    <a:pt x="12423" y="16565"/>
                  </a:lnTo>
                </a:path>
              </a:pathLst>
            </a:custGeom>
            <a:ln w="10353">
              <a:solidFill>
                <a:srgbClr val="000000"/>
              </a:solidFill>
            </a:ln>
          </p:spPr>
          <p:txBody>
            <a:bodyPr wrap="square" lIns="0" tIns="0" rIns="0" bIns="0" rtlCol="0"/>
            <a:lstStyle/>
            <a:p>
              <a:endParaRPr sz="1488"/>
            </a:p>
          </p:txBody>
        </p:sp>
        <p:sp>
          <p:nvSpPr>
            <p:cNvPr id="40" name="object 40"/>
            <p:cNvSpPr/>
            <p:nvPr/>
          </p:nvSpPr>
          <p:spPr>
            <a:xfrm>
              <a:off x="7662525" y="4835552"/>
              <a:ext cx="0" cy="11430"/>
            </a:xfrm>
            <a:custGeom>
              <a:avLst/>
              <a:gdLst/>
              <a:ahLst/>
              <a:cxnLst/>
              <a:rect l="l" t="t" r="r" b="b"/>
              <a:pathLst>
                <a:path h="11429">
                  <a:moveTo>
                    <a:pt x="0" y="10908"/>
                  </a:moveTo>
                  <a:lnTo>
                    <a:pt x="0" y="0"/>
                  </a:lnTo>
                </a:path>
              </a:pathLst>
            </a:custGeom>
            <a:ln w="10353">
              <a:solidFill>
                <a:srgbClr val="000000"/>
              </a:solidFill>
            </a:ln>
          </p:spPr>
          <p:txBody>
            <a:bodyPr wrap="square" lIns="0" tIns="0" rIns="0" bIns="0" rtlCol="0"/>
            <a:lstStyle/>
            <a:p>
              <a:endParaRPr sz="1488"/>
            </a:p>
          </p:txBody>
        </p:sp>
        <p:sp>
          <p:nvSpPr>
            <p:cNvPr id="41" name="object 41"/>
            <p:cNvSpPr/>
            <p:nvPr/>
          </p:nvSpPr>
          <p:spPr>
            <a:xfrm>
              <a:off x="7656280" y="4818987"/>
              <a:ext cx="12700" cy="17145"/>
            </a:xfrm>
            <a:custGeom>
              <a:avLst/>
              <a:gdLst/>
              <a:ahLst/>
              <a:cxnLst/>
              <a:rect l="l" t="t" r="r" b="b"/>
              <a:pathLst>
                <a:path w="12700" h="17145">
                  <a:moveTo>
                    <a:pt x="6245" y="0"/>
                  </a:moveTo>
                  <a:lnTo>
                    <a:pt x="6245" y="16565"/>
                  </a:lnTo>
                </a:path>
                <a:path w="12700" h="17145">
                  <a:moveTo>
                    <a:pt x="0" y="16565"/>
                  </a:moveTo>
                  <a:lnTo>
                    <a:pt x="6245" y="0"/>
                  </a:lnTo>
                  <a:lnTo>
                    <a:pt x="12423" y="16565"/>
                  </a:lnTo>
                </a:path>
              </a:pathLst>
            </a:custGeom>
            <a:ln w="10353">
              <a:solidFill>
                <a:srgbClr val="000000"/>
              </a:solidFill>
            </a:ln>
          </p:spPr>
          <p:txBody>
            <a:bodyPr wrap="square" lIns="0" tIns="0" rIns="0" bIns="0" rtlCol="0"/>
            <a:lstStyle/>
            <a:p>
              <a:endParaRPr sz="1488"/>
            </a:p>
          </p:txBody>
        </p:sp>
        <p:sp>
          <p:nvSpPr>
            <p:cNvPr id="42" name="object 42"/>
            <p:cNvSpPr/>
            <p:nvPr/>
          </p:nvSpPr>
          <p:spPr>
            <a:xfrm>
              <a:off x="7661813" y="4399746"/>
              <a:ext cx="0" cy="55244"/>
            </a:xfrm>
            <a:custGeom>
              <a:avLst/>
              <a:gdLst/>
              <a:ahLst/>
              <a:cxnLst/>
              <a:rect l="l" t="t" r="r" b="b"/>
              <a:pathLst>
                <a:path h="55245">
                  <a:moveTo>
                    <a:pt x="0" y="0"/>
                  </a:moveTo>
                  <a:lnTo>
                    <a:pt x="0" y="54971"/>
                  </a:lnTo>
                </a:path>
              </a:pathLst>
            </a:custGeom>
            <a:ln w="10866">
              <a:solidFill>
                <a:srgbClr val="000000"/>
              </a:solidFill>
            </a:ln>
          </p:spPr>
          <p:txBody>
            <a:bodyPr wrap="square" lIns="0" tIns="0" rIns="0" bIns="0" rtlCol="0"/>
            <a:lstStyle/>
            <a:p>
              <a:endParaRPr sz="1488"/>
            </a:p>
          </p:txBody>
        </p:sp>
        <p:sp>
          <p:nvSpPr>
            <p:cNvPr id="43" name="object 43"/>
            <p:cNvSpPr/>
            <p:nvPr/>
          </p:nvSpPr>
          <p:spPr>
            <a:xfrm>
              <a:off x="7655311" y="4388357"/>
              <a:ext cx="12700" cy="17145"/>
            </a:xfrm>
            <a:custGeom>
              <a:avLst/>
              <a:gdLst/>
              <a:ahLst/>
              <a:cxnLst/>
              <a:rect l="l" t="t" r="r" b="b"/>
              <a:pathLst>
                <a:path w="12700" h="17145">
                  <a:moveTo>
                    <a:pt x="6079" y="0"/>
                  </a:moveTo>
                  <a:lnTo>
                    <a:pt x="6245" y="16565"/>
                  </a:lnTo>
                </a:path>
                <a:path w="12700" h="17145">
                  <a:moveTo>
                    <a:pt x="0" y="16664"/>
                  </a:moveTo>
                  <a:lnTo>
                    <a:pt x="6079" y="0"/>
                  </a:lnTo>
                  <a:lnTo>
                    <a:pt x="12457" y="16498"/>
                  </a:lnTo>
                </a:path>
              </a:pathLst>
            </a:custGeom>
            <a:ln w="10353">
              <a:solidFill>
                <a:srgbClr val="000000"/>
              </a:solidFill>
            </a:ln>
          </p:spPr>
          <p:txBody>
            <a:bodyPr wrap="square" lIns="0" tIns="0" rIns="0" bIns="0" rtlCol="0"/>
            <a:lstStyle/>
            <a:p>
              <a:endParaRPr sz="1488"/>
            </a:p>
          </p:txBody>
        </p:sp>
        <p:sp>
          <p:nvSpPr>
            <p:cNvPr id="44" name="object 44"/>
            <p:cNvSpPr/>
            <p:nvPr/>
          </p:nvSpPr>
          <p:spPr>
            <a:xfrm>
              <a:off x="7661258" y="4299096"/>
              <a:ext cx="635" cy="10160"/>
            </a:xfrm>
            <a:custGeom>
              <a:avLst/>
              <a:gdLst/>
              <a:ahLst/>
              <a:cxnLst/>
              <a:rect l="l" t="t" r="r" b="b"/>
              <a:pathLst>
                <a:path w="634" h="10160">
                  <a:moveTo>
                    <a:pt x="0" y="9607"/>
                  </a:moveTo>
                  <a:lnTo>
                    <a:pt x="165" y="0"/>
                  </a:lnTo>
                </a:path>
              </a:pathLst>
            </a:custGeom>
            <a:ln w="10353">
              <a:solidFill>
                <a:srgbClr val="000000"/>
              </a:solidFill>
            </a:ln>
          </p:spPr>
          <p:txBody>
            <a:bodyPr wrap="square" lIns="0" tIns="0" rIns="0" bIns="0" rtlCol="0"/>
            <a:lstStyle/>
            <a:p>
              <a:endParaRPr sz="1488"/>
            </a:p>
          </p:txBody>
        </p:sp>
        <p:sp>
          <p:nvSpPr>
            <p:cNvPr id="45" name="object 45"/>
            <p:cNvSpPr/>
            <p:nvPr/>
          </p:nvSpPr>
          <p:spPr>
            <a:xfrm>
              <a:off x="7655178" y="4282564"/>
              <a:ext cx="12700" cy="17145"/>
            </a:xfrm>
            <a:custGeom>
              <a:avLst/>
              <a:gdLst/>
              <a:ahLst/>
              <a:cxnLst/>
              <a:rect l="l" t="t" r="r" b="b"/>
              <a:pathLst>
                <a:path w="12700" h="17145">
                  <a:moveTo>
                    <a:pt x="6468" y="0"/>
                  </a:moveTo>
                  <a:lnTo>
                    <a:pt x="6245" y="16532"/>
                  </a:lnTo>
                </a:path>
                <a:path w="12700" h="17145">
                  <a:moveTo>
                    <a:pt x="0" y="16465"/>
                  </a:moveTo>
                  <a:lnTo>
                    <a:pt x="6468" y="0"/>
                  </a:lnTo>
                  <a:lnTo>
                    <a:pt x="12423" y="16656"/>
                  </a:lnTo>
                </a:path>
              </a:pathLst>
            </a:custGeom>
            <a:ln w="10353">
              <a:solidFill>
                <a:srgbClr val="000000"/>
              </a:solidFill>
            </a:ln>
          </p:spPr>
          <p:txBody>
            <a:bodyPr wrap="square" lIns="0" tIns="0" rIns="0" bIns="0" rtlCol="0"/>
            <a:lstStyle/>
            <a:p>
              <a:endParaRPr sz="1488"/>
            </a:p>
          </p:txBody>
        </p:sp>
        <p:sp>
          <p:nvSpPr>
            <p:cNvPr id="46" name="object 46"/>
            <p:cNvSpPr/>
            <p:nvPr/>
          </p:nvSpPr>
          <p:spPr>
            <a:xfrm>
              <a:off x="7662525" y="4338695"/>
              <a:ext cx="309880" cy="802005"/>
            </a:xfrm>
            <a:custGeom>
              <a:avLst/>
              <a:gdLst/>
              <a:ahLst/>
              <a:cxnLst/>
              <a:rect l="l" t="t" r="r" b="b"/>
              <a:pathLst>
                <a:path w="309879" h="802004">
                  <a:moveTo>
                    <a:pt x="0" y="801864"/>
                  </a:moveTo>
                  <a:lnTo>
                    <a:pt x="103366" y="801864"/>
                  </a:lnTo>
                  <a:lnTo>
                    <a:pt x="103565" y="801864"/>
                  </a:lnTo>
                  <a:lnTo>
                    <a:pt x="276465" y="799983"/>
                  </a:lnTo>
                  <a:lnTo>
                    <a:pt x="307201" y="769023"/>
                  </a:lnTo>
                  <a:lnTo>
                    <a:pt x="309330" y="38953"/>
                  </a:lnTo>
                  <a:lnTo>
                    <a:pt x="309330" y="19447"/>
                  </a:lnTo>
                  <a:lnTo>
                    <a:pt x="307799" y="11876"/>
                  </a:lnTo>
                  <a:lnTo>
                    <a:pt x="303626" y="5695"/>
                  </a:lnTo>
                  <a:lnTo>
                    <a:pt x="297446" y="1528"/>
                  </a:lnTo>
                  <a:lnTo>
                    <a:pt x="289891" y="0"/>
                  </a:lnTo>
                  <a:lnTo>
                    <a:pt x="64579" y="0"/>
                  </a:lnTo>
                </a:path>
              </a:pathLst>
            </a:custGeom>
            <a:ln w="10353">
              <a:solidFill>
                <a:srgbClr val="000000"/>
              </a:solidFill>
            </a:ln>
          </p:spPr>
          <p:txBody>
            <a:bodyPr wrap="square" lIns="0" tIns="0" rIns="0" bIns="0" rtlCol="0"/>
            <a:lstStyle/>
            <a:p>
              <a:endParaRPr sz="1488"/>
            </a:p>
          </p:txBody>
        </p:sp>
        <p:sp>
          <p:nvSpPr>
            <p:cNvPr id="47" name="object 47"/>
            <p:cNvSpPr/>
            <p:nvPr/>
          </p:nvSpPr>
          <p:spPr>
            <a:xfrm>
              <a:off x="7710506" y="4332450"/>
              <a:ext cx="17145" cy="12700"/>
            </a:xfrm>
            <a:custGeom>
              <a:avLst/>
              <a:gdLst/>
              <a:ahLst/>
              <a:cxnLst/>
              <a:rect l="l" t="t" r="r" b="b"/>
              <a:pathLst>
                <a:path w="17145" h="12700">
                  <a:moveTo>
                    <a:pt x="0" y="6245"/>
                  </a:moveTo>
                  <a:lnTo>
                    <a:pt x="16598" y="6245"/>
                  </a:lnTo>
                </a:path>
                <a:path w="17145" h="12700">
                  <a:moveTo>
                    <a:pt x="16598" y="12423"/>
                  </a:moveTo>
                  <a:lnTo>
                    <a:pt x="0" y="6245"/>
                  </a:lnTo>
                  <a:lnTo>
                    <a:pt x="16598" y="0"/>
                  </a:lnTo>
                </a:path>
              </a:pathLst>
            </a:custGeom>
            <a:ln w="10353">
              <a:solidFill>
                <a:srgbClr val="000000"/>
              </a:solidFill>
            </a:ln>
          </p:spPr>
          <p:txBody>
            <a:bodyPr wrap="square" lIns="0" tIns="0" rIns="0" bIns="0" rtlCol="0"/>
            <a:lstStyle/>
            <a:p>
              <a:endParaRPr sz="1488"/>
            </a:p>
          </p:txBody>
        </p:sp>
        <p:sp>
          <p:nvSpPr>
            <p:cNvPr id="48" name="object 48"/>
            <p:cNvSpPr/>
            <p:nvPr/>
          </p:nvSpPr>
          <p:spPr>
            <a:xfrm>
              <a:off x="7453547" y="4581897"/>
              <a:ext cx="418465" cy="80010"/>
            </a:xfrm>
            <a:custGeom>
              <a:avLst/>
              <a:gdLst/>
              <a:ahLst/>
              <a:cxnLst/>
              <a:rect l="l" t="t" r="r" b="b"/>
              <a:pathLst>
                <a:path w="418465" h="80010">
                  <a:moveTo>
                    <a:pt x="417948" y="80009"/>
                  </a:moveTo>
                  <a:lnTo>
                    <a:pt x="0" y="80009"/>
                  </a:lnTo>
                  <a:lnTo>
                    <a:pt x="0" y="0"/>
                  </a:lnTo>
                  <a:lnTo>
                    <a:pt x="417948" y="0"/>
                  </a:lnTo>
                  <a:lnTo>
                    <a:pt x="417948" y="80009"/>
                  </a:lnTo>
                  <a:close/>
                </a:path>
              </a:pathLst>
            </a:custGeom>
            <a:solidFill>
              <a:srgbClr val="B2D9FF"/>
            </a:solidFill>
          </p:spPr>
          <p:txBody>
            <a:bodyPr wrap="square" lIns="0" tIns="0" rIns="0" bIns="0" rtlCol="0"/>
            <a:lstStyle/>
            <a:p>
              <a:endParaRPr sz="1488"/>
            </a:p>
          </p:txBody>
        </p:sp>
        <p:sp>
          <p:nvSpPr>
            <p:cNvPr id="49" name="object 49"/>
            <p:cNvSpPr/>
            <p:nvPr/>
          </p:nvSpPr>
          <p:spPr>
            <a:xfrm>
              <a:off x="7453547" y="4581897"/>
              <a:ext cx="418465" cy="137795"/>
            </a:xfrm>
            <a:custGeom>
              <a:avLst/>
              <a:gdLst/>
              <a:ahLst/>
              <a:cxnLst/>
              <a:rect l="l" t="t" r="r" b="b"/>
              <a:pathLst>
                <a:path w="418465" h="137795">
                  <a:moveTo>
                    <a:pt x="0" y="0"/>
                  </a:moveTo>
                  <a:lnTo>
                    <a:pt x="417948" y="0"/>
                  </a:lnTo>
                  <a:lnTo>
                    <a:pt x="417948" y="80009"/>
                  </a:lnTo>
                  <a:lnTo>
                    <a:pt x="0" y="80009"/>
                  </a:lnTo>
                  <a:lnTo>
                    <a:pt x="0" y="0"/>
                  </a:lnTo>
                  <a:close/>
                </a:path>
                <a:path w="418465" h="137795">
                  <a:moveTo>
                    <a:pt x="208978" y="137408"/>
                  </a:moveTo>
                  <a:lnTo>
                    <a:pt x="208978" y="116246"/>
                  </a:lnTo>
                </a:path>
              </a:pathLst>
            </a:custGeom>
            <a:ln w="10353">
              <a:solidFill>
                <a:srgbClr val="000000"/>
              </a:solidFill>
            </a:ln>
          </p:spPr>
          <p:txBody>
            <a:bodyPr wrap="square" lIns="0" tIns="0" rIns="0" bIns="0" rtlCol="0"/>
            <a:lstStyle/>
            <a:p>
              <a:endParaRPr sz="1488"/>
            </a:p>
          </p:txBody>
        </p:sp>
        <p:sp>
          <p:nvSpPr>
            <p:cNvPr id="50" name="object 50"/>
            <p:cNvSpPr/>
            <p:nvPr/>
          </p:nvSpPr>
          <p:spPr>
            <a:xfrm>
              <a:off x="7656280" y="4681611"/>
              <a:ext cx="12700" cy="17145"/>
            </a:xfrm>
            <a:custGeom>
              <a:avLst/>
              <a:gdLst/>
              <a:ahLst/>
              <a:cxnLst/>
              <a:rect l="l" t="t" r="r" b="b"/>
              <a:pathLst>
                <a:path w="12700" h="17145">
                  <a:moveTo>
                    <a:pt x="6245" y="0"/>
                  </a:moveTo>
                  <a:lnTo>
                    <a:pt x="6245" y="16532"/>
                  </a:lnTo>
                </a:path>
                <a:path w="12700" h="17145">
                  <a:moveTo>
                    <a:pt x="0" y="16532"/>
                  </a:moveTo>
                  <a:lnTo>
                    <a:pt x="6245" y="0"/>
                  </a:lnTo>
                  <a:lnTo>
                    <a:pt x="12423" y="16532"/>
                  </a:lnTo>
                </a:path>
              </a:pathLst>
            </a:custGeom>
            <a:ln w="10353">
              <a:solidFill>
                <a:srgbClr val="000000"/>
              </a:solidFill>
            </a:ln>
          </p:spPr>
          <p:txBody>
            <a:bodyPr wrap="square" lIns="0" tIns="0" rIns="0" bIns="0" rtlCol="0"/>
            <a:lstStyle/>
            <a:p>
              <a:endParaRPr sz="1488"/>
            </a:p>
          </p:txBody>
        </p:sp>
        <p:sp>
          <p:nvSpPr>
            <p:cNvPr id="51" name="object 51"/>
            <p:cNvSpPr/>
            <p:nvPr/>
          </p:nvSpPr>
          <p:spPr>
            <a:xfrm>
              <a:off x="7453547" y="4454717"/>
              <a:ext cx="418465" cy="127635"/>
            </a:xfrm>
            <a:custGeom>
              <a:avLst/>
              <a:gdLst/>
              <a:ahLst/>
              <a:cxnLst/>
              <a:rect l="l" t="t" r="r" b="b"/>
              <a:pathLst>
                <a:path w="418465" h="127635">
                  <a:moveTo>
                    <a:pt x="0" y="0"/>
                  </a:moveTo>
                  <a:lnTo>
                    <a:pt x="417948" y="0"/>
                  </a:lnTo>
                  <a:lnTo>
                    <a:pt x="417948" y="80043"/>
                  </a:lnTo>
                  <a:lnTo>
                    <a:pt x="0" y="80043"/>
                  </a:lnTo>
                  <a:lnTo>
                    <a:pt x="0" y="0"/>
                  </a:lnTo>
                  <a:close/>
                </a:path>
                <a:path w="418465" h="127635">
                  <a:moveTo>
                    <a:pt x="208978" y="127179"/>
                  </a:moveTo>
                  <a:lnTo>
                    <a:pt x="208978" y="116279"/>
                  </a:lnTo>
                </a:path>
              </a:pathLst>
            </a:custGeom>
            <a:ln w="10353">
              <a:solidFill>
                <a:srgbClr val="000000"/>
              </a:solidFill>
            </a:ln>
          </p:spPr>
          <p:txBody>
            <a:bodyPr wrap="square" lIns="0" tIns="0" rIns="0" bIns="0" rtlCol="0"/>
            <a:lstStyle/>
            <a:p>
              <a:endParaRPr sz="1488"/>
            </a:p>
          </p:txBody>
        </p:sp>
        <p:sp>
          <p:nvSpPr>
            <p:cNvPr id="52" name="object 52"/>
            <p:cNvSpPr/>
            <p:nvPr/>
          </p:nvSpPr>
          <p:spPr>
            <a:xfrm>
              <a:off x="7656280" y="4554465"/>
              <a:ext cx="12700" cy="17145"/>
            </a:xfrm>
            <a:custGeom>
              <a:avLst/>
              <a:gdLst/>
              <a:ahLst/>
              <a:cxnLst/>
              <a:rect l="l" t="t" r="r" b="b"/>
              <a:pathLst>
                <a:path w="12700" h="17145">
                  <a:moveTo>
                    <a:pt x="6245" y="0"/>
                  </a:moveTo>
                  <a:lnTo>
                    <a:pt x="6245" y="16532"/>
                  </a:lnTo>
                </a:path>
                <a:path w="12700" h="17145">
                  <a:moveTo>
                    <a:pt x="0" y="16532"/>
                  </a:moveTo>
                  <a:lnTo>
                    <a:pt x="6245" y="0"/>
                  </a:lnTo>
                  <a:lnTo>
                    <a:pt x="12423" y="16532"/>
                  </a:lnTo>
                </a:path>
              </a:pathLst>
            </a:custGeom>
            <a:ln w="10353">
              <a:solidFill>
                <a:srgbClr val="000000"/>
              </a:solidFill>
            </a:ln>
          </p:spPr>
          <p:txBody>
            <a:bodyPr wrap="square" lIns="0" tIns="0" rIns="0" bIns="0" rtlCol="0"/>
            <a:lstStyle/>
            <a:p>
              <a:endParaRPr sz="1488"/>
            </a:p>
          </p:txBody>
        </p:sp>
        <p:sp>
          <p:nvSpPr>
            <p:cNvPr id="53" name="object 53"/>
            <p:cNvSpPr/>
            <p:nvPr/>
          </p:nvSpPr>
          <p:spPr>
            <a:xfrm>
              <a:off x="7403205" y="2410818"/>
              <a:ext cx="515620" cy="690245"/>
            </a:xfrm>
            <a:custGeom>
              <a:avLst/>
              <a:gdLst/>
              <a:ahLst/>
              <a:cxnLst/>
              <a:rect l="l" t="t" r="r" b="b"/>
              <a:pathLst>
                <a:path w="515620" h="690244">
                  <a:moveTo>
                    <a:pt x="0" y="0"/>
                  </a:moveTo>
                  <a:lnTo>
                    <a:pt x="515302" y="0"/>
                  </a:lnTo>
                  <a:lnTo>
                    <a:pt x="515302" y="690040"/>
                  </a:lnTo>
                  <a:lnTo>
                    <a:pt x="0" y="690040"/>
                  </a:lnTo>
                  <a:lnTo>
                    <a:pt x="0" y="0"/>
                  </a:lnTo>
                  <a:close/>
                </a:path>
              </a:pathLst>
            </a:custGeom>
            <a:ln w="10353">
              <a:solidFill>
                <a:srgbClr val="000000"/>
              </a:solidFill>
              <a:prstDash val="dash"/>
            </a:ln>
          </p:spPr>
          <p:txBody>
            <a:bodyPr wrap="square" lIns="0" tIns="0" rIns="0" bIns="0" rtlCol="0"/>
            <a:lstStyle/>
            <a:p>
              <a:endParaRPr sz="1488"/>
            </a:p>
          </p:txBody>
        </p:sp>
        <p:sp>
          <p:nvSpPr>
            <p:cNvPr id="54" name="object 54"/>
            <p:cNvSpPr/>
            <p:nvPr/>
          </p:nvSpPr>
          <p:spPr>
            <a:xfrm>
              <a:off x="7453547" y="2969927"/>
              <a:ext cx="418465" cy="80010"/>
            </a:xfrm>
            <a:custGeom>
              <a:avLst/>
              <a:gdLst/>
              <a:ahLst/>
              <a:cxnLst/>
              <a:rect l="l" t="t" r="r" b="b"/>
              <a:pathLst>
                <a:path w="418465" h="80010">
                  <a:moveTo>
                    <a:pt x="417948" y="80009"/>
                  </a:moveTo>
                  <a:lnTo>
                    <a:pt x="0" y="80009"/>
                  </a:lnTo>
                  <a:lnTo>
                    <a:pt x="0" y="0"/>
                  </a:lnTo>
                  <a:lnTo>
                    <a:pt x="417948" y="0"/>
                  </a:lnTo>
                  <a:lnTo>
                    <a:pt x="417948" y="80009"/>
                  </a:lnTo>
                  <a:close/>
                </a:path>
              </a:pathLst>
            </a:custGeom>
            <a:solidFill>
              <a:srgbClr val="B2D9FF"/>
            </a:solidFill>
          </p:spPr>
          <p:txBody>
            <a:bodyPr wrap="square" lIns="0" tIns="0" rIns="0" bIns="0" rtlCol="0"/>
            <a:lstStyle/>
            <a:p>
              <a:endParaRPr sz="1488"/>
            </a:p>
          </p:txBody>
        </p:sp>
        <p:sp>
          <p:nvSpPr>
            <p:cNvPr id="55" name="object 55"/>
            <p:cNvSpPr/>
            <p:nvPr/>
          </p:nvSpPr>
          <p:spPr>
            <a:xfrm>
              <a:off x="7453547" y="2969927"/>
              <a:ext cx="418465" cy="80010"/>
            </a:xfrm>
            <a:custGeom>
              <a:avLst/>
              <a:gdLst/>
              <a:ahLst/>
              <a:cxnLst/>
              <a:rect l="l" t="t" r="r" b="b"/>
              <a:pathLst>
                <a:path w="418465" h="80010">
                  <a:moveTo>
                    <a:pt x="0" y="0"/>
                  </a:moveTo>
                  <a:lnTo>
                    <a:pt x="417948" y="0"/>
                  </a:lnTo>
                  <a:lnTo>
                    <a:pt x="417948" y="80009"/>
                  </a:lnTo>
                  <a:lnTo>
                    <a:pt x="0" y="80009"/>
                  </a:lnTo>
                  <a:lnTo>
                    <a:pt x="0" y="0"/>
                  </a:lnTo>
                  <a:close/>
                </a:path>
              </a:pathLst>
            </a:custGeom>
            <a:ln w="10353">
              <a:solidFill>
                <a:srgbClr val="000000"/>
              </a:solidFill>
            </a:ln>
          </p:spPr>
          <p:txBody>
            <a:bodyPr wrap="square" lIns="0" tIns="0" rIns="0" bIns="0" rtlCol="0"/>
            <a:lstStyle/>
            <a:p>
              <a:endParaRPr sz="1488"/>
            </a:p>
          </p:txBody>
        </p:sp>
        <p:sp>
          <p:nvSpPr>
            <p:cNvPr id="56" name="object 56"/>
            <p:cNvSpPr/>
            <p:nvPr/>
          </p:nvSpPr>
          <p:spPr>
            <a:xfrm>
              <a:off x="7663461" y="3080997"/>
              <a:ext cx="0" cy="104139"/>
            </a:xfrm>
            <a:custGeom>
              <a:avLst/>
              <a:gdLst/>
              <a:ahLst/>
              <a:cxnLst/>
              <a:rect l="l" t="t" r="r" b="b"/>
              <a:pathLst>
                <a:path h="104139">
                  <a:moveTo>
                    <a:pt x="0" y="0"/>
                  </a:moveTo>
                  <a:lnTo>
                    <a:pt x="0" y="103665"/>
                  </a:lnTo>
                </a:path>
              </a:pathLst>
            </a:custGeom>
            <a:ln w="11131">
              <a:solidFill>
                <a:srgbClr val="000000"/>
              </a:solidFill>
            </a:ln>
          </p:spPr>
          <p:txBody>
            <a:bodyPr wrap="square" lIns="0" tIns="0" rIns="0" bIns="0" rtlCol="0"/>
            <a:lstStyle/>
            <a:p>
              <a:endParaRPr sz="1488"/>
            </a:p>
          </p:txBody>
        </p:sp>
        <p:sp>
          <p:nvSpPr>
            <p:cNvPr id="57" name="object 57"/>
            <p:cNvSpPr/>
            <p:nvPr/>
          </p:nvSpPr>
          <p:spPr>
            <a:xfrm>
              <a:off x="7656893" y="3069609"/>
              <a:ext cx="12700" cy="17145"/>
            </a:xfrm>
            <a:custGeom>
              <a:avLst/>
              <a:gdLst/>
              <a:ahLst/>
              <a:cxnLst/>
              <a:rect l="l" t="t" r="r" b="b"/>
              <a:pathLst>
                <a:path w="12700" h="17144">
                  <a:moveTo>
                    <a:pt x="6054" y="0"/>
                  </a:moveTo>
                  <a:lnTo>
                    <a:pt x="6178" y="16565"/>
                  </a:lnTo>
                </a:path>
                <a:path w="12700" h="17144">
                  <a:moveTo>
                    <a:pt x="0" y="16631"/>
                  </a:moveTo>
                  <a:lnTo>
                    <a:pt x="6054" y="0"/>
                  </a:lnTo>
                  <a:lnTo>
                    <a:pt x="12423" y="16532"/>
                  </a:lnTo>
                </a:path>
              </a:pathLst>
            </a:custGeom>
            <a:ln w="10353">
              <a:solidFill>
                <a:srgbClr val="000000"/>
              </a:solidFill>
            </a:ln>
          </p:spPr>
          <p:txBody>
            <a:bodyPr wrap="square" lIns="0" tIns="0" rIns="0" bIns="0" rtlCol="0"/>
            <a:lstStyle/>
            <a:p>
              <a:endParaRPr sz="1488"/>
            </a:p>
          </p:txBody>
        </p:sp>
        <p:sp>
          <p:nvSpPr>
            <p:cNvPr id="58" name="object 58"/>
            <p:cNvSpPr/>
            <p:nvPr/>
          </p:nvSpPr>
          <p:spPr>
            <a:xfrm>
              <a:off x="7453547" y="2842781"/>
              <a:ext cx="418465" cy="80010"/>
            </a:xfrm>
            <a:custGeom>
              <a:avLst/>
              <a:gdLst/>
              <a:ahLst/>
              <a:cxnLst/>
              <a:rect l="l" t="t" r="r" b="b"/>
              <a:pathLst>
                <a:path w="418465" h="80010">
                  <a:moveTo>
                    <a:pt x="0" y="0"/>
                  </a:moveTo>
                  <a:lnTo>
                    <a:pt x="417948" y="0"/>
                  </a:lnTo>
                  <a:lnTo>
                    <a:pt x="417948" y="80009"/>
                  </a:lnTo>
                  <a:lnTo>
                    <a:pt x="0" y="80009"/>
                  </a:lnTo>
                  <a:lnTo>
                    <a:pt x="0" y="0"/>
                  </a:lnTo>
                  <a:close/>
                </a:path>
              </a:pathLst>
            </a:custGeom>
            <a:ln w="10353">
              <a:solidFill>
                <a:srgbClr val="000000"/>
              </a:solidFill>
            </a:ln>
          </p:spPr>
          <p:txBody>
            <a:bodyPr wrap="square" lIns="0" tIns="0" rIns="0" bIns="0" rtlCol="0"/>
            <a:lstStyle/>
            <a:p>
              <a:endParaRPr sz="1488"/>
            </a:p>
          </p:txBody>
        </p:sp>
        <p:sp>
          <p:nvSpPr>
            <p:cNvPr id="59" name="object 59"/>
            <p:cNvSpPr/>
            <p:nvPr/>
          </p:nvSpPr>
          <p:spPr>
            <a:xfrm>
              <a:off x="7453547" y="2179170"/>
              <a:ext cx="418465" cy="80010"/>
            </a:xfrm>
            <a:custGeom>
              <a:avLst/>
              <a:gdLst/>
              <a:ahLst/>
              <a:cxnLst/>
              <a:rect l="l" t="t" r="r" b="b"/>
              <a:pathLst>
                <a:path w="418465" h="80010">
                  <a:moveTo>
                    <a:pt x="417948" y="80009"/>
                  </a:moveTo>
                  <a:lnTo>
                    <a:pt x="0" y="80009"/>
                  </a:lnTo>
                  <a:lnTo>
                    <a:pt x="0" y="0"/>
                  </a:lnTo>
                  <a:lnTo>
                    <a:pt x="417948" y="0"/>
                  </a:lnTo>
                  <a:lnTo>
                    <a:pt x="417948" y="80009"/>
                  </a:lnTo>
                  <a:close/>
                </a:path>
              </a:pathLst>
            </a:custGeom>
            <a:solidFill>
              <a:srgbClr val="66BFFF"/>
            </a:solidFill>
          </p:spPr>
          <p:txBody>
            <a:bodyPr wrap="square" lIns="0" tIns="0" rIns="0" bIns="0" rtlCol="0"/>
            <a:lstStyle/>
            <a:p>
              <a:endParaRPr sz="1488"/>
            </a:p>
          </p:txBody>
        </p:sp>
        <p:sp>
          <p:nvSpPr>
            <p:cNvPr id="60" name="object 60"/>
            <p:cNvSpPr/>
            <p:nvPr/>
          </p:nvSpPr>
          <p:spPr>
            <a:xfrm>
              <a:off x="7453547" y="2179170"/>
              <a:ext cx="418465" cy="80010"/>
            </a:xfrm>
            <a:custGeom>
              <a:avLst/>
              <a:gdLst/>
              <a:ahLst/>
              <a:cxnLst/>
              <a:rect l="l" t="t" r="r" b="b"/>
              <a:pathLst>
                <a:path w="418465" h="80010">
                  <a:moveTo>
                    <a:pt x="0" y="0"/>
                  </a:moveTo>
                  <a:lnTo>
                    <a:pt x="417948" y="0"/>
                  </a:lnTo>
                  <a:lnTo>
                    <a:pt x="417948" y="80009"/>
                  </a:lnTo>
                  <a:lnTo>
                    <a:pt x="0" y="80009"/>
                  </a:lnTo>
                  <a:lnTo>
                    <a:pt x="0" y="0"/>
                  </a:lnTo>
                  <a:close/>
                </a:path>
              </a:pathLst>
            </a:custGeom>
            <a:ln w="10353">
              <a:solidFill>
                <a:srgbClr val="000000"/>
              </a:solidFill>
            </a:ln>
          </p:spPr>
          <p:txBody>
            <a:bodyPr wrap="square" lIns="0" tIns="0" rIns="0" bIns="0" rtlCol="0"/>
            <a:lstStyle/>
            <a:p>
              <a:endParaRPr sz="1488"/>
            </a:p>
          </p:txBody>
        </p:sp>
        <p:sp>
          <p:nvSpPr>
            <p:cNvPr id="61" name="object 61"/>
            <p:cNvSpPr/>
            <p:nvPr/>
          </p:nvSpPr>
          <p:spPr>
            <a:xfrm>
              <a:off x="7453547" y="2715627"/>
              <a:ext cx="418465" cy="80010"/>
            </a:xfrm>
            <a:custGeom>
              <a:avLst/>
              <a:gdLst/>
              <a:ahLst/>
              <a:cxnLst/>
              <a:rect l="l" t="t" r="r" b="b"/>
              <a:pathLst>
                <a:path w="418465" h="80010">
                  <a:moveTo>
                    <a:pt x="417948" y="79976"/>
                  </a:moveTo>
                  <a:lnTo>
                    <a:pt x="0" y="79976"/>
                  </a:lnTo>
                  <a:lnTo>
                    <a:pt x="0" y="0"/>
                  </a:lnTo>
                  <a:lnTo>
                    <a:pt x="417948" y="0"/>
                  </a:lnTo>
                  <a:lnTo>
                    <a:pt x="417948" y="79976"/>
                  </a:lnTo>
                  <a:close/>
                </a:path>
              </a:pathLst>
            </a:custGeom>
            <a:solidFill>
              <a:srgbClr val="66BFFF"/>
            </a:solidFill>
          </p:spPr>
          <p:txBody>
            <a:bodyPr wrap="square" lIns="0" tIns="0" rIns="0" bIns="0" rtlCol="0"/>
            <a:lstStyle/>
            <a:p>
              <a:endParaRPr sz="1488"/>
            </a:p>
          </p:txBody>
        </p:sp>
        <p:sp>
          <p:nvSpPr>
            <p:cNvPr id="62" name="object 62"/>
            <p:cNvSpPr/>
            <p:nvPr/>
          </p:nvSpPr>
          <p:spPr>
            <a:xfrm>
              <a:off x="7453547" y="2715627"/>
              <a:ext cx="418465" cy="254635"/>
            </a:xfrm>
            <a:custGeom>
              <a:avLst/>
              <a:gdLst/>
              <a:ahLst/>
              <a:cxnLst/>
              <a:rect l="l" t="t" r="r" b="b"/>
              <a:pathLst>
                <a:path w="418465" h="254635">
                  <a:moveTo>
                    <a:pt x="0" y="0"/>
                  </a:moveTo>
                  <a:lnTo>
                    <a:pt x="417948" y="0"/>
                  </a:lnTo>
                  <a:lnTo>
                    <a:pt x="417948" y="79976"/>
                  </a:lnTo>
                  <a:lnTo>
                    <a:pt x="0" y="79976"/>
                  </a:lnTo>
                  <a:lnTo>
                    <a:pt x="0" y="0"/>
                  </a:lnTo>
                  <a:close/>
                </a:path>
                <a:path w="418465" h="254635">
                  <a:moveTo>
                    <a:pt x="208978" y="254300"/>
                  </a:moveTo>
                  <a:lnTo>
                    <a:pt x="208978" y="243401"/>
                  </a:lnTo>
                </a:path>
              </a:pathLst>
            </a:custGeom>
            <a:ln w="10353">
              <a:solidFill>
                <a:srgbClr val="000000"/>
              </a:solidFill>
            </a:ln>
          </p:spPr>
          <p:txBody>
            <a:bodyPr wrap="square" lIns="0" tIns="0" rIns="0" bIns="0" rtlCol="0"/>
            <a:lstStyle/>
            <a:p>
              <a:endParaRPr sz="1488"/>
            </a:p>
          </p:txBody>
        </p:sp>
        <p:sp>
          <p:nvSpPr>
            <p:cNvPr id="63" name="object 63"/>
            <p:cNvSpPr/>
            <p:nvPr/>
          </p:nvSpPr>
          <p:spPr>
            <a:xfrm>
              <a:off x="7656280" y="2942462"/>
              <a:ext cx="12700" cy="17145"/>
            </a:xfrm>
            <a:custGeom>
              <a:avLst/>
              <a:gdLst/>
              <a:ahLst/>
              <a:cxnLst/>
              <a:rect l="l" t="t" r="r" b="b"/>
              <a:pathLst>
                <a:path w="12700" h="17144">
                  <a:moveTo>
                    <a:pt x="6245" y="0"/>
                  </a:moveTo>
                  <a:lnTo>
                    <a:pt x="6245" y="16565"/>
                  </a:lnTo>
                </a:path>
                <a:path w="12700" h="17144">
                  <a:moveTo>
                    <a:pt x="0" y="16565"/>
                  </a:moveTo>
                  <a:lnTo>
                    <a:pt x="6245" y="0"/>
                  </a:lnTo>
                  <a:lnTo>
                    <a:pt x="12423" y="16565"/>
                  </a:lnTo>
                </a:path>
              </a:pathLst>
            </a:custGeom>
            <a:ln w="10353">
              <a:solidFill>
                <a:srgbClr val="000000"/>
              </a:solidFill>
            </a:ln>
          </p:spPr>
          <p:txBody>
            <a:bodyPr wrap="square" lIns="0" tIns="0" rIns="0" bIns="0" rtlCol="0"/>
            <a:lstStyle/>
            <a:p>
              <a:endParaRPr sz="1488"/>
            </a:p>
          </p:txBody>
        </p:sp>
        <p:sp>
          <p:nvSpPr>
            <p:cNvPr id="64" name="object 64"/>
            <p:cNvSpPr/>
            <p:nvPr/>
          </p:nvSpPr>
          <p:spPr>
            <a:xfrm>
              <a:off x="7662525" y="2831840"/>
              <a:ext cx="0" cy="11430"/>
            </a:xfrm>
            <a:custGeom>
              <a:avLst/>
              <a:gdLst/>
              <a:ahLst/>
              <a:cxnLst/>
              <a:rect l="l" t="t" r="r" b="b"/>
              <a:pathLst>
                <a:path h="11430">
                  <a:moveTo>
                    <a:pt x="0" y="10941"/>
                  </a:moveTo>
                  <a:lnTo>
                    <a:pt x="0" y="0"/>
                  </a:lnTo>
                </a:path>
              </a:pathLst>
            </a:custGeom>
            <a:ln w="10353">
              <a:solidFill>
                <a:srgbClr val="000000"/>
              </a:solidFill>
            </a:ln>
          </p:spPr>
          <p:txBody>
            <a:bodyPr wrap="square" lIns="0" tIns="0" rIns="0" bIns="0" rtlCol="0"/>
            <a:lstStyle/>
            <a:p>
              <a:endParaRPr sz="1488"/>
            </a:p>
          </p:txBody>
        </p:sp>
        <p:sp>
          <p:nvSpPr>
            <p:cNvPr id="65" name="object 65"/>
            <p:cNvSpPr/>
            <p:nvPr/>
          </p:nvSpPr>
          <p:spPr>
            <a:xfrm>
              <a:off x="7656280" y="2815308"/>
              <a:ext cx="12700" cy="17145"/>
            </a:xfrm>
            <a:custGeom>
              <a:avLst/>
              <a:gdLst/>
              <a:ahLst/>
              <a:cxnLst/>
              <a:rect l="l" t="t" r="r" b="b"/>
              <a:pathLst>
                <a:path w="12700" h="17144">
                  <a:moveTo>
                    <a:pt x="6245" y="0"/>
                  </a:moveTo>
                  <a:lnTo>
                    <a:pt x="6245" y="16532"/>
                  </a:lnTo>
                </a:path>
                <a:path w="12700" h="17144">
                  <a:moveTo>
                    <a:pt x="0" y="16532"/>
                  </a:moveTo>
                  <a:lnTo>
                    <a:pt x="6245" y="0"/>
                  </a:lnTo>
                  <a:lnTo>
                    <a:pt x="12423" y="16532"/>
                  </a:lnTo>
                </a:path>
              </a:pathLst>
            </a:custGeom>
            <a:ln w="10353">
              <a:solidFill>
                <a:srgbClr val="000000"/>
              </a:solidFill>
            </a:ln>
          </p:spPr>
          <p:txBody>
            <a:bodyPr wrap="square" lIns="0" tIns="0" rIns="0" bIns="0" rtlCol="0"/>
            <a:lstStyle/>
            <a:p>
              <a:endParaRPr sz="1488"/>
            </a:p>
          </p:txBody>
        </p:sp>
        <p:sp>
          <p:nvSpPr>
            <p:cNvPr id="66" name="object 66"/>
            <p:cNvSpPr/>
            <p:nvPr/>
          </p:nvSpPr>
          <p:spPr>
            <a:xfrm>
              <a:off x="7661556" y="2401244"/>
              <a:ext cx="635" cy="50165"/>
            </a:xfrm>
            <a:custGeom>
              <a:avLst/>
              <a:gdLst/>
              <a:ahLst/>
              <a:cxnLst/>
              <a:rect l="l" t="t" r="r" b="b"/>
              <a:pathLst>
                <a:path w="634" h="50164">
                  <a:moveTo>
                    <a:pt x="513" y="49795"/>
                  </a:moveTo>
                  <a:lnTo>
                    <a:pt x="0" y="0"/>
                  </a:lnTo>
                </a:path>
              </a:pathLst>
            </a:custGeom>
            <a:ln w="10353">
              <a:solidFill>
                <a:srgbClr val="000000"/>
              </a:solidFill>
            </a:ln>
          </p:spPr>
          <p:txBody>
            <a:bodyPr wrap="square" lIns="0" tIns="0" rIns="0" bIns="0" rtlCol="0"/>
            <a:lstStyle/>
            <a:p>
              <a:endParaRPr sz="1488"/>
            </a:p>
          </p:txBody>
        </p:sp>
        <p:sp>
          <p:nvSpPr>
            <p:cNvPr id="67" name="object 67"/>
            <p:cNvSpPr/>
            <p:nvPr/>
          </p:nvSpPr>
          <p:spPr>
            <a:xfrm>
              <a:off x="7655311" y="2384678"/>
              <a:ext cx="12700" cy="17145"/>
            </a:xfrm>
            <a:custGeom>
              <a:avLst/>
              <a:gdLst/>
              <a:ahLst/>
              <a:cxnLst/>
              <a:rect l="l" t="t" r="r" b="b"/>
              <a:pathLst>
                <a:path w="12700" h="17144">
                  <a:moveTo>
                    <a:pt x="6079" y="0"/>
                  </a:moveTo>
                  <a:lnTo>
                    <a:pt x="6245" y="16565"/>
                  </a:lnTo>
                </a:path>
                <a:path w="12700" h="17144">
                  <a:moveTo>
                    <a:pt x="0" y="16631"/>
                  </a:moveTo>
                  <a:lnTo>
                    <a:pt x="6079" y="0"/>
                  </a:lnTo>
                  <a:lnTo>
                    <a:pt x="12457" y="16498"/>
                  </a:lnTo>
                </a:path>
              </a:pathLst>
            </a:custGeom>
            <a:ln w="10353">
              <a:solidFill>
                <a:srgbClr val="000000"/>
              </a:solidFill>
            </a:ln>
          </p:spPr>
          <p:txBody>
            <a:bodyPr wrap="square" lIns="0" tIns="0" rIns="0" bIns="0" rtlCol="0"/>
            <a:lstStyle/>
            <a:p>
              <a:endParaRPr sz="1488"/>
            </a:p>
          </p:txBody>
        </p:sp>
        <p:sp>
          <p:nvSpPr>
            <p:cNvPr id="68" name="object 68"/>
            <p:cNvSpPr/>
            <p:nvPr/>
          </p:nvSpPr>
          <p:spPr>
            <a:xfrm>
              <a:off x="7661258" y="2295417"/>
              <a:ext cx="635" cy="10160"/>
            </a:xfrm>
            <a:custGeom>
              <a:avLst/>
              <a:gdLst/>
              <a:ahLst/>
              <a:cxnLst/>
              <a:rect l="l" t="t" r="r" b="b"/>
              <a:pathLst>
                <a:path w="634" h="10160">
                  <a:moveTo>
                    <a:pt x="0" y="9607"/>
                  </a:moveTo>
                  <a:lnTo>
                    <a:pt x="165" y="0"/>
                  </a:lnTo>
                </a:path>
              </a:pathLst>
            </a:custGeom>
            <a:ln w="10353">
              <a:solidFill>
                <a:srgbClr val="000000"/>
              </a:solidFill>
            </a:ln>
          </p:spPr>
          <p:txBody>
            <a:bodyPr wrap="square" lIns="0" tIns="0" rIns="0" bIns="0" rtlCol="0"/>
            <a:lstStyle/>
            <a:p>
              <a:endParaRPr sz="1488"/>
            </a:p>
          </p:txBody>
        </p:sp>
        <p:sp>
          <p:nvSpPr>
            <p:cNvPr id="69" name="object 69"/>
            <p:cNvSpPr/>
            <p:nvPr/>
          </p:nvSpPr>
          <p:spPr>
            <a:xfrm>
              <a:off x="7655178" y="2278885"/>
              <a:ext cx="12700" cy="17145"/>
            </a:xfrm>
            <a:custGeom>
              <a:avLst/>
              <a:gdLst/>
              <a:ahLst/>
              <a:cxnLst/>
              <a:rect l="l" t="t" r="r" b="b"/>
              <a:pathLst>
                <a:path w="12700" h="17144">
                  <a:moveTo>
                    <a:pt x="6468" y="0"/>
                  </a:moveTo>
                  <a:lnTo>
                    <a:pt x="6245" y="16532"/>
                  </a:lnTo>
                </a:path>
                <a:path w="12700" h="17144">
                  <a:moveTo>
                    <a:pt x="0" y="16465"/>
                  </a:moveTo>
                  <a:lnTo>
                    <a:pt x="6468" y="0"/>
                  </a:lnTo>
                  <a:lnTo>
                    <a:pt x="12423" y="16623"/>
                  </a:lnTo>
                </a:path>
              </a:pathLst>
            </a:custGeom>
            <a:ln w="10353">
              <a:solidFill>
                <a:srgbClr val="000000"/>
              </a:solidFill>
            </a:ln>
          </p:spPr>
          <p:txBody>
            <a:bodyPr wrap="square" lIns="0" tIns="0" rIns="0" bIns="0" rtlCol="0"/>
            <a:lstStyle/>
            <a:p>
              <a:endParaRPr sz="1488"/>
            </a:p>
          </p:txBody>
        </p:sp>
        <p:sp>
          <p:nvSpPr>
            <p:cNvPr id="70" name="object 70"/>
            <p:cNvSpPr/>
            <p:nvPr/>
          </p:nvSpPr>
          <p:spPr>
            <a:xfrm>
              <a:off x="7663560" y="2832105"/>
              <a:ext cx="531495" cy="315595"/>
            </a:xfrm>
            <a:custGeom>
              <a:avLst/>
              <a:gdLst/>
              <a:ahLst/>
              <a:cxnLst/>
              <a:rect l="l" t="t" r="r" b="b"/>
              <a:pathLst>
                <a:path w="531495" h="315594">
                  <a:moveTo>
                    <a:pt x="0" y="315029"/>
                  </a:moveTo>
                  <a:lnTo>
                    <a:pt x="500319" y="315029"/>
                  </a:lnTo>
                  <a:lnTo>
                    <a:pt x="512405" y="312586"/>
                  </a:lnTo>
                  <a:lnTo>
                    <a:pt x="522278" y="305928"/>
                  </a:lnTo>
                  <a:lnTo>
                    <a:pt x="528936" y="296055"/>
                  </a:lnTo>
                  <a:lnTo>
                    <a:pt x="531379" y="283969"/>
                  </a:lnTo>
                  <a:lnTo>
                    <a:pt x="531379" y="0"/>
                  </a:lnTo>
                </a:path>
              </a:pathLst>
            </a:custGeom>
            <a:ln w="10353">
              <a:solidFill>
                <a:srgbClr val="000000"/>
              </a:solidFill>
            </a:ln>
          </p:spPr>
          <p:txBody>
            <a:bodyPr wrap="square" lIns="0" tIns="0" rIns="0" bIns="0" rtlCol="0"/>
            <a:lstStyle/>
            <a:p>
              <a:endParaRPr sz="1488"/>
            </a:p>
          </p:txBody>
        </p:sp>
        <p:sp>
          <p:nvSpPr>
            <p:cNvPr id="71" name="object 71"/>
            <p:cNvSpPr/>
            <p:nvPr/>
          </p:nvSpPr>
          <p:spPr>
            <a:xfrm>
              <a:off x="8188694" y="2815507"/>
              <a:ext cx="12700" cy="17145"/>
            </a:xfrm>
            <a:custGeom>
              <a:avLst/>
              <a:gdLst/>
              <a:ahLst/>
              <a:cxnLst/>
              <a:rect l="l" t="t" r="r" b="b"/>
              <a:pathLst>
                <a:path w="12700" h="17144">
                  <a:moveTo>
                    <a:pt x="6245" y="0"/>
                  </a:moveTo>
                  <a:lnTo>
                    <a:pt x="6245" y="16598"/>
                  </a:lnTo>
                </a:path>
                <a:path w="12700" h="17144">
                  <a:moveTo>
                    <a:pt x="0" y="16598"/>
                  </a:moveTo>
                  <a:lnTo>
                    <a:pt x="6245" y="0"/>
                  </a:lnTo>
                  <a:lnTo>
                    <a:pt x="12490" y="16598"/>
                  </a:lnTo>
                </a:path>
              </a:pathLst>
            </a:custGeom>
            <a:ln w="10353">
              <a:solidFill>
                <a:srgbClr val="000000"/>
              </a:solidFill>
            </a:ln>
          </p:spPr>
          <p:txBody>
            <a:bodyPr wrap="square" lIns="0" tIns="0" rIns="0" bIns="0" rtlCol="0"/>
            <a:lstStyle/>
            <a:p>
              <a:endParaRPr sz="1488"/>
            </a:p>
          </p:txBody>
        </p:sp>
        <p:sp>
          <p:nvSpPr>
            <p:cNvPr id="72" name="object 72"/>
            <p:cNvSpPr/>
            <p:nvPr/>
          </p:nvSpPr>
          <p:spPr>
            <a:xfrm>
              <a:off x="7453547" y="2578185"/>
              <a:ext cx="418465" cy="80645"/>
            </a:xfrm>
            <a:custGeom>
              <a:avLst/>
              <a:gdLst/>
              <a:ahLst/>
              <a:cxnLst/>
              <a:rect l="l" t="t" r="r" b="b"/>
              <a:pathLst>
                <a:path w="418465" h="80644">
                  <a:moveTo>
                    <a:pt x="417948" y="80043"/>
                  </a:moveTo>
                  <a:lnTo>
                    <a:pt x="0" y="80043"/>
                  </a:lnTo>
                  <a:lnTo>
                    <a:pt x="0" y="0"/>
                  </a:lnTo>
                  <a:lnTo>
                    <a:pt x="417948" y="0"/>
                  </a:lnTo>
                  <a:lnTo>
                    <a:pt x="417948" y="80043"/>
                  </a:lnTo>
                  <a:close/>
                </a:path>
              </a:pathLst>
            </a:custGeom>
            <a:solidFill>
              <a:srgbClr val="B2D9FF"/>
            </a:solidFill>
          </p:spPr>
          <p:txBody>
            <a:bodyPr wrap="square" lIns="0" tIns="0" rIns="0" bIns="0" rtlCol="0"/>
            <a:lstStyle/>
            <a:p>
              <a:endParaRPr sz="1488"/>
            </a:p>
          </p:txBody>
        </p:sp>
        <p:sp>
          <p:nvSpPr>
            <p:cNvPr id="73" name="object 73"/>
            <p:cNvSpPr/>
            <p:nvPr/>
          </p:nvSpPr>
          <p:spPr>
            <a:xfrm>
              <a:off x="7453547" y="2578185"/>
              <a:ext cx="418465" cy="137795"/>
            </a:xfrm>
            <a:custGeom>
              <a:avLst/>
              <a:gdLst/>
              <a:ahLst/>
              <a:cxnLst/>
              <a:rect l="l" t="t" r="r" b="b"/>
              <a:pathLst>
                <a:path w="418465" h="137794">
                  <a:moveTo>
                    <a:pt x="0" y="0"/>
                  </a:moveTo>
                  <a:lnTo>
                    <a:pt x="417948" y="0"/>
                  </a:lnTo>
                  <a:lnTo>
                    <a:pt x="417948" y="80043"/>
                  </a:lnTo>
                  <a:lnTo>
                    <a:pt x="0" y="80043"/>
                  </a:lnTo>
                  <a:lnTo>
                    <a:pt x="0" y="0"/>
                  </a:lnTo>
                  <a:close/>
                </a:path>
                <a:path w="418465" h="137794">
                  <a:moveTo>
                    <a:pt x="208978" y="137441"/>
                  </a:moveTo>
                  <a:lnTo>
                    <a:pt x="208978" y="116279"/>
                  </a:lnTo>
                </a:path>
              </a:pathLst>
            </a:custGeom>
            <a:ln w="10353">
              <a:solidFill>
                <a:srgbClr val="000000"/>
              </a:solidFill>
            </a:ln>
          </p:spPr>
          <p:txBody>
            <a:bodyPr wrap="square" lIns="0" tIns="0" rIns="0" bIns="0" rtlCol="0"/>
            <a:lstStyle/>
            <a:p>
              <a:endParaRPr sz="1488"/>
            </a:p>
          </p:txBody>
        </p:sp>
        <p:sp>
          <p:nvSpPr>
            <p:cNvPr id="74" name="object 74"/>
            <p:cNvSpPr/>
            <p:nvPr/>
          </p:nvSpPr>
          <p:spPr>
            <a:xfrm>
              <a:off x="7656280" y="2677932"/>
              <a:ext cx="12700" cy="17145"/>
            </a:xfrm>
            <a:custGeom>
              <a:avLst/>
              <a:gdLst/>
              <a:ahLst/>
              <a:cxnLst/>
              <a:rect l="l" t="t" r="r" b="b"/>
              <a:pathLst>
                <a:path w="12700" h="17144">
                  <a:moveTo>
                    <a:pt x="6245" y="0"/>
                  </a:moveTo>
                  <a:lnTo>
                    <a:pt x="6245" y="16532"/>
                  </a:lnTo>
                </a:path>
                <a:path w="12700" h="17144">
                  <a:moveTo>
                    <a:pt x="0" y="16532"/>
                  </a:moveTo>
                  <a:lnTo>
                    <a:pt x="6245" y="0"/>
                  </a:lnTo>
                  <a:lnTo>
                    <a:pt x="12423" y="16532"/>
                  </a:lnTo>
                </a:path>
              </a:pathLst>
            </a:custGeom>
            <a:ln w="10353">
              <a:solidFill>
                <a:srgbClr val="000000"/>
              </a:solidFill>
            </a:ln>
          </p:spPr>
          <p:txBody>
            <a:bodyPr wrap="square" lIns="0" tIns="0" rIns="0" bIns="0" rtlCol="0"/>
            <a:lstStyle/>
            <a:p>
              <a:endParaRPr sz="1488"/>
            </a:p>
          </p:txBody>
        </p:sp>
        <p:sp>
          <p:nvSpPr>
            <p:cNvPr id="75" name="object 75"/>
            <p:cNvSpPr/>
            <p:nvPr/>
          </p:nvSpPr>
          <p:spPr>
            <a:xfrm>
              <a:off x="7453547" y="2451039"/>
              <a:ext cx="418465" cy="127635"/>
            </a:xfrm>
            <a:custGeom>
              <a:avLst/>
              <a:gdLst/>
              <a:ahLst/>
              <a:cxnLst/>
              <a:rect l="l" t="t" r="r" b="b"/>
              <a:pathLst>
                <a:path w="418465" h="127635">
                  <a:moveTo>
                    <a:pt x="0" y="0"/>
                  </a:moveTo>
                  <a:lnTo>
                    <a:pt x="417948" y="0"/>
                  </a:lnTo>
                  <a:lnTo>
                    <a:pt x="417948" y="80043"/>
                  </a:lnTo>
                  <a:lnTo>
                    <a:pt x="0" y="80043"/>
                  </a:lnTo>
                  <a:lnTo>
                    <a:pt x="0" y="0"/>
                  </a:lnTo>
                  <a:close/>
                </a:path>
                <a:path w="418465" h="127635">
                  <a:moveTo>
                    <a:pt x="208978" y="127146"/>
                  </a:moveTo>
                  <a:lnTo>
                    <a:pt x="208978" y="116279"/>
                  </a:lnTo>
                </a:path>
              </a:pathLst>
            </a:custGeom>
            <a:ln w="10353">
              <a:solidFill>
                <a:srgbClr val="000000"/>
              </a:solidFill>
            </a:ln>
          </p:spPr>
          <p:txBody>
            <a:bodyPr wrap="square" lIns="0" tIns="0" rIns="0" bIns="0" rtlCol="0"/>
            <a:lstStyle/>
            <a:p>
              <a:endParaRPr sz="1488"/>
            </a:p>
          </p:txBody>
        </p:sp>
        <p:sp>
          <p:nvSpPr>
            <p:cNvPr id="76" name="object 76"/>
            <p:cNvSpPr/>
            <p:nvPr/>
          </p:nvSpPr>
          <p:spPr>
            <a:xfrm>
              <a:off x="7656280" y="2550786"/>
              <a:ext cx="12700" cy="17145"/>
            </a:xfrm>
            <a:custGeom>
              <a:avLst/>
              <a:gdLst/>
              <a:ahLst/>
              <a:cxnLst/>
              <a:rect l="l" t="t" r="r" b="b"/>
              <a:pathLst>
                <a:path w="12700" h="17144">
                  <a:moveTo>
                    <a:pt x="6245" y="0"/>
                  </a:moveTo>
                  <a:lnTo>
                    <a:pt x="6245" y="16532"/>
                  </a:lnTo>
                </a:path>
                <a:path w="12700" h="17144">
                  <a:moveTo>
                    <a:pt x="0" y="16532"/>
                  </a:moveTo>
                  <a:lnTo>
                    <a:pt x="6245" y="0"/>
                  </a:lnTo>
                  <a:lnTo>
                    <a:pt x="12423" y="16532"/>
                  </a:lnTo>
                </a:path>
              </a:pathLst>
            </a:custGeom>
            <a:ln w="10353">
              <a:solidFill>
                <a:srgbClr val="000000"/>
              </a:solidFill>
            </a:ln>
          </p:spPr>
          <p:txBody>
            <a:bodyPr wrap="square" lIns="0" tIns="0" rIns="0" bIns="0" rtlCol="0"/>
            <a:lstStyle/>
            <a:p>
              <a:endParaRPr sz="1488"/>
            </a:p>
          </p:txBody>
        </p:sp>
        <p:sp>
          <p:nvSpPr>
            <p:cNvPr id="77" name="object 77"/>
            <p:cNvSpPr/>
            <p:nvPr/>
          </p:nvSpPr>
          <p:spPr>
            <a:xfrm>
              <a:off x="7985969" y="2715825"/>
              <a:ext cx="418465" cy="80645"/>
            </a:xfrm>
            <a:custGeom>
              <a:avLst/>
              <a:gdLst/>
              <a:ahLst/>
              <a:cxnLst/>
              <a:rect l="l" t="t" r="r" b="b"/>
              <a:pathLst>
                <a:path w="418465" h="80644">
                  <a:moveTo>
                    <a:pt x="417948" y="80043"/>
                  </a:moveTo>
                  <a:lnTo>
                    <a:pt x="0" y="80043"/>
                  </a:lnTo>
                  <a:lnTo>
                    <a:pt x="0" y="0"/>
                  </a:lnTo>
                  <a:lnTo>
                    <a:pt x="417948" y="0"/>
                  </a:lnTo>
                  <a:lnTo>
                    <a:pt x="417948" y="80043"/>
                  </a:lnTo>
                  <a:close/>
                </a:path>
              </a:pathLst>
            </a:custGeom>
            <a:solidFill>
              <a:srgbClr val="B2D9FF"/>
            </a:solidFill>
          </p:spPr>
          <p:txBody>
            <a:bodyPr wrap="square" lIns="0" tIns="0" rIns="0" bIns="0" rtlCol="0"/>
            <a:lstStyle/>
            <a:p>
              <a:endParaRPr sz="1488"/>
            </a:p>
          </p:txBody>
        </p:sp>
        <p:sp>
          <p:nvSpPr>
            <p:cNvPr id="78" name="object 78"/>
            <p:cNvSpPr/>
            <p:nvPr/>
          </p:nvSpPr>
          <p:spPr>
            <a:xfrm>
              <a:off x="7727105" y="2335016"/>
              <a:ext cx="676910" cy="461009"/>
            </a:xfrm>
            <a:custGeom>
              <a:avLst/>
              <a:gdLst/>
              <a:ahLst/>
              <a:cxnLst/>
              <a:rect l="l" t="t" r="r" b="b"/>
              <a:pathLst>
                <a:path w="676909" h="461010">
                  <a:moveTo>
                    <a:pt x="258864" y="380809"/>
                  </a:moveTo>
                  <a:lnTo>
                    <a:pt x="676813" y="380809"/>
                  </a:lnTo>
                  <a:lnTo>
                    <a:pt x="676813" y="460852"/>
                  </a:lnTo>
                  <a:lnTo>
                    <a:pt x="258864" y="460852"/>
                  </a:lnTo>
                  <a:lnTo>
                    <a:pt x="258864" y="380809"/>
                  </a:lnTo>
                  <a:close/>
                </a:path>
                <a:path w="676909" h="461010">
                  <a:moveTo>
                    <a:pt x="467834" y="380809"/>
                  </a:moveTo>
                  <a:lnTo>
                    <a:pt x="467834" y="31059"/>
                  </a:lnTo>
                  <a:lnTo>
                    <a:pt x="465392" y="18973"/>
                  </a:lnTo>
                  <a:lnTo>
                    <a:pt x="458734" y="9100"/>
                  </a:lnTo>
                  <a:lnTo>
                    <a:pt x="448861" y="2442"/>
                  </a:lnTo>
                  <a:lnTo>
                    <a:pt x="436775" y="0"/>
                  </a:lnTo>
                  <a:lnTo>
                    <a:pt x="0" y="0"/>
                  </a:lnTo>
                </a:path>
              </a:pathLst>
            </a:custGeom>
            <a:ln w="10353">
              <a:solidFill>
                <a:srgbClr val="000000"/>
              </a:solidFill>
            </a:ln>
          </p:spPr>
          <p:txBody>
            <a:bodyPr wrap="square" lIns="0" tIns="0" rIns="0" bIns="0" rtlCol="0"/>
            <a:lstStyle/>
            <a:p>
              <a:endParaRPr sz="1488"/>
            </a:p>
          </p:txBody>
        </p:sp>
        <p:sp>
          <p:nvSpPr>
            <p:cNvPr id="79" name="object 79"/>
            <p:cNvSpPr/>
            <p:nvPr/>
          </p:nvSpPr>
          <p:spPr>
            <a:xfrm>
              <a:off x="7710506" y="2328771"/>
              <a:ext cx="17145" cy="12700"/>
            </a:xfrm>
            <a:custGeom>
              <a:avLst/>
              <a:gdLst/>
              <a:ahLst/>
              <a:cxnLst/>
              <a:rect l="l" t="t" r="r" b="b"/>
              <a:pathLst>
                <a:path w="17145" h="12700">
                  <a:moveTo>
                    <a:pt x="0" y="6245"/>
                  </a:moveTo>
                  <a:lnTo>
                    <a:pt x="16598" y="6245"/>
                  </a:lnTo>
                </a:path>
                <a:path w="17145" h="12700">
                  <a:moveTo>
                    <a:pt x="16598" y="12423"/>
                  </a:moveTo>
                  <a:lnTo>
                    <a:pt x="0" y="6245"/>
                  </a:lnTo>
                  <a:lnTo>
                    <a:pt x="16598" y="0"/>
                  </a:lnTo>
                </a:path>
              </a:pathLst>
            </a:custGeom>
            <a:ln w="10353">
              <a:solidFill>
                <a:srgbClr val="000000"/>
              </a:solidFill>
            </a:ln>
          </p:spPr>
          <p:txBody>
            <a:bodyPr wrap="square" lIns="0" tIns="0" rIns="0" bIns="0" rtlCol="0"/>
            <a:lstStyle/>
            <a:p>
              <a:endParaRPr sz="1488"/>
            </a:p>
          </p:txBody>
        </p:sp>
        <p:sp>
          <p:nvSpPr>
            <p:cNvPr id="80" name="object 80"/>
            <p:cNvSpPr/>
            <p:nvPr/>
          </p:nvSpPr>
          <p:spPr>
            <a:xfrm>
              <a:off x="7404853" y="3416319"/>
              <a:ext cx="515620" cy="690245"/>
            </a:xfrm>
            <a:custGeom>
              <a:avLst/>
              <a:gdLst/>
              <a:ahLst/>
              <a:cxnLst/>
              <a:rect l="l" t="t" r="r" b="b"/>
              <a:pathLst>
                <a:path w="515620" h="690245">
                  <a:moveTo>
                    <a:pt x="0" y="0"/>
                  </a:moveTo>
                  <a:lnTo>
                    <a:pt x="515302" y="0"/>
                  </a:lnTo>
                  <a:lnTo>
                    <a:pt x="515302" y="690073"/>
                  </a:lnTo>
                  <a:lnTo>
                    <a:pt x="0" y="690073"/>
                  </a:lnTo>
                  <a:lnTo>
                    <a:pt x="0" y="0"/>
                  </a:lnTo>
                  <a:close/>
                </a:path>
              </a:pathLst>
            </a:custGeom>
            <a:ln w="10353">
              <a:solidFill>
                <a:srgbClr val="000000"/>
              </a:solidFill>
              <a:prstDash val="dash"/>
            </a:ln>
          </p:spPr>
          <p:txBody>
            <a:bodyPr wrap="square" lIns="0" tIns="0" rIns="0" bIns="0" rtlCol="0"/>
            <a:lstStyle/>
            <a:p>
              <a:endParaRPr sz="1488"/>
            </a:p>
          </p:txBody>
        </p:sp>
        <p:sp>
          <p:nvSpPr>
            <p:cNvPr id="81" name="object 81"/>
            <p:cNvSpPr/>
            <p:nvPr/>
          </p:nvSpPr>
          <p:spPr>
            <a:xfrm>
              <a:off x="7455203" y="3975461"/>
              <a:ext cx="418465" cy="80010"/>
            </a:xfrm>
            <a:custGeom>
              <a:avLst/>
              <a:gdLst/>
              <a:ahLst/>
              <a:cxnLst/>
              <a:rect l="l" t="t" r="r" b="b"/>
              <a:pathLst>
                <a:path w="418465" h="80010">
                  <a:moveTo>
                    <a:pt x="417948" y="80009"/>
                  </a:moveTo>
                  <a:lnTo>
                    <a:pt x="0" y="80009"/>
                  </a:lnTo>
                  <a:lnTo>
                    <a:pt x="0" y="0"/>
                  </a:lnTo>
                  <a:lnTo>
                    <a:pt x="417948" y="0"/>
                  </a:lnTo>
                  <a:lnTo>
                    <a:pt x="417948" y="80009"/>
                  </a:lnTo>
                  <a:close/>
                </a:path>
              </a:pathLst>
            </a:custGeom>
            <a:solidFill>
              <a:srgbClr val="B2D9FF"/>
            </a:solidFill>
          </p:spPr>
          <p:txBody>
            <a:bodyPr wrap="square" lIns="0" tIns="0" rIns="0" bIns="0" rtlCol="0"/>
            <a:lstStyle/>
            <a:p>
              <a:endParaRPr sz="1488"/>
            </a:p>
          </p:txBody>
        </p:sp>
        <p:sp>
          <p:nvSpPr>
            <p:cNvPr id="82" name="object 82"/>
            <p:cNvSpPr/>
            <p:nvPr/>
          </p:nvSpPr>
          <p:spPr>
            <a:xfrm>
              <a:off x="7455203" y="3975461"/>
              <a:ext cx="418465" cy="207645"/>
            </a:xfrm>
            <a:custGeom>
              <a:avLst/>
              <a:gdLst/>
              <a:ahLst/>
              <a:cxnLst/>
              <a:rect l="l" t="t" r="r" b="b"/>
              <a:pathLst>
                <a:path w="418465" h="207645">
                  <a:moveTo>
                    <a:pt x="0" y="0"/>
                  </a:moveTo>
                  <a:lnTo>
                    <a:pt x="417948" y="0"/>
                  </a:lnTo>
                  <a:lnTo>
                    <a:pt x="417948" y="80009"/>
                  </a:lnTo>
                  <a:lnTo>
                    <a:pt x="0" y="80009"/>
                  </a:lnTo>
                  <a:lnTo>
                    <a:pt x="0" y="0"/>
                  </a:lnTo>
                  <a:close/>
                </a:path>
                <a:path w="418465" h="207645">
                  <a:moveTo>
                    <a:pt x="207644" y="207421"/>
                  </a:moveTo>
                  <a:lnTo>
                    <a:pt x="208357" y="116246"/>
                  </a:lnTo>
                </a:path>
              </a:pathLst>
            </a:custGeom>
            <a:ln w="10353">
              <a:solidFill>
                <a:srgbClr val="000000"/>
              </a:solidFill>
            </a:ln>
          </p:spPr>
          <p:txBody>
            <a:bodyPr wrap="square" lIns="0" tIns="0" rIns="0" bIns="0" rtlCol="0"/>
            <a:lstStyle/>
            <a:p>
              <a:endParaRPr sz="1488"/>
            </a:p>
          </p:txBody>
        </p:sp>
        <p:sp>
          <p:nvSpPr>
            <p:cNvPr id="83" name="object 83"/>
            <p:cNvSpPr/>
            <p:nvPr/>
          </p:nvSpPr>
          <p:spPr>
            <a:xfrm>
              <a:off x="7657348" y="4075142"/>
              <a:ext cx="12700" cy="17145"/>
            </a:xfrm>
            <a:custGeom>
              <a:avLst/>
              <a:gdLst/>
              <a:ahLst/>
              <a:cxnLst/>
              <a:rect l="l" t="t" r="r" b="b"/>
              <a:pathLst>
                <a:path w="12700" h="17145">
                  <a:moveTo>
                    <a:pt x="6336" y="0"/>
                  </a:moveTo>
                  <a:lnTo>
                    <a:pt x="6211" y="16565"/>
                  </a:lnTo>
                </a:path>
                <a:path w="12700" h="17145">
                  <a:moveTo>
                    <a:pt x="0" y="16498"/>
                  </a:moveTo>
                  <a:lnTo>
                    <a:pt x="6336" y="0"/>
                  </a:lnTo>
                  <a:lnTo>
                    <a:pt x="12390" y="16598"/>
                  </a:lnTo>
                </a:path>
              </a:pathLst>
            </a:custGeom>
            <a:ln w="10353">
              <a:solidFill>
                <a:srgbClr val="000000"/>
              </a:solidFill>
            </a:ln>
          </p:spPr>
          <p:txBody>
            <a:bodyPr wrap="square" lIns="0" tIns="0" rIns="0" bIns="0" rtlCol="0"/>
            <a:lstStyle/>
            <a:p>
              <a:endParaRPr sz="1488"/>
            </a:p>
          </p:txBody>
        </p:sp>
        <p:sp>
          <p:nvSpPr>
            <p:cNvPr id="84" name="object 84"/>
            <p:cNvSpPr/>
            <p:nvPr/>
          </p:nvSpPr>
          <p:spPr>
            <a:xfrm>
              <a:off x="7455203" y="3848306"/>
              <a:ext cx="418465" cy="80010"/>
            </a:xfrm>
            <a:custGeom>
              <a:avLst/>
              <a:gdLst/>
              <a:ahLst/>
              <a:cxnLst/>
              <a:rect l="l" t="t" r="r" b="b"/>
              <a:pathLst>
                <a:path w="418465" h="80010">
                  <a:moveTo>
                    <a:pt x="0" y="0"/>
                  </a:moveTo>
                  <a:lnTo>
                    <a:pt x="417948" y="0"/>
                  </a:lnTo>
                  <a:lnTo>
                    <a:pt x="417948" y="79976"/>
                  </a:lnTo>
                  <a:lnTo>
                    <a:pt x="0" y="79976"/>
                  </a:lnTo>
                  <a:lnTo>
                    <a:pt x="0" y="0"/>
                  </a:lnTo>
                  <a:close/>
                </a:path>
              </a:pathLst>
            </a:custGeom>
            <a:ln w="10353">
              <a:solidFill>
                <a:srgbClr val="000000"/>
              </a:solidFill>
            </a:ln>
          </p:spPr>
          <p:txBody>
            <a:bodyPr wrap="square" lIns="0" tIns="0" rIns="0" bIns="0" rtlCol="0"/>
            <a:lstStyle/>
            <a:p>
              <a:endParaRPr sz="1488"/>
            </a:p>
          </p:txBody>
        </p:sp>
        <p:sp>
          <p:nvSpPr>
            <p:cNvPr id="85" name="object 85"/>
            <p:cNvSpPr/>
            <p:nvPr/>
          </p:nvSpPr>
          <p:spPr>
            <a:xfrm>
              <a:off x="7455203" y="3184662"/>
              <a:ext cx="418465" cy="80645"/>
            </a:xfrm>
            <a:custGeom>
              <a:avLst/>
              <a:gdLst/>
              <a:ahLst/>
              <a:cxnLst/>
              <a:rect l="l" t="t" r="r" b="b"/>
              <a:pathLst>
                <a:path w="418465" h="80645">
                  <a:moveTo>
                    <a:pt x="417948" y="80043"/>
                  </a:moveTo>
                  <a:lnTo>
                    <a:pt x="0" y="80043"/>
                  </a:lnTo>
                  <a:lnTo>
                    <a:pt x="0" y="0"/>
                  </a:lnTo>
                  <a:lnTo>
                    <a:pt x="417948" y="0"/>
                  </a:lnTo>
                  <a:lnTo>
                    <a:pt x="417948" y="80043"/>
                  </a:lnTo>
                  <a:close/>
                </a:path>
              </a:pathLst>
            </a:custGeom>
            <a:solidFill>
              <a:srgbClr val="66BFFF"/>
            </a:solidFill>
          </p:spPr>
          <p:txBody>
            <a:bodyPr wrap="square" lIns="0" tIns="0" rIns="0" bIns="0" rtlCol="0"/>
            <a:lstStyle/>
            <a:p>
              <a:endParaRPr sz="1488"/>
            </a:p>
          </p:txBody>
        </p:sp>
        <p:sp>
          <p:nvSpPr>
            <p:cNvPr id="86" name="object 86"/>
            <p:cNvSpPr/>
            <p:nvPr/>
          </p:nvSpPr>
          <p:spPr>
            <a:xfrm>
              <a:off x="7455203" y="3184662"/>
              <a:ext cx="418465" cy="80645"/>
            </a:xfrm>
            <a:custGeom>
              <a:avLst/>
              <a:gdLst/>
              <a:ahLst/>
              <a:cxnLst/>
              <a:rect l="l" t="t" r="r" b="b"/>
              <a:pathLst>
                <a:path w="418465" h="80645">
                  <a:moveTo>
                    <a:pt x="0" y="0"/>
                  </a:moveTo>
                  <a:lnTo>
                    <a:pt x="417948" y="0"/>
                  </a:lnTo>
                  <a:lnTo>
                    <a:pt x="417948" y="80043"/>
                  </a:lnTo>
                  <a:lnTo>
                    <a:pt x="0" y="80043"/>
                  </a:lnTo>
                  <a:lnTo>
                    <a:pt x="0" y="0"/>
                  </a:lnTo>
                  <a:close/>
                </a:path>
              </a:pathLst>
            </a:custGeom>
            <a:ln w="10353">
              <a:solidFill>
                <a:srgbClr val="000000"/>
              </a:solidFill>
            </a:ln>
          </p:spPr>
          <p:txBody>
            <a:bodyPr wrap="square" lIns="0" tIns="0" rIns="0" bIns="0" rtlCol="0"/>
            <a:lstStyle/>
            <a:p>
              <a:endParaRPr sz="1488"/>
            </a:p>
          </p:txBody>
        </p:sp>
        <p:sp>
          <p:nvSpPr>
            <p:cNvPr id="87" name="object 87"/>
            <p:cNvSpPr/>
            <p:nvPr/>
          </p:nvSpPr>
          <p:spPr>
            <a:xfrm>
              <a:off x="7455203" y="3721094"/>
              <a:ext cx="418465" cy="80645"/>
            </a:xfrm>
            <a:custGeom>
              <a:avLst/>
              <a:gdLst/>
              <a:ahLst/>
              <a:cxnLst/>
              <a:rect l="l" t="t" r="r" b="b"/>
              <a:pathLst>
                <a:path w="418465" h="80645">
                  <a:moveTo>
                    <a:pt x="417948" y="80043"/>
                  </a:moveTo>
                  <a:lnTo>
                    <a:pt x="0" y="80043"/>
                  </a:lnTo>
                  <a:lnTo>
                    <a:pt x="0" y="0"/>
                  </a:lnTo>
                  <a:lnTo>
                    <a:pt x="417948" y="0"/>
                  </a:lnTo>
                  <a:lnTo>
                    <a:pt x="417948" y="80043"/>
                  </a:lnTo>
                  <a:close/>
                </a:path>
              </a:pathLst>
            </a:custGeom>
            <a:solidFill>
              <a:srgbClr val="66BFFF"/>
            </a:solidFill>
          </p:spPr>
          <p:txBody>
            <a:bodyPr wrap="square" lIns="0" tIns="0" rIns="0" bIns="0" rtlCol="0"/>
            <a:lstStyle/>
            <a:p>
              <a:endParaRPr sz="1488"/>
            </a:p>
          </p:txBody>
        </p:sp>
        <p:sp>
          <p:nvSpPr>
            <p:cNvPr id="88" name="object 88"/>
            <p:cNvSpPr/>
            <p:nvPr/>
          </p:nvSpPr>
          <p:spPr>
            <a:xfrm>
              <a:off x="7455203" y="3721094"/>
              <a:ext cx="418465" cy="254635"/>
            </a:xfrm>
            <a:custGeom>
              <a:avLst/>
              <a:gdLst/>
              <a:ahLst/>
              <a:cxnLst/>
              <a:rect l="l" t="t" r="r" b="b"/>
              <a:pathLst>
                <a:path w="418465" h="254635">
                  <a:moveTo>
                    <a:pt x="0" y="0"/>
                  </a:moveTo>
                  <a:lnTo>
                    <a:pt x="417948" y="0"/>
                  </a:lnTo>
                  <a:lnTo>
                    <a:pt x="417948" y="80043"/>
                  </a:lnTo>
                  <a:lnTo>
                    <a:pt x="0" y="80043"/>
                  </a:lnTo>
                  <a:lnTo>
                    <a:pt x="0" y="0"/>
                  </a:lnTo>
                  <a:close/>
                </a:path>
                <a:path w="418465" h="254635">
                  <a:moveTo>
                    <a:pt x="208970" y="254367"/>
                  </a:moveTo>
                  <a:lnTo>
                    <a:pt x="208970" y="243425"/>
                  </a:lnTo>
                </a:path>
              </a:pathLst>
            </a:custGeom>
            <a:ln w="10353">
              <a:solidFill>
                <a:srgbClr val="000000"/>
              </a:solidFill>
            </a:ln>
          </p:spPr>
          <p:txBody>
            <a:bodyPr wrap="square" lIns="0" tIns="0" rIns="0" bIns="0" rtlCol="0"/>
            <a:lstStyle/>
            <a:p>
              <a:endParaRPr sz="1488"/>
            </a:p>
          </p:txBody>
        </p:sp>
        <p:sp>
          <p:nvSpPr>
            <p:cNvPr id="89" name="object 89"/>
            <p:cNvSpPr/>
            <p:nvPr/>
          </p:nvSpPr>
          <p:spPr>
            <a:xfrm>
              <a:off x="7657961" y="3947988"/>
              <a:ext cx="12700" cy="17145"/>
            </a:xfrm>
            <a:custGeom>
              <a:avLst/>
              <a:gdLst/>
              <a:ahLst/>
              <a:cxnLst/>
              <a:rect l="l" t="t" r="r" b="b"/>
              <a:pathLst>
                <a:path w="12700" h="17145">
                  <a:moveTo>
                    <a:pt x="6211" y="0"/>
                  </a:moveTo>
                  <a:lnTo>
                    <a:pt x="6211" y="16532"/>
                  </a:lnTo>
                </a:path>
                <a:path w="12700" h="17145">
                  <a:moveTo>
                    <a:pt x="0" y="16532"/>
                  </a:moveTo>
                  <a:lnTo>
                    <a:pt x="6211" y="0"/>
                  </a:lnTo>
                  <a:lnTo>
                    <a:pt x="12423" y="16532"/>
                  </a:lnTo>
                </a:path>
              </a:pathLst>
            </a:custGeom>
            <a:ln w="10353">
              <a:solidFill>
                <a:srgbClr val="000000"/>
              </a:solidFill>
            </a:ln>
          </p:spPr>
          <p:txBody>
            <a:bodyPr wrap="square" lIns="0" tIns="0" rIns="0" bIns="0" rtlCol="0"/>
            <a:lstStyle/>
            <a:p>
              <a:endParaRPr sz="1488"/>
            </a:p>
          </p:txBody>
        </p:sp>
        <p:sp>
          <p:nvSpPr>
            <p:cNvPr id="90" name="object 90"/>
            <p:cNvSpPr/>
            <p:nvPr/>
          </p:nvSpPr>
          <p:spPr>
            <a:xfrm>
              <a:off x="7664173" y="3837373"/>
              <a:ext cx="0" cy="11430"/>
            </a:xfrm>
            <a:custGeom>
              <a:avLst/>
              <a:gdLst/>
              <a:ahLst/>
              <a:cxnLst/>
              <a:rect l="l" t="t" r="r" b="b"/>
              <a:pathLst>
                <a:path h="11429">
                  <a:moveTo>
                    <a:pt x="0" y="10933"/>
                  </a:moveTo>
                  <a:lnTo>
                    <a:pt x="0" y="0"/>
                  </a:lnTo>
                </a:path>
              </a:pathLst>
            </a:custGeom>
            <a:ln w="10353">
              <a:solidFill>
                <a:srgbClr val="000000"/>
              </a:solidFill>
            </a:ln>
          </p:spPr>
          <p:txBody>
            <a:bodyPr wrap="square" lIns="0" tIns="0" rIns="0" bIns="0" rtlCol="0"/>
            <a:lstStyle/>
            <a:p>
              <a:endParaRPr sz="1488"/>
            </a:p>
          </p:txBody>
        </p:sp>
        <p:sp>
          <p:nvSpPr>
            <p:cNvPr id="91" name="object 91"/>
            <p:cNvSpPr/>
            <p:nvPr/>
          </p:nvSpPr>
          <p:spPr>
            <a:xfrm>
              <a:off x="7657961" y="3820841"/>
              <a:ext cx="12700" cy="17145"/>
            </a:xfrm>
            <a:custGeom>
              <a:avLst/>
              <a:gdLst/>
              <a:ahLst/>
              <a:cxnLst/>
              <a:rect l="l" t="t" r="r" b="b"/>
              <a:pathLst>
                <a:path w="12700" h="17145">
                  <a:moveTo>
                    <a:pt x="6211" y="0"/>
                  </a:moveTo>
                  <a:lnTo>
                    <a:pt x="6211" y="16532"/>
                  </a:lnTo>
                </a:path>
                <a:path w="12700" h="17145">
                  <a:moveTo>
                    <a:pt x="0" y="16532"/>
                  </a:moveTo>
                  <a:lnTo>
                    <a:pt x="6211" y="0"/>
                  </a:lnTo>
                  <a:lnTo>
                    <a:pt x="12423" y="16532"/>
                  </a:lnTo>
                </a:path>
              </a:pathLst>
            </a:custGeom>
            <a:ln w="10353">
              <a:solidFill>
                <a:srgbClr val="000000"/>
              </a:solidFill>
            </a:ln>
          </p:spPr>
          <p:txBody>
            <a:bodyPr wrap="square" lIns="0" tIns="0" rIns="0" bIns="0" rtlCol="0"/>
            <a:lstStyle/>
            <a:p>
              <a:endParaRPr sz="1488"/>
            </a:p>
          </p:txBody>
        </p:sp>
        <p:sp>
          <p:nvSpPr>
            <p:cNvPr id="92" name="object 92"/>
            <p:cNvSpPr/>
            <p:nvPr/>
          </p:nvSpPr>
          <p:spPr>
            <a:xfrm>
              <a:off x="7663461" y="3401592"/>
              <a:ext cx="0" cy="55244"/>
            </a:xfrm>
            <a:custGeom>
              <a:avLst/>
              <a:gdLst/>
              <a:ahLst/>
              <a:cxnLst/>
              <a:rect l="l" t="t" r="r" b="b"/>
              <a:pathLst>
                <a:path h="55245">
                  <a:moveTo>
                    <a:pt x="0" y="0"/>
                  </a:moveTo>
                  <a:lnTo>
                    <a:pt x="0" y="54971"/>
                  </a:lnTo>
                </a:path>
              </a:pathLst>
            </a:custGeom>
            <a:ln w="10866">
              <a:solidFill>
                <a:srgbClr val="000000"/>
              </a:solidFill>
            </a:ln>
          </p:spPr>
          <p:txBody>
            <a:bodyPr wrap="square" lIns="0" tIns="0" rIns="0" bIns="0" rtlCol="0"/>
            <a:lstStyle/>
            <a:p>
              <a:endParaRPr sz="1488"/>
            </a:p>
          </p:txBody>
        </p:sp>
        <p:sp>
          <p:nvSpPr>
            <p:cNvPr id="93" name="object 93"/>
            <p:cNvSpPr/>
            <p:nvPr/>
          </p:nvSpPr>
          <p:spPr>
            <a:xfrm>
              <a:off x="7657025" y="3390204"/>
              <a:ext cx="12700" cy="17145"/>
            </a:xfrm>
            <a:custGeom>
              <a:avLst/>
              <a:gdLst/>
              <a:ahLst/>
              <a:cxnLst/>
              <a:rect l="l" t="t" r="r" b="b"/>
              <a:pathLst>
                <a:path w="12700" h="17145">
                  <a:moveTo>
                    <a:pt x="6013" y="0"/>
                  </a:moveTo>
                  <a:lnTo>
                    <a:pt x="6178" y="16565"/>
                  </a:lnTo>
                </a:path>
                <a:path w="12700" h="17145">
                  <a:moveTo>
                    <a:pt x="0" y="16598"/>
                  </a:moveTo>
                  <a:lnTo>
                    <a:pt x="6013" y="0"/>
                  </a:lnTo>
                  <a:lnTo>
                    <a:pt x="12390" y="16507"/>
                  </a:lnTo>
                </a:path>
              </a:pathLst>
            </a:custGeom>
            <a:ln w="10353">
              <a:solidFill>
                <a:srgbClr val="000000"/>
              </a:solidFill>
            </a:ln>
          </p:spPr>
          <p:txBody>
            <a:bodyPr wrap="square" lIns="0" tIns="0" rIns="0" bIns="0" rtlCol="0"/>
            <a:lstStyle/>
            <a:p>
              <a:endParaRPr sz="1488"/>
            </a:p>
          </p:txBody>
        </p:sp>
        <p:sp>
          <p:nvSpPr>
            <p:cNvPr id="94" name="object 94"/>
            <p:cNvSpPr/>
            <p:nvPr/>
          </p:nvSpPr>
          <p:spPr>
            <a:xfrm>
              <a:off x="7662914" y="3300942"/>
              <a:ext cx="635" cy="10160"/>
            </a:xfrm>
            <a:custGeom>
              <a:avLst/>
              <a:gdLst/>
              <a:ahLst/>
              <a:cxnLst/>
              <a:rect l="l" t="t" r="r" b="b"/>
              <a:pathLst>
                <a:path w="634" h="10160">
                  <a:moveTo>
                    <a:pt x="0" y="9574"/>
                  </a:moveTo>
                  <a:lnTo>
                    <a:pt x="157" y="0"/>
                  </a:lnTo>
                </a:path>
              </a:pathLst>
            </a:custGeom>
            <a:ln w="10353">
              <a:solidFill>
                <a:srgbClr val="000000"/>
              </a:solidFill>
            </a:ln>
          </p:spPr>
          <p:txBody>
            <a:bodyPr wrap="square" lIns="0" tIns="0" rIns="0" bIns="0" rtlCol="0"/>
            <a:lstStyle/>
            <a:p>
              <a:endParaRPr sz="1488"/>
            </a:p>
          </p:txBody>
        </p:sp>
        <p:sp>
          <p:nvSpPr>
            <p:cNvPr id="95" name="object 95"/>
            <p:cNvSpPr/>
            <p:nvPr/>
          </p:nvSpPr>
          <p:spPr>
            <a:xfrm>
              <a:off x="7656860" y="3284377"/>
              <a:ext cx="12700" cy="17145"/>
            </a:xfrm>
            <a:custGeom>
              <a:avLst/>
              <a:gdLst/>
              <a:ahLst/>
              <a:cxnLst/>
              <a:rect l="l" t="t" r="r" b="b"/>
              <a:pathLst>
                <a:path w="12700" h="17145">
                  <a:moveTo>
                    <a:pt x="6468" y="0"/>
                  </a:moveTo>
                  <a:lnTo>
                    <a:pt x="6211" y="16565"/>
                  </a:lnTo>
                </a:path>
                <a:path w="12700" h="17145">
                  <a:moveTo>
                    <a:pt x="0" y="16498"/>
                  </a:moveTo>
                  <a:lnTo>
                    <a:pt x="6468" y="0"/>
                  </a:lnTo>
                  <a:lnTo>
                    <a:pt x="12423" y="16631"/>
                  </a:lnTo>
                </a:path>
              </a:pathLst>
            </a:custGeom>
            <a:ln w="10353">
              <a:solidFill>
                <a:srgbClr val="000000"/>
              </a:solidFill>
            </a:ln>
          </p:spPr>
          <p:txBody>
            <a:bodyPr wrap="square" lIns="0" tIns="0" rIns="0" bIns="0" rtlCol="0"/>
            <a:lstStyle/>
            <a:p>
              <a:endParaRPr sz="1488"/>
            </a:p>
          </p:txBody>
        </p:sp>
        <p:sp>
          <p:nvSpPr>
            <p:cNvPr id="96" name="object 96"/>
            <p:cNvSpPr/>
            <p:nvPr/>
          </p:nvSpPr>
          <p:spPr>
            <a:xfrm>
              <a:off x="7663171" y="3340541"/>
              <a:ext cx="310515" cy="799465"/>
            </a:xfrm>
            <a:custGeom>
              <a:avLst/>
              <a:gdLst/>
              <a:ahLst/>
              <a:cxnLst/>
              <a:rect l="l" t="t" r="r" b="b"/>
              <a:pathLst>
                <a:path w="310515" h="799464">
                  <a:moveTo>
                    <a:pt x="0" y="798526"/>
                  </a:moveTo>
                  <a:lnTo>
                    <a:pt x="103433" y="798526"/>
                  </a:lnTo>
                  <a:lnTo>
                    <a:pt x="103565" y="798526"/>
                  </a:lnTo>
                  <a:lnTo>
                    <a:pt x="276978" y="799470"/>
                  </a:lnTo>
                  <a:lnTo>
                    <a:pt x="289080" y="797082"/>
                  </a:lnTo>
                  <a:lnTo>
                    <a:pt x="298986" y="790476"/>
                  </a:lnTo>
                  <a:lnTo>
                    <a:pt x="305695" y="780642"/>
                  </a:lnTo>
                  <a:lnTo>
                    <a:pt x="308204" y="768568"/>
                  </a:lnTo>
                  <a:lnTo>
                    <a:pt x="310341" y="38953"/>
                  </a:lnTo>
                  <a:lnTo>
                    <a:pt x="310341" y="19447"/>
                  </a:lnTo>
                  <a:lnTo>
                    <a:pt x="308813" y="11862"/>
                  </a:lnTo>
                  <a:lnTo>
                    <a:pt x="304645" y="5682"/>
                  </a:lnTo>
                  <a:lnTo>
                    <a:pt x="298464" y="1523"/>
                  </a:lnTo>
                  <a:lnTo>
                    <a:pt x="290893" y="0"/>
                  </a:lnTo>
                  <a:lnTo>
                    <a:pt x="65581" y="0"/>
                  </a:lnTo>
                </a:path>
              </a:pathLst>
            </a:custGeom>
            <a:ln w="10353">
              <a:solidFill>
                <a:srgbClr val="000000"/>
              </a:solidFill>
            </a:ln>
          </p:spPr>
          <p:txBody>
            <a:bodyPr wrap="square" lIns="0" tIns="0" rIns="0" bIns="0" rtlCol="0"/>
            <a:lstStyle/>
            <a:p>
              <a:endParaRPr sz="1488"/>
            </a:p>
          </p:txBody>
        </p:sp>
        <p:sp>
          <p:nvSpPr>
            <p:cNvPr id="97" name="object 97"/>
            <p:cNvSpPr/>
            <p:nvPr/>
          </p:nvSpPr>
          <p:spPr>
            <a:xfrm>
              <a:off x="7712188" y="3334296"/>
              <a:ext cx="17145" cy="12700"/>
            </a:xfrm>
            <a:custGeom>
              <a:avLst/>
              <a:gdLst/>
              <a:ahLst/>
              <a:cxnLst/>
              <a:rect l="l" t="t" r="r" b="b"/>
              <a:pathLst>
                <a:path w="17145" h="12700">
                  <a:moveTo>
                    <a:pt x="0" y="6245"/>
                  </a:moveTo>
                  <a:lnTo>
                    <a:pt x="16565" y="6245"/>
                  </a:lnTo>
                </a:path>
                <a:path w="17145" h="12700">
                  <a:moveTo>
                    <a:pt x="16565" y="12423"/>
                  </a:moveTo>
                  <a:lnTo>
                    <a:pt x="0" y="6245"/>
                  </a:lnTo>
                  <a:lnTo>
                    <a:pt x="16565" y="0"/>
                  </a:lnTo>
                </a:path>
              </a:pathLst>
            </a:custGeom>
            <a:ln w="10353">
              <a:solidFill>
                <a:srgbClr val="000000"/>
              </a:solidFill>
            </a:ln>
          </p:spPr>
          <p:txBody>
            <a:bodyPr wrap="square" lIns="0" tIns="0" rIns="0" bIns="0" rtlCol="0"/>
            <a:lstStyle/>
            <a:p>
              <a:endParaRPr sz="1488"/>
            </a:p>
          </p:txBody>
        </p:sp>
        <p:sp>
          <p:nvSpPr>
            <p:cNvPr id="98" name="object 98"/>
            <p:cNvSpPr/>
            <p:nvPr/>
          </p:nvSpPr>
          <p:spPr>
            <a:xfrm>
              <a:off x="7455203" y="3583718"/>
              <a:ext cx="418465" cy="80645"/>
            </a:xfrm>
            <a:custGeom>
              <a:avLst/>
              <a:gdLst/>
              <a:ahLst/>
              <a:cxnLst/>
              <a:rect l="l" t="t" r="r" b="b"/>
              <a:pathLst>
                <a:path w="418465" h="80645">
                  <a:moveTo>
                    <a:pt x="417948" y="80043"/>
                  </a:moveTo>
                  <a:lnTo>
                    <a:pt x="0" y="80043"/>
                  </a:lnTo>
                  <a:lnTo>
                    <a:pt x="0" y="0"/>
                  </a:lnTo>
                  <a:lnTo>
                    <a:pt x="417948" y="0"/>
                  </a:lnTo>
                  <a:lnTo>
                    <a:pt x="417948" y="80043"/>
                  </a:lnTo>
                  <a:close/>
                </a:path>
              </a:pathLst>
            </a:custGeom>
            <a:solidFill>
              <a:srgbClr val="B2D9FF"/>
            </a:solidFill>
          </p:spPr>
          <p:txBody>
            <a:bodyPr wrap="square" lIns="0" tIns="0" rIns="0" bIns="0" rtlCol="0"/>
            <a:lstStyle/>
            <a:p>
              <a:endParaRPr sz="1488"/>
            </a:p>
          </p:txBody>
        </p:sp>
        <p:sp>
          <p:nvSpPr>
            <p:cNvPr id="99" name="object 99"/>
            <p:cNvSpPr/>
            <p:nvPr/>
          </p:nvSpPr>
          <p:spPr>
            <a:xfrm>
              <a:off x="7455203" y="3583718"/>
              <a:ext cx="418465" cy="137795"/>
            </a:xfrm>
            <a:custGeom>
              <a:avLst/>
              <a:gdLst/>
              <a:ahLst/>
              <a:cxnLst/>
              <a:rect l="l" t="t" r="r" b="b"/>
              <a:pathLst>
                <a:path w="418465" h="137795">
                  <a:moveTo>
                    <a:pt x="0" y="0"/>
                  </a:moveTo>
                  <a:lnTo>
                    <a:pt x="417948" y="0"/>
                  </a:lnTo>
                  <a:lnTo>
                    <a:pt x="417948" y="80043"/>
                  </a:lnTo>
                  <a:lnTo>
                    <a:pt x="0" y="80043"/>
                  </a:lnTo>
                  <a:lnTo>
                    <a:pt x="0" y="0"/>
                  </a:lnTo>
                  <a:close/>
                </a:path>
                <a:path w="418465" h="137795">
                  <a:moveTo>
                    <a:pt x="208970" y="137375"/>
                  </a:moveTo>
                  <a:lnTo>
                    <a:pt x="208970" y="116279"/>
                  </a:lnTo>
                </a:path>
              </a:pathLst>
            </a:custGeom>
            <a:ln w="10353">
              <a:solidFill>
                <a:srgbClr val="000000"/>
              </a:solidFill>
            </a:ln>
          </p:spPr>
          <p:txBody>
            <a:bodyPr wrap="square" lIns="0" tIns="0" rIns="0" bIns="0" rtlCol="0"/>
            <a:lstStyle/>
            <a:p>
              <a:endParaRPr sz="1488"/>
            </a:p>
          </p:txBody>
        </p:sp>
        <p:sp>
          <p:nvSpPr>
            <p:cNvPr id="100" name="object 100"/>
            <p:cNvSpPr/>
            <p:nvPr/>
          </p:nvSpPr>
          <p:spPr>
            <a:xfrm>
              <a:off x="7657961" y="3683433"/>
              <a:ext cx="12700" cy="17145"/>
            </a:xfrm>
            <a:custGeom>
              <a:avLst/>
              <a:gdLst/>
              <a:ahLst/>
              <a:cxnLst/>
              <a:rect l="l" t="t" r="r" b="b"/>
              <a:pathLst>
                <a:path w="12700" h="17145">
                  <a:moveTo>
                    <a:pt x="6211" y="0"/>
                  </a:moveTo>
                  <a:lnTo>
                    <a:pt x="6211" y="16565"/>
                  </a:lnTo>
                </a:path>
                <a:path w="12700" h="17145">
                  <a:moveTo>
                    <a:pt x="0" y="16565"/>
                  </a:moveTo>
                  <a:lnTo>
                    <a:pt x="6211" y="0"/>
                  </a:lnTo>
                  <a:lnTo>
                    <a:pt x="12423" y="16565"/>
                  </a:lnTo>
                </a:path>
              </a:pathLst>
            </a:custGeom>
            <a:ln w="10353">
              <a:solidFill>
                <a:srgbClr val="000000"/>
              </a:solidFill>
            </a:ln>
          </p:spPr>
          <p:txBody>
            <a:bodyPr wrap="square" lIns="0" tIns="0" rIns="0" bIns="0" rtlCol="0"/>
            <a:lstStyle/>
            <a:p>
              <a:endParaRPr sz="1488"/>
            </a:p>
          </p:txBody>
        </p:sp>
        <p:sp>
          <p:nvSpPr>
            <p:cNvPr id="101" name="object 101"/>
            <p:cNvSpPr/>
            <p:nvPr/>
          </p:nvSpPr>
          <p:spPr>
            <a:xfrm>
              <a:off x="7455203" y="3456564"/>
              <a:ext cx="418465" cy="127635"/>
            </a:xfrm>
            <a:custGeom>
              <a:avLst/>
              <a:gdLst/>
              <a:ahLst/>
              <a:cxnLst/>
              <a:rect l="l" t="t" r="r" b="b"/>
              <a:pathLst>
                <a:path w="418465" h="127635">
                  <a:moveTo>
                    <a:pt x="0" y="0"/>
                  </a:moveTo>
                  <a:lnTo>
                    <a:pt x="417948" y="0"/>
                  </a:lnTo>
                  <a:lnTo>
                    <a:pt x="417948" y="80043"/>
                  </a:lnTo>
                  <a:lnTo>
                    <a:pt x="0" y="80043"/>
                  </a:lnTo>
                  <a:lnTo>
                    <a:pt x="0" y="0"/>
                  </a:lnTo>
                  <a:close/>
                </a:path>
                <a:path w="418465" h="127635">
                  <a:moveTo>
                    <a:pt x="208970" y="127154"/>
                  </a:moveTo>
                  <a:lnTo>
                    <a:pt x="208970" y="116279"/>
                  </a:lnTo>
                </a:path>
              </a:pathLst>
            </a:custGeom>
            <a:ln w="10353">
              <a:solidFill>
                <a:srgbClr val="000000"/>
              </a:solidFill>
            </a:ln>
          </p:spPr>
          <p:txBody>
            <a:bodyPr wrap="square" lIns="0" tIns="0" rIns="0" bIns="0" rtlCol="0"/>
            <a:lstStyle/>
            <a:p>
              <a:endParaRPr sz="1488"/>
            </a:p>
          </p:txBody>
        </p:sp>
        <p:sp>
          <p:nvSpPr>
            <p:cNvPr id="102" name="object 102"/>
            <p:cNvSpPr/>
            <p:nvPr/>
          </p:nvSpPr>
          <p:spPr>
            <a:xfrm>
              <a:off x="7657961" y="3556245"/>
              <a:ext cx="12700" cy="17145"/>
            </a:xfrm>
            <a:custGeom>
              <a:avLst/>
              <a:gdLst/>
              <a:ahLst/>
              <a:cxnLst/>
              <a:rect l="l" t="t" r="r" b="b"/>
              <a:pathLst>
                <a:path w="12700" h="17145">
                  <a:moveTo>
                    <a:pt x="6211" y="0"/>
                  </a:moveTo>
                  <a:lnTo>
                    <a:pt x="6211" y="16598"/>
                  </a:lnTo>
                </a:path>
                <a:path w="12700" h="17145">
                  <a:moveTo>
                    <a:pt x="0" y="16598"/>
                  </a:moveTo>
                  <a:lnTo>
                    <a:pt x="6211" y="0"/>
                  </a:lnTo>
                  <a:lnTo>
                    <a:pt x="12423" y="16598"/>
                  </a:lnTo>
                </a:path>
              </a:pathLst>
            </a:custGeom>
            <a:ln w="10353">
              <a:solidFill>
                <a:srgbClr val="000000"/>
              </a:solidFill>
            </a:ln>
          </p:spPr>
          <p:txBody>
            <a:bodyPr wrap="square" lIns="0" tIns="0" rIns="0" bIns="0" rtlCol="0"/>
            <a:lstStyle/>
            <a:p>
              <a:endParaRPr sz="1488"/>
            </a:p>
          </p:txBody>
        </p:sp>
        <p:sp>
          <p:nvSpPr>
            <p:cNvPr id="103" name="object 103"/>
            <p:cNvSpPr/>
            <p:nvPr/>
          </p:nvSpPr>
          <p:spPr>
            <a:xfrm>
              <a:off x="7403205" y="1412640"/>
              <a:ext cx="515620" cy="690245"/>
            </a:xfrm>
            <a:custGeom>
              <a:avLst/>
              <a:gdLst/>
              <a:ahLst/>
              <a:cxnLst/>
              <a:rect l="l" t="t" r="r" b="b"/>
              <a:pathLst>
                <a:path w="515620" h="690244">
                  <a:moveTo>
                    <a:pt x="0" y="0"/>
                  </a:moveTo>
                  <a:lnTo>
                    <a:pt x="515302" y="0"/>
                  </a:lnTo>
                  <a:lnTo>
                    <a:pt x="515302" y="690040"/>
                  </a:lnTo>
                  <a:lnTo>
                    <a:pt x="0" y="690040"/>
                  </a:lnTo>
                  <a:lnTo>
                    <a:pt x="0" y="0"/>
                  </a:lnTo>
                  <a:close/>
                </a:path>
              </a:pathLst>
            </a:custGeom>
            <a:ln w="10353">
              <a:solidFill>
                <a:srgbClr val="000000"/>
              </a:solidFill>
              <a:prstDash val="dash"/>
            </a:ln>
          </p:spPr>
          <p:txBody>
            <a:bodyPr wrap="square" lIns="0" tIns="0" rIns="0" bIns="0" rtlCol="0"/>
            <a:lstStyle/>
            <a:p>
              <a:endParaRPr sz="1488"/>
            </a:p>
          </p:txBody>
        </p:sp>
        <p:sp>
          <p:nvSpPr>
            <p:cNvPr id="104" name="object 104"/>
            <p:cNvSpPr/>
            <p:nvPr/>
          </p:nvSpPr>
          <p:spPr>
            <a:xfrm>
              <a:off x="7453547" y="1971774"/>
              <a:ext cx="418465" cy="80010"/>
            </a:xfrm>
            <a:custGeom>
              <a:avLst/>
              <a:gdLst/>
              <a:ahLst/>
              <a:cxnLst/>
              <a:rect l="l" t="t" r="r" b="b"/>
              <a:pathLst>
                <a:path w="418465" h="80010">
                  <a:moveTo>
                    <a:pt x="417948" y="80009"/>
                  </a:moveTo>
                  <a:lnTo>
                    <a:pt x="0" y="80009"/>
                  </a:lnTo>
                  <a:lnTo>
                    <a:pt x="0" y="0"/>
                  </a:lnTo>
                  <a:lnTo>
                    <a:pt x="417948" y="0"/>
                  </a:lnTo>
                  <a:lnTo>
                    <a:pt x="417948" y="80009"/>
                  </a:lnTo>
                  <a:close/>
                </a:path>
              </a:pathLst>
            </a:custGeom>
            <a:solidFill>
              <a:srgbClr val="B2D9FF"/>
            </a:solidFill>
          </p:spPr>
          <p:txBody>
            <a:bodyPr wrap="square" lIns="0" tIns="0" rIns="0" bIns="0" rtlCol="0"/>
            <a:lstStyle/>
            <a:p>
              <a:endParaRPr sz="1488"/>
            </a:p>
          </p:txBody>
        </p:sp>
        <p:sp>
          <p:nvSpPr>
            <p:cNvPr id="105" name="object 105"/>
            <p:cNvSpPr/>
            <p:nvPr/>
          </p:nvSpPr>
          <p:spPr>
            <a:xfrm>
              <a:off x="7453547" y="1971774"/>
              <a:ext cx="418465" cy="207645"/>
            </a:xfrm>
            <a:custGeom>
              <a:avLst/>
              <a:gdLst/>
              <a:ahLst/>
              <a:cxnLst/>
              <a:rect l="l" t="t" r="r" b="b"/>
              <a:pathLst>
                <a:path w="418465" h="207644">
                  <a:moveTo>
                    <a:pt x="0" y="0"/>
                  </a:moveTo>
                  <a:lnTo>
                    <a:pt x="417948" y="0"/>
                  </a:lnTo>
                  <a:lnTo>
                    <a:pt x="417948" y="80009"/>
                  </a:lnTo>
                  <a:lnTo>
                    <a:pt x="0" y="80009"/>
                  </a:lnTo>
                  <a:lnTo>
                    <a:pt x="0" y="0"/>
                  </a:lnTo>
                  <a:close/>
                </a:path>
                <a:path w="418465" h="207644">
                  <a:moveTo>
                    <a:pt x="208978" y="207396"/>
                  </a:moveTo>
                  <a:lnTo>
                    <a:pt x="208978" y="116254"/>
                  </a:lnTo>
                </a:path>
              </a:pathLst>
            </a:custGeom>
            <a:ln w="10353">
              <a:solidFill>
                <a:srgbClr val="000000"/>
              </a:solidFill>
            </a:ln>
          </p:spPr>
          <p:txBody>
            <a:bodyPr wrap="square" lIns="0" tIns="0" rIns="0" bIns="0" rtlCol="0"/>
            <a:lstStyle/>
            <a:p>
              <a:endParaRPr sz="1488"/>
            </a:p>
          </p:txBody>
        </p:sp>
        <p:sp>
          <p:nvSpPr>
            <p:cNvPr id="106" name="object 106"/>
            <p:cNvSpPr/>
            <p:nvPr/>
          </p:nvSpPr>
          <p:spPr>
            <a:xfrm>
              <a:off x="7656280" y="2071463"/>
              <a:ext cx="12700" cy="17145"/>
            </a:xfrm>
            <a:custGeom>
              <a:avLst/>
              <a:gdLst/>
              <a:ahLst/>
              <a:cxnLst/>
              <a:rect l="l" t="t" r="r" b="b"/>
              <a:pathLst>
                <a:path w="12700" h="17144">
                  <a:moveTo>
                    <a:pt x="6245" y="0"/>
                  </a:moveTo>
                  <a:lnTo>
                    <a:pt x="6245" y="16565"/>
                  </a:lnTo>
                </a:path>
                <a:path w="12700" h="17144">
                  <a:moveTo>
                    <a:pt x="0" y="16565"/>
                  </a:moveTo>
                  <a:lnTo>
                    <a:pt x="6245" y="0"/>
                  </a:lnTo>
                  <a:lnTo>
                    <a:pt x="12423" y="16565"/>
                  </a:lnTo>
                </a:path>
              </a:pathLst>
            </a:custGeom>
            <a:ln w="10353">
              <a:solidFill>
                <a:srgbClr val="000000"/>
              </a:solidFill>
            </a:ln>
          </p:spPr>
          <p:txBody>
            <a:bodyPr wrap="square" lIns="0" tIns="0" rIns="0" bIns="0" rtlCol="0"/>
            <a:lstStyle/>
            <a:p>
              <a:endParaRPr sz="1488"/>
            </a:p>
          </p:txBody>
        </p:sp>
        <p:sp>
          <p:nvSpPr>
            <p:cNvPr id="107" name="object 107"/>
            <p:cNvSpPr/>
            <p:nvPr/>
          </p:nvSpPr>
          <p:spPr>
            <a:xfrm>
              <a:off x="7453547" y="1844628"/>
              <a:ext cx="418465" cy="80010"/>
            </a:xfrm>
            <a:custGeom>
              <a:avLst/>
              <a:gdLst/>
              <a:ahLst/>
              <a:cxnLst/>
              <a:rect l="l" t="t" r="r" b="b"/>
              <a:pathLst>
                <a:path w="418465" h="80010">
                  <a:moveTo>
                    <a:pt x="0" y="0"/>
                  </a:moveTo>
                  <a:lnTo>
                    <a:pt x="417948" y="0"/>
                  </a:lnTo>
                  <a:lnTo>
                    <a:pt x="417948" y="79976"/>
                  </a:lnTo>
                  <a:lnTo>
                    <a:pt x="0" y="79976"/>
                  </a:lnTo>
                  <a:lnTo>
                    <a:pt x="0" y="0"/>
                  </a:lnTo>
                  <a:close/>
                </a:path>
              </a:pathLst>
            </a:custGeom>
            <a:ln w="10353">
              <a:solidFill>
                <a:srgbClr val="000000"/>
              </a:solidFill>
            </a:ln>
          </p:spPr>
          <p:txBody>
            <a:bodyPr wrap="square" lIns="0" tIns="0" rIns="0" bIns="0" rtlCol="0"/>
            <a:lstStyle/>
            <a:p>
              <a:endParaRPr sz="1488"/>
            </a:p>
          </p:txBody>
        </p:sp>
        <p:sp>
          <p:nvSpPr>
            <p:cNvPr id="108" name="object 108"/>
            <p:cNvSpPr/>
            <p:nvPr/>
          </p:nvSpPr>
          <p:spPr>
            <a:xfrm>
              <a:off x="7453547" y="1180984"/>
              <a:ext cx="418465" cy="80645"/>
            </a:xfrm>
            <a:custGeom>
              <a:avLst/>
              <a:gdLst/>
              <a:ahLst/>
              <a:cxnLst/>
              <a:rect l="l" t="t" r="r" b="b"/>
              <a:pathLst>
                <a:path w="418465" h="80644">
                  <a:moveTo>
                    <a:pt x="417948" y="80043"/>
                  </a:moveTo>
                  <a:lnTo>
                    <a:pt x="0" y="80043"/>
                  </a:lnTo>
                  <a:lnTo>
                    <a:pt x="0" y="0"/>
                  </a:lnTo>
                  <a:lnTo>
                    <a:pt x="417948" y="0"/>
                  </a:lnTo>
                  <a:lnTo>
                    <a:pt x="417948" y="80043"/>
                  </a:lnTo>
                  <a:close/>
                </a:path>
              </a:pathLst>
            </a:custGeom>
            <a:solidFill>
              <a:srgbClr val="66BFFF"/>
            </a:solidFill>
          </p:spPr>
          <p:txBody>
            <a:bodyPr wrap="square" lIns="0" tIns="0" rIns="0" bIns="0" rtlCol="0"/>
            <a:lstStyle/>
            <a:p>
              <a:endParaRPr sz="1488"/>
            </a:p>
          </p:txBody>
        </p:sp>
        <p:sp>
          <p:nvSpPr>
            <p:cNvPr id="109" name="object 109"/>
            <p:cNvSpPr/>
            <p:nvPr/>
          </p:nvSpPr>
          <p:spPr>
            <a:xfrm>
              <a:off x="7453547" y="1180984"/>
              <a:ext cx="418465" cy="80645"/>
            </a:xfrm>
            <a:custGeom>
              <a:avLst/>
              <a:gdLst/>
              <a:ahLst/>
              <a:cxnLst/>
              <a:rect l="l" t="t" r="r" b="b"/>
              <a:pathLst>
                <a:path w="418465" h="80644">
                  <a:moveTo>
                    <a:pt x="0" y="0"/>
                  </a:moveTo>
                  <a:lnTo>
                    <a:pt x="417948" y="0"/>
                  </a:lnTo>
                  <a:lnTo>
                    <a:pt x="417948" y="80043"/>
                  </a:lnTo>
                  <a:lnTo>
                    <a:pt x="0" y="80043"/>
                  </a:lnTo>
                  <a:lnTo>
                    <a:pt x="0" y="0"/>
                  </a:lnTo>
                  <a:close/>
                </a:path>
              </a:pathLst>
            </a:custGeom>
            <a:ln w="10353">
              <a:solidFill>
                <a:srgbClr val="000000"/>
              </a:solidFill>
            </a:ln>
          </p:spPr>
          <p:txBody>
            <a:bodyPr wrap="square" lIns="0" tIns="0" rIns="0" bIns="0" rtlCol="0"/>
            <a:lstStyle/>
            <a:p>
              <a:endParaRPr sz="1488"/>
            </a:p>
          </p:txBody>
        </p:sp>
        <p:sp>
          <p:nvSpPr>
            <p:cNvPr id="110" name="object 110"/>
            <p:cNvSpPr/>
            <p:nvPr/>
          </p:nvSpPr>
          <p:spPr>
            <a:xfrm>
              <a:off x="7453547" y="1717415"/>
              <a:ext cx="418465" cy="80645"/>
            </a:xfrm>
            <a:custGeom>
              <a:avLst/>
              <a:gdLst/>
              <a:ahLst/>
              <a:cxnLst/>
              <a:rect l="l" t="t" r="r" b="b"/>
              <a:pathLst>
                <a:path w="418465" h="80644">
                  <a:moveTo>
                    <a:pt x="417948" y="80043"/>
                  </a:moveTo>
                  <a:lnTo>
                    <a:pt x="0" y="80043"/>
                  </a:lnTo>
                  <a:lnTo>
                    <a:pt x="0" y="0"/>
                  </a:lnTo>
                  <a:lnTo>
                    <a:pt x="417948" y="0"/>
                  </a:lnTo>
                  <a:lnTo>
                    <a:pt x="417948" y="80043"/>
                  </a:lnTo>
                  <a:close/>
                </a:path>
              </a:pathLst>
            </a:custGeom>
            <a:solidFill>
              <a:srgbClr val="66BFFF"/>
            </a:solidFill>
          </p:spPr>
          <p:txBody>
            <a:bodyPr wrap="square" lIns="0" tIns="0" rIns="0" bIns="0" rtlCol="0"/>
            <a:lstStyle/>
            <a:p>
              <a:endParaRPr sz="1488"/>
            </a:p>
          </p:txBody>
        </p:sp>
        <p:sp>
          <p:nvSpPr>
            <p:cNvPr id="111" name="object 111"/>
            <p:cNvSpPr/>
            <p:nvPr/>
          </p:nvSpPr>
          <p:spPr>
            <a:xfrm>
              <a:off x="7453547" y="1717415"/>
              <a:ext cx="418465" cy="254635"/>
            </a:xfrm>
            <a:custGeom>
              <a:avLst/>
              <a:gdLst/>
              <a:ahLst/>
              <a:cxnLst/>
              <a:rect l="l" t="t" r="r" b="b"/>
              <a:pathLst>
                <a:path w="418465" h="254635">
                  <a:moveTo>
                    <a:pt x="0" y="0"/>
                  </a:moveTo>
                  <a:lnTo>
                    <a:pt x="417948" y="0"/>
                  </a:lnTo>
                  <a:lnTo>
                    <a:pt x="417948" y="80043"/>
                  </a:lnTo>
                  <a:lnTo>
                    <a:pt x="0" y="80043"/>
                  </a:lnTo>
                  <a:lnTo>
                    <a:pt x="0" y="0"/>
                  </a:lnTo>
                  <a:close/>
                </a:path>
                <a:path w="418465" h="254635">
                  <a:moveTo>
                    <a:pt x="208978" y="254358"/>
                  </a:moveTo>
                  <a:lnTo>
                    <a:pt x="208978" y="243425"/>
                  </a:lnTo>
                </a:path>
              </a:pathLst>
            </a:custGeom>
            <a:ln w="10353">
              <a:solidFill>
                <a:srgbClr val="000000"/>
              </a:solidFill>
            </a:ln>
          </p:spPr>
          <p:txBody>
            <a:bodyPr wrap="square" lIns="0" tIns="0" rIns="0" bIns="0" rtlCol="0"/>
            <a:lstStyle/>
            <a:p>
              <a:endParaRPr sz="1488"/>
            </a:p>
          </p:txBody>
        </p:sp>
        <p:sp>
          <p:nvSpPr>
            <p:cNvPr id="112" name="object 112"/>
            <p:cNvSpPr/>
            <p:nvPr/>
          </p:nvSpPr>
          <p:spPr>
            <a:xfrm>
              <a:off x="7656280" y="1944309"/>
              <a:ext cx="12700" cy="17145"/>
            </a:xfrm>
            <a:custGeom>
              <a:avLst/>
              <a:gdLst/>
              <a:ahLst/>
              <a:cxnLst/>
              <a:rect l="l" t="t" r="r" b="b"/>
              <a:pathLst>
                <a:path w="12700" h="17144">
                  <a:moveTo>
                    <a:pt x="6245" y="0"/>
                  </a:moveTo>
                  <a:lnTo>
                    <a:pt x="6245" y="16532"/>
                  </a:lnTo>
                </a:path>
                <a:path w="12700" h="17144">
                  <a:moveTo>
                    <a:pt x="0" y="16532"/>
                  </a:moveTo>
                  <a:lnTo>
                    <a:pt x="6245" y="0"/>
                  </a:lnTo>
                  <a:lnTo>
                    <a:pt x="12423" y="16532"/>
                  </a:lnTo>
                </a:path>
              </a:pathLst>
            </a:custGeom>
            <a:ln w="10353">
              <a:solidFill>
                <a:srgbClr val="000000"/>
              </a:solidFill>
            </a:ln>
          </p:spPr>
          <p:txBody>
            <a:bodyPr wrap="square" lIns="0" tIns="0" rIns="0" bIns="0" rtlCol="0"/>
            <a:lstStyle/>
            <a:p>
              <a:endParaRPr sz="1488"/>
            </a:p>
          </p:txBody>
        </p:sp>
        <p:sp>
          <p:nvSpPr>
            <p:cNvPr id="113" name="object 113"/>
            <p:cNvSpPr/>
            <p:nvPr/>
          </p:nvSpPr>
          <p:spPr>
            <a:xfrm>
              <a:off x="7662525" y="1833694"/>
              <a:ext cx="0" cy="11430"/>
            </a:xfrm>
            <a:custGeom>
              <a:avLst/>
              <a:gdLst/>
              <a:ahLst/>
              <a:cxnLst/>
              <a:rect l="l" t="t" r="r" b="b"/>
              <a:pathLst>
                <a:path h="11430">
                  <a:moveTo>
                    <a:pt x="0" y="10933"/>
                  </a:moveTo>
                  <a:lnTo>
                    <a:pt x="0" y="0"/>
                  </a:lnTo>
                </a:path>
              </a:pathLst>
            </a:custGeom>
            <a:ln w="10353">
              <a:solidFill>
                <a:srgbClr val="000000"/>
              </a:solidFill>
            </a:ln>
          </p:spPr>
          <p:txBody>
            <a:bodyPr wrap="square" lIns="0" tIns="0" rIns="0" bIns="0" rtlCol="0"/>
            <a:lstStyle/>
            <a:p>
              <a:endParaRPr sz="1488"/>
            </a:p>
          </p:txBody>
        </p:sp>
        <p:sp>
          <p:nvSpPr>
            <p:cNvPr id="114" name="object 114"/>
            <p:cNvSpPr/>
            <p:nvPr/>
          </p:nvSpPr>
          <p:spPr>
            <a:xfrm>
              <a:off x="7656280" y="1817162"/>
              <a:ext cx="12700" cy="17145"/>
            </a:xfrm>
            <a:custGeom>
              <a:avLst/>
              <a:gdLst/>
              <a:ahLst/>
              <a:cxnLst/>
              <a:rect l="l" t="t" r="r" b="b"/>
              <a:pathLst>
                <a:path w="12700" h="17144">
                  <a:moveTo>
                    <a:pt x="6245" y="0"/>
                  </a:moveTo>
                  <a:lnTo>
                    <a:pt x="6245" y="16532"/>
                  </a:lnTo>
                </a:path>
                <a:path w="12700" h="17144">
                  <a:moveTo>
                    <a:pt x="0" y="16532"/>
                  </a:moveTo>
                  <a:lnTo>
                    <a:pt x="6245" y="0"/>
                  </a:lnTo>
                  <a:lnTo>
                    <a:pt x="12423" y="16532"/>
                  </a:lnTo>
                </a:path>
              </a:pathLst>
            </a:custGeom>
            <a:ln w="10353">
              <a:solidFill>
                <a:srgbClr val="000000"/>
              </a:solidFill>
            </a:ln>
          </p:spPr>
          <p:txBody>
            <a:bodyPr wrap="square" lIns="0" tIns="0" rIns="0" bIns="0" rtlCol="0"/>
            <a:lstStyle/>
            <a:p>
              <a:endParaRPr sz="1488"/>
            </a:p>
          </p:txBody>
        </p:sp>
        <p:sp>
          <p:nvSpPr>
            <p:cNvPr id="115" name="object 115"/>
            <p:cNvSpPr/>
            <p:nvPr/>
          </p:nvSpPr>
          <p:spPr>
            <a:xfrm>
              <a:off x="7661813" y="1397880"/>
              <a:ext cx="0" cy="55244"/>
            </a:xfrm>
            <a:custGeom>
              <a:avLst/>
              <a:gdLst/>
              <a:ahLst/>
              <a:cxnLst/>
              <a:rect l="l" t="t" r="r" b="b"/>
              <a:pathLst>
                <a:path h="55244">
                  <a:moveTo>
                    <a:pt x="0" y="0"/>
                  </a:moveTo>
                  <a:lnTo>
                    <a:pt x="0" y="55004"/>
                  </a:lnTo>
                </a:path>
              </a:pathLst>
            </a:custGeom>
            <a:ln w="10866">
              <a:solidFill>
                <a:srgbClr val="000000"/>
              </a:solidFill>
            </a:ln>
          </p:spPr>
          <p:txBody>
            <a:bodyPr wrap="square" lIns="0" tIns="0" rIns="0" bIns="0" rtlCol="0"/>
            <a:lstStyle/>
            <a:p>
              <a:endParaRPr sz="1488"/>
            </a:p>
          </p:txBody>
        </p:sp>
        <p:sp>
          <p:nvSpPr>
            <p:cNvPr id="116" name="object 116"/>
            <p:cNvSpPr/>
            <p:nvPr/>
          </p:nvSpPr>
          <p:spPr>
            <a:xfrm>
              <a:off x="7655311" y="1386525"/>
              <a:ext cx="12700" cy="17145"/>
            </a:xfrm>
            <a:custGeom>
              <a:avLst/>
              <a:gdLst/>
              <a:ahLst/>
              <a:cxnLst/>
              <a:rect l="l" t="t" r="r" b="b"/>
              <a:pathLst>
                <a:path w="12700" h="17144">
                  <a:moveTo>
                    <a:pt x="6079" y="0"/>
                  </a:moveTo>
                  <a:lnTo>
                    <a:pt x="6245" y="16532"/>
                  </a:lnTo>
                </a:path>
                <a:path w="12700" h="17144">
                  <a:moveTo>
                    <a:pt x="0" y="16598"/>
                  </a:moveTo>
                  <a:lnTo>
                    <a:pt x="6079" y="0"/>
                  </a:lnTo>
                  <a:lnTo>
                    <a:pt x="12457" y="16507"/>
                  </a:lnTo>
                </a:path>
              </a:pathLst>
            </a:custGeom>
            <a:ln w="10353">
              <a:solidFill>
                <a:srgbClr val="000000"/>
              </a:solidFill>
            </a:ln>
          </p:spPr>
          <p:txBody>
            <a:bodyPr wrap="square" lIns="0" tIns="0" rIns="0" bIns="0" rtlCol="0"/>
            <a:lstStyle/>
            <a:p>
              <a:endParaRPr sz="1488"/>
            </a:p>
          </p:txBody>
        </p:sp>
        <p:sp>
          <p:nvSpPr>
            <p:cNvPr id="117" name="object 117"/>
            <p:cNvSpPr/>
            <p:nvPr/>
          </p:nvSpPr>
          <p:spPr>
            <a:xfrm>
              <a:off x="7661258" y="1297263"/>
              <a:ext cx="635" cy="10160"/>
            </a:xfrm>
            <a:custGeom>
              <a:avLst/>
              <a:gdLst/>
              <a:ahLst/>
              <a:cxnLst/>
              <a:rect l="l" t="t" r="r" b="b"/>
              <a:pathLst>
                <a:path w="634" h="10159">
                  <a:moveTo>
                    <a:pt x="0" y="9541"/>
                  </a:moveTo>
                  <a:lnTo>
                    <a:pt x="165" y="0"/>
                  </a:lnTo>
                </a:path>
              </a:pathLst>
            </a:custGeom>
            <a:ln w="10353">
              <a:solidFill>
                <a:srgbClr val="000000"/>
              </a:solidFill>
            </a:ln>
          </p:spPr>
          <p:txBody>
            <a:bodyPr wrap="square" lIns="0" tIns="0" rIns="0" bIns="0" rtlCol="0"/>
            <a:lstStyle/>
            <a:p>
              <a:endParaRPr sz="1488"/>
            </a:p>
          </p:txBody>
        </p:sp>
        <p:sp>
          <p:nvSpPr>
            <p:cNvPr id="118" name="object 118"/>
            <p:cNvSpPr/>
            <p:nvPr/>
          </p:nvSpPr>
          <p:spPr>
            <a:xfrm>
              <a:off x="7655178" y="1280698"/>
              <a:ext cx="12700" cy="17145"/>
            </a:xfrm>
            <a:custGeom>
              <a:avLst/>
              <a:gdLst/>
              <a:ahLst/>
              <a:cxnLst/>
              <a:rect l="l" t="t" r="r" b="b"/>
              <a:pathLst>
                <a:path w="12700" h="17144">
                  <a:moveTo>
                    <a:pt x="6468" y="0"/>
                  </a:moveTo>
                  <a:lnTo>
                    <a:pt x="6245" y="16565"/>
                  </a:lnTo>
                </a:path>
                <a:path w="12700" h="17144">
                  <a:moveTo>
                    <a:pt x="0" y="16498"/>
                  </a:moveTo>
                  <a:lnTo>
                    <a:pt x="6468" y="0"/>
                  </a:lnTo>
                  <a:lnTo>
                    <a:pt x="12423" y="16631"/>
                  </a:lnTo>
                </a:path>
              </a:pathLst>
            </a:custGeom>
            <a:ln w="10353">
              <a:solidFill>
                <a:srgbClr val="000000"/>
              </a:solidFill>
            </a:ln>
          </p:spPr>
          <p:txBody>
            <a:bodyPr wrap="square" lIns="0" tIns="0" rIns="0" bIns="0" rtlCol="0"/>
            <a:lstStyle/>
            <a:p>
              <a:endParaRPr sz="1488"/>
            </a:p>
          </p:txBody>
        </p:sp>
        <p:sp>
          <p:nvSpPr>
            <p:cNvPr id="119" name="object 119"/>
            <p:cNvSpPr/>
            <p:nvPr/>
          </p:nvSpPr>
          <p:spPr>
            <a:xfrm>
              <a:off x="7662525" y="1336796"/>
              <a:ext cx="309880" cy="802005"/>
            </a:xfrm>
            <a:custGeom>
              <a:avLst/>
              <a:gdLst/>
              <a:ahLst/>
              <a:cxnLst/>
              <a:rect l="l" t="t" r="r" b="b"/>
              <a:pathLst>
                <a:path w="309879" h="802005">
                  <a:moveTo>
                    <a:pt x="0" y="801930"/>
                  </a:moveTo>
                  <a:lnTo>
                    <a:pt x="44386" y="801930"/>
                  </a:lnTo>
                  <a:lnTo>
                    <a:pt x="44519" y="801930"/>
                  </a:lnTo>
                  <a:lnTo>
                    <a:pt x="293933" y="799793"/>
                  </a:lnTo>
                  <a:lnTo>
                    <a:pt x="301213" y="799727"/>
                  </a:lnTo>
                  <a:lnTo>
                    <a:pt x="307102" y="793838"/>
                  </a:lnTo>
                  <a:lnTo>
                    <a:pt x="307135" y="786491"/>
                  </a:lnTo>
                  <a:lnTo>
                    <a:pt x="309330" y="38961"/>
                  </a:lnTo>
                  <a:lnTo>
                    <a:pt x="309330" y="13368"/>
                  </a:lnTo>
                  <a:lnTo>
                    <a:pt x="309330" y="6021"/>
                  </a:lnTo>
                  <a:lnTo>
                    <a:pt x="303350" y="0"/>
                  </a:lnTo>
                  <a:lnTo>
                    <a:pt x="296003" y="0"/>
                  </a:lnTo>
                  <a:lnTo>
                    <a:pt x="64579" y="0"/>
                  </a:lnTo>
                </a:path>
              </a:pathLst>
            </a:custGeom>
            <a:ln w="10353">
              <a:solidFill>
                <a:srgbClr val="000000"/>
              </a:solidFill>
            </a:ln>
          </p:spPr>
          <p:txBody>
            <a:bodyPr wrap="square" lIns="0" tIns="0" rIns="0" bIns="0" rtlCol="0"/>
            <a:lstStyle/>
            <a:p>
              <a:endParaRPr sz="1488"/>
            </a:p>
          </p:txBody>
        </p:sp>
        <p:sp>
          <p:nvSpPr>
            <p:cNvPr id="120" name="object 120"/>
            <p:cNvSpPr/>
            <p:nvPr/>
          </p:nvSpPr>
          <p:spPr>
            <a:xfrm>
              <a:off x="7710506" y="1330617"/>
              <a:ext cx="17145" cy="12700"/>
            </a:xfrm>
            <a:custGeom>
              <a:avLst/>
              <a:gdLst/>
              <a:ahLst/>
              <a:cxnLst/>
              <a:rect l="l" t="t" r="r" b="b"/>
              <a:pathLst>
                <a:path w="17145" h="12700">
                  <a:moveTo>
                    <a:pt x="0" y="6178"/>
                  </a:moveTo>
                  <a:lnTo>
                    <a:pt x="16598" y="6178"/>
                  </a:lnTo>
                </a:path>
                <a:path w="17145" h="12700">
                  <a:moveTo>
                    <a:pt x="16598" y="12423"/>
                  </a:moveTo>
                  <a:lnTo>
                    <a:pt x="0" y="6178"/>
                  </a:lnTo>
                  <a:lnTo>
                    <a:pt x="16598" y="0"/>
                  </a:lnTo>
                </a:path>
              </a:pathLst>
            </a:custGeom>
            <a:ln w="10353">
              <a:solidFill>
                <a:srgbClr val="000000"/>
              </a:solidFill>
            </a:ln>
          </p:spPr>
          <p:txBody>
            <a:bodyPr wrap="square" lIns="0" tIns="0" rIns="0" bIns="0" rtlCol="0"/>
            <a:lstStyle/>
            <a:p>
              <a:endParaRPr sz="1488"/>
            </a:p>
          </p:txBody>
        </p:sp>
        <p:sp>
          <p:nvSpPr>
            <p:cNvPr id="121" name="object 121"/>
            <p:cNvSpPr/>
            <p:nvPr/>
          </p:nvSpPr>
          <p:spPr>
            <a:xfrm>
              <a:off x="7453547" y="1580040"/>
              <a:ext cx="418465" cy="80645"/>
            </a:xfrm>
            <a:custGeom>
              <a:avLst/>
              <a:gdLst/>
              <a:ahLst/>
              <a:cxnLst/>
              <a:rect l="l" t="t" r="r" b="b"/>
              <a:pathLst>
                <a:path w="418465" h="80644">
                  <a:moveTo>
                    <a:pt x="417948" y="80043"/>
                  </a:moveTo>
                  <a:lnTo>
                    <a:pt x="0" y="80043"/>
                  </a:lnTo>
                  <a:lnTo>
                    <a:pt x="0" y="0"/>
                  </a:lnTo>
                  <a:lnTo>
                    <a:pt x="417948" y="0"/>
                  </a:lnTo>
                  <a:lnTo>
                    <a:pt x="417948" y="80043"/>
                  </a:lnTo>
                  <a:close/>
                </a:path>
              </a:pathLst>
            </a:custGeom>
            <a:solidFill>
              <a:srgbClr val="B2D9FF"/>
            </a:solidFill>
          </p:spPr>
          <p:txBody>
            <a:bodyPr wrap="square" lIns="0" tIns="0" rIns="0" bIns="0" rtlCol="0"/>
            <a:lstStyle/>
            <a:p>
              <a:endParaRPr sz="1488"/>
            </a:p>
          </p:txBody>
        </p:sp>
        <p:sp>
          <p:nvSpPr>
            <p:cNvPr id="122" name="object 122"/>
            <p:cNvSpPr/>
            <p:nvPr/>
          </p:nvSpPr>
          <p:spPr>
            <a:xfrm>
              <a:off x="7453547" y="1580040"/>
              <a:ext cx="418465" cy="137795"/>
            </a:xfrm>
            <a:custGeom>
              <a:avLst/>
              <a:gdLst/>
              <a:ahLst/>
              <a:cxnLst/>
              <a:rect l="l" t="t" r="r" b="b"/>
              <a:pathLst>
                <a:path w="418465" h="137794">
                  <a:moveTo>
                    <a:pt x="0" y="0"/>
                  </a:moveTo>
                  <a:lnTo>
                    <a:pt x="417948" y="0"/>
                  </a:lnTo>
                  <a:lnTo>
                    <a:pt x="417948" y="80043"/>
                  </a:lnTo>
                  <a:lnTo>
                    <a:pt x="0" y="80043"/>
                  </a:lnTo>
                  <a:lnTo>
                    <a:pt x="0" y="0"/>
                  </a:lnTo>
                  <a:close/>
                </a:path>
                <a:path w="418465" h="137794">
                  <a:moveTo>
                    <a:pt x="208978" y="137375"/>
                  </a:moveTo>
                  <a:lnTo>
                    <a:pt x="208978" y="116279"/>
                  </a:lnTo>
                </a:path>
              </a:pathLst>
            </a:custGeom>
            <a:ln w="10353">
              <a:solidFill>
                <a:srgbClr val="000000"/>
              </a:solidFill>
            </a:ln>
          </p:spPr>
          <p:txBody>
            <a:bodyPr wrap="square" lIns="0" tIns="0" rIns="0" bIns="0" rtlCol="0"/>
            <a:lstStyle/>
            <a:p>
              <a:endParaRPr sz="1488"/>
            </a:p>
          </p:txBody>
        </p:sp>
        <p:sp>
          <p:nvSpPr>
            <p:cNvPr id="123" name="object 123"/>
            <p:cNvSpPr/>
            <p:nvPr/>
          </p:nvSpPr>
          <p:spPr>
            <a:xfrm>
              <a:off x="7656280" y="1679721"/>
              <a:ext cx="12700" cy="17145"/>
            </a:xfrm>
            <a:custGeom>
              <a:avLst/>
              <a:gdLst/>
              <a:ahLst/>
              <a:cxnLst/>
              <a:rect l="l" t="t" r="r" b="b"/>
              <a:pathLst>
                <a:path w="12700" h="17144">
                  <a:moveTo>
                    <a:pt x="6245" y="0"/>
                  </a:moveTo>
                  <a:lnTo>
                    <a:pt x="6245" y="16598"/>
                  </a:lnTo>
                </a:path>
                <a:path w="12700" h="17144">
                  <a:moveTo>
                    <a:pt x="0" y="16598"/>
                  </a:moveTo>
                  <a:lnTo>
                    <a:pt x="6245" y="0"/>
                  </a:lnTo>
                  <a:lnTo>
                    <a:pt x="12423" y="16598"/>
                  </a:lnTo>
                </a:path>
              </a:pathLst>
            </a:custGeom>
            <a:ln w="10353">
              <a:solidFill>
                <a:srgbClr val="000000"/>
              </a:solidFill>
            </a:ln>
          </p:spPr>
          <p:txBody>
            <a:bodyPr wrap="square" lIns="0" tIns="0" rIns="0" bIns="0" rtlCol="0"/>
            <a:lstStyle/>
            <a:p>
              <a:endParaRPr sz="1488"/>
            </a:p>
          </p:txBody>
        </p:sp>
        <p:sp>
          <p:nvSpPr>
            <p:cNvPr id="124" name="object 124"/>
            <p:cNvSpPr/>
            <p:nvPr/>
          </p:nvSpPr>
          <p:spPr>
            <a:xfrm>
              <a:off x="7453547" y="1452885"/>
              <a:ext cx="418465" cy="127635"/>
            </a:xfrm>
            <a:custGeom>
              <a:avLst/>
              <a:gdLst/>
              <a:ahLst/>
              <a:cxnLst/>
              <a:rect l="l" t="t" r="r" b="b"/>
              <a:pathLst>
                <a:path w="418465" h="127634">
                  <a:moveTo>
                    <a:pt x="0" y="0"/>
                  </a:moveTo>
                  <a:lnTo>
                    <a:pt x="417948" y="0"/>
                  </a:lnTo>
                  <a:lnTo>
                    <a:pt x="417948" y="80043"/>
                  </a:lnTo>
                  <a:lnTo>
                    <a:pt x="0" y="80043"/>
                  </a:lnTo>
                  <a:lnTo>
                    <a:pt x="0" y="0"/>
                  </a:lnTo>
                  <a:close/>
                </a:path>
                <a:path w="418465" h="127634">
                  <a:moveTo>
                    <a:pt x="208978" y="127154"/>
                  </a:moveTo>
                  <a:lnTo>
                    <a:pt x="208978" y="116279"/>
                  </a:lnTo>
                </a:path>
              </a:pathLst>
            </a:custGeom>
            <a:ln w="10353">
              <a:solidFill>
                <a:srgbClr val="000000"/>
              </a:solidFill>
            </a:ln>
          </p:spPr>
          <p:txBody>
            <a:bodyPr wrap="square" lIns="0" tIns="0" rIns="0" bIns="0" rtlCol="0"/>
            <a:lstStyle/>
            <a:p>
              <a:endParaRPr sz="1488"/>
            </a:p>
          </p:txBody>
        </p:sp>
        <p:sp>
          <p:nvSpPr>
            <p:cNvPr id="125" name="object 125"/>
            <p:cNvSpPr/>
            <p:nvPr/>
          </p:nvSpPr>
          <p:spPr>
            <a:xfrm>
              <a:off x="7656280" y="1552566"/>
              <a:ext cx="12700" cy="17145"/>
            </a:xfrm>
            <a:custGeom>
              <a:avLst/>
              <a:gdLst/>
              <a:ahLst/>
              <a:cxnLst/>
              <a:rect l="l" t="t" r="r" b="b"/>
              <a:pathLst>
                <a:path w="12700" h="17144">
                  <a:moveTo>
                    <a:pt x="6245" y="0"/>
                  </a:moveTo>
                  <a:lnTo>
                    <a:pt x="6245" y="16598"/>
                  </a:lnTo>
                </a:path>
                <a:path w="12700" h="17144">
                  <a:moveTo>
                    <a:pt x="0" y="16598"/>
                  </a:moveTo>
                  <a:lnTo>
                    <a:pt x="6245" y="0"/>
                  </a:lnTo>
                  <a:lnTo>
                    <a:pt x="12423" y="16598"/>
                  </a:lnTo>
                </a:path>
              </a:pathLst>
            </a:custGeom>
            <a:ln w="10353">
              <a:solidFill>
                <a:srgbClr val="000000"/>
              </a:solidFill>
            </a:ln>
          </p:spPr>
          <p:txBody>
            <a:bodyPr wrap="square" lIns="0" tIns="0" rIns="0" bIns="0" rtlCol="0"/>
            <a:lstStyle/>
            <a:p>
              <a:endParaRPr sz="1488"/>
            </a:p>
          </p:txBody>
        </p:sp>
        <p:sp>
          <p:nvSpPr>
            <p:cNvPr id="126" name="object 126"/>
            <p:cNvSpPr/>
            <p:nvPr/>
          </p:nvSpPr>
          <p:spPr>
            <a:xfrm>
              <a:off x="7177570" y="5802811"/>
              <a:ext cx="973455" cy="186690"/>
            </a:xfrm>
            <a:custGeom>
              <a:avLst/>
              <a:gdLst/>
              <a:ahLst/>
              <a:cxnLst/>
              <a:rect l="l" t="t" r="r" b="b"/>
              <a:pathLst>
                <a:path w="973454" h="186689">
                  <a:moveTo>
                    <a:pt x="973206" y="186358"/>
                  </a:moveTo>
                  <a:lnTo>
                    <a:pt x="0" y="186358"/>
                  </a:lnTo>
                  <a:lnTo>
                    <a:pt x="0" y="0"/>
                  </a:lnTo>
                  <a:lnTo>
                    <a:pt x="973206" y="0"/>
                  </a:lnTo>
                  <a:lnTo>
                    <a:pt x="973206" y="186358"/>
                  </a:lnTo>
                  <a:close/>
                </a:path>
              </a:pathLst>
            </a:custGeom>
            <a:solidFill>
              <a:srgbClr val="B2D9FF"/>
            </a:solidFill>
          </p:spPr>
          <p:txBody>
            <a:bodyPr wrap="square" lIns="0" tIns="0" rIns="0" bIns="0" rtlCol="0"/>
            <a:lstStyle/>
            <a:p>
              <a:endParaRPr sz="1488"/>
            </a:p>
          </p:txBody>
        </p:sp>
        <p:sp>
          <p:nvSpPr>
            <p:cNvPr id="127" name="object 127"/>
            <p:cNvSpPr/>
            <p:nvPr/>
          </p:nvSpPr>
          <p:spPr>
            <a:xfrm>
              <a:off x="7177570" y="5506675"/>
              <a:ext cx="973455" cy="482600"/>
            </a:xfrm>
            <a:custGeom>
              <a:avLst/>
              <a:gdLst/>
              <a:ahLst/>
              <a:cxnLst/>
              <a:rect l="l" t="t" r="r" b="b"/>
              <a:pathLst>
                <a:path w="973454" h="482600">
                  <a:moveTo>
                    <a:pt x="0" y="296136"/>
                  </a:moveTo>
                  <a:lnTo>
                    <a:pt x="973206" y="296136"/>
                  </a:lnTo>
                  <a:lnTo>
                    <a:pt x="973206" y="482495"/>
                  </a:lnTo>
                  <a:lnTo>
                    <a:pt x="0" y="482495"/>
                  </a:lnTo>
                  <a:lnTo>
                    <a:pt x="0" y="296136"/>
                  </a:lnTo>
                  <a:close/>
                </a:path>
                <a:path w="973454" h="482600">
                  <a:moveTo>
                    <a:pt x="0" y="0"/>
                  </a:moveTo>
                  <a:lnTo>
                    <a:pt x="973206" y="0"/>
                  </a:lnTo>
                  <a:lnTo>
                    <a:pt x="973206" y="186358"/>
                  </a:lnTo>
                  <a:lnTo>
                    <a:pt x="0" y="186358"/>
                  </a:lnTo>
                  <a:lnTo>
                    <a:pt x="0" y="0"/>
                  </a:lnTo>
                  <a:close/>
                </a:path>
              </a:pathLst>
            </a:custGeom>
            <a:ln w="10353">
              <a:solidFill>
                <a:srgbClr val="000000"/>
              </a:solidFill>
            </a:ln>
          </p:spPr>
          <p:txBody>
            <a:bodyPr wrap="square" lIns="0" tIns="0" rIns="0" bIns="0" rtlCol="0"/>
            <a:lstStyle/>
            <a:p>
              <a:endParaRPr sz="1488"/>
            </a:p>
          </p:txBody>
        </p:sp>
        <p:sp>
          <p:nvSpPr>
            <p:cNvPr id="128" name="object 128"/>
            <p:cNvSpPr/>
            <p:nvPr/>
          </p:nvSpPr>
          <p:spPr>
            <a:xfrm>
              <a:off x="7177570" y="5210539"/>
              <a:ext cx="973455" cy="186690"/>
            </a:xfrm>
            <a:custGeom>
              <a:avLst/>
              <a:gdLst/>
              <a:ahLst/>
              <a:cxnLst/>
              <a:rect l="l" t="t" r="r" b="b"/>
              <a:pathLst>
                <a:path w="973454" h="186689">
                  <a:moveTo>
                    <a:pt x="973206" y="186358"/>
                  </a:moveTo>
                  <a:lnTo>
                    <a:pt x="0" y="186358"/>
                  </a:lnTo>
                  <a:lnTo>
                    <a:pt x="0" y="0"/>
                  </a:lnTo>
                  <a:lnTo>
                    <a:pt x="973206" y="0"/>
                  </a:lnTo>
                  <a:lnTo>
                    <a:pt x="973206" y="186358"/>
                  </a:lnTo>
                  <a:close/>
                </a:path>
              </a:pathLst>
            </a:custGeom>
            <a:solidFill>
              <a:srgbClr val="66BFFF"/>
            </a:solidFill>
          </p:spPr>
          <p:txBody>
            <a:bodyPr wrap="square" lIns="0" tIns="0" rIns="0" bIns="0" rtlCol="0"/>
            <a:lstStyle/>
            <a:p>
              <a:endParaRPr sz="1488"/>
            </a:p>
          </p:txBody>
        </p:sp>
        <p:sp>
          <p:nvSpPr>
            <p:cNvPr id="129" name="object 129"/>
            <p:cNvSpPr/>
            <p:nvPr/>
          </p:nvSpPr>
          <p:spPr>
            <a:xfrm>
              <a:off x="7177570" y="5210539"/>
              <a:ext cx="973455" cy="592455"/>
            </a:xfrm>
            <a:custGeom>
              <a:avLst/>
              <a:gdLst/>
              <a:ahLst/>
              <a:cxnLst/>
              <a:rect l="l" t="t" r="r" b="b"/>
              <a:pathLst>
                <a:path w="973454" h="592454">
                  <a:moveTo>
                    <a:pt x="0" y="0"/>
                  </a:moveTo>
                  <a:lnTo>
                    <a:pt x="973206" y="0"/>
                  </a:lnTo>
                  <a:lnTo>
                    <a:pt x="973206" y="186358"/>
                  </a:lnTo>
                  <a:lnTo>
                    <a:pt x="0" y="186358"/>
                  </a:lnTo>
                  <a:lnTo>
                    <a:pt x="0" y="0"/>
                  </a:lnTo>
                  <a:close/>
                </a:path>
                <a:path w="973454" h="592454">
                  <a:moveTo>
                    <a:pt x="486603" y="592272"/>
                  </a:moveTo>
                  <a:lnTo>
                    <a:pt x="486603" y="543546"/>
                  </a:lnTo>
                </a:path>
              </a:pathLst>
            </a:custGeom>
            <a:ln w="10353">
              <a:solidFill>
                <a:srgbClr val="000000"/>
              </a:solidFill>
            </a:ln>
          </p:spPr>
          <p:txBody>
            <a:bodyPr wrap="square" lIns="0" tIns="0" rIns="0" bIns="0" rtlCol="0"/>
            <a:lstStyle/>
            <a:p>
              <a:endParaRPr sz="1488"/>
            </a:p>
          </p:txBody>
        </p:sp>
        <p:sp>
          <p:nvSpPr>
            <p:cNvPr id="130" name="object 130"/>
            <p:cNvSpPr/>
            <p:nvPr/>
          </p:nvSpPr>
          <p:spPr>
            <a:xfrm>
              <a:off x="7648643" y="5712672"/>
              <a:ext cx="31115" cy="41910"/>
            </a:xfrm>
            <a:custGeom>
              <a:avLst/>
              <a:gdLst/>
              <a:ahLst/>
              <a:cxnLst/>
              <a:rect l="l" t="t" r="r" b="b"/>
              <a:pathLst>
                <a:path w="31115" h="41910">
                  <a:moveTo>
                    <a:pt x="15529" y="0"/>
                  </a:moveTo>
                  <a:lnTo>
                    <a:pt x="15529" y="41413"/>
                  </a:lnTo>
                </a:path>
                <a:path w="31115" h="41910">
                  <a:moveTo>
                    <a:pt x="0" y="41413"/>
                  </a:moveTo>
                  <a:lnTo>
                    <a:pt x="15529" y="0"/>
                  </a:lnTo>
                  <a:lnTo>
                    <a:pt x="31059" y="41413"/>
                  </a:lnTo>
                </a:path>
              </a:pathLst>
            </a:custGeom>
            <a:ln w="10353">
              <a:solidFill>
                <a:srgbClr val="000000"/>
              </a:solidFill>
            </a:ln>
          </p:spPr>
          <p:txBody>
            <a:bodyPr wrap="square" lIns="0" tIns="0" rIns="0" bIns="0" rtlCol="0"/>
            <a:lstStyle/>
            <a:p>
              <a:endParaRPr sz="1488"/>
            </a:p>
          </p:txBody>
        </p:sp>
        <p:sp>
          <p:nvSpPr>
            <p:cNvPr id="131" name="object 131"/>
            <p:cNvSpPr/>
            <p:nvPr/>
          </p:nvSpPr>
          <p:spPr>
            <a:xfrm>
              <a:off x="7664173" y="5458015"/>
              <a:ext cx="0" cy="48895"/>
            </a:xfrm>
            <a:custGeom>
              <a:avLst/>
              <a:gdLst/>
              <a:ahLst/>
              <a:cxnLst/>
              <a:rect l="l" t="t" r="r" b="b"/>
              <a:pathLst>
                <a:path h="48895">
                  <a:moveTo>
                    <a:pt x="0" y="48660"/>
                  </a:moveTo>
                  <a:lnTo>
                    <a:pt x="0" y="0"/>
                  </a:lnTo>
                </a:path>
              </a:pathLst>
            </a:custGeom>
            <a:ln w="10353">
              <a:solidFill>
                <a:srgbClr val="000000"/>
              </a:solidFill>
            </a:ln>
          </p:spPr>
          <p:txBody>
            <a:bodyPr wrap="square" lIns="0" tIns="0" rIns="0" bIns="0" rtlCol="0"/>
            <a:lstStyle/>
            <a:p>
              <a:endParaRPr sz="1488"/>
            </a:p>
          </p:txBody>
        </p:sp>
        <p:sp>
          <p:nvSpPr>
            <p:cNvPr id="132" name="object 132"/>
            <p:cNvSpPr/>
            <p:nvPr/>
          </p:nvSpPr>
          <p:spPr>
            <a:xfrm>
              <a:off x="7648643" y="5416602"/>
              <a:ext cx="31115" cy="41910"/>
            </a:xfrm>
            <a:custGeom>
              <a:avLst/>
              <a:gdLst/>
              <a:ahLst/>
              <a:cxnLst/>
              <a:rect l="l" t="t" r="r" b="b"/>
              <a:pathLst>
                <a:path w="31115" h="41910">
                  <a:moveTo>
                    <a:pt x="15529" y="0"/>
                  </a:moveTo>
                  <a:lnTo>
                    <a:pt x="15529" y="41413"/>
                  </a:lnTo>
                </a:path>
                <a:path w="31115" h="41910">
                  <a:moveTo>
                    <a:pt x="0" y="41413"/>
                  </a:moveTo>
                  <a:lnTo>
                    <a:pt x="15529" y="0"/>
                  </a:lnTo>
                  <a:lnTo>
                    <a:pt x="31059" y="41413"/>
                  </a:lnTo>
                </a:path>
              </a:pathLst>
            </a:custGeom>
            <a:ln w="10353">
              <a:solidFill>
                <a:srgbClr val="000000"/>
              </a:solidFill>
            </a:ln>
          </p:spPr>
          <p:txBody>
            <a:bodyPr wrap="square" lIns="0" tIns="0" rIns="0" bIns="0" rtlCol="0"/>
            <a:lstStyle/>
            <a:p>
              <a:endParaRPr sz="1488"/>
            </a:p>
          </p:txBody>
        </p:sp>
        <p:sp>
          <p:nvSpPr>
            <p:cNvPr id="133" name="object 133"/>
            <p:cNvSpPr/>
            <p:nvPr/>
          </p:nvSpPr>
          <p:spPr>
            <a:xfrm>
              <a:off x="7663072" y="5114701"/>
              <a:ext cx="635" cy="95885"/>
            </a:xfrm>
            <a:custGeom>
              <a:avLst/>
              <a:gdLst/>
              <a:ahLst/>
              <a:cxnLst/>
              <a:rect l="l" t="t" r="r" b="b"/>
              <a:pathLst>
                <a:path w="634" h="95885">
                  <a:moveTo>
                    <a:pt x="588" y="95838"/>
                  </a:moveTo>
                  <a:lnTo>
                    <a:pt x="0" y="0"/>
                  </a:lnTo>
                </a:path>
              </a:pathLst>
            </a:custGeom>
            <a:ln w="10353">
              <a:solidFill>
                <a:srgbClr val="000000"/>
              </a:solidFill>
            </a:ln>
          </p:spPr>
          <p:txBody>
            <a:bodyPr wrap="square" lIns="0" tIns="0" rIns="0" bIns="0" rtlCol="0"/>
            <a:lstStyle/>
            <a:p>
              <a:endParaRPr sz="1488"/>
            </a:p>
          </p:txBody>
        </p:sp>
        <p:sp>
          <p:nvSpPr>
            <p:cNvPr id="134" name="object 134"/>
            <p:cNvSpPr/>
            <p:nvPr/>
          </p:nvSpPr>
          <p:spPr>
            <a:xfrm>
              <a:off x="7647542" y="5073287"/>
              <a:ext cx="31115" cy="41910"/>
            </a:xfrm>
            <a:custGeom>
              <a:avLst/>
              <a:gdLst/>
              <a:ahLst/>
              <a:cxnLst/>
              <a:rect l="l" t="t" r="r" b="b"/>
              <a:pathLst>
                <a:path w="31115" h="41910">
                  <a:moveTo>
                    <a:pt x="15306" y="0"/>
                  </a:moveTo>
                  <a:lnTo>
                    <a:pt x="15529" y="41413"/>
                  </a:lnTo>
                </a:path>
                <a:path w="31115" h="41910">
                  <a:moveTo>
                    <a:pt x="0" y="41545"/>
                  </a:moveTo>
                  <a:lnTo>
                    <a:pt x="15306" y="0"/>
                  </a:lnTo>
                  <a:lnTo>
                    <a:pt x="31059" y="41355"/>
                  </a:lnTo>
                </a:path>
              </a:pathLst>
            </a:custGeom>
            <a:ln w="10353">
              <a:solidFill>
                <a:srgbClr val="000000"/>
              </a:solidFill>
            </a:ln>
          </p:spPr>
          <p:txBody>
            <a:bodyPr wrap="square" lIns="0" tIns="0" rIns="0" bIns="0" rtlCol="0"/>
            <a:lstStyle/>
            <a:p>
              <a:endParaRPr sz="1488"/>
            </a:p>
          </p:txBody>
        </p:sp>
        <p:sp>
          <p:nvSpPr>
            <p:cNvPr id="135" name="object 135"/>
            <p:cNvSpPr/>
            <p:nvPr/>
          </p:nvSpPr>
          <p:spPr>
            <a:xfrm>
              <a:off x="7177570" y="871744"/>
              <a:ext cx="973455" cy="186690"/>
            </a:xfrm>
            <a:custGeom>
              <a:avLst/>
              <a:gdLst/>
              <a:ahLst/>
              <a:cxnLst/>
              <a:rect l="l" t="t" r="r" b="b"/>
              <a:pathLst>
                <a:path w="973454" h="186690">
                  <a:moveTo>
                    <a:pt x="973206" y="186358"/>
                  </a:moveTo>
                  <a:lnTo>
                    <a:pt x="0" y="186358"/>
                  </a:lnTo>
                  <a:lnTo>
                    <a:pt x="0" y="0"/>
                  </a:lnTo>
                  <a:lnTo>
                    <a:pt x="973206" y="0"/>
                  </a:lnTo>
                  <a:lnTo>
                    <a:pt x="973206" y="186358"/>
                  </a:lnTo>
                  <a:close/>
                </a:path>
              </a:pathLst>
            </a:custGeom>
            <a:solidFill>
              <a:srgbClr val="66BFFF"/>
            </a:solidFill>
          </p:spPr>
          <p:txBody>
            <a:bodyPr wrap="square" lIns="0" tIns="0" rIns="0" bIns="0" rtlCol="0"/>
            <a:lstStyle/>
            <a:p>
              <a:endParaRPr sz="1488"/>
            </a:p>
          </p:txBody>
        </p:sp>
        <p:sp>
          <p:nvSpPr>
            <p:cNvPr id="136" name="object 136"/>
            <p:cNvSpPr/>
            <p:nvPr/>
          </p:nvSpPr>
          <p:spPr>
            <a:xfrm>
              <a:off x="7177570" y="871744"/>
              <a:ext cx="973455" cy="309245"/>
            </a:xfrm>
            <a:custGeom>
              <a:avLst/>
              <a:gdLst/>
              <a:ahLst/>
              <a:cxnLst/>
              <a:rect l="l" t="t" r="r" b="b"/>
              <a:pathLst>
                <a:path w="973454" h="309244">
                  <a:moveTo>
                    <a:pt x="0" y="0"/>
                  </a:moveTo>
                  <a:lnTo>
                    <a:pt x="973206" y="0"/>
                  </a:lnTo>
                  <a:lnTo>
                    <a:pt x="973206" y="186358"/>
                  </a:lnTo>
                  <a:lnTo>
                    <a:pt x="0" y="186358"/>
                  </a:lnTo>
                  <a:lnTo>
                    <a:pt x="0" y="0"/>
                  </a:lnTo>
                  <a:close/>
                </a:path>
                <a:path w="973454" h="309244">
                  <a:moveTo>
                    <a:pt x="485178" y="309239"/>
                  </a:moveTo>
                  <a:lnTo>
                    <a:pt x="485601" y="247442"/>
                  </a:lnTo>
                </a:path>
              </a:pathLst>
            </a:custGeom>
            <a:ln w="10353">
              <a:solidFill>
                <a:srgbClr val="000000"/>
              </a:solidFill>
            </a:ln>
          </p:spPr>
          <p:txBody>
            <a:bodyPr wrap="square" lIns="0" tIns="0" rIns="0" bIns="0" rtlCol="0"/>
            <a:lstStyle/>
            <a:p>
              <a:endParaRPr sz="1488"/>
            </a:p>
          </p:txBody>
        </p:sp>
        <p:sp>
          <p:nvSpPr>
            <p:cNvPr id="137" name="object 137"/>
            <p:cNvSpPr/>
            <p:nvPr/>
          </p:nvSpPr>
          <p:spPr>
            <a:xfrm>
              <a:off x="7647641" y="1077774"/>
              <a:ext cx="31115" cy="41910"/>
            </a:xfrm>
            <a:custGeom>
              <a:avLst/>
              <a:gdLst/>
              <a:ahLst/>
              <a:cxnLst/>
              <a:rect l="l" t="t" r="r" b="b"/>
              <a:pathLst>
                <a:path w="31115" h="41909">
                  <a:moveTo>
                    <a:pt x="15819" y="0"/>
                  </a:moveTo>
                  <a:lnTo>
                    <a:pt x="15529" y="41413"/>
                  </a:lnTo>
                </a:path>
                <a:path w="31115" h="41909">
                  <a:moveTo>
                    <a:pt x="0" y="41280"/>
                  </a:moveTo>
                  <a:lnTo>
                    <a:pt x="15819" y="0"/>
                  </a:lnTo>
                  <a:lnTo>
                    <a:pt x="31059" y="41512"/>
                  </a:lnTo>
                </a:path>
              </a:pathLst>
            </a:custGeom>
            <a:ln w="10353">
              <a:solidFill>
                <a:srgbClr val="000000"/>
              </a:solidFill>
            </a:ln>
          </p:spPr>
          <p:txBody>
            <a:bodyPr wrap="square" lIns="0" tIns="0" rIns="0" bIns="0" rtlCol="0"/>
            <a:lstStyle/>
            <a:p>
              <a:endParaRPr sz="1488"/>
            </a:p>
          </p:txBody>
        </p:sp>
      </p:grpSp>
      <p:sp>
        <p:nvSpPr>
          <p:cNvPr id="138" name="object 138"/>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8100">
              <a:lnSpc>
                <a:spcPts val="1485"/>
              </a:lnSpc>
            </a:pPr>
            <a:fld id="{81D60167-4931-47E6-BA6A-407CBD079E47}" type="slidenum">
              <a:rPr lang="en-US" spc="-25" smtClean="0"/>
              <a:pPr marL="38100">
                <a:lnSpc>
                  <a:spcPts val="1485"/>
                </a:lnSpc>
              </a:pPr>
              <a:t>60</a:t>
            </a:fld>
            <a:endParaRPr spc="-21" dirty="0"/>
          </a:p>
        </p:txBody>
      </p:sp>
    </p:spTree>
    <p:extLst>
      <p:ext uri="{BB962C8B-B14F-4D97-AF65-F5344CB8AC3E}">
        <p14:creationId xmlns:p14="http://schemas.microsoft.com/office/powerpoint/2010/main" val="1361967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1100" y="168275"/>
            <a:ext cx="2680385" cy="774018"/>
          </a:xfrm>
          <a:prstGeom prst="rect">
            <a:avLst/>
          </a:prstGeom>
        </p:spPr>
        <p:txBody>
          <a:bodyPr vert="horz" wrap="square" lIns="0" tIns="10501" rIns="0" bIns="0" rtlCol="0">
            <a:spAutoFit/>
          </a:bodyPr>
          <a:lstStyle/>
          <a:p>
            <a:pPr marL="10502">
              <a:lnSpc>
                <a:spcPct val="100000"/>
              </a:lnSpc>
              <a:spcBef>
                <a:spcPts val="83"/>
              </a:spcBef>
            </a:pPr>
            <a:r>
              <a:rPr sz="4961" spc="-8" dirty="0">
                <a:solidFill>
                  <a:srgbClr val="FF0000"/>
                </a:solidFill>
                <a:latin typeface="Tahoma"/>
                <a:cs typeface="Tahoma"/>
              </a:rPr>
              <a:t>ResNext</a:t>
            </a:r>
            <a:endParaRPr sz="4961" dirty="0">
              <a:solidFill>
                <a:srgbClr val="FF0000"/>
              </a:solidFill>
              <a:latin typeface="Tahoma"/>
              <a:cs typeface="Tahoma"/>
            </a:endParaRPr>
          </a:p>
        </p:txBody>
      </p:sp>
    </p:spTree>
    <p:extLst>
      <p:ext uri="{BB962C8B-B14F-4D97-AF65-F5344CB8AC3E}">
        <p14:creationId xmlns:p14="http://schemas.microsoft.com/office/powerpoint/2010/main" val="16952851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27532" y="1150406"/>
            <a:ext cx="2732365" cy="2161634"/>
          </a:xfrm>
          <a:prstGeom prst="rect">
            <a:avLst/>
          </a:prstGeom>
        </p:spPr>
        <p:txBody>
          <a:bodyPr vert="horz" wrap="square" lIns="0" tIns="35703" rIns="0" bIns="0" rtlCol="0">
            <a:spAutoFit/>
          </a:bodyPr>
          <a:lstStyle/>
          <a:p>
            <a:pPr marL="294046" marR="22579" indent="-283544">
              <a:lnSpc>
                <a:spcPts val="3060"/>
              </a:lnSpc>
              <a:spcBef>
                <a:spcPts val="281"/>
              </a:spcBef>
              <a:buChar char="•"/>
              <a:tabLst>
                <a:tab pos="294046" algn="l"/>
              </a:tabLst>
            </a:pPr>
            <a:r>
              <a:rPr sz="2646" dirty="0">
                <a:latin typeface="Arial"/>
                <a:cs typeface="Arial"/>
              </a:rPr>
              <a:t>Slice</a:t>
            </a:r>
            <a:r>
              <a:rPr sz="2646" spc="-25" dirty="0">
                <a:latin typeface="Arial"/>
                <a:cs typeface="Arial"/>
              </a:rPr>
              <a:t> </a:t>
            </a:r>
            <a:r>
              <a:rPr sz="2646" dirty="0">
                <a:latin typeface="Arial"/>
                <a:cs typeface="Arial"/>
              </a:rPr>
              <a:t>blocks</a:t>
            </a:r>
            <a:r>
              <a:rPr sz="2646" spc="-25" dirty="0">
                <a:latin typeface="Arial"/>
                <a:cs typeface="Arial"/>
              </a:rPr>
              <a:t> </a:t>
            </a:r>
            <a:r>
              <a:rPr sz="2646" spc="-17" dirty="0">
                <a:latin typeface="Arial"/>
                <a:cs typeface="Arial"/>
              </a:rPr>
              <a:t>into </a:t>
            </a:r>
            <a:r>
              <a:rPr sz="2646" dirty="0">
                <a:latin typeface="Arial"/>
                <a:cs typeface="Arial"/>
              </a:rPr>
              <a:t>32</a:t>
            </a:r>
            <a:r>
              <a:rPr sz="2646" spc="25" dirty="0">
                <a:latin typeface="Arial"/>
                <a:cs typeface="Arial"/>
              </a:rPr>
              <a:t> </a:t>
            </a:r>
            <a:r>
              <a:rPr sz="2646" spc="-8" dirty="0">
                <a:latin typeface="Arial"/>
                <a:cs typeface="Arial"/>
              </a:rPr>
              <a:t>sub-blocks</a:t>
            </a:r>
            <a:endParaRPr sz="2646">
              <a:latin typeface="Arial"/>
              <a:cs typeface="Arial"/>
            </a:endParaRPr>
          </a:p>
          <a:p>
            <a:pPr marL="294046" marR="321350" indent="-283544">
              <a:lnSpc>
                <a:spcPts val="3060"/>
              </a:lnSpc>
              <a:spcBef>
                <a:spcPts val="633"/>
              </a:spcBef>
              <a:buChar char="•"/>
              <a:tabLst>
                <a:tab pos="294046" algn="l"/>
              </a:tabLst>
            </a:pPr>
            <a:r>
              <a:rPr sz="2646" dirty="0">
                <a:latin typeface="Arial"/>
                <a:cs typeface="Arial"/>
              </a:rPr>
              <a:t>Can</a:t>
            </a:r>
            <a:r>
              <a:rPr sz="2646" spc="-12" dirty="0">
                <a:latin typeface="Arial"/>
                <a:cs typeface="Arial"/>
              </a:rPr>
              <a:t> </a:t>
            </a:r>
            <a:r>
              <a:rPr sz="2646" dirty="0">
                <a:latin typeface="Arial"/>
                <a:cs typeface="Arial"/>
              </a:rPr>
              <a:t>use</a:t>
            </a:r>
            <a:r>
              <a:rPr sz="2646" spc="-12" dirty="0">
                <a:latin typeface="Arial"/>
                <a:cs typeface="Arial"/>
              </a:rPr>
              <a:t> </a:t>
            </a:r>
            <a:r>
              <a:rPr sz="2646" spc="-17" dirty="0">
                <a:latin typeface="Arial"/>
                <a:cs typeface="Arial"/>
              </a:rPr>
              <a:t>more </a:t>
            </a:r>
            <a:r>
              <a:rPr sz="2646" spc="-8" dirty="0">
                <a:latin typeface="Arial"/>
                <a:cs typeface="Arial"/>
              </a:rPr>
              <a:t>dimensions</a:t>
            </a:r>
            <a:endParaRPr sz="2646">
              <a:latin typeface="Arial"/>
              <a:cs typeface="Arial"/>
            </a:endParaRPr>
          </a:p>
          <a:p>
            <a:pPr marL="293521" indent="-283019">
              <a:spcBef>
                <a:spcPts val="438"/>
              </a:spcBef>
              <a:buChar char="•"/>
              <a:tabLst>
                <a:tab pos="293521" algn="l"/>
              </a:tabLst>
            </a:pPr>
            <a:r>
              <a:rPr sz="2646" dirty="0">
                <a:latin typeface="Arial"/>
                <a:cs typeface="Arial"/>
              </a:rPr>
              <a:t>Higher</a:t>
            </a:r>
            <a:r>
              <a:rPr sz="2646" spc="-33" dirty="0">
                <a:latin typeface="Arial"/>
                <a:cs typeface="Arial"/>
              </a:rPr>
              <a:t> </a:t>
            </a:r>
            <a:r>
              <a:rPr sz="2646" spc="-8" dirty="0">
                <a:latin typeface="Arial"/>
                <a:cs typeface="Arial"/>
              </a:rPr>
              <a:t>accuracy</a:t>
            </a:r>
            <a:endParaRPr sz="2646">
              <a:latin typeface="Arial"/>
              <a:cs typeface="Arial"/>
            </a:endParaRPr>
          </a:p>
        </p:txBody>
      </p:sp>
      <p:sp>
        <p:nvSpPr>
          <p:cNvPr id="3" name="object 3"/>
          <p:cNvSpPr txBox="1">
            <a:spLocks noGrp="1"/>
          </p:cNvSpPr>
          <p:nvPr>
            <p:ph type="title"/>
          </p:nvPr>
        </p:nvSpPr>
        <p:spPr>
          <a:xfrm>
            <a:off x="1834758" y="249631"/>
            <a:ext cx="7191360" cy="611277"/>
          </a:xfrm>
          <a:prstGeom prst="rect">
            <a:avLst/>
          </a:prstGeom>
        </p:spPr>
        <p:txBody>
          <a:bodyPr vert="horz" wrap="square" lIns="0" tIns="50946" rIns="0" bIns="0" rtlCol="0">
            <a:spAutoFit/>
          </a:bodyPr>
          <a:lstStyle/>
          <a:p>
            <a:pPr marL="1836210">
              <a:lnSpc>
                <a:spcPct val="100000"/>
              </a:lnSpc>
              <a:spcBef>
                <a:spcPts val="83"/>
              </a:spcBef>
            </a:pPr>
            <a:r>
              <a:rPr dirty="0">
                <a:latin typeface="Arial"/>
                <a:cs typeface="Arial"/>
              </a:rPr>
              <a:t>RexNext</a:t>
            </a:r>
            <a:r>
              <a:rPr spc="-107" dirty="0">
                <a:latin typeface="Arial"/>
                <a:cs typeface="Arial"/>
              </a:rPr>
              <a:t> </a:t>
            </a:r>
            <a:r>
              <a:rPr spc="-8" dirty="0">
                <a:latin typeface="Arial"/>
                <a:cs typeface="Arial"/>
              </a:rPr>
              <a:t>budget</a:t>
            </a:r>
          </a:p>
        </p:txBody>
      </p:sp>
      <p:grpSp>
        <p:nvGrpSpPr>
          <p:cNvPr id="4" name="object 4"/>
          <p:cNvGrpSpPr/>
          <p:nvPr/>
        </p:nvGrpSpPr>
        <p:grpSpPr>
          <a:xfrm>
            <a:off x="4343818" y="1110669"/>
            <a:ext cx="4295442" cy="4252913"/>
            <a:chOff x="3727735" y="1343250"/>
            <a:chExt cx="5194935" cy="5143500"/>
          </a:xfrm>
        </p:grpSpPr>
        <p:pic>
          <p:nvPicPr>
            <p:cNvPr id="5" name="object 5"/>
            <p:cNvPicPr/>
            <p:nvPr/>
          </p:nvPicPr>
          <p:blipFill>
            <a:blip r:embed="rId2" cstate="print"/>
            <a:stretch>
              <a:fillRect/>
            </a:stretch>
          </p:blipFill>
          <p:spPr>
            <a:xfrm>
              <a:off x="3727735" y="1343250"/>
              <a:ext cx="5194678" cy="5143500"/>
            </a:xfrm>
            <a:prstGeom prst="rect">
              <a:avLst/>
            </a:prstGeom>
          </p:spPr>
        </p:pic>
        <p:sp>
          <p:nvSpPr>
            <p:cNvPr id="6" name="object 6"/>
            <p:cNvSpPr/>
            <p:nvPr/>
          </p:nvSpPr>
          <p:spPr>
            <a:xfrm>
              <a:off x="7478198" y="2137608"/>
              <a:ext cx="403860" cy="3234690"/>
            </a:xfrm>
            <a:custGeom>
              <a:avLst/>
              <a:gdLst/>
              <a:ahLst/>
              <a:cxnLst/>
              <a:rect l="l" t="t" r="r" b="b"/>
              <a:pathLst>
                <a:path w="403859" h="3234690">
                  <a:moveTo>
                    <a:pt x="201817" y="0"/>
                  </a:moveTo>
                  <a:lnTo>
                    <a:pt x="241757" y="2873"/>
                  </a:lnTo>
                  <a:lnTo>
                    <a:pt x="278856" y="11801"/>
                  </a:lnTo>
                  <a:lnTo>
                    <a:pt x="315972" y="30132"/>
                  </a:lnTo>
                  <a:lnTo>
                    <a:pt x="347868" y="55766"/>
                  </a:lnTo>
                  <a:lnTo>
                    <a:pt x="373502" y="87662"/>
                  </a:lnTo>
                  <a:lnTo>
                    <a:pt x="391833" y="124778"/>
                  </a:lnTo>
                  <a:lnTo>
                    <a:pt x="402159" y="189270"/>
                  </a:lnTo>
                  <a:lnTo>
                    <a:pt x="403450" y="234779"/>
                  </a:lnTo>
                  <a:lnTo>
                    <a:pt x="403634" y="291210"/>
                  </a:lnTo>
                  <a:lnTo>
                    <a:pt x="403634" y="2943143"/>
                  </a:lnTo>
                  <a:lnTo>
                    <a:pt x="403450" y="2999574"/>
                  </a:lnTo>
                  <a:lnTo>
                    <a:pt x="402159" y="3045083"/>
                  </a:lnTo>
                  <a:lnTo>
                    <a:pt x="391833" y="3109575"/>
                  </a:lnTo>
                  <a:lnTo>
                    <a:pt x="373502" y="3146692"/>
                  </a:lnTo>
                  <a:lnTo>
                    <a:pt x="347868" y="3178587"/>
                  </a:lnTo>
                  <a:lnTo>
                    <a:pt x="315972" y="3204222"/>
                  </a:lnTo>
                  <a:lnTo>
                    <a:pt x="278856" y="3222553"/>
                  </a:lnTo>
                  <a:lnTo>
                    <a:pt x="241757" y="3231481"/>
                  </a:lnTo>
                  <a:lnTo>
                    <a:pt x="201817" y="3234354"/>
                  </a:lnTo>
                  <a:lnTo>
                    <a:pt x="182482" y="3233645"/>
                  </a:lnTo>
                  <a:lnTo>
                    <a:pt x="141983" y="3227803"/>
                  </a:lnTo>
                  <a:lnTo>
                    <a:pt x="87662" y="3204222"/>
                  </a:lnTo>
                  <a:lnTo>
                    <a:pt x="55766" y="3178587"/>
                  </a:lnTo>
                  <a:lnTo>
                    <a:pt x="30132" y="3146692"/>
                  </a:lnTo>
                  <a:lnTo>
                    <a:pt x="11801" y="3109575"/>
                  </a:lnTo>
                  <a:lnTo>
                    <a:pt x="1475" y="3045083"/>
                  </a:lnTo>
                  <a:lnTo>
                    <a:pt x="184" y="2999574"/>
                  </a:lnTo>
                  <a:lnTo>
                    <a:pt x="0" y="2943143"/>
                  </a:lnTo>
                  <a:lnTo>
                    <a:pt x="0" y="291210"/>
                  </a:lnTo>
                  <a:lnTo>
                    <a:pt x="184" y="234779"/>
                  </a:lnTo>
                  <a:lnTo>
                    <a:pt x="1475" y="189270"/>
                  </a:lnTo>
                  <a:lnTo>
                    <a:pt x="11801" y="124778"/>
                  </a:lnTo>
                  <a:lnTo>
                    <a:pt x="30132" y="87662"/>
                  </a:lnTo>
                  <a:lnTo>
                    <a:pt x="55766" y="55766"/>
                  </a:lnTo>
                  <a:lnTo>
                    <a:pt x="87662" y="30132"/>
                  </a:lnTo>
                  <a:lnTo>
                    <a:pt x="124778" y="11801"/>
                  </a:lnTo>
                  <a:lnTo>
                    <a:pt x="161877" y="2873"/>
                  </a:lnTo>
                  <a:lnTo>
                    <a:pt x="201817" y="0"/>
                  </a:lnTo>
                  <a:close/>
                </a:path>
              </a:pathLst>
            </a:custGeom>
            <a:ln w="63500">
              <a:solidFill>
                <a:srgbClr val="FFFB00"/>
              </a:solidFill>
            </a:ln>
          </p:spPr>
          <p:txBody>
            <a:bodyPr wrap="square" lIns="0" tIns="0" rIns="0" bIns="0" rtlCol="0"/>
            <a:lstStyle/>
            <a:p>
              <a:endParaRPr sz="1488"/>
            </a:p>
          </p:txBody>
        </p:sp>
      </p:grpSp>
      <p:sp>
        <p:nvSpPr>
          <p:cNvPr id="7" name="object 7"/>
          <p:cNvSpPr txBox="1">
            <a:spLocks noGrp="1"/>
          </p:cNvSpPr>
          <p:nvPr>
            <p:ph type="sldNum" sz="quarter" idx="7"/>
          </p:nvPr>
        </p:nvSpPr>
        <p:spPr>
          <a:xfrm>
            <a:off x="8422749" y="6282710"/>
            <a:ext cx="269240" cy="210820"/>
          </a:xfrm>
          <a:prstGeom prst="rect">
            <a:avLst/>
          </a:prstGeom>
        </p:spPr>
        <p:txBody>
          <a:bodyPr vert="horz" wrap="square" lIns="0" tIns="0" rIns="0" bIns="0" rtlCol="0">
            <a:spAutoFit/>
          </a:bodyPr>
          <a:lstStyle>
            <a:defPPr>
              <a:defRPr kern="0"/>
            </a:defPPr>
            <a:lvl1pPr>
              <a:defRPr sz="1400" b="0" i="0">
                <a:solidFill>
                  <a:schemeClr val="tx1"/>
                </a:solidFill>
                <a:latin typeface="Calibri"/>
                <a:cs typeface="Calibri"/>
              </a:defRPr>
            </a:lvl1pPr>
          </a:lstStyle>
          <a:p>
            <a:pPr marL="38100">
              <a:lnSpc>
                <a:spcPts val="1485"/>
              </a:lnSpc>
            </a:pPr>
            <a:fld id="{81D60167-4931-47E6-BA6A-407CBD079E47}" type="slidenum">
              <a:rPr lang="en-US" spc="-25" smtClean="0"/>
              <a:pPr marL="38100">
                <a:lnSpc>
                  <a:spcPts val="1485"/>
                </a:lnSpc>
              </a:pPr>
              <a:t>62</a:t>
            </a:fld>
            <a:endParaRPr spc="-21" dirty="0"/>
          </a:p>
        </p:txBody>
      </p:sp>
    </p:spTree>
    <p:extLst>
      <p:ext uri="{BB962C8B-B14F-4D97-AF65-F5344CB8AC3E}">
        <p14:creationId xmlns:p14="http://schemas.microsoft.com/office/powerpoint/2010/main" val="17486506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B3F4D5-6E21-4046-3509-8138C9F9B91D}"/>
              </a:ext>
            </a:extLst>
          </p:cNvPr>
          <p:cNvSpPr txBox="1"/>
          <p:nvPr/>
        </p:nvSpPr>
        <p:spPr>
          <a:xfrm>
            <a:off x="850900" y="244475"/>
            <a:ext cx="6934200" cy="1237198"/>
          </a:xfrm>
          <a:prstGeom prst="rect">
            <a:avLst/>
          </a:prstGeom>
          <a:noFill/>
        </p:spPr>
        <p:txBody>
          <a:bodyPr wrap="square">
            <a:spAutoFit/>
          </a:bodyPr>
          <a:lstStyle/>
          <a:p>
            <a:r>
              <a:rPr lang="en-US" sz="1488" b="1" dirty="0"/>
              <a:t>ResNet50 consists of 16 residual blocks, with each block consisting of several convolutional layers with residual connections. </a:t>
            </a:r>
          </a:p>
          <a:p>
            <a:endParaRPr lang="en-US" sz="1488" b="1" dirty="0"/>
          </a:p>
          <a:p>
            <a:r>
              <a:rPr lang="en-US" sz="1488" b="1" dirty="0"/>
              <a:t>The architecture also includes pooling layers, fully connected layers, and a </a:t>
            </a:r>
            <a:r>
              <a:rPr lang="en-US" sz="1488" b="1" dirty="0" err="1"/>
              <a:t>softmax</a:t>
            </a:r>
            <a:r>
              <a:rPr lang="en-US" sz="1488" b="1" dirty="0"/>
              <a:t> output layer for classification.</a:t>
            </a:r>
          </a:p>
        </p:txBody>
      </p:sp>
      <p:pic>
        <p:nvPicPr>
          <p:cNvPr id="4" name="Picture 3">
            <a:extLst>
              <a:ext uri="{FF2B5EF4-FFF2-40B4-BE49-F238E27FC236}">
                <a16:creationId xmlns:a16="http://schemas.microsoft.com/office/drawing/2014/main" id="{3A800CB3-F934-516C-4BD5-F2808E815146}"/>
              </a:ext>
            </a:extLst>
          </p:cNvPr>
          <p:cNvPicPr>
            <a:picLocks noChangeAspect="1"/>
          </p:cNvPicPr>
          <p:nvPr/>
        </p:nvPicPr>
        <p:blipFill>
          <a:blip r:embed="rId2"/>
          <a:stretch>
            <a:fillRect/>
          </a:stretch>
        </p:blipFill>
        <p:spPr>
          <a:xfrm>
            <a:off x="1261534" y="1464033"/>
            <a:ext cx="7560733" cy="2253328"/>
          </a:xfrm>
          <a:prstGeom prst="rect">
            <a:avLst/>
          </a:prstGeom>
        </p:spPr>
      </p:pic>
      <p:pic>
        <p:nvPicPr>
          <p:cNvPr id="5" name="Picture 4">
            <a:extLst>
              <a:ext uri="{FF2B5EF4-FFF2-40B4-BE49-F238E27FC236}">
                <a16:creationId xmlns:a16="http://schemas.microsoft.com/office/drawing/2014/main" id="{A25708D6-9011-6152-859D-4BBB21D9E1BF}"/>
              </a:ext>
            </a:extLst>
          </p:cNvPr>
          <p:cNvPicPr>
            <a:picLocks noChangeAspect="1"/>
          </p:cNvPicPr>
          <p:nvPr/>
        </p:nvPicPr>
        <p:blipFill>
          <a:blip r:embed="rId3"/>
          <a:stretch>
            <a:fillRect/>
          </a:stretch>
        </p:blipFill>
        <p:spPr>
          <a:xfrm>
            <a:off x="1576564" y="3402330"/>
            <a:ext cx="6694350" cy="2139955"/>
          </a:xfrm>
          <a:prstGeom prst="rect">
            <a:avLst/>
          </a:prstGeom>
        </p:spPr>
      </p:pic>
    </p:spTree>
    <p:extLst>
      <p:ext uri="{BB962C8B-B14F-4D97-AF65-F5344CB8AC3E}">
        <p14:creationId xmlns:p14="http://schemas.microsoft.com/office/powerpoint/2010/main" val="7116304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CD79F8-93B5-1259-F04E-985BA3CF3291}"/>
              </a:ext>
            </a:extLst>
          </p:cNvPr>
          <p:cNvSpPr txBox="1"/>
          <p:nvPr/>
        </p:nvSpPr>
        <p:spPr>
          <a:xfrm>
            <a:off x="1612900" y="396875"/>
            <a:ext cx="5486400" cy="4770537"/>
          </a:xfrm>
          <a:prstGeom prst="rect">
            <a:avLst/>
          </a:prstGeom>
          <a:noFill/>
        </p:spPr>
        <p:txBody>
          <a:bodyPr wrap="square">
            <a:spAutoFit/>
          </a:bodyPr>
          <a:lstStyle/>
          <a:p>
            <a:r>
              <a:rPr lang="en-US" sz="1600" b="1" dirty="0"/>
              <a:t>Stage 1: </a:t>
            </a:r>
          </a:p>
          <a:p>
            <a:endParaRPr lang="en-US" sz="1600" dirty="0"/>
          </a:p>
          <a:p>
            <a:endParaRPr lang="en-US" sz="1600" dirty="0"/>
          </a:p>
          <a:p>
            <a:r>
              <a:rPr lang="en-US" sz="1600" dirty="0"/>
              <a:t>First convolutional layer, which takes as input the raw image with dimensions (224, 224, 3) and outputs a feature map with dimensions (112, 112, 64). </a:t>
            </a:r>
          </a:p>
          <a:p>
            <a:endParaRPr lang="en-US" sz="1600" dirty="0"/>
          </a:p>
          <a:p>
            <a:r>
              <a:rPr lang="en-US" sz="1600" dirty="0"/>
              <a:t>This layer uses 64 filters, each with a kernel size of (7, 7) and a stride of (2, 2) to </a:t>
            </a:r>
            <a:r>
              <a:rPr lang="en-US" sz="1600" dirty="0" err="1"/>
              <a:t>downsample</a:t>
            </a:r>
            <a:r>
              <a:rPr lang="en-US" sz="1600" dirty="0"/>
              <a:t> the input image by a factor of 2 in both the width and height dimensions. </a:t>
            </a:r>
          </a:p>
          <a:p>
            <a:endParaRPr lang="en-US" sz="1600" dirty="0"/>
          </a:p>
          <a:p>
            <a:r>
              <a:rPr lang="en-US" sz="1600" dirty="0"/>
              <a:t>After the convolutional layer, a batch normalization layer is applied to normalize the activations, followed by a </a:t>
            </a:r>
            <a:r>
              <a:rPr lang="en-US" sz="1600" dirty="0" err="1"/>
              <a:t>ReLU</a:t>
            </a:r>
            <a:r>
              <a:rPr lang="en-US" sz="1600" dirty="0"/>
              <a:t> activation function to introduce nonlinearity. </a:t>
            </a:r>
          </a:p>
          <a:p>
            <a:endParaRPr lang="en-US" sz="1600" dirty="0"/>
          </a:p>
          <a:p>
            <a:endParaRPr lang="en-US" sz="1600" dirty="0"/>
          </a:p>
          <a:p>
            <a:r>
              <a:rPr lang="en-US" sz="1600" dirty="0"/>
              <a:t>Finally, a max pooling layer with a pool size of (3, 3) and a stride of (2, 2) is applied to further </a:t>
            </a:r>
            <a:r>
              <a:rPr lang="en-US" sz="1600" dirty="0" err="1"/>
              <a:t>downsample</a:t>
            </a:r>
            <a:r>
              <a:rPr lang="en-US" sz="1600" dirty="0"/>
              <a:t> the feature map by a factor of 2 in both dimensions.</a:t>
            </a:r>
          </a:p>
        </p:txBody>
      </p:sp>
    </p:spTree>
    <p:extLst>
      <p:ext uri="{BB962C8B-B14F-4D97-AF65-F5344CB8AC3E}">
        <p14:creationId xmlns:p14="http://schemas.microsoft.com/office/powerpoint/2010/main" val="19670526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7CF4D5-265D-97F3-21CD-0D2E1061AC34}"/>
              </a:ext>
            </a:extLst>
          </p:cNvPr>
          <p:cNvSpPr txBox="1"/>
          <p:nvPr/>
        </p:nvSpPr>
        <p:spPr>
          <a:xfrm>
            <a:off x="1003300" y="168275"/>
            <a:ext cx="7086600" cy="550279"/>
          </a:xfrm>
          <a:prstGeom prst="rect">
            <a:avLst/>
          </a:prstGeom>
          <a:noFill/>
        </p:spPr>
        <p:txBody>
          <a:bodyPr wrap="square">
            <a:spAutoFit/>
          </a:bodyPr>
          <a:lstStyle/>
          <a:p>
            <a:r>
              <a:rPr lang="en-US" sz="1488" b="1" dirty="0"/>
              <a:t>This produces a feature map with dimensions (56, 56, 64), which serves as the input to the subsequent convolutional blocks in the ResNet50 architecture.</a:t>
            </a:r>
          </a:p>
        </p:txBody>
      </p:sp>
      <p:pic>
        <p:nvPicPr>
          <p:cNvPr id="4" name="Picture 3">
            <a:extLst>
              <a:ext uri="{FF2B5EF4-FFF2-40B4-BE49-F238E27FC236}">
                <a16:creationId xmlns:a16="http://schemas.microsoft.com/office/drawing/2014/main" id="{607FE696-499B-EDC2-E99F-7C06B4CC0321}"/>
              </a:ext>
            </a:extLst>
          </p:cNvPr>
          <p:cNvPicPr>
            <a:picLocks noChangeAspect="1"/>
          </p:cNvPicPr>
          <p:nvPr/>
        </p:nvPicPr>
        <p:blipFill>
          <a:blip r:embed="rId2"/>
          <a:stretch>
            <a:fillRect/>
          </a:stretch>
        </p:blipFill>
        <p:spPr>
          <a:xfrm>
            <a:off x="1261534" y="1065376"/>
            <a:ext cx="7560733" cy="3539798"/>
          </a:xfrm>
          <a:prstGeom prst="rect">
            <a:avLst/>
          </a:prstGeom>
        </p:spPr>
      </p:pic>
    </p:spTree>
    <p:extLst>
      <p:ext uri="{BB962C8B-B14F-4D97-AF65-F5344CB8AC3E}">
        <p14:creationId xmlns:p14="http://schemas.microsoft.com/office/powerpoint/2010/main" val="24836327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040C05-2A3D-A01F-DFB8-F76BA23D89E9}"/>
              </a:ext>
            </a:extLst>
          </p:cNvPr>
          <p:cNvPicPr>
            <a:picLocks noChangeAspect="1"/>
          </p:cNvPicPr>
          <p:nvPr/>
        </p:nvPicPr>
        <p:blipFill>
          <a:blip r:embed="rId2"/>
          <a:stretch>
            <a:fillRect/>
          </a:stretch>
        </p:blipFill>
        <p:spPr>
          <a:xfrm>
            <a:off x="241300" y="0"/>
            <a:ext cx="4268664" cy="3166057"/>
          </a:xfrm>
          <a:prstGeom prst="rect">
            <a:avLst/>
          </a:prstGeom>
        </p:spPr>
      </p:pic>
      <p:sp>
        <p:nvSpPr>
          <p:cNvPr id="4" name="TextBox 3">
            <a:extLst>
              <a:ext uri="{FF2B5EF4-FFF2-40B4-BE49-F238E27FC236}">
                <a16:creationId xmlns:a16="http://schemas.microsoft.com/office/drawing/2014/main" id="{43FD7D23-5D47-6293-E697-D6B96811A55F}"/>
              </a:ext>
            </a:extLst>
          </p:cNvPr>
          <p:cNvSpPr txBox="1"/>
          <p:nvPr/>
        </p:nvSpPr>
        <p:spPr>
          <a:xfrm>
            <a:off x="4051300" y="117037"/>
            <a:ext cx="6248400" cy="3539430"/>
          </a:xfrm>
          <a:prstGeom prst="rect">
            <a:avLst/>
          </a:prstGeom>
          <a:solidFill>
            <a:schemeClr val="bg1"/>
          </a:solidFill>
        </p:spPr>
        <p:txBody>
          <a:bodyPr wrap="square">
            <a:spAutoFit/>
          </a:bodyPr>
          <a:lstStyle/>
          <a:p>
            <a:r>
              <a:rPr lang="en-US" sz="1600" b="1" dirty="0"/>
              <a:t>Stage 2:</a:t>
            </a:r>
            <a:r>
              <a:rPr lang="en-US" sz="1600" dirty="0"/>
              <a:t> </a:t>
            </a:r>
          </a:p>
          <a:p>
            <a:r>
              <a:rPr lang="en-US" sz="1600" dirty="0"/>
              <a:t>The output of the first stage is forwarded to the first layer of convolution with 64 kernel filters and a size of 1*1 o/p of this feed to 3*3 convolution size with the same 64 kernel filters, o/p this feed to conv. 1*1 with 256 kernel filters. </a:t>
            </a:r>
          </a:p>
          <a:p>
            <a:r>
              <a:rPr lang="en-US" sz="1600" dirty="0"/>
              <a:t>Skip connection/ residual connection: the input(output from the max pool at stage 1) is passed with size of image 56*56 to </a:t>
            </a:r>
            <a:r>
              <a:rPr lang="en-US" sz="1600" dirty="0" err="1"/>
              <a:t>relu</a:t>
            </a:r>
            <a:r>
              <a:rPr lang="en-US" sz="1600" dirty="0"/>
              <a:t> activation before the next convolution layers.</a:t>
            </a:r>
          </a:p>
          <a:p>
            <a:endParaRPr lang="en-US" sz="1600" dirty="0"/>
          </a:p>
          <a:p>
            <a:r>
              <a:rPr lang="en-US" sz="1600" dirty="0"/>
              <a:t>In this uses 9 Layers of convolutional layer followed by batch normalization and </a:t>
            </a:r>
            <a:r>
              <a:rPr lang="en-US" sz="1600" dirty="0" err="1"/>
              <a:t>relu</a:t>
            </a:r>
            <a:r>
              <a:rPr lang="en-US" sz="1600" dirty="0"/>
              <a:t> activation.</a:t>
            </a:r>
          </a:p>
          <a:p>
            <a:endParaRPr lang="en-US" sz="1600" dirty="0"/>
          </a:p>
          <a:p>
            <a:r>
              <a:rPr lang="en-US" sz="1600" dirty="0"/>
              <a:t>The identity block(connecting blue color lines from one to another block of convolutions). </a:t>
            </a:r>
          </a:p>
        </p:txBody>
      </p:sp>
      <p:pic>
        <p:nvPicPr>
          <p:cNvPr id="5" name="Picture 4">
            <a:extLst>
              <a:ext uri="{FF2B5EF4-FFF2-40B4-BE49-F238E27FC236}">
                <a16:creationId xmlns:a16="http://schemas.microsoft.com/office/drawing/2014/main" id="{074A1AB4-F32A-3C85-2D3F-17413DE2BE85}"/>
              </a:ext>
            </a:extLst>
          </p:cNvPr>
          <p:cNvPicPr>
            <a:picLocks noChangeAspect="1"/>
          </p:cNvPicPr>
          <p:nvPr/>
        </p:nvPicPr>
        <p:blipFill>
          <a:blip r:embed="rId3"/>
          <a:stretch>
            <a:fillRect/>
          </a:stretch>
        </p:blipFill>
        <p:spPr>
          <a:xfrm>
            <a:off x="1261534" y="3682078"/>
            <a:ext cx="7560733" cy="3598908"/>
          </a:xfrm>
          <a:prstGeom prst="rect">
            <a:avLst/>
          </a:prstGeom>
        </p:spPr>
      </p:pic>
    </p:spTree>
    <p:extLst>
      <p:ext uri="{BB962C8B-B14F-4D97-AF65-F5344CB8AC3E}">
        <p14:creationId xmlns:p14="http://schemas.microsoft.com/office/powerpoint/2010/main" val="9296258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BDE208-4959-FF3C-E134-0E1717FCC202}"/>
              </a:ext>
            </a:extLst>
          </p:cNvPr>
          <p:cNvPicPr>
            <a:picLocks noChangeAspect="1"/>
          </p:cNvPicPr>
          <p:nvPr/>
        </p:nvPicPr>
        <p:blipFill>
          <a:blip r:embed="rId2"/>
          <a:stretch>
            <a:fillRect/>
          </a:stretch>
        </p:blipFill>
        <p:spPr>
          <a:xfrm>
            <a:off x="317500" y="396875"/>
            <a:ext cx="3772491" cy="2961287"/>
          </a:xfrm>
          <a:prstGeom prst="rect">
            <a:avLst/>
          </a:prstGeom>
        </p:spPr>
      </p:pic>
      <p:sp>
        <p:nvSpPr>
          <p:cNvPr id="4" name="TextBox 3">
            <a:extLst>
              <a:ext uri="{FF2B5EF4-FFF2-40B4-BE49-F238E27FC236}">
                <a16:creationId xmlns:a16="http://schemas.microsoft.com/office/drawing/2014/main" id="{2CDCA30E-4E3B-E97B-8C2B-E8D77C2DDEAE}"/>
              </a:ext>
            </a:extLst>
          </p:cNvPr>
          <p:cNvSpPr txBox="1"/>
          <p:nvPr/>
        </p:nvSpPr>
        <p:spPr>
          <a:xfrm>
            <a:off x="4089991" y="-23567"/>
            <a:ext cx="5928333" cy="3293209"/>
          </a:xfrm>
          <a:prstGeom prst="rect">
            <a:avLst/>
          </a:prstGeom>
          <a:solidFill>
            <a:schemeClr val="bg1"/>
          </a:solidFill>
        </p:spPr>
        <p:txBody>
          <a:bodyPr wrap="square">
            <a:spAutoFit/>
          </a:bodyPr>
          <a:lstStyle/>
          <a:p>
            <a:r>
              <a:rPr lang="en-US" sz="1600" b="1" dirty="0"/>
              <a:t>Stage 3: </a:t>
            </a:r>
          </a:p>
          <a:p>
            <a:r>
              <a:rPr lang="en-US" sz="1600" dirty="0"/>
              <a:t>In this, 12 layers of convolutional layer followed by batch normalization and </a:t>
            </a:r>
            <a:r>
              <a:rPr lang="en-US" sz="1600" dirty="0" err="1"/>
              <a:t>relu</a:t>
            </a:r>
            <a:r>
              <a:rPr lang="en-US" sz="1600" dirty="0"/>
              <a:t> activation are used.</a:t>
            </a:r>
          </a:p>
          <a:p>
            <a:r>
              <a:rPr lang="en-US" sz="1600" dirty="0"/>
              <a:t> Here Projection block used as the dimension of input and output is not the same, bypassing the first three layers convolutional layer, in the first layer convoluting with the size of kernel 1*1 with 128 filters (stride=2)to </a:t>
            </a:r>
            <a:r>
              <a:rPr lang="en-US" sz="1600" dirty="0" err="1"/>
              <a:t>downsample</a:t>
            </a:r>
            <a:r>
              <a:rPr lang="en-US" sz="1600" dirty="0"/>
              <a:t> the input and to change the depth of the input to match the output followed by convolution of 3*3, with, a same number of filters and conv. </a:t>
            </a:r>
          </a:p>
          <a:p>
            <a:r>
              <a:rPr lang="en-US" sz="1600" dirty="0"/>
              <a:t>1*1, kernel filters=512. Further use 9 layers of convolution with 1*1, filters=128=&gt;3*3, filters=128 =&gt;1*1, filters=512. </a:t>
            </a:r>
            <a:r>
              <a:rPr lang="en-US" sz="1600" b="1" dirty="0"/>
              <a:t>The output of these 12th layers with size of image 28*28 forwards to </a:t>
            </a:r>
            <a:r>
              <a:rPr lang="en-US" sz="1600" b="1" dirty="0" err="1"/>
              <a:t>relu</a:t>
            </a:r>
            <a:r>
              <a:rPr lang="en-US" sz="1600" b="1" dirty="0"/>
              <a:t> activation before stage </a:t>
            </a:r>
            <a:r>
              <a:rPr lang="en-US" sz="1488" b="1" dirty="0"/>
              <a:t>4.</a:t>
            </a:r>
          </a:p>
        </p:txBody>
      </p:sp>
      <p:pic>
        <p:nvPicPr>
          <p:cNvPr id="5" name="Picture 4">
            <a:extLst>
              <a:ext uri="{FF2B5EF4-FFF2-40B4-BE49-F238E27FC236}">
                <a16:creationId xmlns:a16="http://schemas.microsoft.com/office/drawing/2014/main" id="{C4557313-82AE-C041-2D4C-FE9788AC1512}"/>
              </a:ext>
            </a:extLst>
          </p:cNvPr>
          <p:cNvPicPr>
            <a:picLocks noChangeAspect="1"/>
          </p:cNvPicPr>
          <p:nvPr/>
        </p:nvPicPr>
        <p:blipFill>
          <a:blip r:embed="rId3"/>
          <a:stretch>
            <a:fillRect/>
          </a:stretch>
        </p:blipFill>
        <p:spPr>
          <a:xfrm>
            <a:off x="1387546" y="3150306"/>
            <a:ext cx="7560733" cy="2363989"/>
          </a:xfrm>
          <a:prstGeom prst="rect">
            <a:avLst/>
          </a:prstGeom>
        </p:spPr>
      </p:pic>
    </p:spTree>
    <p:extLst>
      <p:ext uri="{BB962C8B-B14F-4D97-AF65-F5344CB8AC3E}">
        <p14:creationId xmlns:p14="http://schemas.microsoft.com/office/powerpoint/2010/main" val="36798719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70C15E7-135C-BC03-FA64-945EFEDADC26}"/>
              </a:ext>
            </a:extLst>
          </p:cNvPr>
          <p:cNvPicPr>
            <a:picLocks noChangeAspect="1"/>
          </p:cNvPicPr>
          <p:nvPr/>
        </p:nvPicPr>
        <p:blipFill>
          <a:blip r:embed="rId2"/>
          <a:stretch>
            <a:fillRect/>
          </a:stretch>
        </p:blipFill>
        <p:spPr>
          <a:xfrm>
            <a:off x="946503" y="-189018"/>
            <a:ext cx="5189085" cy="2552946"/>
          </a:xfrm>
          <a:prstGeom prst="rect">
            <a:avLst/>
          </a:prstGeom>
        </p:spPr>
      </p:pic>
      <p:sp>
        <p:nvSpPr>
          <p:cNvPr id="4" name="TextBox 3">
            <a:extLst>
              <a:ext uri="{FF2B5EF4-FFF2-40B4-BE49-F238E27FC236}">
                <a16:creationId xmlns:a16="http://schemas.microsoft.com/office/drawing/2014/main" id="{B5EB5724-16C9-FEBB-05BB-EB779001FE7D}"/>
              </a:ext>
            </a:extLst>
          </p:cNvPr>
          <p:cNvSpPr txBox="1"/>
          <p:nvPr/>
        </p:nvSpPr>
        <p:spPr>
          <a:xfrm>
            <a:off x="1689100" y="2457239"/>
            <a:ext cx="6400800" cy="2800767"/>
          </a:xfrm>
          <a:prstGeom prst="rect">
            <a:avLst/>
          </a:prstGeom>
          <a:noFill/>
        </p:spPr>
        <p:txBody>
          <a:bodyPr wrap="square">
            <a:spAutoFit/>
          </a:bodyPr>
          <a:lstStyle/>
          <a:p>
            <a:r>
              <a:rPr lang="en-US" sz="1600" b="1" dirty="0"/>
              <a:t>Stage4:</a:t>
            </a:r>
          </a:p>
          <a:p>
            <a:r>
              <a:rPr lang="en-US" sz="1600" b="1" dirty="0"/>
              <a:t> </a:t>
            </a:r>
            <a:r>
              <a:rPr lang="en-US" sz="1600" dirty="0"/>
              <a:t>In this stage uses 18 layers of convolution each followed by batch normalization and </a:t>
            </a:r>
            <a:r>
              <a:rPr lang="en-US" sz="1600" dirty="0" err="1"/>
              <a:t>relu</a:t>
            </a:r>
            <a:r>
              <a:rPr lang="en-US" sz="1600" dirty="0"/>
              <a:t> activation function. </a:t>
            </a:r>
          </a:p>
          <a:p>
            <a:endParaRPr lang="en-US" sz="1600" dirty="0"/>
          </a:p>
          <a:p>
            <a:r>
              <a:rPr lang="en-US" sz="1600" dirty="0"/>
              <a:t>Output from </a:t>
            </a:r>
            <a:r>
              <a:rPr lang="en-US" sz="1600" dirty="0" err="1"/>
              <a:t>relu</a:t>
            </a:r>
            <a:r>
              <a:rPr lang="en-US" sz="1600" dirty="0"/>
              <a:t> activation has been forwarded to the first layer of the fourth stage where the dimension of image size is different </a:t>
            </a:r>
            <a:r>
              <a:rPr lang="en-US" sz="1600" b="1" dirty="0"/>
              <a:t>so use projection block here in which input is forwarded to the convolution block to match the size of </a:t>
            </a:r>
            <a:r>
              <a:rPr lang="en-US" sz="1600" b="1" dirty="0" err="1"/>
              <a:t>i</a:t>
            </a:r>
            <a:r>
              <a:rPr lang="en-US" sz="1600" b="1" dirty="0"/>
              <a:t>/p with o/p at the second conv. block. </a:t>
            </a:r>
          </a:p>
          <a:p>
            <a:endParaRPr lang="en-US" sz="1600" dirty="0"/>
          </a:p>
          <a:p>
            <a:r>
              <a:rPr lang="en-US" sz="1600" dirty="0"/>
              <a:t>The rest of the process remains the same as like previous stage convoluting layer by layer to understand more deep features of the image.</a:t>
            </a:r>
          </a:p>
        </p:txBody>
      </p:sp>
    </p:spTree>
    <p:extLst>
      <p:ext uri="{BB962C8B-B14F-4D97-AF65-F5344CB8AC3E}">
        <p14:creationId xmlns:p14="http://schemas.microsoft.com/office/powerpoint/2010/main" val="6466147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5EC3D1-CA0D-851C-E394-2D5212A4277C}"/>
              </a:ext>
            </a:extLst>
          </p:cNvPr>
          <p:cNvPicPr>
            <a:picLocks noChangeAspect="1"/>
          </p:cNvPicPr>
          <p:nvPr/>
        </p:nvPicPr>
        <p:blipFill>
          <a:blip r:embed="rId2"/>
          <a:stretch>
            <a:fillRect/>
          </a:stretch>
        </p:blipFill>
        <p:spPr>
          <a:xfrm>
            <a:off x="-37259" y="-212725"/>
            <a:ext cx="4993234" cy="3205436"/>
          </a:xfrm>
          <a:prstGeom prst="rect">
            <a:avLst/>
          </a:prstGeom>
        </p:spPr>
      </p:pic>
      <p:sp>
        <p:nvSpPr>
          <p:cNvPr id="4" name="TextBox 3">
            <a:extLst>
              <a:ext uri="{FF2B5EF4-FFF2-40B4-BE49-F238E27FC236}">
                <a16:creationId xmlns:a16="http://schemas.microsoft.com/office/drawing/2014/main" id="{B932333A-6034-5253-8390-FBB7E3651D70}"/>
              </a:ext>
            </a:extLst>
          </p:cNvPr>
          <p:cNvSpPr txBox="1"/>
          <p:nvPr/>
        </p:nvSpPr>
        <p:spPr>
          <a:xfrm>
            <a:off x="4915888" y="473075"/>
            <a:ext cx="4850412" cy="4260846"/>
          </a:xfrm>
          <a:prstGeom prst="rect">
            <a:avLst/>
          </a:prstGeom>
          <a:noFill/>
        </p:spPr>
        <p:txBody>
          <a:bodyPr wrap="square">
            <a:spAutoFit/>
          </a:bodyPr>
          <a:lstStyle/>
          <a:p>
            <a:r>
              <a:rPr lang="en-US" sz="1600" b="1" dirty="0"/>
              <a:t>Stage 5: </a:t>
            </a:r>
          </a:p>
          <a:p>
            <a:endParaRPr lang="en-US" sz="1600" b="1" dirty="0"/>
          </a:p>
          <a:p>
            <a:r>
              <a:rPr lang="en-US" sz="1600" dirty="0"/>
              <a:t>In this stage uses 9 layers of convolution each followed by batch normalization and </a:t>
            </a:r>
            <a:r>
              <a:rPr lang="en-US" sz="1600" dirty="0" err="1"/>
              <a:t>relu</a:t>
            </a:r>
            <a:r>
              <a:rPr lang="en-US" sz="1600" dirty="0"/>
              <a:t> activation function.</a:t>
            </a:r>
          </a:p>
          <a:p>
            <a:endParaRPr lang="en-US" sz="1600" dirty="0"/>
          </a:p>
          <a:p>
            <a:r>
              <a:rPr lang="en-US" sz="1600" dirty="0"/>
              <a:t> Output from </a:t>
            </a:r>
            <a:r>
              <a:rPr lang="en-US" sz="1600" dirty="0" err="1"/>
              <a:t>relu</a:t>
            </a:r>
            <a:r>
              <a:rPr lang="en-US" sz="1600" dirty="0"/>
              <a:t> activation has been forwarded to with size of image 14*14 the first layer of the 5th stage where the dimension of image size is different so use projection block here in which input is forwarded to the convolution block to match the size of </a:t>
            </a:r>
            <a:r>
              <a:rPr lang="en-US" sz="1600" dirty="0" err="1"/>
              <a:t>i</a:t>
            </a:r>
            <a:r>
              <a:rPr lang="en-US" sz="1600" dirty="0"/>
              <a:t>/p with o/p at the second conv. block. </a:t>
            </a:r>
          </a:p>
          <a:p>
            <a:endParaRPr lang="en-US" sz="1600" dirty="0"/>
          </a:p>
          <a:p>
            <a:r>
              <a:rPr lang="en-US" sz="1600" dirty="0"/>
              <a:t>The very first layer of the first convolutional block reducing the size of the image using 512 kernel filters with size of 1*1(stride=2) followed by conv 3*3 with 512 filters and conv. 1*1 with 2048 filters.</a:t>
            </a:r>
          </a:p>
          <a:p>
            <a:endParaRPr lang="en-US" sz="1488" dirty="0"/>
          </a:p>
        </p:txBody>
      </p:sp>
    </p:spTree>
    <p:extLst>
      <p:ext uri="{BB962C8B-B14F-4D97-AF65-F5344CB8AC3E}">
        <p14:creationId xmlns:p14="http://schemas.microsoft.com/office/powerpoint/2010/main" val="2848838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3479DA4-C4A6-DEFB-B7BD-D10645795AAD}"/>
              </a:ext>
            </a:extLst>
          </p:cNvPr>
          <p:cNvPicPr>
            <a:picLocks noChangeAspect="1"/>
          </p:cNvPicPr>
          <p:nvPr/>
        </p:nvPicPr>
        <p:blipFill>
          <a:blip r:embed="rId2"/>
          <a:stretch>
            <a:fillRect/>
          </a:stretch>
        </p:blipFill>
        <p:spPr>
          <a:xfrm>
            <a:off x="2206624" y="701675"/>
            <a:ext cx="4428467" cy="1724060"/>
          </a:xfrm>
          <a:prstGeom prst="rect">
            <a:avLst/>
          </a:prstGeom>
        </p:spPr>
      </p:pic>
      <p:sp>
        <p:nvSpPr>
          <p:cNvPr id="4" name="TextBox 3">
            <a:extLst>
              <a:ext uri="{FF2B5EF4-FFF2-40B4-BE49-F238E27FC236}">
                <a16:creationId xmlns:a16="http://schemas.microsoft.com/office/drawing/2014/main" id="{A1A89F73-2876-86D0-9741-84EDF847D012}"/>
              </a:ext>
            </a:extLst>
          </p:cNvPr>
          <p:cNvSpPr txBox="1"/>
          <p:nvPr/>
        </p:nvSpPr>
        <p:spPr>
          <a:xfrm>
            <a:off x="1155700" y="2824333"/>
            <a:ext cx="7010400" cy="1815882"/>
          </a:xfrm>
          <a:prstGeom prst="rect">
            <a:avLst/>
          </a:prstGeom>
          <a:noFill/>
        </p:spPr>
        <p:txBody>
          <a:bodyPr wrap="square">
            <a:spAutoFit/>
          </a:bodyPr>
          <a:lstStyle/>
          <a:p>
            <a:r>
              <a:rPr lang="en-US" sz="1600" b="1" dirty="0"/>
              <a:t>Finally, the output of the last </a:t>
            </a:r>
            <a:r>
              <a:rPr lang="en-US" sz="1600" b="1" dirty="0" err="1"/>
              <a:t>relu</a:t>
            </a:r>
            <a:r>
              <a:rPr lang="en-US" sz="1600" b="1" dirty="0"/>
              <a:t> activation unit at the fifth stage will be passed on to Average Pooling which reduces the spatial dimensions of the output tensor to a vector b</a:t>
            </a:r>
            <a:r>
              <a:rPr lang="en-US" sz="1600" dirty="0"/>
              <a:t>y applying global average pooling with stride size=2. </a:t>
            </a:r>
          </a:p>
          <a:p>
            <a:endParaRPr lang="en-US" sz="1600" dirty="0"/>
          </a:p>
          <a:p>
            <a:r>
              <a:rPr lang="en-US" sz="1600" dirty="0"/>
              <a:t>This operation computes the average of each feature map, resulting in a feature vector with the same number of channels as the number of filters in the last convolutional layer.</a:t>
            </a:r>
          </a:p>
        </p:txBody>
      </p:sp>
    </p:spTree>
    <p:extLst>
      <p:ext uri="{BB962C8B-B14F-4D97-AF65-F5344CB8AC3E}">
        <p14:creationId xmlns:p14="http://schemas.microsoft.com/office/powerpoint/2010/main" val="6261348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582D8E-0A4C-D597-599C-8FC8D8799135}"/>
              </a:ext>
            </a:extLst>
          </p:cNvPr>
          <p:cNvSpPr txBox="1"/>
          <p:nvPr/>
        </p:nvSpPr>
        <p:spPr>
          <a:xfrm>
            <a:off x="2269631" y="315031"/>
            <a:ext cx="3780367" cy="321306"/>
          </a:xfrm>
          <a:prstGeom prst="rect">
            <a:avLst/>
          </a:prstGeom>
          <a:noFill/>
        </p:spPr>
        <p:txBody>
          <a:bodyPr wrap="square">
            <a:spAutoFit/>
          </a:bodyPr>
          <a:lstStyle/>
          <a:p>
            <a:r>
              <a:rPr lang="en-US" sz="1488" dirty="0"/>
              <a:t>Defining convolutional block function</a:t>
            </a:r>
          </a:p>
        </p:txBody>
      </p:sp>
      <p:sp>
        <p:nvSpPr>
          <p:cNvPr id="5" name="TextBox 4">
            <a:extLst>
              <a:ext uri="{FF2B5EF4-FFF2-40B4-BE49-F238E27FC236}">
                <a16:creationId xmlns:a16="http://schemas.microsoft.com/office/drawing/2014/main" id="{5C458DF2-0070-0130-C0E0-C01776E6E7D5}"/>
              </a:ext>
            </a:extLst>
          </p:cNvPr>
          <p:cNvSpPr txBox="1"/>
          <p:nvPr/>
        </p:nvSpPr>
        <p:spPr>
          <a:xfrm>
            <a:off x="1261533" y="1134110"/>
            <a:ext cx="8314402" cy="2128147"/>
          </a:xfrm>
          <a:prstGeom prst="rect">
            <a:avLst/>
          </a:prstGeom>
          <a:noFill/>
        </p:spPr>
        <p:txBody>
          <a:bodyPr wrap="square">
            <a:spAutoFit/>
          </a:bodyPr>
          <a:lstStyle/>
          <a:p>
            <a:r>
              <a:rPr lang="en-US" sz="1323" dirty="0">
                <a:latin typeface="Courier New" panose="02070309020205020404" pitchFamily="49" charset="0"/>
                <a:cs typeface="Courier New" panose="02070309020205020404" pitchFamily="49" charset="0"/>
              </a:rPr>
              <a:t>from </a:t>
            </a:r>
            <a:r>
              <a:rPr lang="en-US" sz="1323" dirty="0" err="1">
                <a:latin typeface="Courier New" panose="02070309020205020404" pitchFamily="49" charset="0"/>
                <a:cs typeface="Courier New" panose="02070309020205020404" pitchFamily="49" charset="0"/>
              </a:rPr>
              <a:t>tensorflow.keras.layers</a:t>
            </a:r>
            <a:r>
              <a:rPr lang="en-US" sz="1323" dirty="0">
                <a:latin typeface="Courier New" panose="02070309020205020404" pitchFamily="49" charset="0"/>
                <a:cs typeface="Courier New" panose="02070309020205020404" pitchFamily="49" charset="0"/>
              </a:rPr>
              <a:t> import Input, Conv2D, </a:t>
            </a:r>
            <a:r>
              <a:rPr lang="en-US" sz="1323" dirty="0" err="1">
                <a:latin typeface="Courier New" panose="02070309020205020404" pitchFamily="49" charset="0"/>
                <a:cs typeface="Courier New" panose="02070309020205020404" pitchFamily="49" charset="0"/>
              </a:rPr>
              <a:t>BatchNormalization</a:t>
            </a:r>
            <a:r>
              <a:rPr lang="en-US" sz="1323" dirty="0">
                <a:latin typeface="Courier New" panose="02070309020205020404" pitchFamily="49" charset="0"/>
                <a:cs typeface="Courier New" panose="02070309020205020404" pitchFamily="49" charset="0"/>
              </a:rPr>
              <a:t>, Activation, MaxPooling2D, Dense, GlobalAveragePooling2D, Add</a:t>
            </a:r>
          </a:p>
          <a:p>
            <a:r>
              <a:rPr lang="en-US" sz="1323" dirty="0">
                <a:latin typeface="Courier New" panose="02070309020205020404" pitchFamily="49" charset="0"/>
                <a:cs typeface="Courier New" panose="02070309020205020404" pitchFamily="49" charset="0"/>
              </a:rPr>
              <a:t>from </a:t>
            </a:r>
            <a:r>
              <a:rPr lang="en-US" sz="1323" dirty="0" err="1">
                <a:latin typeface="Courier New" panose="02070309020205020404" pitchFamily="49" charset="0"/>
                <a:cs typeface="Courier New" panose="02070309020205020404" pitchFamily="49" charset="0"/>
              </a:rPr>
              <a:t>tensorflow.keras</a:t>
            </a:r>
            <a:r>
              <a:rPr lang="en-US" sz="1323" dirty="0">
                <a:latin typeface="Courier New" panose="02070309020205020404" pitchFamily="49" charset="0"/>
                <a:cs typeface="Courier New" panose="02070309020205020404" pitchFamily="49" charset="0"/>
              </a:rPr>
              <a:t> import Model</a:t>
            </a:r>
          </a:p>
          <a:p>
            <a:endParaRPr lang="en-US" sz="1323" dirty="0">
              <a:latin typeface="Courier New" panose="02070309020205020404" pitchFamily="49" charset="0"/>
              <a:cs typeface="Courier New" panose="02070309020205020404" pitchFamily="49" charset="0"/>
            </a:endParaRPr>
          </a:p>
          <a:p>
            <a:r>
              <a:rPr lang="en-US" sz="1323" dirty="0">
                <a:latin typeface="Courier New" panose="02070309020205020404" pitchFamily="49" charset="0"/>
                <a:cs typeface="Courier New" panose="02070309020205020404" pitchFamily="49" charset="0"/>
              </a:rPr>
              <a:t>def </a:t>
            </a:r>
            <a:r>
              <a:rPr lang="en-US" sz="1323" dirty="0" err="1">
                <a:latin typeface="Courier New" panose="02070309020205020404" pitchFamily="49" charset="0"/>
                <a:cs typeface="Courier New" panose="02070309020205020404" pitchFamily="49" charset="0"/>
              </a:rPr>
              <a:t>conv_block</a:t>
            </a:r>
            <a:r>
              <a:rPr lang="en-US" sz="1323" dirty="0">
                <a:latin typeface="Courier New" panose="02070309020205020404" pitchFamily="49" charset="0"/>
                <a:cs typeface="Courier New" panose="02070309020205020404" pitchFamily="49" charset="0"/>
              </a:rPr>
              <a:t>(x, filters, </a:t>
            </a:r>
            <a:r>
              <a:rPr lang="en-US" sz="1323" dirty="0" err="1">
                <a:latin typeface="Courier New" panose="02070309020205020404" pitchFamily="49" charset="0"/>
                <a:cs typeface="Courier New" panose="02070309020205020404" pitchFamily="49" charset="0"/>
              </a:rPr>
              <a:t>kernel_size</a:t>
            </a:r>
            <a:r>
              <a:rPr lang="en-US" sz="1323" dirty="0">
                <a:latin typeface="Courier New" panose="02070309020205020404" pitchFamily="49" charset="0"/>
                <a:cs typeface="Courier New" panose="02070309020205020404" pitchFamily="49" charset="0"/>
              </a:rPr>
              <a:t>, strides, padding='same'):</a:t>
            </a:r>
          </a:p>
          <a:p>
            <a:r>
              <a:rPr lang="en-US" sz="1323" dirty="0">
                <a:latin typeface="Courier New" panose="02070309020205020404" pitchFamily="49" charset="0"/>
                <a:cs typeface="Courier New" panose="02070309020205020404" pitchFamily="49" charset="0"/>
              </a:rPr>
              <a:t>    x = Conv2D(filters=filters, </a:t>
            </a:r>
            <a:r>
              <a:rPr lang="en-US" sz="1323" dirty="0" err="1">
                <a:latin typeface="Courier New" panose="02070309020205020404" pitchFamily="49" charset="0"/>
                <a:cs typeface="Courier New" panose="02070309020205020404" pitchFamily="49" charset="0"/>
              </a:rPr>
              <a:t>kernel_size</a:t>
            </a:r>
            <a:r>
              <a:rPr lang="en-US" sz="1323" dirty="0">
                <a:latin typeface="Courier New" panose="02070309020205020404" pitchFamily="49" charset="0"/>
                <a:cs typeface="Courier New" panose="02070309020205020404" pitchFamily="49" charset="0"/>
              </a:rPr>
              <a:t>=</a:t>
            </a:r>
            <a:r>
              <a:rPr lang="en-US" sz="1323" dirty="0" err="1">
                <a:latin typeface="Courier New" panose="02070309020205020404" pitchFamily="49" charset="0"/>
                <a:cs typeface="Courier New" panose="02070309020205020404" pitchFamily="49" charset="0"/>
              </a:rPr>
              <a:t>kernel_size</a:t>
            </a:r>
            <a:r>
              <a:rPr lang="en-US" sz="1323" dirty="0">
                <a:latin typeface="Courier New" panose="02070309020205020404" pitchFamily="49" charset="0"/>
                <a:cs typeface="Courier New" panose="02070309020205020404" pitchFamily="49" charset="0"/>
              </a:rPr>
              <a:t>, strides=strides,   padding=padding)(x)</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BatchNormalization</a:t>
            </a:r>
            <a:r>
              <a:rPr lang="en-US" sz="1323" dirty="0">
                <a:latin typeface="Courier New" panose="02070309020205020404" pitchFamily="49" charset="0"/>
                <a:cs typeface="Courier New" panose="02070309020205020404" pitchFamily="49" charset="0"/>
              </a:rPr>
              <a:t>()(x)</a:t>
            </a:r>
          </a:p>
          <a:p>
            <a:r>
              <a:rPr lang="en-US" sz="1323" dirty="0">
                <a:latin typeface="Courier New" panose="02070309020205020404" pitchFamily="49" charset="0"/>
                <a:cs typeface="Courier New" panose="02070309020205020404" pitchFamily="49" charset="0"/>
              </a:rPr>
              <a:t>    x = Activation('</a:t>
            </a:r>
            <a:r>
              <a:rPr lang="en-US" sz="1323" dirty="0" err="1">
                <a:latin typeface="Courier New" panose="02070309020205020404" pitchFamily="49" charset="0"/>
                <a:cs typeface="Courier New" panose="02070309020205020404" pitchFamily="49" charset="0"/>
              </a:rPr>
              <a:t>relu</a:t>
            </a:r>
            <a:r>
              <a:rPr lang="en-US" sz="1323" dirty="0">
                <a:latin typeface="Courier New" panose="02070309020205020404" pitchFamily="49" charset="0"/>
                <a:cs typeface="Courier New" panose="02070309020205020404" pitchFamily="49" charset="0"/>
              </a:rPr>
              <a:t>')(x)</a:t>
            </a:r>
          </a:p>
          <a:p>
            <a:r>
              <a:rPr lang="en-US" sz="1323" dirty="0">
                <a:latin typeface="Courier New" panose="02070309020205020404" pitchFamily="49" charset="0"/>
                <a:cs typeface="Courier New" panose="02070309020205020404" pitchFamily="49" charset="0"/>
              </a:rPr>
              <a:t>    return x</a:t>
            </a:r>
          </a:p>
        </p:txBody>
      </p:sp>
    </p:spTree>
    <p:extLst>
      <p:ext uri="{BB962C8B-B14F-4D97-AF65-F5344CB8AC3E}">
        <p14:creationId xmlns:p14="http://schemas.microsoft.com/office/powerpoint/2010/main" val="7920505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D94869-9971-16D9-C665-0B1D391AB60B}"/>
              </a:ext>
            </a:extLst>
          </p:cNvPr>
          <p:cNvSpPr txBox="1"/>
          <p:nvPr/>
        </p:nvSpPr>
        <p:spPr>
          <a:xfrm>
            <a:off x="1225264" y="168275"/>
            <a:ext cx="3780367" cy="321306"/>
          </a:xfrm>
          <a:prstGeom prst="rect">
            <a:avLst/>
          </a:prstGeom>
          <a:noFill/>
        </p:spPr>
        <p:txBody>
          <a:bodyPr wrap="square">
            <a:spAutoFit/>
          </a:bodyPr>
          <a:lstStyle/>
          <a:p>
            <a:r>
              <a:rPr lang="en-US" sz="1488" dirty="0">
                <a:solidFill>
                  <a:srgbClr val="FF0000"/>
                </a:solidFill>
              </a:rPr>
              <a:t>Identity block and Projection block function:</a:t>
            </a:r>
          </a:p>
        </p:txBody>
      </p:sp>
      <p:sp>
        <p:nvSpPr>
          <p:cNvPr id="5" name="TextBox 4">
            <a:extLst>
              <a:ext uri="{FF2B5EF4-FFF2-40B4-BE49-F238E27FC236}">
                <a16:creationId xmlns:a16="http://schemas.microsoft.com/office/drawing/2014/main" id="{7CA575EC-73D9-1AA0-F568-7C37D7BABE05}"/>
              </a:ext>
            </a:extLst>
          </p:cNvPr>
          <p:cNvSpPr txBox="1"/>
          <p:nvPr/>
        </p:nvSpPr>
        <p:spPr>
          <a:xfrm>
            <a:off x="1198527" y="368389"/>
            <a:ext cx="9041618" cy="4774705"/>
          </a:xfrm>
          <a:prstGeom prst="rect">
            <a:avLst/>
          </a:prstGeom>
          <a:noFill/>
        </p:spPr>
        <p:txBody>
          <a:bodyPr wrap="square">
            <a:spAutoFit/>
          </a:bodyPr>
          <a:lstStyle/>
          <a:p>
            <a:r>
              <a:rPr lang="en-US" sz="1323" dirty="0">
                <a:latin typeface="Courier New" panose="02070309020205020404" pitchFamily="49" charset="0"/>
                <a:cs typeface="Courier New" panose="02070309020205020404" pitchFamily="49" charset="0"/>
              </a:rPr>
              <a:t>def </a:t>
            </a:r>
            <a:r>
              <a:rPr lang="en-US" sz="1323" dirty="0" err="1">
                <a:latin typeface="Courier New" panose="02070309020205020404" pitchFamily="49" charset="0"/>
                <a:cs typeface="Courier New" panose="02070309020205020404" pitchFamily="49" charset="0"/>
              </a:rPr>
              <a:t>identity_block</a:t>
            </a:r>
            <a:r>
              <a:rPr lang="en-US" sz="1323" dirty="0">
                <a:latin typeface="Courier New" panose="02070309020205020404" pitchFamily="49" charset="0"/>
                <a:cs typeface="Courier New" panose="02070309020205020404" pitchFamily="49" charset="0"/>
              </a:rPr>
              <a:t>(x, filters):</a:t>
            </a:r>
          </a:p>
          <a:p>
            <a:r>
              <a:rPr lang="en-US" sz="1323" dirty="0">
                <a:latin typeface="Courier New" panose="02070309020205020404" pitchFamily="49" charset="0"/>
                <a:cs typeface="Courier New" panose="02070309020205020404" pitchFamily="49" charset="0"/>
              </a:rPr>
              <a:t>    shortcut = x</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conv_block</a:t>
            </a:r>
            <a:r>
              <a:rPr lang="en-US" sz="1323" dirty="0">
                <a:latin typeface="Courier New" panose="02070309020205020404" pitchFamily="49" charset="0"/>
                <a:cs typeface="Courier New" panose="02070309020205020404" pitchFamily="49" charset="0"/>
              </a:rPr>
              <a:t>(x, filters=filters, </a:t>
            </a:r>
            <a:r>
              <a:rPr lang="en-US" sz="1323" dirty="0" err="1">
                <a:latin typeface="Courier New" panose="02070309020205020404" pitchFamily="49" charset="0"/>
                <a:cs typeface="Courier New" panose="02070309020205020404" pitchFamily="49" charset="0"/>
              </a:rPr>
              <a:t>kernel_size</a:t>
            </a:r>
            <a:r>
              <a:rPr lang="en-US" sz="1323" dirty="0">
                <a:latin typeface="Courier New" panose="02070309020205020404" pitchFamily="49" charset="0"/>
                <a:cs typeface="Courier New" panose="02070309020205020404" pitchFamily="49" charset="0"/>
              </a:rPr>
              <a:t>=(1, 1), strides=(1, 1))</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conv_block</a:t>
            </a:r>
            <a:r>
              <a:rPr lang="en-US" sz="1323" dirty="0">
                <a:latin typeface="Courier New" panose="02070309020205020404" pitchFamily="49" charset="0"/>
                <a:cs typeface="Courier New" panose="02070309020205020404" pitchFamily="49" charset="0"/>
              </a:rPr>
              <a:t>(x, filters=filters, </a:t>
            </a:r>
            <a:r>
              <a:rPr lang="en-US" sz="1323" dirty="0" err="1">
                <a:latin typeface="Courier New" panose="02070309020205020404" pitchFamily="49" charset="0"/>
                <a:cs typeface="Courier New" panose="02070309020205020404" pitchFamily="49" charset="0"/>
              </a:rPr>
              <a:t>kernel_size</a:t>
            </a:r>
            <a:r>
              <a:rPr lang="en-US" sz="1323" dirty="0">
                <a:latin typeface="Courier New" panose="02070309020205020404" pitchFamily="49" charset="0"/>
                <a:cs typeface="Courier New" panose="02070309020205020404" pitchFamily="49" charset="0"/>
              </a:rPr>
              <a:t>=(3, 3), strides=(1, 1))</a:t>
            </a:r>
          </a:p>
          <a:p>
            <a:r>
              <a:rPr lang="en-US" sz="1323" dirty="0">
                <a:latin typeface="Courier New" panose="02070309020205020404" pitchFamily="49" charset="0"/>
                <a:cs typeface="Courier New" panose="02070309020205020404" pitchFamily="49" charset="0"/>
              </a:rPr>
              <a:t>    x = Conv2D(filters=filters * 4, </a:t>
            </a:r>
            <a:r>
              <a:rPr lang="en-US" sz="1323" dirty="0" err="1">
                <a:latin typeface="Courier New" panose="02070309020205020404" pitchFamily="49" charset="0"/>
                <a:cs typeface="Courier New" panose="02070309020205020404" pitchFamily="49" charset="0"/>
              </a:rPr>
              <a:t>kernel_size</a:t>
            </a:r>
            <a:r>
              <a:rPr lang="en-US" sz="1323" dirty="0">
                <a:latin typeface="Courier New" panose="02070309020205020404" pitchFamily="49" charset="0"/>
                <a:cs typeface="Courier New" panose="02070309020205020404" pitchFamily="49" charset="0"/>
              </a:rPr>
              <a:t>=(1, 1))(x)</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BatchNormalization</a:t>
            </a:r>
            <a:r>
              <a:rPr lang="en-US" sz="1323" dirty="0">
                <a:latin typeface="Courier New" panose="02070309020205020404" pitchFamily="49" charset="0"/>
                <a:cs typeface="Courier New" panose="02070309020205020404" pitchFamily="49" charset="0"/>
              </a:rPr>
              <a:t>()(x)</a:t>
            </a:r>
          </a:p>
          <a:p>
            <a:r>
              <a:rPr lang="en-US" sz="1323" dirty="0">
                <a:latin typeface="Courier New" panose="02070309020205020404" pitchFamily="49" charset="0"/>
                <a:cs typeface="Courier New" panose="02070309020205020404" pitchFamily="49" charset="0"/>
              </a:rPr>
              <a:t>    x = Add()([x, shortcut])</a:t>
            </a:r>
          </a:p>
          <a:p>
            <a:r>
              <a:rPr lang="en-US" sz="1323" dirty="0">
                <a:latin typeface="Courier New" panose="02070309020205020404" pitchFamily="49" charset="0"/>
                <a:cs typeface="Courier New" panose="02070309020205020404" pitchFamily="49" charset="0"/>
              </a:rPr>
              <a:t>    x = Activation('</a:t>
            </a:r>
            <a:r>
              <a:rPr lang="en-US" sz="1323" dirty="0" err="1">
                <a:latin typeface="Courier New" panose="02070309020205020404" pitchFamily="49" charset="0"/>
                <a:cs typeface="Courier New" panose="02070309020205020404" pitchFamily="49" charset="0"/>
              </a:rPr>
              <a:t>relu</a:t>
            </a:r>
            <a:r>
              <a:rPr lang="en-US" sz="1323" dirty="0">
                <a:latin typeface="Courier New" panose="02070309020205020404" pitchFamily="49" charset="0"/>
                <a:cs typeface="Courier New" panose="02070309020205020404" pitchFamily="49" charset="0"/>
              </a:rPr>
              <a:t>')(x)</a:t>
            </a:r>
          </a:p>
          <a:p>
            <a:r>
              <a:rPr lang="en-US" sz="1323" dirty="0">
                <a:latin typeface="Courier New" panose="02070309020205020404" pitchFamily="49" charset="0"/>
                <a:cs typeface="Courier New" panose="02070309020205020404" pitchFamily="49" charset="0"/>
              </a:rPr>
              <a:t>    return x</a:t>
            </a:r>
          </a:p>
          <a:p>
            <a:endParaRPr lang="en-US" sz="1323" dirty="0">
              <a:latin typeface="Courier New" panose="02070309020205020404" pitchFamily="49" charset="0"/>
              <a:cs typeface="Courier New" panose="02070309020205020404" pitchFamily="49" charset="0"/>
            </a:endParaRPr>
          </a:p>
          <a:p>
            <a:endParaRPr lang="en-US" sz="1323" dirty="0">
              <a:latin typeface="Courier New" panose="02070309020205020404" pitchFamily="49" charset="0"/>
              <a:cs typeface="Courier New" panose="02070309020205020404" pitchFamily="49" charset="0"/>
            </a:endParaRPr>
          </a:p>
          <a:p>
            <a:r>
              <a:rPr lang="en-US" sz="1323" dirty="0">
                <a:latin typeface="Courier New" panose="02070309020205020404" pitchFamily="49" charset="0"/>
                <a:cs typeface="Courier New" panose="02070309020205020404" pitchFamily="49" charset="0"/>
              </a:rPr>
              <a:t>def </a:t>
            </a:r>
            <a:r>
              <a:rPr lang="en-US" sz="1323" dirty="0" err="1">
                <a:latin typeface="Courier New" panose="02070309020205020404" pitchFamily="49" charset="0"/>
                <a:cs typeface="Courier New" panose="02070309020205020404" pitchFamily="49" charset="0"/>
              </a:rPr>
              <a:t>projection_block</a:t>
            </a:r>
            <a:r>
              <a:rPr lang="en-US" sz="1323" dirty="0">
                <a:latin typeface="Courier New" panose="02070309020205020404" pitchFamily="49" charset="0"/>
                <a:cs typeface="Courier New" panose="02070309020205020404" pitchFamily="49" charset="0"/>
              </a:rPr>
              <a:t>(x, filters, strides):</a:t>
            </a:r>
          </a:p>
          <a:p>
            <a:r>
              <a:rPr lang="en-US" sz="1323" dirty="0">
                <a:latin typeface="Courier New" panose="02070309020205020404" pitchFamily="49" charset="0"/>
                <a:cs typeface="Courier New" panose="02070309020205020404" pitchFamily="49" charset="0"/>
              </a:rPr>
              <a:t>    shortcut = x</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conv_block</a:t>
            </a:r>
            <a:r>
              <a:rPr lang="en-US" sz="1323" dirty="0">
                <a:latin typeface="Courier New" panose="02070309020205020404" pitchFamily="49" charset="0"/>
                <a:cs typeface="Courier New" panose="02070309020205020404" pitchFamily="49" charset="0"/>
              </a:rPr>
              <a:t>(x, filters=filters, </a:t>
            </a:r>
            <a:r>
              <a:rPr lang="en-US" sz="1323" dirty="0" err="1">
                <a:latin typeface="Courier New" panose="02070309020205020404" pitchFamily="49" charset="0"/>
                <a:cs typeface="Courier New" panose="02070309020205020404" pitchFamily="49" charset="0"/>
              </a:rPr>
              <a:t>kernel_size</a:t>
            </a:r>
            <a:r>
              <a:rPr lang="en-US" sz="1323" dirty="0">
                <a:latin typeface="Courier New" panose="02070309020205020404" pitchFamily="49" charset="0"/>
                <a:cs typeface="Courier New" panose="02070309020205020404" pitchFamily="49" charset="0"/>
              </a:rPr>
              <a:t>=(1, 1), strides=strides)</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conv_block</a:t>
            </a:r>
            <a:r>
              <a:rPr lang="en-US" sz="1323" dirty="0">
                <a:latin typeface="Courier New" panose="02070309020205020404" pitchFamily="49" charset="0"/>
                <a:cs typeface="Courier New" panose="02070309020205020404" pitchFamily="49" charset="0"/>
              </a:rPr>
              <a:t>(x, filters=filters, </a:t>
            </a:r>
            <a:r>
              <a:rPr lang="en-US" sz="1323" dirty="0" err="1">
                <a:latin typeface="Courier New" panose="02070309020205020404" pitchFamily="49" charset="0"/>
                <a:cs typeface="Courier New" panose="02070309020205020404" pitchFamily="49" charset="0"/>
              </a:rPr>
              <a:t>kernel_size</a:t>
            </a:r>
            <a:r>
              <a:rPr lang="en-US" sz="1323" dirty="0">
                <a:latin typeface="Courier New" panose="02070309020205020404" pitchFamily="49" charset="0"/>
                <a:cs typeface="Courier New" panose="02070309020205020404" pitchFamily="49" charset="0"/>
              </a:rPr>
              <a:t>=(3, 3), strides=(1, 1))</a:t>
            </a:r>
          </a:p>
          <a:p>
            <a:r>
              <a:rPr lang="en-US" sz="1323" dirty="0">
                <a:latin typeface="Courier New" panose="02070309020205020404" pitchFamily="49" charset="0"/>
                <a:cs typeface="Courier New" panose="02070309020205020404" pitchFamily="49" charset="0"/>
              </a:rPr>
              <a:t>    x = Conv2D(filters=filters * 4, </a:t>
            </a:r>
            <a:r>
              <a:rPr lang="en-US" sz="1323" dirty="0" err="1">
                <a:latin typeface="Courier New" panose="02070309020205020404" pitchFamily="49" charset="0"/>
                <a:cs typeface="Courier New" panose="02070309020205020404" pitchFamily="49" charset="0"/>
              </a:rPr>
              <a:t>kernel_size</a:t>
            </a:r>
            <a:r>
              <a:rPr lang="en-US" sz="1323" dirty="0">
                <a:latin typeface="Courier New" panose="02070309020205020404" pitchFamily="49" charset="0"/>
                <a:cs typeface="Courier New" panose="02070309020205020404" pitchFamily="49" charset="0"/>
              </a:rPr>
              <a:t>=(1, 1))(x)</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BatchNormalization</a:t>
            </a:r>
            <a:r>
              <a:rPr lang="en-US" sz="1323" dirty="0">
                <a:latin typeface="Courier New" panose="02070309020205020404" pitchFamily="49" charset="0"/>
                <a:cs typeface="Courier New" panose="02070309020205020404" pitchFamily="49" charset="0"/>
              </a:rPr>
              <a:t>()(x)</a:t>
            </a:r>
          </a:p>
          <a:p>
            <a:r>
              <a:rPr lang="en-US" sz="1323" dirty="0">
                <a:solidFill>
                  <a:srgbClr val="FF0000"/>
                </a:solidFill>
                <a:latin typeface="Courier New" panose="02070309020205020404" pitchFamily="49" charset="0"/>
                <a:cs typeface="Courier New" panose="02070309020205020404" pitchFamily="49" charset="0"/>
              </a:rPr>
              <a:t>    shortcut = Conv2D(filters=filters * 4, </a:t>
            </a:r>
            <a:r>
              <a:rPr lang="en-US" sz="1323" dirty="0" err="1">
                <a:solidFill>
                  <a:srgbClr val="FF0000"/>
                </a:solidFill>
                <a:latin typeface="Courier New" panose="02070309020205020404" pitchFamily="49" charset="0"/>
                <a:cs typeface="Courier New" panose="02070309020205020404" pitchFamily="49" charset="0"/>
              </a:rPr>
              <a:t>kernel_size</a:t>
            </a:r>
            <a:r>
              <a:rPr lang="en-US" sz="1323" dirty="0">
                <a:solidFill>
                  <a:srgbClr val="FF0000"/>
                </a:solidFill>
                <a:latin typeface="Courier New" panose="02070309020205020404" pitchFamily="49" charset="0"/>
                <a:cs typeface="Courier New" panose="02070309020205020404" pitchFamily="49" charset="0"/>
              </a:rPr>
              <a:t>=(1, 1), strides=strides)(shortcut)</a:t>
            </a:r>
          </a:p>
          <a:p>
            <a:r>
              <a:rPr lang="en-US" sz="1323" dirty="0">
                <a:solidFill>
                  <a:srgbClr val="FF0000"/>
                </a:solidFill>
                <a:latin typeface="Courier New" panose="02070309020205020404" pitchFamily="49" charset="0"/>
                <a:cs typeface="Courier New" panose="02070309020205020404" pitchFamily="49" charset="0"/>
              </a:rPr>
              <a:t>    shortcut = </a:t>
            </a:r>
            <a:r>
              <a:rPr lang="en-US" sz="1323" dirty="0" err="1">
                <a:solidFill>
                  <a:srgbClr val="FF0000"/>
                </a:solidFill>
                <a:latin typeface="Courier New" panose="02070309020205020404" pitchFamily="49" charset="0"/>
                <a:cs typeface="Courier New" panose="02070309020205020404" pitchFamily="49" charset="0"/>
              </a:rPr>
              <a:t>BatchNormalization</a:t>
            </a:r>
            <a:r>
              <a:rPr lang="en-US" sz="1323" dirty="0">
                <a:solidFill>
                  <a:srgbClr val="FF0000"/>
                </a:solidFill>
                <a:latin typeface="Courier New" panose="02070309020205020404" pitchFamily="49" charset="0"/>
                <a:cs typeface="Courier New" panose="02070309020205020404" pitchFamily="49" charset="0"/>
              </a:rPr>
              <a:t>()(shortcut)</a:t>
            </a:r>
          </a:p>
          <a:p>
            <a:r>
              <a:rPr lang="en-US" sz="1323" dirty="0">
                <a:latin typeface="Courier New" panose="02070309020205020404" pitchFamily="49" charset="0"/>
                <a:cs typeface="Courier New" panose="02070309020205020404" pitchFamily="49" charset="0"/>
              </a:rPr>
              <a:t>    x = Add()([x, shortcut])</a:t>
            </a:r>
          </a:p>
          <a:p>
            <a:r>
              <a:rPr lang="en-US" sz="1323" dirty="0">
                <a:latin typeface="Courier New" panose="02070309020205020404" pitchFamily="49" charset="0"/>
                <a:cs typeface="Courier New" panose="02070309020205020404" pitchFamily="49" charset="0"/>
              </a:rPr>
              <a:t>    x = Activation('</a:t>
            </a:r>
            <a:r>
              <a:rPr lang="en-US" sz="1323" dirty="0" err="1">
                <a:latin typeface="Courier New" panose="02070309020205020404" pitchFamily="49" charset="0"/>
                <a:cs typeface="Courier New" panose="02070309020205020404" pitchFamily="49" charset="0"/>
              </a:rPr>
              <a:t>relu</a:t>
            </a:r>
            <a:r>
              <a:rPr lang="en-US" sz="1323" dirty="0">
                <a:latin typeface="Courier New" panose="02070309020205020404" pitchFamily="49" charset="0"/>
                <a:cs typeface="Courier New" panose="02070309020205020404" pitchFamily="49" charset="0"/>
              </a:rPr>
              <a:t>')(x)</a:t>
            </a:r>
          </a:p>
          <a:p>
            <a:r>
              <a:rPr lang="en-US" sz="1323" dirty="0">
                <a:latin typeface="Courier New" panose="02070309020205020404" pitchFamily="49" charset="0"/>
                <a:cs typeface="Courier New" panose="02070309020205020404" pitchFamily="49" charset="0"/>
              </a:rPr>
              <a:t>    return x</a:t>
            </a:r>
          </a:p>
        </p:txBody>
      </p:sp>
      <p:sp>
        <p:nvSpPr>
          <p:cNvPr id="7" name="TextBox 6">
            <a:extLst>
              <a:ext uri="{FF2B5EF4-FFF2-40B4-BE49-F238E27FC236}">
                <a16:creationId xmlns:a16="http://schemas.microsoft.com/office/drawing/2014/main" id="{21A15BF2-5FBE-7AD5-A82A-4680992B82DC}"/>
              </a:ext>
            </a:extLst>
          </p:cNvPr>
          <p:cNvSpPr txBox="1"/>
          <p:nvPr/>
        </p:nvSpPr>
        <p:spPr>
          <a:xfrm>
            <a:off x="1003300" y="2370306"/>
            <a:ext cx="7686746" cy="321306"/>
          </a:xfrm>
          <a:prstGeom prst="rect">
            <a:avLst/>
          </a:prstGeom>
          <a:noFill/>
        </p:spPr>
        <p:txBody>
          <a:bodyPr wrap="square">
            <a:spAutoFit/>
          </a:bodyPr>
          <a:lstStyle/>
          <a:p>
            <a:r>
              <a:rPr lang="en-US" sz="1488" dirty="0">
                <a:solidFill>
                  <a:srgbClr val="FF0000"/>
                </a:solidFill>
              </a:rPr>
              <a:t> identity block used when the dimension of output and input are same</a:t>
            </a:r>
          </a:p>
        </p:txBody>
      </p:sp>
    </p:spTree>
    <p:extLst>
      <p:ext uri="{BB962C8B-B14F-4D97-AF65-F5344CB8AC3E}">
        <p14:creationId xmlns:p14="http://schemas.microsoft.com/office/powerpoint/2010/main" val="10141751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3325E5-BA4D-8988-53C1-61EC77DE5527}"/>
              </a:ext>
            </a:extLst>
          </p:cNvPr>
          <p:cNvSpPr txBox="1"/>
          <p:nvPr/>
        </p:nvSpPr>
        <p:spPr>
          <a:xfrm>
            <a:off x="622300" y="304872"/>
            <a:ext cx="9144000" cy="5355312"/>
          </a:xfrm>
          <a:prstGeom prst="rect">
            <a:avLst/>
          </a:prstGeom>
          <a:noFill/>
        </p:spPr>
        <p:txBody>
          <a:bodyPr wrap="square">
            <a:spAutoFit/>
          </a:bodyPr>
          <a:lstStyle/>
          <a:p>
            <a:r>
              <a:rPr lang="en-US" sz="1800" dirty="0">
                <a:solidFill>
                  <a:srgbClr val="FF0000"/>
                </a:solidFill>
                <a:latin typeface="Courier New" panose="02070309020205020404" pitchFamily="49" charset="0"/>
                <a:cs typeface="Courier New" panose="02070309020205020404" pitchFamily="49" charset="0"/>
              </a:rPr>
              <a:t>def ResNet50</a:t>
            </a:r>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input_shape</a:t>
            </a:r>
            <a:r>
              <a:rPr lang="en-US" sz="1800" dirty="0">
                <a:latin typeface="Courier New" panose="02070309020205020404" pitchFamily="49" charset="0"/>
                <a:cs typeface="Courier New" panose="02070309020205020404" pitchFamily="49" charset="0"/>
              </a:rPr>
              <a:t>=(224, 224, 3), </a:t>
            </a:r>
            <a:r>
              <a:rPr lang="en-US" sz="1800" dirty="0" err="1">
                <a:latin typeface="Courier New" panose="02070309020205020404" pitchFamily="49" charset="0"/>
                <a:cs typeface="Courier New" panose="02070309020205020404" pitchFamily="49" charset="0"/>
              </a:rPr>
              <a:t>num_classes</a:t>
            </a:r>
            <a:r>
              <a:rPr lang="en-US" sz="1800" dirty="0">
                <a:latin typeface="Courier New" panose="02070309020205020404" pitchFamily="49" charset="0"/>
                <a:cs typeface="Courier New" panose="02070309020205020404" pitchFamily="49" charset="0"/>
              </a:rPr>
              <a:t>=1000):</a:t>
            </a:r>
          </a:p>
          <a:p>
            <a:r>
              <a:rPr lang="en-US" sz="1800" dirty="0">
                <a:latin typeface="Courier New" panose="02070309020205020404" pitchFamily="49" charset="0"/>
                <a:cs typeface="Courier New" panose="02070309020205020404" pitchFamily="49" charset="0"/>
              </a:rPr>
              <a:t>    inputs = Input(shape=</a:t>
            </a:r>
            <a:r>
              <a:rPr lang="en-US" sz="1800" dirty="0" err="1">
                <a:latin typeface="Courier New" panose="02070309020205020404" pitchFamily="49" charset="0"/>
                <a:cs typeface="Courier New" panose="02070309020205020404" pitchFamily="49" charset="0"/>
              </a:rPr>
              <a:t>input_shape</a:t>
            </a:r>
            <a:r>
              <a:rPr lang="en-US" sz="1800" dirty="0">
                <a:latin typeface="Courier New" panose="02070309020205020404" pitchFamily="49" charset="0"/>
                <a:cs typeface="Courier New" panose="02070309020205020404" pitchFamily="49" charset="0"/>
              </a:rPr>
              <a:t>)</a:t>
            </a:r>
          </a:p>
          <a:p>
            <a:r>
              <a:rPr lang="en-US" sz="1800" dirty="0">
                <a:latin typeface="Courier New" panose="02070309020205020404" pitchFamily="49" charset="0"/>
                <a:cs typeface="Courier New" panose="02070309020205020404" pitchFamily="49" charset="0"/>
              </a:rPr>
              <a:t>    </a:t>
            </a:r>
          </a:p>
          <a:p>
            <a:r>
              <a:rPr lang="en-US" sz="1800" dirty="0">
                <a:latin typeface="Courier New" panose="02070309020205020404" pitchFamily="49" charset="0"/>
                <a:cs typeface="Courier New" panose="02070309020205020404" pitchFamily="49" charset="0"/>
              </a:rPr>
              <a:t>    # initial conv layer</a:t>
            </a:r>
          </a:p>
          <a:p>
            <a:r>
              <a:rPr lang="en-US" sz="1800" dirty="0">
                <a:latin typeface="Courier New" panose="02070309020205020404" pitchFamily="49" charset="0"/>
                <a:cs typeface="Courier New" panose="02070309020205020404" pitchFamily="49" charset="0"/>
              </a:rPr>
              <a:t>    x = </a:t>
            </a:r>
            <a:r>
              <a:rPr lang="en-US" sz="1800" dirty="0" err="1">
                <a:latin typeface="Courier New" panose="02070309020205020404" pitchFamily="49" charset="0"/>
                <a:cs typeface="Courier New" panose="02070309020205020404" pitchFamily="49" charset="0"/>
              </a:rPr>
              <a:t>conv_block</a:t>
            </a:r>
            <a:r>
              <a:rPr lang="en-US" sz="1800" dirty="0">
                <a:latin typeface="Courier New" panose="02070309020205020404" pitchFamily="49" charset="0"/>
                <a:cs typeface="Courier New" panose="02070309020205020404" pitchFamily="49" charset="0"/>
              </a:rPr>
              <a:t>(inputs, filters=64, </a:t>
            </a:r>
            <a:r>
              <a:rPr lang="en-US" sz="1800" dirty="0" err="1">
                <a:latin typeface="Courier New" panose="02070309020205020404" pitchFamily="49" charset="0"/>
                <a:cs typeface="Courier New" panose="02070309020205020404" pitchFamily="49" charset="0"/>
              </a:rPr>
              <a:t>kernel_size</a:t>
            </a:r>
            <a:r>
              <a:rPr lang="en-US" sz="1800" dirty="0">
                <a:latin typeface="Courier New" panose="02070309020205020404" pitchFamily="49" charset="0"/>
                <a:cs typeface="Courier New" panose="02070309020205020404" pitchFamily="49" charset="0"/>
              </a:rPr>
              <a:t>=(7, 7), strides=(2, 2), padding='')</a:t>
            </a:r>
          </a:p>
          <a:p>
            <a:r>
              <a:rPr lang="en-US" sz="1800" dirty="0">
                <a:latin typeface="Courier New" panose="02070309020205020404" pitchFamily="49" charset="0"/>
                <a:cs typeface="Courier New" panose="02070309020205020404" pitchFamily="49" charset="0"/>
              </a:rPr>
              <a:t>    x = MaxPooling2D(</a:t>
            </a:r>
            <a:r>
              <a:rPr lang="en-US" sz="1800" dirty="0" err="1">
                <a:latin typeface="Courier New" panose="02070309020205020404" pitchFamily="49" charset="0"/>
                <a:cs typeface="Courier New" panose="02070309020205020404" pitchFamily="49" charset="0"/>
              </a:rPr>
              <a:t>pool_size</a:t>
            </a:r>
            <a:r>
              <a:rPr lang="en-US" sz="1800" dirty="0">
                <a:latin typeface="Courier New" panose="02070309020205020404" pitchFamily="49" charset="0"/>
                <a:cs typeface="Courier New" panose="02070309020205020404" pitchFamily="49" charset="0"/>
              </a:rPr>
              <a:t>=(3, 3), strides=(2, 2), padding='same')(x)</a:t>
            </a:r>
          </a:p>
          <a:p>
            <a:endParaRPr lang="en-US" sz="1800" dirty="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    # conv block 1</a:t>
            </a:r>
          </a:p>
          <a:p>
            <a:r>
              <a:rPr lang="en-US" sz="1800" dirty="0">
                <a:latin typeface="Courier New" panose="02070309020205020404" pitchFamily="49" charset="0"/>
                <a:cs typeface="Courier New" panose="02070309020205020404" pitchFamily="49" charset="0"/>
              </a:rPr>
              <a:t>    x = </a:t>
            </a:r>
            <a:r>
              <a:rPr lang="en-US" sz="1800" dirty="0" err="1">
                <a:latin typeface="Courier New" panose="02070309020205020404" pitchFamily="49" charset="0"/>
                <a:cs typeface="Courier New" panose="02070309020205020404" pitchFamily="49" charset="0"/>
              </a:rPr>
              <a:t>projection_block</a:t>
            </a:r>
            <a:r>
              <a:rPr lang="en-US" sz="1800" dirty="0">
                <a:latin typeface="Courier New" panose="02070309020205020404" pitchFamily="49" charset="0"/>
                <a:cs typeface="Courier New" panose="02070309020205020404" pitchFamily="49" charset="0"/>
              </a:rPr>
              <a:t>(x, filters=64, strides=(1, 1))</a:t>
            </a:r>
          </a:p>
          <a:p>
            <a:r>
              <a:rPr lang="en-US" sz="1800" dirty="0">
                <a:latin typeface="Courier New" panose="02070309020205020404" pitchFamily="49" charset="0"/>
                <a:cs typeface="Courier New" panose="02070309020205020404" pitchFamily="49" charset="0"/>
              </a:rPr>
              <a:t>    x = </a:t>
            </a:r>
            <a:r>
              <a:rPr lang="en-US" sz="1800" dirty="0" err="1">
                <a:latin typeface="Courier New" panose="02070309020205020404" pitchFamily="49" charset="0"/>
                <a:cs typeface="Courier New" panose="02070309020205020404" pitchFamily="49" charset="0"/>
              </a:rPr>
              <a:t>identity_block</a:t>
            </a:r>
            <a:r>
              <a:rPr lang="en-US" sz="1800" dirty="0">
                <a:latin typeface="Courier New" panose="02070309020205020404" pitchFamily="49" charset="0"/>
                <a:cs typeface="Courier New" panose="02070309020205020404" pitchFamily="49" charset="0"/>
              </a:rPr>
              <a:t>(x, filters=64)</a:t>
            </a:r>
          </a:p>
          <a:p>
            <a:r>
              <a:rPr lang="en-US" sz="1800" dirty="0">
                <a:latin typeface="Courier New" panose="02070309020205020404" pitchFamily="49" charset="0"/>
                <a:cs typeface="Courier New" panose="02070309020205020404" pitchFamily="49" charset="0"/>
              </a:rPr>
              <a:t>    x = </a:t>
            </a:r>
            <a:r>
              <a:rPr lang="en-US" sz="1800" dirty="0" err="1">
                <a:latin typeface="Courier New" panose="02070309020205020404" pitchFamily="49" charset="0"/>
                <a:cs typeface="Courier New" panose="02070309020205020404" pitchFamily="49" charset="0"/>
              </a:rPr>
              <a:t>identity_block</a:t>
            </a:r>
            <a:r>
              <a:rPr lang="en-US" sz="1800" dirty="0">
                <a:latin typeface="Courier New" panose="02070309020205020404" pitchFamily="49" charset="0"/>
                <a:cs typeface="Courier New" panose="02070309020205020404" pitchFamily="49" charset="0"/>
              </a:rPr>
              <a:t>(x, filters=64)</a:t>
            </a:r>
          </a:p>
          <a:p>
            <a:endParaRPr lang="en-US" sz="1800" dirty="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    # conv block 2</a:t>
            </a:r>
          </a:p>
          <a:p>
            <a:r>
              <a:rPr lang="en-US" sz="1800" dirty="0">
                <a:latin typeface="Courier New" panose="02070309020205020404" pitchFamily="49" charset="0"/>
                <a:cs typeface="Courier New" panose="02070309020205020404" pitchFamily="49" charset="0"/>
              </a:rPr>
              <a:t>    x = </a:t>
            </a:r>
            <a:r>
              <a:rPr lang="en-US" sz="1800" dirty="0" err="1">
                <a:latin typeface="Courier New" panose="02070309020205020404" pitchFamily="49" charset="0"/>
                <a:cs typeface="Courier New" panose="02070309020205020404" pitchFamily="49" charset="0"/>
              </a:rPr>
              <a:t>projection_block</a:t>
            </a:r>
            <a:r>
              <a:rPr lang="en-US" sz="1800" dirty="0">
                <a:latin typeface="Courier New" panose="02070309020205020404" pitchFamily="49" charset="0"/>
                <a:cs typeface="Courier New" panose="02070309020205020404" pitchFamily="49" charset="0"/>
              </a:rPr>
              <a:t>(x, filters=128, strides=(2, 2))</a:t>
            </a:r>
          </a:p>
          <a:p>
            <a:r>
              <a:rPr lang="en-US" sz="1800" dirty="0">
                <a:latin typeface="Courier New" panose="02070309020205020404" pitchFamily="49" charset="0"/>
                <a:cs typeface="Courier New" panose="02070309020205020404" pitchFamily="49" charset="0"/>
              </a:rPr>
              <a:t>    x = </a:t>
            </a:r>
            <a:r>
              <a:rPr lang="en-US" sz="1800" dirty="0" err="1">
                <a:latin typeface="Courier New" panose="02070309020205020404" pitchFamily="49" charset="0"/>
                <a:cs typeface="Courier New" panose="02070309020205020404" pitchFamily="49" charset="0"/>
              </a:rPr>
              <a:t>identity_block</a:t>
            </a:r>
            <a:r>
              <a:rPr lang="en-US" sz="1800" dirty="0">
                <a:latin typeface="Courier New" panose="02070309020205020404" pitchFamily="49" charset="0"/>
                <a:cs typeface="Courier New" panose="02070309020205020404" pitchFamily="49" charset="0"/>
              </a:rPr>
              <a:t>(x, filters=128)</a:t>
            </a:r>
          </a:p>
          <a:p>
            <a:r>
              <a:rPr lang="en-US" sz="1800" dirty="0">
                <a:latin typeface="Courier New" panose="02070309020205020404" pitchFamily="49" charset="0"/>
                <a:cs typeface="Courier New" panose="02070309020205020404" pitchFamily="49" charset="0"/>
              </a:rPr>
              <a:t>    x = </a:t>
            </a:r>
            <a:r>
              <a:rPr lang="en-US" sz="1800" dirty="0" err="1">
                <a:latin typeface="Courier New" panose="02070309020205020404" pitchFamily="49" charset="0"/>
                <a:cs typeface="Courier New" panose="02070309020205020404" pitchFamily="49" charset="0"/>
              </a:rPr>
              <a:t>identity_block</a:t>
            </a:r>
            <a:r>
              <a:rPr lang="en-US" sz="1800" dirty="0">
                <a:latin typeface="Courier New" panose="02070309020205020404" pitchFamily="49" charset="0"/>
                <a:cs typeface="Courier New" panose="02070309020205020404" pitchFamily="49" charset="0"/>
              </a:rPr>
              <a:t>(x, filters=128)</a:t>
            </a:r>
          </a:p>
          <a:p>
            <a:r>
              <a:rPr lang="en-US" sz="1800" dirty="0">
                <a:latin typeface="Courier New" panose="02070309020205020404" pitchFamily="49" charset="0"/>
                <a:cs typeface="Courier New" panose="02070309020205020404" pitchFamily="49" charset="0"/>
              </a:rPr>
              <a:t>    x = </a:t>
            </a:r>
            <a:r>
              <a:rPr lang="en-US" sz="1800" dirty="0" err="1">
                <a:latin typeface="Courier New" panose="02070309020205020404" pitchFamily="49" charset="0"/>
                <a:cs typeface="Courier New" panose="02070309020205020404" pitchFamily="49" charset="0"/>
              </a:rPr>
              <a:t>identity_block</a:t>
            </a:r>
            <a:r>
              <a:rPr lang="en-US" sz="1800" dirty="0">
                <a:latin typeface="Courier New" panose="02070309020205020404" pitchFamily="49" charset="0"/>
                <a:cs typeface="Courier New" panose="02070309020205020404" pitchFamily="49" charset="0"/>
              </a:rPr>
              <a:t>(x, filters=128)</a:t>
            </a:r>
          </a:p>
        </p:txBody>
      </p:sp>
    </p:spTree>
    <p:extLst>
      <p:ext uri="{BB962C8B-B14F-4D97-AF65-F5344CB8AC3E}">
        <p14:creationId xmlns:p14="http://schemas.microsoft.com/office/powerpoint/2010/main" val="19531613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C33F82-72E7-61EE-5777-A7EAC9AB9E08}"/>
              </a:ext>
            </a:extLst>
          </p:cNvPr>
          <p:cNvSpPr txBox="1"/>
          <p:nvPr/>
        </p:nvSpPr>
        <p:spPr>
          <a:xfrm>
            <a:off x="774700" y="753295"/>
            <a:ext cx="7371715" cy="4163960"/>
          </a:xfrm>
          <a:prstGeom prst="rect">
            <a:avLst/>
          </a:prstGeom>
          <a:noFill/>
        </p:spPr>
        <p:txBody>
          <a:bodyPr wrap="square">
            <a:spAutoFit/>
          </a:bodyPr>
          <a:lstStyle/>
          <a:p>
            <a:endParaRPr lang="en-US" sz="1323" dirty="0">
              <a:latin typeface="Courier New" panose="02070309020205020404" pitchFamily="49" charset="0"/>
              <a:cs typeface="Courier New" panose="02070309020205020404" pitchFamily="49" charset="0"/>
            </a:endParaRPr>
          </a:p>
          <a:p>
            <a:r>
              <a:rPr lang="en-US" sz="1323" dirty="0">
                <a:latin typeface="Courier New" panose="02070309020205020404" pitchFamily="49" charset="0"/>
                <a:cs typeface="Courier New" panose="02070309020205020404" pitchFamily="49" charset="0"/>
              </a:rPr>
              <a:t>    # conv block 3</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projection_block</a:t>
            </a:r>
            <a:r>
              <a:rPr lang="en-US" sz="1323" dirty="0">
                <a:latin typeface="Courier New" panose="02070309020205020404" pitchFamily="49" charset="0"/>
                <a:cs typeface="Courier New" panose="02070309020205020404" pitchFamily="49" charset="0"/>
              </a:rPr>
              <a:t>(x, filters=256, strides=(2, 2))</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identity_block</a:t>
            </a:r>
            <a:r>
              <a:rPr lang="en-US" sz="1323" dirty="0">
                <a:latin typeface="Courier New" panose="02070309020205020404" pitchFamily="49" charset="0"/>
                <a:cs typeface="Courier New" panose="02070309020205020404" pitchFamily="49" charset="0"/>
              </a:rPr>
              <a:t>(x, filters=256)</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identity_block</a:t>
            </a:r>
            <a:r>
              <a:rPr lang="en-US" sz="1323" dirty="0">
                <a:latin typeface="Courier New" panose="02070309020205020404" pitchFamily="49" charset="0"/>
                <a:cs typeface="Courier New" panose="02070309020205020404" pitchFamily="49" charset="0"/>
              </a:rPr>
              <a:t>(x, filters=256)</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identity_block</a:t>
            </a:r>
            <a:r>
              <a:rPr lang="en-US" sz="1323" dirty="0">
                <a:latin typeface="Courier New" panose="02070309020205020404" pitchFamily="49" charset="0"/>
                <a:cs typeface="Courier New" panose="02070309020205020404" pitchFamily="49" charset="0"/>
              </a:rPr>
              <a:t>(x, filters=256)</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identity_block</a:t>
            </a:r>
            <a:r>
              <a:rPr lang="en-US" sz="1323" dirty="0">
                <a:latin typeface="Courier New" panose="02070309020205020404" pitchFamily="49" charset="0"/>
                <a:cs typeface="Courier New" panose="02070309020205020404" pitchFamily="49" charset="0"/>
              </a:rPr>
              <a:t>(x, filters=256)</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identity_block</a:t>
            </a:r>
            <a:r>
              <a:rPr lang="en-US" sz="1323" dirty="0">
                <a:latin typeface="Courier New" panose="02070309020205020404" pitchFamily="49" charset="0"/>
                <a:cs typeface="Courier New" panose="02070309020205020404" pitchFamily="49" charset="0"/>
              </a:rPr>
              <a:t>(x, filters=256)</a:t>
            </a:r>
          </a:p>
          <a:p>
            <a:endParaRPr lang="en-US" sz="1323" dirty="0">
              <a:latin typeface="Courier New" panose="02070309020205020404" pitchFamily="49" charset="0"/>
              <a:cs typeface="Courier New" panose="02070309020205020404" pitchFamily="49" charset="0"/>
            </a:endParaRPr>
          </a:p>
          <a:p>
            <a:r>
              <a:rPr lang="en-US" sz="1323" dirty="0">
                <a:latin typeface="Courier New" panose="02070309020205020404" pitchFamily="49" charset="0"/>
                <a:cs typeface="Courier New" panose="02070309020205020404" pitchFamily="49" charset="0"/>
              </a:rPr>
              <a:t>    # conv block 4</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projection_block</a:t>
            </a:r>
            <a:r>
              <a:rPr lang="en-US" sz="1323" dirty="0">
                <a:latin typeface="Courier New" panose="02070309020205020404" pitchFamily="49" charset="0"/>
                <a:cs typeface="Courier New" panose="02070309020205020404" pitchFamily="49" charset="0"/>
              </a:rPr>
              <a:t>(x, filters=512, strides=(2, 2))</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identity_block</a:t>
            </a:r>
            <a:r>
              <a:rPr lang="en-US" sz="1323" dirty="0">
                <a:latin typeface="Courier New" panose="02070309020205020404" pitchFamily="49" charset="0"/>
                <a:cs typeface="Courier New" panose="02070309020205020404" pitchFamily="49" charset="0"/>
              </a:rPr>
              <a:t>(x, filters=512)</a:t>
            </a:r>
          </a:p>
          <a:p>
            <a:r>
              <a:rPr lang="en-US" sz="1323" dirty="0">
                <a:latin typeface="Courier New" panose="02070309020205020404" pitchFamily="49" charset="0"/>
                <a:cs typeface="Courier New" panose="02070309020205020404" pitchFamily="49" charset="0"/>
              </a:rPr>
              <a:t>    x = </a:t>
            </a:r>
            <a:r>
              <a:rPr lang="en-US" sz="1323" dirty="0" err="1">
                <a:latin typeface="Courier New" panose="02070309020205020404" pitchFamily="49" charset="0"/>
                <a:cs typeface="Courier New" panose="02070309020205020404" pitchFamily="49" charset="0"/>
              </a:rPr>
              <a:t>identity_block</a:t>
            </a:r>
            <a:r>
              <a:rPr lang="en-US" sz="1323" dirty="0">
                <a:latin typeface="Courier New" panose="02070309020205020404" pitchFamily="49" charset="0"/>
                <a:cs typeface="Courier New" panose="02070309020205020404" pitchFamily="49" charset="0"/>
              </a:rPr>
              <a:t>(x, filters=512)</a:t>
            </a:r>
          </a:p>
          <a:p>
            <a:endParaRPr lang="en-US" sz="1323" dirty="0">
              <a:latin typeface="Courier New" panose="02070309020205020404" pitchFamily="49" charset="0"/>
              <a:cs typeface="Courier New" panose="02070309020205020404" pitchFamily="49" charset="0"/>
            </a:endParaRPr>
          </a:p>
          <a:p>
            <a:r>
              <a:rPr lang="en-US" sz="1323" dirty="0">
                <a:latin typeface="Courier New" panose="02070309020205020404" pitchFamily="49" charset="0"/>
                <a:cs typeface="Courier New" panose="02070309020205020404" pitchFamily="49" charset="0"/>
              </a:rPr>
              <a:t>    # global average pooling and dense layer</a:t>
            </a:r>
          </a:p>
          <a:p>
            <a:r>
              <a:rPr lang="en-US" sz="1323" dirty="0">
                <a:latin typeface="Courier New" panose="02070309020205020404" pitchFamily="49" charset="0"/>
                <a:cs typeface="Courier New" panose="02070309020205020404" pitchFamily="49" charset="0"/>
              </a:rPr>
              <a:t>    x = GlobalAveragePooling2D()(x)</a:t>
            </a:r>
          </a:p>
          <a:p>
            <a:r>
              <a:rPr lang="en-US" sz="1323" dirty="0">
                <a:latin typeface="Courier New" panose="02070309020205020404" pitchFamily="49" charset="0"/>
                <a:cs typeface="Courier New" panose="02070309020205020404" pitchFamily="49" charset="0"/>
              </a:rPr>
              <a:t>    outputs = Dense(</a:t>
            </a:r>
            <a:r>
              <a:rPr lang="en-US" sz="1323" dirty="0" err="1">
                <a:latin typeface="Courier New" panose="02070309020205020404" pitchFamily="49" charset="0"/>
                <a:cs typeface="Courier New" panose="02070309020205020404" pitchFamily="49" charset="0"/>
              </a:rPr>
              <a:t>num_classes</a:t>
            </a:r>
            <a:r>
              <a:rPr lang="en-US" sz="1323" dirty="0">
                <a:latin typeface="Courier New" panose="02070309020205020404" pitchFamily="49" charset="0"/>
                <a:cs typeface="Courier New" panose="02070309020205020404" pitchFamily="49" charset="0"/>
              </a:rPr>
              <a:t>, activation='</a:t>
            </a:r>
            <a:r>
              <a:rPr lang="en-US" sz="1323" dirty="0" err="1">
                <a:latin typeface="Courier New" panose="02070309020205020404" pitchFamily="49" charset="0"/>
                <a:cs typeface="Courier New" panose="02070309020205020404" pitchFamily="49" charset="0"/>
              </a:rPr>
              <a:t>softmax</a:t>
            </a:r>
            <a:r>
              <a:rPr lang="en-US" sz="1323" dirty="0">
                <a:latin typeface="Courier New" panose="02070309020205020404" pitchFamily="49" charset="0"/>
                <a:cs typeface="Courier New" panose="02070309020205020404" pitchFamily="49" charset="0"/>
              </a:rPr>
              <a:t>')(x)</a:t>
            </a:r>
          </a:p>
          <a:p>
            <a:endParaRPr lang="en-US" sz="1323" dirty="0">
              <a:latin typeface="Courier New" panose="02070309020205020404" pitchFamily="49" charset="0"/>
              <a:cs typeface="Courier New" panose="02070309020205020404" pitchFamily="49" charset="0"/>
            </a:endParaRPr>
          </a:p>
          <a:p>
            <a:r>
              <a:rPr lang="en-US" sz="1323" dirty="0">
                <a:latin typeface="Courier New" panose="02070309020205020404" pitchFamily="49" charset="0"/>
                <a:cs typeface="Courier New" panose="02070309020205020404" pitchFamily="49" charset="0"/>
              </a:rPr>
              <a:t>    model = Model(inputs=inputs, outputs=outputs)</a:t>
            </a:r>
          </a:p>
          <a:p>
            <a:r>
              <a:rPr lang="en-US" sz="1323" dirty="0">
                <a:latin typeface="Courier New" panose="02070309020205020404" pitchFamily="49" charset="0"/>
                <a:cs typeface="Courier New" panose="02070309020205020404" pitchFamily="49" charset="0"/>
              </a:rPr>
              <a:t>    return model</a:t>
            </a:r>
          </a:p>
        </p:txBody>
      </p:sp>
    </p:spTree>
    <p:extLst>
      <p:ext uri="{BB962C8B-B14F-4D97-AF65-F5344CB8AC3E}">
        <p14:creationId xmlns:p14="http://schemas.microsoft.com/office/powerpoint/2010/main" val="27391862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CE17ECA-362D-CBDB-8853-702FCE539B29}"/>
              </a:ext>
            </a:extLst>
          </p:cNvPr>
          <p:cNvSpPr txBox="1">
            <a:spLocks/>
          </p:cNvSpPr>
          <p:nvPr/>
        </p:nvSpPr>
        <p:spPr>
          <a:xfrm>
            <a:off x="2451100" y="168275"/>
            <a:ext cx="4876800" cy="2326494"/>
          </a:xfrm>
          <a:prstGeom prst="rect">
            <a:avLst/>
          </a:prstGeom>
        </p:spPr>
        <p:txBody>
          <a:bodyPr vert="horz" wrap="square" lIns="0" tIns="10501" rIns="0" bIns="0" rtlCol="0">
            <a:spAutoFit/>
          </a:bodyPr>
          <a:lstStyle>
            <a:lvl1pPr algn="l" defTabSz="756117" rtl="0" eaLnBrk="1" latinLnBrk="0" hangingPunct="1">
              <a:lnSpc>
                <a:spcPct val="90000"/>
              </a:lnSpc>
              <a:spcBef>
                <a:spcPct val="0"/>
              </a:spcBef>
              <a:buNone/>
              <a:defRPr sz="3638" kern="1200">
                <a:solidFill>
                  <a:schemeClr val="tx1"/>
                </a:solidFill>
                <a:latin typeface="+mj-lt"/>
                <a:ea typeface="+mj-ea"/>
                <a:cs typeface="+mj-cs"/>
              </a:defRPr>
            </a:lvl1pPr>
          </a:lstStyle>
          <a:p>
            <a:pPr marL="10502">
              <a:lnSpc>
                <a:spcPct val="100000"/>
              </a:lnSpc>
              <a:spcBef>
                <a:spcPts val="83"/>
              </a:spcBef>
            </a:pPr>
            <a:r>
              <a:rPr lang="en-US" sz="4961" spc="-8" dirty="0" err="1">
                <a:solidFill>
                  <a:srgbClr val="FF0000"/>
                </a:solidFill>
                <a:latin typeface="Tahoma"/>
                <a:cs typeface="Tahoma"/>
              </a:rPr>
              <a:t>ResNet</a:t>
            </a:r>
            <a:endParaRPr lang="en-US" sz="4961" spc="-8" dirty="0">
              <a:solidFill>
                <a:srgbClr val="FF0000"/>
              </a:solidFill>
              <a:latin typeface="Tahoma"/>
              <a:cs typeface="Tahoma"/>
            </a:endParaRPr>
          </a:p>
          <a:p>
            <a:pPr marL="10502">
              <a:lnSpc>
                <a:spcPct val="100000"/>
              </a:lnSpc>
              <a:spcBef>
                <a:spcPts val="83"/>
              </a:spcBef>
            </a:pPr>
            <a:endParaRPr lang="en-US" sz="4961" spc="-8" dirty="0">
              <a:solidFill>
                <a:srgbClr val="FF0000"/>
              </a:solidFill>
              <a:latin typeface="Tahoma"/>
              <a:cs typeface="Tahoma"/>
            </a:endParaRPr>
          </a:p>
          <a:p>
            <a:pPr marL="10502">
              <a:lnSpc>
                <a:spcPct val="100000"/>
              </a:lnSpc>
              <a:spcBef>
                <a:spcPts val="83"/>
              </a:spcBef>
            </a:pPr>
            <a:r>
              <a:rPr lang="en-US" sz="4961" spc="-8" dirty="0">
                <a:solidFill>
                  <a:srgbClr val="FF0000"/>
                </a:solidFill>
                <a:latin typeface="Tahoma"/>
                <a:cs typeface="Tahoma"/>
              </a:rPr>
              <a:t>In Python</a:t>
            </a:r>
            <a:endParaRPr lang="en-US" sz="4961" dirty="0">
              <a:solidFill>
                <a:srgbClr val="FF0000"/>
              </a:solidFill>
              <a:latin typeface="Tahoma"/>
              <a:cs typeface="Tahoma"/>
            </a:endParaRPr>
          </a:p>
        </p:txBody>
      </p:sp>
    </p:spTree>
    <p:extLst>
      <p:ext uri="{BB962C8B-B14F-4D97-AF65-F5344CB8AC3E}">
        <p14:creationId xmlns:p14="http://schemas.microsoft.com/office/powerpoint/2010/main" val="29382259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47CFCD-EFEA-C280-618D-35B4C2BA49FC}"/>
              </a:ext>
            </a:extLst>
          </p:cNvPr>
          <p:cNvPicPr>
            <a:picLocks noChangeAspect="1"/>
          </p:cNvPicPr>
          <p:nvPr/>
        </p:nvPicPr>
        <p:blipFill>
          <a:blip r:embed="rId2"/>
          <a:stretch>
            <a:fillRect/>
          </a:stretch>
        </p:blipFill>
        <p:spPr>
          <a:xfrm>
            <a:off x="877661" y="320676"/>
            <a:ext cx="7782685" cy="4699620"/>
          </a:xfrm>
          <a:prstGeom prst="rect">
            <a:avLst/>
          </a:prstGeom>
        </p:spPr>
      </p:pic>
    </p:spTree>
    <p:extLst>
      <p:ext uri="{BB962C8B-B14F-4D97-AF65-F5344CB8AC3E}">
        <p14:creationId xmlns:p14="http://schemas.microsoft.com/office/powerpoint/2010/main" val="15591726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9ED680-8E43-E0CC-E1A3-C5B42E1ABB35}"/>
              </a:ext>
            </a:extLst>
          </p:cNvPr>
          <p:cNvPicPr>
            <a:picLocks noChangeAspect="1"/>
          </p:cNvPicPr>
          <p:nvPr/>
        </p:nvPicPr>
        <p:blipFill>
          <a:blip r:embed="rId2"/>
          <a:stretch>
            <a:fillRect/>
          </a:stretch>
        </p:blipFill>
        <p:spPr>
          <a:xfrm>
            <a:off x="1155700" y="244475"/>
            <a:ext cx="6705600" cy="5372258"/>
          </a:xfrm>
          <a:prstGeom prst="rect">
            <a:avLst/>
          </a:prstGeom>
        </p:spPr>
      </p:pic>
    </p:spTree>
    <p:extLst>
      <p:ext uri="{BB962C8B-B14F-4D97-AF65-F5344CB8AC3E}">
        <p14:creationId xmlns:p14="http://schemas.microsoft.com/office/powerpoint/2010/main" val="26736552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E518B5-67A0-0F0A-E536-EC285CCF0272}"/>
              </a:ext>
            </a:extLst>
          </p:cNvPr>
          <p:cNvPicPr>
            <a:picLocks noChangeAspect="1"/>
          </p:cNvPicPr>
          <p:nvPr/>
        </p:nvPicPr>
        <p:blipFill>
          <a:blip r:embed="rId2"/>
          <a:stretch>
            <a:fillRect/>
          </a:stretch>
        </p:blipFill>
        <p:spPr>
          <a:xfrm>
            <a:off x="1384300" y="92075"/>
            <a:ext cx="6434133" cy="5345693"/>
          </a:xfrm>
          <a:prstGeom prst="rect">
            <a:avLst/>
          </a:prstGeom>
        </p:spPr>
      </p:pic>
    </p:spTree>
    <p:extLst>
      <p:ext uri="{BB962C8B-B14F-4D97-AF65-F5344CB8AC3E}">
        <p14:creationId xmlns:p14="http://schemas.microsoft.com/office/powerpoint/2010/main" val="21423603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A15016-6CD3-8665-6FF5-977CAD7E30AD}"/>
              </a:ext>
            </a:extLst>
          </p:cNvPr>
          <p:cNvPicPr>
            <a:picLocks noChangeAspect="1"/>
          </p:cNvPicPr>
          <p:nvPr/>
        </p:nvPicPr>
        <p:blipFill>
          <a:blip r:embed="rId2"/>
          <a:stretch>
            <a:fillRect/>
          </a:stretch>
        </p:blipFill>
        <p:spPr>
          <a:xfrm>
            <a:off x="1079500" y="168275"/>
            <a:ext cx="6427072" cy="5249974"/>
          </a:xfrm>
          <a:prstGeom prst="rect">
            <a:avLst/>
          </a:prstGeom>
        </p:spPr>
      </p:pic>
    </p:spTree>
    <p:extLst>
      <p:ext uri="{BB962C8B-B14F-4D97-AF65-F5344CB8AC3E}">
        <p14:creationId xmlns:p14="http://schemas.microsoft.com/office/powerpoint/2010/main" val="28300155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6188BE-61B0-D094-161F-71A2C242BBC9}"/>
              </a:ext>
            </a:extLst>
          </p:cNvPr>
          <p:cNvPicPr>
            <a:picLocks noChangeAspect="1"/>
          </p:cNvPicPr>
          <p:nvPr/>
        </p:nvPicPr>
        <p:blipFill>
          <a:blip r:embed="rId2"/>
          <a:stretch>
            <a:fillRect/>
          </a:stretch>
        </p:blipFill>
        <p:spPr>
          <a:xfrm>
            <a:off x="680455" y="320675"/>
            <a:ext cx="7624348" cy="4395832"/>
          </a:xfrm>
          <a:prstGeom prst="rect">
            <a:avLst/>
          </a:prstGeom>
        </p:spPr>
      </p:pic>
    </p:spTree>
    <p:extLst>
      <p:ext uri="{BB962C8B-B14F-4D97-AF65-F5344CB8AC3E}">
        <p14:creationId xmlns:p14="http://schemas.microsoft.com/office/powerpoint/2010/main" val="31606751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FF5F4F-6110-090D-C6CD-9A5AA1A664E3}"/>
              </a:ext>
            </a:extLst>
          </p:cNvPr>
          <p:cNvPicPr>
            <a:picLocks noChangeAspect="1"/>
          </p:cNvPicPr>
          <p:nvPr/>
        </p:nvPicPr>
        <p:blipFill>
          <a:blip r:embed="rId2"/>
          <a:stretch>
            <a:fillRect/>
          </a:stretch>
        </p:blipFill>
        <p:spPr>
          <a:xfrm>
            <a:off x="1460500" y="396875"/>
            <a:ext cx="6934200" cy="4624318"/>
          </a:xfrm>
          <a:prstGeom prst="rect">
            <a:avLst/>
          </a:prstGeom>
        </p:spPr>
      </p:pic>
    </p:spTree>
    <p:extLst>
      <p:ext uri="{BB962C8B-B14F-4D97-AF65-F5344CB8AC3E}">
        <p14:creationId xmlns:p14="http://schemas.microsoft.com/office/powerpoint/2010/main" val="65083469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16723</TotalTime>
  <Words>4210</Words>
  <Application>Microsoft Office PowerPoint</Application>
  <PresentationFormat>Custom</PresentationFormat>
  <Paragraphs>510</Paragraphs>
  <Slides>81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Arial</vt:lpstr>
      <vt:lpstr>Calibri</vt:lpstr>
      <vt:lpstr>Cambria</vt:lpstr>
      <vt:lpstr>Courier New</vt:lpstr>
      <vt:lpstr>Google Sans</vt:lpstr>
      <vt:lpstr>Nunito</vt:lpstr>
      <vt:lpstr>Tahoma</vt:lpstr>
      <vt:lpstr>Times New Roman</vt:lpstr>
      <vt:lpstr>1_Office Theme</vt:lpstr>
      <vt:lpstr>Smaller Network: CNN</vt:lpstr>
      <vt:lpstr>PowerPoint Presentation</vt:lpstr>
      <vt:lpstr>PowerPoint Presentation</vt:lpstr>
      <vt:lpstr>Deep Learning</vt:lpstr>
      <vt:lpstr>ImageNet (2010)</vt:lpstr>
      <vt:lpstr>AlexNet</vt:lpstr>
      <vt:lpstr>AlexNet Architecture</vt:lpstr>
      <vt:lpstr>AlexNet Architecture</vt:lpstr>
      <vt:lpstr>AlexNet Architecture</vt:lpstr>
      <vt:lpstr>Comparing CNN, AlexNet, and ResNet in Keras</vt:lpstr>
      <vt:lpstr>Simple CNN</vt:lpstr>
      <vt:lpstr>AlexNet (2012)</vt:lpstr>
      <vt:lpstr>ResNet (2015)</vt:lpstr>
      <vt:lpstr>Code Recap</vt:lpstr>
      <vt:lpstr>Training Results: Accuracy</vt:lpstr>
      <vt:lpstr>Training Results: Loss</vt:lpstr>
      <vt:lpstr>Vanishing Gradients</vt:lpstr>
      <vt:lpstr>Skip Connections</vt:lpstr>
      <vt:lpstr>Transfer Learning</vt:lpstr>
      <vt:lpstr>PowerPoint Presentation</vt:lpstr>
      <vt:lpstr>PowerPoint Presentation</vt:lpstr>
      <vt:lpstr>PowerPoint Presentation</vt:lpstr>
      <vt:lpstr>Overfitting &amp; Overparameterization</vt:lpstr>
      <vt:lpstr>Keras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Vanishing Gradients and Deep Networks</vt:lpstr>
      <vt:lpstr>2. Transfer Learning (ResNet50)</vt:lpstr>
      <vt:lpstr>3. Overparameterization and Overfitting</vt:lpstr>
      <vt:lpstr>4. Skip Connections and Model Depth</vt:lpstr>
      <vt:lpstr>5. Efficiency Trade-offs</vt:lpstr>
      <vt:lpstr>6. Interpreting Training Curves</vt:lpstr>
      <vt:lpstr>Why doesn’t adding more layers always increase performance?</vt:lpstr>
      <vt:lpstr>What happens if we unfreeze all layers of ResNet50 on CIFAR-10?</vt:lpstr>
      <vt:lpstr>How do skip connections improve gradient flow mathematically?</vt:lpstr>
      <vt:lpstr>Would AlexNet perform better with Batch Normalization?</vt:lpstr>
      <vt:lpstr>When might transfer learning not be helpful?</vt:lpstr>
      <vt:lpstr>Summary</vt:lpstr>
      <vt:lpstr>Questions</vt:lpstr>
      <vt:lpstr>More Tricks</vt:lpstr>
      <vt:lpstr>Data Augmentation</vt:lpstr>
      <vt:lpstr>AlexNet</vt:lpstr>
      <vt:lpstr>Complexity</vt:lpstr>
      <vt:lpstr>PowerPoint Presentation</vt:lpstr>
      <vt:lpstr>VGG</vt:lpstr>
      <vt:lpstr>VGG Blocks</vt:lpstr>
      <vt:lpstr>VGG Architecture</vt:lpstr>
      <vt:lpstr>Going Deeper</vt:lpstr>
      <vt:lpstr>Residual Networks</vt:lpstr>
      <vt:lpstr>Residual Networks</vt:lpstr>
      <vt:lpstr>PowerPoint Presentation</vt:lpstr>
      <vt:lpstr>ResNet Module</vt:lpstr>
      <vt:lpstr>PowerPoint Presentation</vt:lpstr>
      <vt:lpstr>Putting it all together</vt:lpstr>
      <vt:lpstr>ResNext</vt:lpstr>
      <vt:lpstr>RexNext budget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dc:title>
  <cp:lastModifiedBy>Dr. Nouhad Rizk</cp:lastModifiedBy>
  <cp:revision>53</cp:revision>
  <dcterms:created xsi:type="dcterms:W3CDTF">2021-05-31T22:46:47Z</dcterms:created>
  <dcterms:modified xsi:type="dcterms:W3CDTF">2025-10-13T18:09:35Z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2020-01-27T00:00:00Z</vt:filetime>
  </property>
  <property fmtid="{D5CDD505-2E9C-101B-9397-08002B2CF9AE}" pid="3" name="Creator">
    <vt:lpwstr>Impress</vt:lpwstr>
  </property>
  <property fmtid="{D5CDD505-2E9C-101B-9397-08002B2CF9AE}" pid="4" name="LastSaved">
    <vt:filetime>2020-01-27T00:00:00Z</vt:filetime>
  </property>
</Properties>
</file>