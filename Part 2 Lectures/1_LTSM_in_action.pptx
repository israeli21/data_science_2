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5" r:id="rId6"/>
    <p:sldId id="266" r:id="rId7"/>
    <p:sldId id="267" r:id="rId8"/>
    <p:sldId id="268" r:id="rId9"/>
    <p:sldId id="257" r:id="rId10"/>
    <p:sldId id="258" r:id="rId11"/>
    <p:sldId id="259" r:id="rId12"/>
    <p:sldId id="260" r:id="rId13"/>
    <p:sldId id="261" r:id="rId14"/>
    <p:sldId id="262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82" r:id="rId23"/>
    <p:sldId id="276" r:id="rId24"/>
    <p:sldId id="278" r:id="rId25"/>
    <p:sldId id="281" r:id="rId26"/>
    <p:sldId id="28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46" autoAdjust="0"/>
    <p:restoredTop sz="94660"/>
  </p:normalViewPr>
  <p:slideViewPr>
    <p:cSldViewPr snapToGrid="0">
      <p:cViewPr>
        <p:scale>
          <a:sx n="57" d="100"/>
          <a:sy n="57" d="100"/>
        </p:scale>
        <p:origin x="213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zk, Dr. Nouhad" userId="fac36f85-1e54-4654-ba5f-feb2a5b75425" providerId="ADAL" clId="{5B3ACA06-D576-49B7-A525-F24B657D8B5F}"/>
    <pc:docChg chg="custSel modSld">
      <pc:chgData name="Rizk, Dr. Nouhad" userId="fac36f85-1e54-4654-ba5f-feb2a5b75425" providerId="ADAL" clId="{5B3ACA06-D576-49B7-A525-F24B657D8B5F}" dt="2025-09-30T16:43:27.314" v="0" actId="33524"/>
      <pc:docMkLst>
        <pc:docMk/>
      </pc:docMkLst>
      <pc:sldChg chg="modSp mod">
        <pc:chgData name="Rizk, Dr. Nouhad" userId="fac36f85-1e54-4654-ba5f-feb2a5b75425" providerId="ADAL" clId="{5B3ACA06-D576-49B7-A525-F24B657D8B5F}" dt="2025-09-30T16:43:27.314" v="0" actId="33524"/>
        <pc:sldMkLst>
          <pc:docMk/>
          <pc:sldMk cId="2238801564" sldId="280"/>
        </pc:sldMkLst>
        <pc:spChg chg="mod">
          <ac:chgData name="Rizk, Dr. Nouhad" userId="fac36f85-1e54-4654-ba5f-feb2a5b75425" providerId="ADAL" clId="{5B3ACA06-D576-49B7-A525-F24B657D8B5F}" dt="2025-09-30T16:43:27.314" v="0" actId="33524"/>
          <ac:spMkLst>
            <pc:docMk/>
            <pc:sldMk cId="2238801564" sldId="280"/>
            <ac:spMk id="12" creationId="{63B3EA73-C141-E9B5-F697-90E74BA01DA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E877D-0D68-5FDF-4B4C-4D65E9690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70CD52-5BC1-90F8-27EE-9BF9BF337F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902AB0-ECDB-C8D4-E78A-9E2FE8546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306464-97E1-6E2E-9224-FE80074BC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8DA10B-F46F-B409-0A70-9951E3C27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66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700FA-FB20-B766-3C2C-18DCE3EA6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73293-C8CF-1F27-267F-44141119DC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AD1A39-BAB8-F1FA-D1DD-9D1FD1727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FBF6B9-898C-A5A3-A168-9963F7AD2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0659D-54D5-9677-FFBB-7C2CC8679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965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FF1FA-E94C-DBC2-90CE-FE66DFDC3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6311E9-42FC-974D-8EB0-D886BE695A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5476B5-9E78-58CA-BC4F-69E52F804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9D5B9-9EA3-6937-73A0-14615A884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47260-4D45-D33E-6992-C4FCDF740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417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3CF37-84AF-A4E2-9E33-F6D51B074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0331F-8C40-2BB4-1574-A4A311A61B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12CE74-4532-D570-CC10-4ED63A39EF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5A7284-C3F0-BDE4-6FFA-782B0E6AD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F6AA9D-3D9B-C423-A8E7-D205DD928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069E11-E6A7-13C9-2655-D22355B9B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705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E7540-302E-5602-59D9-9966CEFC8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6A1688-156D-2C0E-D130-DE1CC820D9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C58923-C578-85BA-0282-11E538BA39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EFFC4D-B982-EE4D-9D2C-62E09830D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7CEC89-1EE3-62AF-9E9C-C3B11520AF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696AC4-9D05-F1BA-3975-EA5251958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CA0954-B670-2381-B7BB-B49D66301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41EE57-FC44-A66B-6CBB-56E162CAF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7266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53F9F-2DCE-DBA7-05A9-B4F5F528B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DC609E-A6B9-95CB-1CCB-FED7BB5EA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FB287D-AE69-A339-AD2B-7C4352DE4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75A77F-4515-9FA3-D69E-EBEFADD31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146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20569E-1FD5-C88C-D691-83A5EA39B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859893-5900-EBDA-EC1E-12141A3A8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647AE8-E6E9-B44D-227C-0C3E804A0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843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E4449-1958-DB12-86DA-5CA57EAC4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D84A5-3621-3C18-7C52-DE23BD30ED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F9E961-ACDD-4AE3-61A8-7DD7CCDEA2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A3F864-599F-C28D-F1EA-3605D6884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792067-2F0F-EAF0-8CAD-3961AD0C1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922A71-471C-0436-61F0-C57884F33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0557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8EE08-1F97-B491-0A32-5D9180BD5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A4A2DF-5D74-2452-9F7D-2B094DD916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EDAD79-3BE7-5C2B-3D9D-20C0E666B2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2A56E1-98E1-F2F2-9414-A7501F9BC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6D4EC4-1DF3-0D68-7A7F-27195A18A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C59BE9-67D9-663E-1A0C-160048588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480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A7B17-A4CF-F46A-D02B-870CE66E7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9328D9-9ED9-AA00-C6EC-788F280C4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92E358-6DB7-E760-684A-5D1B8E49D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996B9-5BC7-256F-81D5-25B1CD5D7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FA810-0267-DA65-DC63-E307C5E17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932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142CCF-BBF8-1ED4-29D4-DF89AF0FDA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9CA876-8DA4-D3CA-87A2-8327FAEFAC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B937BE-FE2E-F087-BB6D-06F78D42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7F-E81C-404C-82FD-883D4ECAAF6D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BE9E45-5E8E-7FB6-7802-572A9B3CC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72816-FBA6-CE3A-D5A8-EFB962BF8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33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9719AD-12DF-87DE-8EB8-97D96E110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477B12-0437-152C-1740-992986D79D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A3680-D94C-03BE-6476-4AAC06D767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7F377F-E81C-404C-82FD-883D4ECAAF6D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6EDE7-A8B8-CCA2-AD50-8B7E461A5E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82437A-99FC-0CF3-9260-1DAD03965F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32E156-0672-4E11-811D-FE3A9B247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361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A420AE-4FA4-23B0-60E2-81B938313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4504" y="1019102"/>
            <a:ext cx="7531321" cy="32824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B08770-1D06-F956-1381-AB78BE832C40}"/>
              </a:ext>
            </a:extLst>
          </p:cNvPr>
          <p:cNvSpPr txBox="1"/>
          <p:nvPr/>
        </p:nvSpPr>
        <p:spPr>
          <a:xfrm>
            <a:off x="7356817" y="1912560"/>
            <a:ext cx="4716291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LTSM resolve the vanishing gradient by</a:t>
            </a:r>
          </a:p>
          <a:p>
            <a:r>
              <a:rPr lang="en-US" dirty="0"/>
              <a:t>1- Forget irrelevant information</a:t>
            </a:r>
          </a:p>
          <a:p>
            <a:r>
              <a:rPr lang="en-US" dirty="0"/>
              <a:t>2-Add/update new information</a:t>
            </a:r>
          </a:p>
          <a:p>
            <a:r>
              <a:rPr lang="en-US" dirty="0"/>
              <a:t>3-Pass updated information</a:t>
            </a:r>
          </a:p>
        </p:txBody>
      </p:sp>
    </p:spTree>
    <p:extLst>
      <p:ext uri="{BB962C8B-B14F-4D97-AF65-F5344CB8AC3E}">
        <p14:creationId xmlns:p14="http://schemas.microsoft.com/office/powerpoint/2010/main" val="1759093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DF7D932F-6828-0281-D69E-EBD9749D5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347972" y="1168439"/>
            <a:ext cx="5471160" cy="326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46510B8-044A-0997-4D28-25EA6F3E4222}"/>
              </a:ext>
            </a:extLst>
          </p:cNvPr>
          <p:cNvSpPr txBox="1"/>
          <p:nvPr/>
        </p:nvSpPr>
        <p:spPr>
          <a:xfrm>
            <a:off x="1277112" y="4121041"/>
            <a:ext cx="3474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 </a:t>
            </a:r>
            <a:r>
              <a:rPr lang="en-US" sz="2400" b="1" dirty="0">
                <a:sym typeface="Wingdings" panose="05000000000000000000" pitchFamily="2" charset="2"/>
              </a:rPr>
              <a:t>Short term memory</a:t>
            </a:r>
            <a:endParaRPr lang="en-US" sz="2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C1C407-8D3C-50FE-07CC-1ADAB0F3AAD3}"/>
              </a:ext>
            </a:extLst>
          </p:cNvPr>
          <p:cNvSpPr txBox="1"/>
          <p:nvPr/>
        </p:nvSpPr>
        <p:spPr>
          <a:xfrm>
            <a:off x="1277112" y="1313688"/>
            <a:ext cx="34232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 </a:t>
            </a:r>
            <a:r>
              <a:rPr lang="en-US" sz="2400" b="1" dirty="0">
                <a:sym typeface="Wingdings" panose="05000000000000000000" pitchFamily="2" charset="2"/>
              </a:rPr>
              <a:t>Long term memory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410594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94FDB5-5A67-36A0-2490-FCCA3D420A4E}"/>
              </a:ext>
            </a:extLst>
          </p:cNvPr>
          <p:cNvSpPr txBox="1"/>
          <p:nvPr/>
        </p:nvSpPr>
        <p:spPr>
          <a:xfrm>
            <a:off x="1018846" y="407600"/>
            <a:ext cx="51719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Forget gate f </a:t>
            </a:r>
            <a:r>
              <a:rPr lang="en-US" sz="2400" b="1" dirty="0">
                <a:sym typeface="Wingdings" panose="05000000000000000000" pitchFamily="2" charset="2"/>
              </a:rPr>
              <a:t>Short term memory</a:t>
            </a:r>
            <a:endParaRPr lang="en-US" sz="24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08B26D-4834-FDB1-C3CE-858631571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273" y="1541409"/>
            <a:ext cx="6324837" cy="3775181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E9FEC4E6-1A93-BF77-B87D-180C35EF9001}"/>
              </a:ext>
            </a:extLst>
          </p:cNvPr>
          <p:cNvSpPr/>
          <p:nvPr/>
        </p:nvSpPr>
        <p:spPr>
          <a:xfrm>
            <a:off x="4574303" y="1635868"/>
            <a:ext cx="164592" cy="996696"/>
          </a:xfrm>
          <a:prstGeom prst="downArrow">
            <a:avLst/>
          </a:prstGeom>
          <a:gradFill>
            <a:gsLst>
              <a:gs pos="36000">
                <a:srgbClr val="FF0000"/>
              </a:gs>
              <a:gs pos="50000">
                <a:schemeClr val="accent3">
                  <a:satMod val="110000"/>
                  <a:lumMod val="100000"/>
                  <a:shade val="100000"/>
                </a:schemeClr>
              </a:gs>
              <a:gs pos="100000">
                <a:schemeClr val="accent3">
                  <a:lumMod val="99000"/>
                  <a:satMod val="120000"/>
                  <a:shade val="78000"/>
                </a:schemeClr>
              </a:gs>
            </a:gsLst>
          </a:gra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D402B4-900B-3DF4-B966-202442E1B509}"/>
              </a:ext>
            </a:extLst>
          </p:cNvPr>
          <p:cNvSpPr txBox="1"/>
          <p:nvPr/>
        </p:nvSpPr>
        <p:spPr>
          <a:xfrm>
            <a:off x="4763693" y="2134216"/>
            <a:ext cx="2065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0: forget everything</a:t>
            </a:r>
          </a:p>
          <a:p>
            <a:r>
              <a:rPr lang="en-US" dirty="0">
                <a:highlight>
                  <a:srgbClr val="FFFF00"/>
                </a:highlight>
              </a:rPr>
              <a:t>1: forget nothing</a:t>
            </a:r>
          </a:p>
        </p:txBody>
      </p:sp>
    </p:spTree>
    <p:extLst>
      <p:ext uri="{BB962C8B-B14F-4D97-AF65-F5344CB8AC3E}">
        <p14:creationId xmlns:p14="http://schemas.microsoft.com/office/powerpoint/2010/main" val="3099762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6FF11-5636-EF54-E622-8972622AD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1B4265-2A2F-875B-2C5C-F3BA0C8C57DF}"/>
              </a:ext>
            </a:extLst>
          </p:cNvPr>
          <p:cNvSpPr txBox="1"/>
          <p:nvPr/>
        </p:nvSpPr>
        <p:spPr>
          <a:xfrm>
            <a:off x="3034502" y="5269409"/>
            <a:ext cx="1729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Input gate </a:t>
            </a:r>
            <a:r>
              <a:rPr lang="en-US" sz="2400" b="1" dirty="0" err="1"/>
              <a:t>i</a:t>
            </a:r>
            <a:endParaRPr lang="en-US" sz="24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1DCAC7-9987-2E2D-2612-0397CB89A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643" y="1635508"/>
            <a:ext cx="6324837" cy="3775181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2FC2E670-FFDF-F595-C880-169047FA62DF}"/>
              </a:ext>
            </a:extLst>
          </p:cNvPr>
          <p:cNvSpPr/>
          <p:nvPr/>
        </p:nvSpPr>
        <p:spPr>
          <a:xfrm rot="5400000">
            <a:off x="5540102" y="2237332"/>
            <a:ext cx="190228" cy="2761762"/>
          </a:xfrm>
          <a:prstGeom prst="downArrow">
            <a:avLst/>
          </a:prstGeom>
          <a:gradFill>
            <a:gsLst>
              <a:gs pos="36000">
                <a:srgbClr val="FF0000"/>
              </a:gs>
              <a:gs pos="50000">
                <a:schemeClr val="accent3">
                  <a:satMod val="110000"/>
                  <a:lumMod val="100000"/>
                  <a:shade val="100000"/>
                </a:schemeClr>
              </a:gs>
              <a:gs pos="100000">
                <a:schemeClr val="accent3">
                  <a:lumMod val="99000"/>
                  <a:satMod val="120000"/>
                  <a:shade val="78000"/>
                </a:schemeClr>
              </a:gs>
            </a:gsLst>
          </a:gra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E045B6-1EF1-9172-C4BC-F2906A6DDCF8}"/>
              </a:ext>
            </a:extLst>
          </p:cNvPr>
          <p:cNvSpPr txBox="1"/>
          <p:nvPr/>
        </p:nvSpPr>
        <p:spPr>
          <a:xfrm>
            <a:off x="3986253" y="986021"/>
            <a:ext cx="2419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Updating the cell state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6AB793-5E74-6D3D-A51A-896B84ABA4CB}"/>
              </a:ext>
            </a:extLst>
          </p:cNvPr>
          <p:cNvSpPr txBox="1"/>
          <p:nvPr/>
        </p:nvSpPr>
        <p:spPr>
          <a:xfrm>
            <a:off x="7227583" y="3433547"/>
            <a:ext cx="3901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New information(output of tanh -1,1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9ED39E-7ACF-A1BC-FFBE-056324A2A90C}"/>
              </a:ext>
            </a:extLst>
          </p:cNvPr>
          <p:cNvSpPr txBox="1"/>
          <p:nvPr/>
        </p:nvSpPr>
        <p:spPr>
          <a:xfrm>
            <a:off x="4425333" y="2593456"/>
            <a:ext cx="855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New C</a:t>
            </a:r>
          </a:p>
        </p:txBody>
      </p:sp>
    </p:spTree>
    <p:extLst>
      <p:ext uri="{BB962C8B-B14F-4D97-AF65-F5344CB8AC3E}">
        <p14:creationId xmlns:p14="http://schemas.microsoft.com/office/powerpoint/2010/main" val="2153353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F58AA-B02A-EA7B-CEF2-4A065B31E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CF0D06-3E13-F5AC-8736-835E92CDFE4F}"/>
              </a:ext>
            </a:extLst>
          </p:cNvPr>
          <p:cNvSpPr txBox="1"/>
          <p:nvPr/>
        </p:nvSpPr>
        <p:spPr>
          <a:xfrm>
            <a:off x="4333784" y="5280533"/>
            <a:ext cx="20722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Output gate 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37F80D-00C6-9522-6E76-957B35C7B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60" y="1541409"/>
            <a:ext cx="6324837" cy="3775181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23657507-42A4-40B6-4C52-0A257731FFC9}"/>
              </a:ext>
            </a:extLst>
          </p:cNvPr>
          <p:cNvSpPr/>
          <p:nvPr/>
        </p:nvSpPr>
        <p:spPr>
          <a:xfrm rot="11915313">
            <a:off x="4570685" y="3582274"/>
            <a:ext cx="190228" cy="2761762"/>
          </a:xfrm>
          <a:prstGeom prst="downArrow">
            <a:avLst/>
          </a:prstGeom>
          <a:gradFill>
            <a:gsLst>
              <a:gs pos="36000">
                <a:srgbClr val="FF0000"/>
              </a:gs>
              <a:gs pos="50000">
                <a:schemeClr val="accent3">
                  <a:satMod val="110000"/>
                  <a:lumMod val="100000"/>
                  <a:shade val="100000"/>
                </a:schemeClr>
              </a:gs>
              <a:gs pos="100000">
                <a:schemeClr val="accent3">
                  <a:lumMod val="99000"/>
                  <a:satMod val="120000"/>
                  <a:shade val="78000"/>
                </a:schemeClr>
              </a:gs>
            </a:gsLst>
          </a:gra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F60990-BB17-FF60-492D-3A82BF765E70}"/>
              </a:ext>
            </a:extLst>
          </p:cNvPr>
          <p:cNvSpPr txBox="1"/>
          <p:nvPr/>
        </p:nvSpPr>
        <p:spPr>
          <a:xfrm>
            <a:off x="6832003" y="4165056"/>
            <a:ext cx="5258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hidden state is a function of Long term memory (Ct)</a:t>
            </a:r>
          </a:p>
        </p:txBody>
      </p:sp>
    </p:spTree>
    <p:extLst>
      <p:ext uri="{BB962C8B-B14F-4D97-AF65-F5344CB8AC3E}">
        <p14:creationId xmlns:p14="http://schemas.microsoft.com/office/powerpoint/2010/main" val="349714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CB087F-0C0E-A41D-1AA5-4B83882BD1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560" y="139537"/>
            <a:ext cx="4692619" cy="5215257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1CE58540-1D75-EDC0-8AAB-BDD2DD5008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54496" y="649046"/>
            <a:ext cx="5471160" cy="326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8871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6EABE2-A83F-90AD-4E91-1C0A2900C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63" y="562161"/>
            <a:ext cx="4144093" cy="2722573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3A6E9154-48C8-E715-5B49-99773DB91E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54496" y="649046"/>
            <a:ext cx="5471160" cy="326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1448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A51A0227-072A-4F5F-928C-E2C3E5CCD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F1F5160-7DD8-E3CA-598C-2BE313270A2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30936" y="4440365"/>
                <a:ext cx="4245864" cy="1722691"/>
              </a:xfrm>
            </p:spPr>
            <p:txBody>
              <a:bodyPr anchor="ctr">
                <a:normAutofit/>
              </a:bodyPr>
              <a:lstStyle/>
              <a:p>
                <a:r>
                  <a:rPr lang="en-US" sz="3800"/>
                  <a:t>Time Step 1: </a:t>
                </a:r>
                <a14:m>
                  <m:oMath xmlns:m="http://schemas.openxmlformats.org/officeDocument/2006/math">
                    <m:r>
                      <a:rPr lang="en-US" sz="38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380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3800"/>
                  <a:t>, Input: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3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38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3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3800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3800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380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sz="380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F1F5160-7DD8-E3CA-598C-2BE313270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30936" y="4440365"/>
                <a:ext cx="4245864" cy="1722691"/>
              </a:xfrm>
              <a:blipFill>
                <a:blip r:embed="rId2"/>
                <a:stretch>
                  <a:fillRect l="-4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364FEFA-51CA-2626-90A8-1FA66CBF2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771" y="320040"/>
            <a:ext cx="5454209" cy="392703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40D3C4D-D5E7-389F-A8B7-7450348730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54496" y="649046"/>
            <a:ext cx="5471160" cy="326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3" name="sketchy line">
            <a:extLst>
              <a:ext uri="{FF2B5EF4-FFF2-40B4-BE49-F238E27FC236}">
                <a16:creationId xmlns:a16="http://schemas.microsoft.com/office/drawing/2014/main" id="{35D99776-4B38-47DF-A302-11AD9AF87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37304" y="529256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476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51A0227-072A-4F5F-928C-E2C3E5CCD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62862B-B315-80E6-53E2-66EE0A51F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96" y="594335"/>
            <a:ext cx="5471160" cy="3378440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E928E85A-C0FD-11BE-FA15-2134395D39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54496" y="649046"/>
            <a:ext cx="5471160" cy="326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ketchy line">
            <a:extLst>
              <a:ext uri="{FF2B5EF4-FFF2-40B4-BE49-F238E27FC236}">
                <a16:creationId xmlns:a16="http://schemas.microsoft.com/office/drawing/2014/main" id="{35D99776-4B38-47DF-A302-11AD9AF87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37304" y="529256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A660AE-5C44-EE79-9DFF-828291D7082A}"/>
              </a:ext>
            </a:extLst>
          </p:cNvPr>
          <p:cNvSpPr txBox="1"/>
          <p:nvPr/>
        </p:nvSpPr>
        <p:spPr>
          <a:xfrm>
            <a:off x="5333999" y="4440365"/>
            <a:ext cx="6214871" cy="17226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b="1"/>
              <a:t>Time Step 2: 𝑡=2t=2, Input: 𝑥2=0.1x2	​=0.1</a:t>
            </a:r>
          </a:p>
        </p:txBody>
      </p:sp>
    </p:spTree>
    <p:extLst>
      <p:ext uri="{BB962C8B-B14F-4D97-AF65-F5344CB8AC3E}">
        <p14:creationId xmlns:p14="http://schemas.microsoft.com/office/powerpoint/2010/main" val="109513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6A9845-EAFA-30AD-E9FD-F4F7BADE03A5}"/>
              </a:ext>
            </a:extLst>
          </p:cNvPr>
          <p:cNvSpPr txBox="1"/>
          <p:nvPr/>
        </p:nvSpPr>
        <p:spPr>
          <a:xfrm>
            <a:off x="638881" y="4501453"/>
            <a:ext cx="10909640" cy="1065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100" b="1">
                <a:latin typeface="+mj-lt"/>
                <a:ea typeface="+mj-ea"/>
                <a:cs typeface="+mj-cs"/>
              </a:rPr>
              <a:t>Time Step 3: 𝑡=3t=3, Input: 𝑥3=−0.3x3	​=−0.3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CC7B83F0-77D3-BB2D-3421-82E684CBC6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20040" y="590405"/>
            <a:ext cx="5614416" cy="3354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EA9DA5-758D-02D8-1DD3-0F4BC791B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422635"/>
            <a:ext cx="5934456" cy="3501329"/>
          </a:xfrm>
          <a:prstGeom prst="rect">
            <a:avLst/>
          </a:prstGeom>
        </p:spPr>
      </p:pic>
      <p:sp>
        <p:nvSpPr>
          <p:cNvPr id="12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613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4CCCB3-A3CA-72F0-64E7-79236CA8B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Summary table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DA0A69B-23CA-8405-9C3E-DA1AFF1DB5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6130339"/>
              </p:ext>
            </p:extLst>
          </p:nvPr>
        </p:nvGraphicFramePr>
        <p:xfrm>
          <a:off x="4654296" y="2571756"/>
          <a:ext cx="7214619" cy="168705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84883">
                  <a:extLst>
                    <a:ext uri="{9D8B030D-6E8A-4147-A177-3AD203B41FA5}">
                      <a16:colId xmlns:a16="http://schemas.microsoft.com/office/drawing/2014/main" val="961383191"/>
                    </a:ext>
                  </a:extLst>
                </a:gridCol>
                <a:gridCol w="858196">
                  <a:extLst>
                    <a:ext uri="{9D8B030D-6E8A-4147-A177-3AD203B41FA5}">
                      <a16:colId xmlns:a16="http://schemas.microsoft.com/office/drawing/2014/main" val="3884972002"/>
                    </a:ext>
                  </a:extLst>
                </a:gridCol>
                <a:gridCol w="864423">
                  <a:extLst>
                    <a:ext uri="{9D8B030D-6E8A-4147-A177-3AD203B41FA5}">
                      <a16:colId xmlns:a16="http://schemas.microsoft.com/office/drawing/2014/main" val="3968822901"/>
                    </a:ext>
                  </a:extLst>
                </a:gridCol>
                <a:gridCol w="858196">
                  <a:extLst>
                    <a:ext uri="{9D8B030D-6E8A-4147-A177-3AD203B41FA5}">
                      <a16:colId xmlns:a16="http://schemas.microsoft.com/office/drawing/2014/main" val="1669401871"/>
                    </a:ext>
                  </a:extLst>
                </a:gridCol>
                <a:gridCol w="1402353">
                  <a:extLst>
                    <a:ext uri="{9D8B030D-6E8A-4147-A177-3AD203B41FA5}">
                      <a16:colId xmlns:a16="http://schemas.microsoft.com/office/drawing/2014/main" val="4189434698"/>
                    </a:ext>
                  </a:extLst>
                </a:gridCol>
                <a:gridCol w="719130">
                  <a:extLst>
                    <a:ext uri="{9D8B030D-6E8A-4147-A177-3AD203B41FA5}">
                      <a16:colId xmlns:a16="http://schemas.microsoft.com/office/drawing/2014/main" val="801135878"/>
                    </a:ext>
                  </a:extLst>
                </a:gridCol>
                <a:gridCol w="902476">
                  <a:extLst>
                    <a:ext uri="{9D8B030D-6E8A-4147-A177-3AD203B41FA5}">
                      <a16:colId xmlns:a16="http://schemas.microsoft.com/office/drawing/2014/main" val="1280744436"/>
                    </a:ext>
                  </a:extLst>
                </a:gridCol>
                <a:gridCol w="924962">
                  <a:extLst>
                    <a:ext uri="{9D8B030D-6E8A-4147-A177-3AD203B41FA5}">
                      <a16:colId xmlns:a16="http://schemas.microsoft.com/office/drawing/2014/main" val="3161859759"/>
                    </a:ext>
                  </a:extLst>
                </a:gridCol>
              </a:tblGrid>
              <a:tr h="6708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Time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Input ( x_t )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Forget ( f_t )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Input ( i_t )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Candidate ( \tilde{c}_t )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Cell ( c_t )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Output ( o_t )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30">
                          <a:solidFill>
                            <a:schemeClr val="tx1"/>
                          </a:solidFill>
                        </a:rPr>
                        <a:t>Hidden ( h_t )</a:t>
                      </a:r>
                    </a:p>
                  </a:txBody>
                  <a:tcPr marL="0" marR="9963" marT="49815" marB="4981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0909035"/>
                  </a:ext>
                </a:extLst>
              </a:tr>
              <a:tr h="3387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0.622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0.622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0.462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0.287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0.622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0.174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469640"/>
                  </a:ext>
                </a:extLst>
              </a:tr>
              <a:tr h="3387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0.1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0.568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0.568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0.267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0.315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0.568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0.173</a:t>
                      </a:r>
                    </a:p>
                  </a:txBody>
                  <a:tcPr marL="49815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929006"/>
                  </a:ext>
                </a:extLst>
              </a:tr>
              <a:tr h="3387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-0.3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0.468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0.468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-0.126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0.088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0.468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</a:rPr>
                        <a:t>0.041</a:t>
                      </a:r>
                    </a:p>
                  </a:txBody>
                  <a:tcPr marL="0" marR="99629" marT="49815" marB="4981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27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3175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7C16-791C-9B56-4038-21BFE6F72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703" y="2103437"/>
            <a:ext cx="10515600" cy="1325563"/>
          </a:xfrm>
        </p:spPr>
        <p:txBody>
          <a:bodyPr/>
          <a:lstStyle/>
          <a:p>
            <a:r>
              <a:rPr lang="en-US" dirty="0"/>
              <a:t>How to build and train an LSTM model for time series forecasting</a:t>
            </a:r>
          </a:p>
        </p:txBody>
      </p:sp>
    </p:spTree>
    <p:extLst>
      <p:ext uri="{BB962C8B-B14F-4D97-AF65-F5344CB8AC3E}">
        <p14:creationId xmlns:p14="http://schemas.microsoft.com/office/powerpoint/2010/main" val="29395647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B18F7-59F4-135F-548E-8B93E8118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4390"/>
            <a:ext cx="10515600" cy="592004"/>
          </a:xfrm>
        </p:spPr>
        <p:txBody>
          <a:bodyPr>
            <a:normAutofit fontScale="90000"/>
          </a:bodyPr>
          <a:lstStyle/>
          <a:p>
            <a:r>
              <a:rPr lang="en-US" dirty="0"/>
              <a:t>Data generation (sine + noise)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B4516D-5622-9BBF-CDA1-04CB39D62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074" y="4024268"/>
            <a:ext cx="8028424" cy="271061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5EE967A-148F-F65D-D055-ADBCFA65A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95" y="878506"/>
            <a:ext cx="6058058" cy="4348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6684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7BA6E-9472-9968-B5CD-C9DD8D1B7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Preprocessing and sequence creation</a:t>
            </a:r>
            <a:br>
              <a:rPr lang="en-US" dirty="0"/>
            </a:b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A51824-68B7-6A80-AF7B-AB836B2C4C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744" y="1588561"/>
            <a:ext cx="8082854" cy="513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363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82744-C540-69E7-B5DF-B994931FE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and training an LSTM model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DBD4B0-6EC2-F38A-2742-048D797F6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813" y="1227619"/>
            <a:ext cx="6634051" cy="5002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894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8BC18-B6F1-FE02-F84F-66D3FE040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" y="0"/>
            <a:ext cx="10515600" cy="1325563"/>
          </a:xfrm>
        </p:spPr>
        <p:txBody>
          <a:bodyPr/>
          <a:lstStyle/>
          <a:p>
            <a:r>
              <a:rPr lang="en-US" dirty="0"/>
              <a:t>Train the model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BE85DA-DB66-78AD-EF7A-A0FF5CE93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0432" y="0"/>
            <a:ext cx="6330208" cy="49313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CC20F7-4248-E613-370F-21A472F53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261" y="4326037"/>
            <a:ext cx="5935083" cy="2531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9189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D715795-F9C9-1F5F-6F64-69D1F3665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232" y="322800"/>
            <a:ext cx="7426315" cy="6212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7258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BD1034-10ED-1EBC-6764-50EB9C5F4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" y="92807"/>
            <a:ext cx="6194908" cy="60871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4F7447-75A6-DD54-552F-DCC3C22DB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2961" y="3642543"/>
            <a:ext cx="6324765" cy="2645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1333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F5D45021-4786-FF14-C277-D2D391178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92429" y="173140"/>
            <a:ext cx="9731141" cy="5814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BBE393-E546-2791-C617-7CD49C285C88}"/>
              </a:ext>
            </a:extLst>
          </p:cNvPr>
          <p:cNvSpPr txBox="1"/>
          <p:nvPr/>
        </p:nvSpPr>
        <p:spPr>
          <a:xfrm>
            <a:off x="221381" y="1366787"/>
            <a:ext cx="2378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Long Term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58C884-EC0F-3E79-2AC1-B3DE0113A295}"/>
              </a:ext>
            </a:extLst>
          </p:cNvPr>
          <p:cNvSpPr txBox="1"/>
          <p:nvPr/>
        </p:nvSpPr>
        <p:spPr>
          <a:xfrm>
            <a:off x="59040" y="3819625"/>
            <a:ext cx="25068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Short  Term Memory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A8953A-E0F0-2D4A-916E-5BA871F344EF}"/>
              </a:ext>
            </a:extLst>
          </p:cNvPr>
          <p:cNvSpPr txBox="1"/>
          <p:nvPr/>
        </p:nvSpPr>
        <p:spPr>
          <a:xfrm>
            <a:off x="2069432" y="2637378"/>
            <a:ext cx="303195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What percentage of the long-term memory to remember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B81E3D-EAC3-38FD-8138-07D5BD3B357F}"/>
              </a:ext>
            </a:extLst>
          </p:cNvPr>
          <p:cNvSpPr txBox="1"/>
          <p:nvPr/>
        </p:nvSpPr>
        <p:spPr>
          <a:xfrm>
            <a:off x="2905226" y="2960543"/>
            <a:ext cx="3341570" cy="6463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What percentage of the potential memory to remember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E616DB-6F3D-6A1A-2758-99C1D51C4F26}"/>
              </a:ext>
            </a:extLst>
          </p:cNvPr>
          <p:cNvSpPr txBox="1"/>
          <p:nvPr/>
        </p:nvSpPr>
        <p:spPr>
          <a:xfrm>
            <a:off x="5863705" y="3173294"/>
            <a:ext cx="3031958" cy="6463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Potential long-term memory (</a:t>
            </a:r>
            <a:r>
              <a:rPr lang="en-US" dirty="0" err="1"/>
              <a:t>input+short</a:t>
            </a:r>
            <a:r>
              <a:rPr lang="en-US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570C12-6D57-2E30-DAA3-47A004AAE220}"/>
              </a:ext>
            </a:extLst>
          </p:cNvPr>
          <p:cNvSpPr txBox="1"/>
          <p:nvPr/>
        </p:nvSpPr>
        <p:spPr>
          <a:xfrm>
            <a:off x="5608875" y="1655545"/>
            <a:ext cx="2653227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b="1" dirty="0"/>
              <a:t>New long-term 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C15EA1-359B-0323-2994-45739532F840}"/>
              </a:ext>
            </a:extLst>
          </p:cNvPr>
          <p:cNvSpPr txBox="1"/>
          <p:nvPr/>
        </p:nvSpPr>
        <p:spPr>
          <a:xfrm>
            <a:off x="9205275" y="2803962"/>
            <a:ext cx="305609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Potential short-term 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C31ED9-8E3F-54F4-6DC8-6EE2D94F4923}"/>
              </a:ext>
            </a:extLst>
          </p:cNvPr>
          <p:cNvSpPr txBox="1"/>
          <p:nvPr/>
        </p:nvSpPr>
        <p:spPr>
          <a:xfrm>
            <a:off x="5863705" y="3173294"/>
            <a:ext cx="320521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What percentage of the short-term memory to remember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004677-0A64-1CC1-1741-77D855E680FB}"/>
              </a:ext>
            </a:extLst>
          </p:cNvPr>
          <p:cNvSpPr txBox="1"/>
          <p:nvPr/>
        </p:nvSpPr>
        <p:spPr>
          <a:xfrm>
            <a:off x="9440370" y="4812632"/>
            <a:ext cx="2585901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New short term </a:t>
            </a:r>
            <a:r>
              <a:rPr lang="en-US" b="1" dirty="0" err="1">
                <a:solidFill>
                  <a:srgbClr val="FF0000"/>
                </a:solidFill>
              </a:rPr>
              <a:t>memry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2520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70C954-5560-5DCD-9357-6320E3B2F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8139"/>
            <a:ext cx="12192000" cy="50390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AC14984-C0DF-0350-7059-3AAAA5ADFD07}"/>
              </a:ext>
            </a:extLst>
          </p:cNvPr>
          <p:cNvSpPr txBox="1"/>
          <p:nvPr/>
        </p:nvSpPr>
        <p:spPr>
          <a:xfrm>
            <a:off x="1887595" y="68879"/>
            <a:ext cx="77696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Predict the values of day 5 for both companies A and  B</a:t>
            </a:r>
            <a:br>
              <a:rPr lang="en-US" sz="2400" b="1" dirty="0"/>
            </a:br>
            <a:r>
              <a:rPr lang="en-US" sz="2400" b="1" dirty="0"/>
              <a:t>based on the values of days 1,2,3,4 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941C3B5-B01F-2935-2A5F-B7B7AC4E1E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755630"/>
              </p:ext>
            </p:extLst>
          </p:nvPr>
        </p:nvGraphicFramePr>
        <p:xfrm>
          <a:off x="3033757" y="3893819"/>
          <a:ext cx="6298251" cy="296418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61155">
                  <a:extLst>
                    <a:ext uri="{9D8B030D-6E8A-4147-A177-3AD203B41FA5}">
                      <a16:colId xmlns:a16="http://schemas.microsoft.com/office/drawing/2014/main" val="1964572100"/>
                    </a:ext>
                  </a:extLst>
                </a:gridCol>
                <a:gridCol w="1454755">
                  <a:extLst>
                    <a:ext uri="{9D8B030D-6E8A-4147-A177-3AD203B41FA5}">
                      <a16:colId xmlns:a16="http://schemas.microsoft.com/office/drawing/2014/main" val="1188594380"/>
                    </a:ext>
                  </a:extLst>
                </a:gridCol>
                <a:gridCol w="537721">
                  <a:extLst>
                    <a:ext uri="{9D8B030D-6E8A-4147-A177-3AD203B41FA5}">
                      <a16:colId xmlns:a16="http://schemas.microsoft.com/office/drawing/2014/main" val="3930476095"/>
                    </a:ext>
                  </a:extLst>
                </a:gridCol>
                <a:gridCol w="861155">
                  <a:extLst>
                    <a:ext uri="{9D8B030D-6E8A-4147-A177-3AD203B41FA5}">
                      <a16:colId xmlns:a16="http://schemas.microsoft.com/office/drawing/2014/main" val="2372366388"/>
                    </a:ext>
                  </a:extLst>
                </a:gridCol>
                <a:gridCol w="861155">
                  <a:extLst>
                    <a:ext uri="{9D8B030D-6E8A-4147-A177-3AD203B41FA5}">
                      <a16:colId xmlns:a16="http://schemas.microsoft.com/office/drawing/2014/main" val="2000046970"/>
                    </a:ext>
                  </a:extLst>
                </a:gridCol>
                <a:gridCol w="1406115">
                  <a:extLst>
                    <a:ext uri="{9D8B030D-6E8A-4147-A177-3AD203B41FA5}">
                      <a16:colId xmlns:a16="http://schemas.microsoft.com/office/drawing/2014/main" val="4003726006"/>
                    </a:ext>
                  </a:extLst>
                </a:gridCol>
                <a:gridCol w="316195">
                  <a:extLst>
                    <a:ext uri="{9D8B030D-6E8A-4147-A177-3AD203B41FA5}">
                      <a16:colId xmlns:a16="http://schemas.microsoft.com/office/drawing/2014/main" val="1092048391"/>
                    </a:ext>
                  </a:extLst>
                </a:gridCol>
              </a:tblGrid>
              <a:tr h="3885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Company A</a:t>
                      </a: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Company B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2566200198"/>
                  </a:ext>
                </a:extLst>
              </a:tr>
              <a:tr h="1971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Day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value 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Day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value 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extLst>
                  <a:ext uri="{0D108BD9-81ED-4DB2-BD59-A6C34878D82A}">
                    <a16:rowId xmlns:a16="http://schemas.microsoft.com/office/drawing/2014/main" val="1078514892"/>
                  </a:ext>
                </a:extLst>
              </a:tr>
              <a:tr h="1971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1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1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1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extLst>
                  <a:ext uri="{0D108BD9-81ED-4DB2-BD59-A6C34878D82A}">
                    <a16:rowId xmlns:a16="http://schemas.microsoft.com/office/drawing/2014/main" val="1973496476"/>
                  </a:ext>
                </a:extLst>
              </a:tr>
              <a:tr h="1971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2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0.5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2</a:t>
                      </a: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0.5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extLst>
                  <a:ext uri="{0D108BD9-81ED-4DB2-BD59-A6C34878D82A}">
                    <a16:rowId xmlns:a16="http://schemas.microsoft.com/office/drawing/2014/main" val="151472229"/>
                  </a:ext>
                </a:extLst>
              </a:tr>
              <a:tr h="1971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3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0.25</a:t>
                      </a: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3</a:t>
                      </a: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extLst>
                  <a:ext uri="{0D108BD9-81ED-4DB2-BD59-A6C34878D82A}">
                    <a16:rowId xmlns:a16="http://schemas.microsoft.com/office/drawing/2014/main" val="4063462888"/>
                  </a:ext>
                </a:extLst>
              </a:tr>
              <a:tr h="1971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4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1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4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1</a:t>
                      </a: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extLst>
                  <a:ext uri="{0D108BD9-81ED-4DB2-BD59-A6C34878D82A}">
                    <a16:rowId xmlns:a16="http://schemas.microsoft.com/office/drawing/2014/main" val="940725398"/>
                  </a:ext>
                </a:extLst>
              </a:tr>
              <a:tr h="1971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5???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0???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5???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1??</a:t>
                      </a:r>
                      <a:endParaRPr lang="en-US" sz="2400" b="1" i="0" u="none" strike="noStrike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1" i="0" u="none" strike="noStrike" dirty="0"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43" marR="5443" marT="5443" marB="0" anchor="ctr"/>
                </a:tc>
                <a:extLst>
                  <a:ext uri="{0D108BD9-81ED-4DB2-BD59-A6C34878D82A}">
                    <a16:rowId xmlns:a16="http://schemas.microsoft.com/office/drawing/2014/main" val="32545911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19964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55">
            <a:extLst>
              <a:ext uri="{FF2B5EF4-FFF2-40B4-BE49-F238E27FC236}">
                <a16:creationId xmlns:a16="http://schemas.microsoft.com/office/drawing/2014/main" id="{9F7C008F-9E0D-C9BD-BFF5-C0DFBB6585EF}"/>
              </a:ext>
            </a:extLst>
          </p:cNvPr>
          <p:cNvSpPr/>
          <p:nvPr/>
        </p:nvSpPr>
        <p:spPr>
          <a:xfrm>
            <a:off x="3221719" y="973652"/>
            <a:ext cx="4120497" cy="4660122"/>
          </a:xfrm>
          <a:prstGeom prst="rect">
            <a:avLst/>
          </a:prstGeom>
          <a:solidFill>
            <a:schemeClr val="accent2">
              <a:lumMod val="40000"/>
              <a:lumOff val="60000"/>
              <a:alpha val="2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137659-E08F-9AF3-6CC1-30DAD455273F}"/>
              </a:ext>
            </a:extLst>
          </p:cNvPr>
          <p:cNvSpPr/>
          <p:nvPr/>
        </p:nvSpPr>
        <p:spPr>
          <a:xfrm>
            <a:off x="0" y="46911"/>
            <a:ext cx="932688" cy="1012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CAA984-3934-5F7C-EAEC-5C3443F14A54}"/>
                  </a:ext>
                </a:extLst>
              </p:cNvPr>
              <p:cNvSpPr txBox="1"/>
              <p:nvPr/>
            </p:nvSpPr>
            <p:spPr>
              <a:xfrm>
                <a:off x="1358181" y="1152569"/>
                <a:ext cx="1985473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CAA984-3934-5F7C-EAEC-5C3443F14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8181" y="1152569"/>
                <a:ext cx="1985473" cy="4924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438652-C265-2F8E-A4BF-82C49246C99C}"/>
              </a:ext>
            </a:extLst>
          </p:cNvPr>
          <p:cNvCxnSpPr>
            <a:cxnSpLocks/>
          </p:cNvCxnSpPr>
          <p:nvPr/>
        </p:nvCxnSpPr>
        <p:spPr>
          <a:xfrm>
            <a:off x="667993" y="1394693"/>
            <a:ext cx="10410943" cy="25121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7E8DA40-6912-3BF2-3D33-495184E3AD75}"/>
              </a:ext>
            </a:extLst>
          </p:cNvPr>
          <p:cNvCxnSpPr>
            <a:cxnSpLocks/>
          </p:cNvCxnSpPr>
          <p:nvPr/>
        </p:nvCxnSpPr>
        <p:spPr>
          <a:xfrm>
            <a:off x="682345" y="4570576"/>
            <a:ext cx="9346841" cy="39344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AA782D-72B0-11BE-36CA-7F8251C0234C}"/>
              </a:ext>
            </a:extLst>
          </p:cNvPr>
          <p:cNvCxnSpPr>
            <a:cxnSpLocks/>
          </p:cNvCxnSpPr>
          <p:nvPr/>
        </p:nvCxnSpPr>
        <p:spPr>
          <a:xfrm flipV="1">
            <a:off x="2364335" y="4203540"/>
            <a:ext cx="0" cy="1469353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83C949A-C03B-E900-2080-C108E533433F}"/>
              </a:ext>
            </a:extLst>
          </p:cNvPr>
          <p:cNvSpPr txBox="1"/>
          <p:nvPr/>
        </p:nvSpPr>
        <p:spPr>
          <a:xfrm>
            <a:off x="17091" y="491377"/>
            <a:ext cx="2785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Initial long-term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164378-E33E-8471-C31C-BD91FD7950DB}"/>
              </a:ext>
            </a:extLst>
          </p:cNvPr>
          <p:cNvSpPr txBox="1"/>
          <p:nvPr/>
        </p:nvSpPr>
        <p:spPr>
          <a:xfrm>
            <a:off x="17091" y="4651252"/>
            <a:ext cx="16505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Initial short</a:t>
            </a:r>
          </a:p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term memory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8BA64E-78F4-006B-B27D-F565F61A3949}"/>
              </a:ext>
            </a:extLst>
          </p:cNvPr>
          <p:cNvSpPr txBox="1"/>
          <p:nvPr/>
        </p:nvSpPr>
        <p:spPr>
          <a:xfrm>
            <a:off x="932688" y="99972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17" name="Plus Sign 16">
            <a:extLst>
              <a:ext uri="{FF2B5EF4-FFF2-40B4-BE49-F238E27FC236}">
                <a16:creationId xmlns:a16="http://schemas.microsoft.com/office/drawing/2014/main" id="{F2EFB50B-9FD6-83D2-D804-23A4704F02FE}"/>
              </a:ext>
            </a:extLst>
          </p:cNvPr>
          <p:cNvSpPr/>
          <p:nvPr/>
        </p:nvSpPr>
        <p:spPr>
          <a:xfrm>
            <a:off x="2117359" y="3630598"/>
            <a:ext cx="526990" cy="452918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lus Sign 17">
            <a:extLst>
              <a:ext uri="{FF2B5EF4-FFF2-40B4-BE49-F238E27FC236}">
                <a16:creationId xmlns:a16="http://schemas.microsoft.com/office/drawing/2014/main" id="{6B0E068B-FB1F-03CC-EBF9-7CE6C48327D0}"/>
              </a:ext>
            </a:extLst>
          </p:cNvPr>
          <p:cNvSpPr/>
          <p:nvPr/>
        </p:nvSpPr>
        <p:spPr>
          <a:xfrm>
            <a:off x="4158379" y="3608349"/>
            <a:ext cx="526990" cy="452918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49F2F16-1F75-4769-F06C-03D742439395}"/>
                  </a:ext>
                </a:extLst>
              </p:cNvPr>
              <p:cNvSpPr txBox="1"/>
              <p:nvPr/>
            </p:nvSpPr>
            <p:spPr>
              <a:xfrm>
                <a:off x="-2378423" y="2207800"/>
                <a:ext cx="9721553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49F2F16-1F75-4769-F06C-03D742439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378423" y="2207800"/>
                <a:ext cx="9721553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08A9C5-06DC-4862-F932-C9D0A5FA15C0}"/>
                  </a:ext>
                </a:extLst>
              </p:cNvPr>
              <p:cNvSpPr txBox="1"/>
              <p:nvPr/>
            </p:nvSpPr>
            <p:spPr>
              <a:xfrm>
                <a:off x="1253945" y="2187161"/>
                <a:ext cx="9721553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08A9C5-06DC-4862-F932-C9D0A5FA1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945" y="2187161"/>
                <a:ext cx="9721553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42FEBD61-0C12-7D73-D615-FA60A50B8B93}"/>
              </a:ext>
            </a:extLst>
          </p:cNvPr>
          <p:cNvSpPr txBox="1"/>
          <p:nvPr/>
        </p:nvSpPr>
        <p:spPr>
          <a:xfrm>
            <a:off x="778639" y="42035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50716E-3B6C-7021-515A-297E78CE2EBB}"/>
              </a:ext>
            </a:extLst>
          </p:cNvPr>
          <p:cNvSpPr txBox="1"/>
          <p:nvPr/>
        </p:nvSpPr>
        <p:spPr>
          <a:xfrm>
            <a:off x="2298819" y="5922902"/>
            <a:ext cx="9220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Input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E326C95-01DE-F3BD-686A-551B58908206}"/>
              </a:ext>
            </a:extLst>
          </p:cNvPr>
          <p:cNvSpPr/>
          <p:nvPr/>
        </p:nvSpPr>
        <p:spPr>
          <a:xfrm>
            <a:off x="2064680" y="4625734"/>
            <a:ext cx="685167" cy="42570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1.63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795DA8-15CA-4CA7-996C-66D089AB3521}"/>
              </a:ext>
            </a:extLst>
          </p:cNvPr>
          <p:cNvSpPr/>
          <p:nvPr/>
        </p:nvSpPr>
        <p:spPr>
          <a:xfrm>
            <a:off x="5872337" y="3012371"/>
            <a:ext cx="1065423" cy="42570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-0.32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9EB704C-AE2C-4EEF-DA69-F82D3617437A}"/>
              </a:ext>
            </a:extLst>
          </p:cNvPr>
          <p:cNvSpPr/>
          <p:nvPr/>
        </p:nvSpPr>
        <p:spPr>
          <a:xfrm>
            <a:off x="2064680" y="3002573"/>
            <a:ext cx="685167" cy="42570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1.62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8D53C70-7259-A7AA-F599-B403C0E1F1F3}"/>
              </a:ext>
            </a:extLst>
          </p:cNvPr>
          <p:cNvCxnSpPr>
            <a:cxnSpLocks/>
          </p:cNvCxnSpPr>
          <p:nvPr/>
        </p:nvCxnSpPr>
        <p:spPr>
          <a:xfrm flipV="1">
            <a:off x="2364335" y="1626686"/>
            <a:ext cx="0" cy="581114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55FB114A-C6CF-76AD-85A2-B74941BF49CD}"/>
              </a:ext>
            </a:extLst>
          </p:cNvPr>
          <p:cNvSpPr/>
          <p:nvPr/>
        </p:nvSpPr>
        <p:spPr>
          <a:xfrm>
            <a:off x="4058432" y="4623761"/>
            <a:ext cx="685167" cy="42570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1.65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01C2C60-BF4A-7601-20FE-EBD6AE484EDB}"/>
              </a:ext>
            </a:extLst>
          </p:cNvPr>
          <p:cNvSpPr/>
          <p:nvPr/>
        </p:nvSpPr>
        <p:spPr>
          <a:xfrm>
            <a:off x="5419377" y="4017916"/>
            <a:ext cx="685167" cy="42570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1.41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977C66-A170-9D62-B187-681AED9AD57B}"/>
              </a:ext>
            </a:extLst>
          </p:cNvPr>
          <p:cNvSpPr/>
          <p:nvPr/>
        </p:nvSpPr>
        <p:spPr>
          <a:xfrm>
            <a:off x="1346511" y="3911547"/>
            <a:ext cx="685167" cy="42570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2.7</a:t>
            </a:r>
          </a:p>
        </p:txBody>
      </p:sp>
      <p:sp>
        <p:nvSpPr>
          <p:cNvPr id="32" name="Plus Sign 31">
            <a:extLst>
              <a:ext uri="{FF2B5EF4-FFF2-40B4-BE49-F238E27FC236}">
                <a16:creationId xmlns:a16="http://schemas.microsoft.com/office/drawing/2014/main" id="{8A63B1F7-7CED-7BEB-9A07-8064B12BA375}"/>
              </a:ext>
            </a:extLst>
          </p:cNvPr>
          <p:cNvSpPr/>
          <p:nvPr/>
        </p:nvSpPr>
        <p:spPr>
          <a:xfrm>
            <a:off x="4493536" y="1173768"/>
            <a:ext cx="526990" cy="452918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22FCE7D-86E4-543E-7BBB-8236C95F093D}"/>
              </a:ext>
            </a:extLst>
          </p:cNvPr>
          <p:cNvSpPr/>
          <p:nvPr/>
        </p:nvSpPr>
        <p:spPr>
          <a:xfrm>
            <a:off x="2117359" y="3630598"/>
            <a:ext cx="526989" cy="45291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C68F2A2-4B3E-1CE1-DFD9-D4B5D1DB09C3}"/>
              </a:ext>
            </a:extLst>
          </p:cNvPr>
          <p:cNvSpPr/>
          <p:nvPr/>
        </p:nvSpPr>
        <p:spPr>
          <a:xfrm>
            <a:off x="1521755" y="929596"/>
            <a:ext cx="1347489" cy="4705705"/>
          </a:xfrm>
          <a:prstGeom prst="rect">
            <a:avLst/>
          </a:prstGeom>
          <a:solidFill>
            <a:schemeClr val="accent1">
              <a:alpha val="1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7B74C06-022E-11FB-D7FF-611F5FB271B7}"/>
              </a:ext>
            </a:extLst>
          </p:cNvPr>
          <p:cNvCxnSpPr/>
          <p:nvPr/>
        </p:nvCxnSpPr>
        <p:spPr>
          <a:xfrm>
            <a:off x="4079290" y="2712420"/>
            <a:ext cx="6851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Multiplication Sign 37">
            <a:extLst>
              <a:ext uri="{FF2B5EF4-FFF2-40B4-BE49-F238E27FC236}">
                <a16:creationId xmlns:a16="http://schemas.microsoft.com/office/drawing/2014/main" id="{2AA4618C-13CB-C7FF-5BF1-110933FFBF8D}"/>
              </a:ext>
            </a:extLst>
          </p:cNvPr>
          <p:cNvSpPr/>
          <p:nvPr/>
        </p:nvSpPr>
        <p:spPr>
          <a:xfrm>
            <a:off x="4696961" y="2419314"/>
            <a:ext cx="546615" cy="583259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4145069-DB84-BA8D-FAF6-F9D99D9BA69A}"/>
              </a:ext>
            </a:extLst>
          </p:cNvPr>
          <p:cNvCxnSpPr>
            <a:cxnSpLocks/>
          </p:cNvCxnSpPr>
          <p:nvPr/>
        </p:nvCxnSpPr>
        <p:spPr>
          <a:xfrm flipV="1">
            <a:off x="4764291" y="1553433"/>
            <a:ext cx="7426" cy="674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0ADD982-91F5-2A06-1972-79D8053F5E96}"/>
              </a:ext>
            </a:extLst>
          </p:cNvPr>
          <p:cNvSpPr txBox="1"/>
          <p:nvPr/>
        </p:nvSpPr>
        <p:spPr>
          <a:xfrm>
            <a:off x="5466060" y="961768"/>
            <a:ext cx="265322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New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long-term memory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F8DF3AF-B758-E12F-4CE0-E33D8C824DE4}"/>
                  </a:ext>
                </a:extLst>
              </p:cNvPr>
              <p:cNvSpPr txBox="1"/>
              <p:nvPr/>
            </p:nvSpPr>
            <p:spPr>
              <a:xfrm>
                <a:off x="-1225533" y="2240635"/>
                <a:ext cx="9721552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F8DF3AF-B758-E12F-4CE0-E33D8C824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25533" y="2240635"/>
                <a:ext cx="9721552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A8B87F8-F521-F85C-A392-B9765ED9443A}"/>
              </a:ext>
            </a:extLst>
          </p:cNvPr>
          <p:cNvCxnSpPr/>
          <p:nvPr/>
        </p:nvCxnSpPr>
        <p:spPr>
          <a:xfrm flipH="1">
            <a:off x="5174812" y="2710943"/>
            <a:ext cx="8164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CE7461F6-08AA-BF0A-FA3C-F2E25945201F}"/>
              </a:ext>
            </a:extLst>
          </p:cNvPr>
          <p:cNvSpPr/>
          <p:nvPr/>
        </p:nvSpPr>
        <p:spPr>
          <a:xfrm>
            <a:off x="3309364" y="3137028"/>
            <a:ext cx="685167" cy="42570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0.62</a:t>
            </a:r>
          </a:p>
        </p:txBody>
      </p:sp>
      <p:sp>
        <p:nvSpPr>
          <p:cNvPr id="52" name="Plus Sign 51">
            <a:extLst>
              <a:ext uri="{FF2B5EF4-FFF2-40B4-BE49-F238E27FC236}">
                <a16:creationId xmlns:a16="http://schemas.microsoft.com/office/drawing/2014/main" id="{0C2435ED-2C79-D70B-66E8-C1E2FC79CC05}"/>
              </a:ext>
            </a:extLst>
          </p:cNvPr>
          <p:cNvSpPr/>
          <p:nvPr/>
        </p:nvSpPr>
        <p:spPr>
          <a:xfrm>
            <a:off x="5932379" y="3458629"/>
            <a:ext cx="526990" cy="452918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FB91784-B7AD-47E0-EC7D-C5DAFF5D63AE}"/>
              </a:ext>
            </a:extLst>
          </p:cNvPr>
          <p:cNvSpPr/>
          <p:nvPr/>
        </p:nvSpPr>
        <p:spPr>
          <a:xfrm>
            <a:off x="3373266" y="4104277"/>
            <a:ext cx="685167" cy="42570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520226C-BF41-5D77-B2E3-62B537ADFD5C}"/>
              </a:ext>
            </a:extLst>
          </p:cNvPr>
          <p:cNvSpPr/>
          <p:nvPr/>
        </p:nvSpPr>
        <p:spPr>
          <a:xfrm>
            <a:off x="6501425" y="4689494"/>
            <a:ext cx="685167" cy="42570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0.94</a:t>
            </a:r>
          </a:p>
        </p:txBody>
      </p:sp>
      <p:sp>
        <p:nvSpPr>
          <p:cNvPr id="58" name="Plus Sign 57">
            <a:extLst>
              <a:ext uri="{FF2B5EF4-FFF2-40B4-BE49-F238E27FC236}">
                <a16:creationId xmlns:a16="http://schemas.microsoft.com/office/drawing/2014/main" id="{AD680544-A0AE-8516-E486-27EA386FC339}"/>
              </a:ext>
            </a:extLst>
          </p:cNvPr>
          <p:cNvSpPr/>
          <p:nvPr/>
        </p:nvSpPr>
        <p:spPr>
          <a:xfrm>
            <a:off x="8288576" y="3401836"/>
            <a:ext cx="526990" cy="452918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6C34CD8-D4E6-00AA-85E7-6AE487939267}"/>
              </a:ext>
            </a:extLst>
          </p:cNvPr>
          <p:cNvSpPr/>
          <p:nvPr/>
        </p:nvSpPr>
        <p:spPr>
          <a:xfrm>
            <a:off x="8211034" y="4416972"/>
            <a:ext cx="931289" cy="35918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-0.19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0EA535F-072F-65E5-5EA1-3FFD356F5E00}"/>
                  </a:ext>
                </a:extLst>
              </p:cNvPr>
              <p:cNvSpPr txBox="1"/>
              <p:nvPr/>
            </p:nvSpPr>
            <p:spPr>
              <a:xfrm>
                <a:off x="3343654" y="2165079"/>
                <a:ext cx="9721552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0EA535F-072F-65E5-5EA1-3FFD356F5E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54" y="2165079"/>
                <a:ext cx="9721552" cy="7694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Rectangle 60">
            <a:extLst>
              <a:ext uri="{FF2B5EF4-FFF2-40B4-BE49-F238E27FC236}">
                <a16:creationId xmlns:a16="http://schemas.microsoft.com/office/drawing/2014/main" id="{02C1C45A-869F-9A64-761C-7E9B905DAB8F}"/>
              </a:ext>
            </a:extLst>
          </p:cNvPr>
          <p:cNvSpPr/>
          <p:nvPr/>
        </p:nvSpPr>
        <p:spPr>
          <a:xfrm>
            <a:off x="7519263" y="2921272"/>
            <a:ext cx="685167" cy="42570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0.59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85110D0-3825-24F6-C905-5FF35CC5AC19}"/>
              </a:ext>
            </a:extLst>
          </p:cNvPr>
          <p:cNvSpPr/>
          <p:nvPr/>
        </p:nvSpPr>
        <p:spPr>
          <a:xfrm>
            <a:off x="7465051" y="3775846"/>
            <a:ext cx="685167" cy="42570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4.36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9220DD8-BA21-F27C-62FB-D42DC0433015}"/>
              </a:ext>
            </a:extLst>
          </p:cNvPr>
          <p:cNvSpPr/>
          <p:nvPr/>
        </p:nvSpPr>
        <p:spPr>
          <a:xfrm>
            <a:off x="1191548" y="1733524"/>
            <a:ext cx="1065423" cy="4257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0.83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263A1F0-E3C9-7350-7BBF-A9E43ACAC527}"/>
              </a:ext>
            </a:extLst>
          </p:cNvPr>
          <p:cNvSpPr/>
          <p:nvPr/>
        </p:nvSpPr>
        <p:spPr>
          <a:xfrm>
            <a:off x="3744848" y="2320856"/>
            <a:ext cx="1065423" cy="4257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0.65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D0FE73A-C3D7-8E9B-66AC-C4ACFDA91C33}"/>
              </a:ext>
            </a:extLst>
          </p:cNvPr>
          <p:cNvSpPr/>
          <p:nvPr/>
        </p:nvSpPr>
        <p:spPr>
          <a:xfrm>
            <a:off x="5258264" y="2306644"/>
            <a:ext cx="1065423" cy="4257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-0.31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800A2F5-E0D0-502C-A9BE-90798464D9D0}"/>
              </a:ext>
            </a:extLst>
          </p:cNvPr>
          <p:cNvSpPr/>
          <p:nvPr/>
        </p:nvSpPr>
        <p:spPr>
          <a:xfrm>
            <a:off x="4445491" y="1643947"/>
            <a:ext cx="1065423" cy="4257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-0.20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3AADCDD9-9891-FEBC-430E-87D80835B5B7}"/>
              </a:ext>
            </a:extLst>
          </p:cNvPr>
          <p:cNvCxnSpPr>
            <a:cxnSpLocks/>
          </p:cNvCxnSpPr>
          <p:nvPr/>
        </p:nvCxnSpPr>
        <p:spPr>
          <a:xfrm>
            <a:off x="9623609" y="1501639"/>
            <a:ext cx="557255" cy="120930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063D48C-8071-E082-2C61-7D4664595E3A}"/>
              </a:ext>
            </a:extLst>
          </p:cNvPr>
          <p:cNvCxnSpPr/>
          <p:nvPr/>
        </p:nvCxnSpPr>
        <p:spPr>
          <a:xfrm>
            <a:off x="8552071" y="2710943"/>
            <a:ext cx="1400193" cy="299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970C896D-6C4D-0571-B7D5-F488E2A65BFF}"/>
              </a:ext>
            </a:extLst>
          </p:cNvPr>
          <p:cNvSpPr/>
          <p:nvPr/>
        </p:nvSpPr>
        <p:spPr>
          <a:xfrm>
            <a:off x="9648909" y="1839270"/>
            <a:ext cx="760555" cy="6422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5CDC643-CFBB-9F05-010C-1985E2B29365}"/>
              </a:ext>
            </a:extLst>
          </p:cNvPr>
          <p:cNvSpPr txBox="1"/>
          <p:nvPr/>
        </p:nvSpPr>
        <p:spPr>
          <a:xfrm>
            <a:off x="9649049" y="1912652"/>
            <a:ext cx="654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Tanh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1400D51-E681-C8BD-DCAB-175EAA3A9658}"/>
              </a:ext>
            </a:extLst>
          </p:cNvPr>
          <p:cNvCxnSpPr/>
          <p:nvPr/>
        </p:nvCxnSpPr>
        <p:spPr>
          <a:xfrm>
            <a:off x="10334674" y="3428281"/>
            <a:ext cx="0" cy="1686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Multiplication Sign 77">
            <a:extLst>
              <a:ext uri="{FF2B5EF4-FFF2-40B4-BE49-F238E27FC236}">
                <a16:creationId xmlns:a16="http://schemas.microsoft.com/office/drawing/2014/main" id="{43DDFCF2-9838-8E85-5888-CFDC5F2EFBF9}"/>
              </a:ext>
            </a:extLst>
          </p:cNvPr>
          <p:cNvSpPr/>
          <p:nvPr/>
        </p:nvSpPr>
        <p:spPr>
          <a:xfrm>
            <a:off x="9805700" y="2588436"/>
            <a:ext cx="914400" cy="914400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9DFCB9A-2309-4F27-DBFD-8E81C965F932}"/>
              </a:ext>
            </a:extLst>
          </p:cNvPr>
          <p:cNvCxnSpPr/>
          <p:nvPr/>
        </p:nvCxnSpPr>
        <p:spPr>
          <a:xfrm>
            <a:off x="10303652" y="4836615"/>
            <a:ext cx="10773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B7D5079E-E378-19C4-04D6-D0730D2AB7FC}"/>
              </a:ext>
            </a:extLst>
          </p:cNvPr>
          <p:cNvSpPr/>
          <p:nvPr/>
        </p:nvSpPr>
        <p:spPr>
          <a:xfrm>
            <a:off x="7601256" y="999723"/>
            <a:ext cx="3364590" cy="4407902"/>
          </a:xfrm>
          <a:prstGeom prst="rect">
            <a:avLst/>
          </a:prstGeom>
          <a:solidFill>
            <a:schemeClr val="accent3">
              <a:lumMod val="20000"/>
              <a:lumOff val="80000"/>
              <a:alpha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B15254B-5ABE-8A75-7D91-7CE38AFC983C}"/>
              </a:ext>
            </a:extLst>
          </p:cNvPr>
          <p:cNvSpPr txBox="1"/>
          <p:nvPr/>
        </p:nvSpPr>
        <p:spPr>
          <a:xfrm>
            <a:off x="6057964" y="2635333"/>
            <a:ext cx="84733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Tanh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F7D9CBA-3564-5328-AF09-38CD4281C205}"/>
              </a:ext>
            </a:extLst>
          </p:cNvPr>
          <p:cNvSpPr txBox="1"/>
          <p:nvPr/>
        </p:nvSpPr>
        <p:spPr>
          <a:xfrm>
            <a:off x="9631569" y="1948030"/>
            <a:ext cx="84733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Tanh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E692C15-CD2E-8939-97A6-4584242EA4B6}"/>
              </a:ext>
            </a:extLst>
          </p:cNvPr>
          <p:cNvSpPr txBox="1"/>
          <p:nvPr/>
        </p:nvSpPr>
        <p:spPr>
          <a:xfrm>
            <a:off x="107565" y="6153734"/>
            <a:ext cx="2694969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(0x2.7+0x1.63+1.62=1.62</a:t>
            </a:r>
          </a:p>
          <a:p>
            <a:r>
              <a:rPr lang="en-US" dirty="0"/>
              <a:t>Sig(1.62) =0.83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3DE37FA-0FBC-BCF5-75E7-602F46E8D4A9}"/>
              </a:ext>
            </a:extLst>
          </p:cNvPr>
          <p:cNvSpPr txBox="1"/>
          <p:nvPr/>
        </p:nvSpPr>
        <p:spPr>
          <a:xfrm>
            <a:off x="5736162" y="5893154"/>
            <a:ext cx="2975495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(0x0.94+0x1.631-0.32=-0.32</a:t>
            </a:r>
          </a:p>
          <a:p>
            <a:r>
              <a:rPr lang="en-US" dirty="0"/>
              <a:t>Tanh(-0.32) = -0.3106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B894CEB-3664-F666-92B7-4A02C894ADDB}"/>
              </a:ext>
            </a:extLst>
          </p:cNvPr>
          <p:cNvSpPr txBox="1"/>
          <p:nvPr/>
        </p:nvSpPr>
        <p:spPr>
          <a:xfrm>
            <a:off x="3138458" y="5909603"/>
            <a:ext cx="2584362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(0x1.65+0x2+0.62=-0.62</a:t>
            </a:r>
          </a:p>
          <a:p>
            <a:r>
              <a:rPr lang="en-US" dirty="0"/>
              <a:t>sig(0.62) = 0.65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4A426CB-8E40-6FBA-5CA7-DE646554032D}"/>
              </a:ext>
            </a:extLst>
          </p:cNvPr>
          <p:cNvSpPr txBox="1"/>
          <p:nvPr/>
        </p:nvSpPr>
        <p:spPr>
          <a:xfrm>
            <a:off x="4731439" y="998691"/>
            <a:ext cx="7719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-0.20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208CC22-90F8-E5D2-C5B2-F4EBC285A0F1}"/>
              </a:ext>
            </a:extLst>
          </p:cNvPr>
          <p:cNvSpPr txBox="1"/>
          <p:nvPr/>
        </p:nvSpPr>
        <p:spPr>
          <a:xfrm>
            <a:off x="9952264" y="5922902"/>
            <a:ext cx="2055627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(Tanh(-0.20 )=-0.20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0ADB610C-35D5-F09A-4BEE-58FD7C149EB9}"/>
              </a:ext>
            </a:extLst>
          </p:cNvPr>
          <p:cNvSpPr/>
          <p:nvPr/>
        </p:nvSpPr>
        <p:spPr>
          <a:xfrm>
            <a:off x="10390618" y="2239580"/>
            <a:ext cx="1065423" cy="4257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-0.20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2993305-C8A6-2F3A-FF79-A77D25A9F6AE}"/>
              </a:ext>
            </a:extLst>
          </p:cNvPr>
          <p:cNvSpPr txBox="1"/>
          <p:nvPr/>
        </p:nvSpPr>
        <p:spPr>
          <a:xfrm>
            <a:off x="7360276" y="5882246"/>
            <a:ext cx="2971454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(0x-0.19+0x4.36+0.59=0.59</a:t>
            </a:r>
          </a:p>
          <a:p>
            <a:r>
              <a:rPr lang="en-US" dirty="0"/>
              <a:t>sig(0.59) =0.64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630AB4C-A568-3CD0-F5A4-03613CDB01B5}"/>
              </a:ext>
            </a:extLst>
          </p:cNvPr>
          <p:cNvSpPr txBox="1"/>
          <p:nvPr/>
        </p:nvSpPr>
        <p:spPr>
          <a:xfrm>
            <a:off x="9795527" y="3816313"/>
            <a:ext cx="1879041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-0.20*0,64=-0.13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3C753922-EA89-C5E7-8CD8-077D890373D1}"/>
              </a:ext>
            </a:extLst>
          </p:cNvPr>
          <p:cNvSpPr/>
          <p:nvPr/>
        </p:nvSpPr>
        <p:spPr>
          <a:xfrm>
            <a:off x="8591169" y="2199647"/>
            <a:ext cx="685167" cy="4257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0.64</a:t>
            </a:r>
          </a:p>
        </p:txBody>
      </p:sp>
    </p:spTree>
    <p:extLst>
      <p:ext uri="{BB962C8B-B14F-4D97-AF65-F5344CB8AC3E}">
        <p14:creationId xmlns:p14="http://schemas.microsoft.com/office/powerpoint/2010/main" val="3151779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86" grpId="0"/>
      <p:bldP spid="89" grpId="0"/>
      <p:bldP spid="90" grpId="0"/>
      <p:bldP spid="95" grpId="0"/>
      <p:bldP spid="96" grpId="0"/>
      <p:bldP spid="97" grpId="0" animBg="1"/>
      <p:bldP spid="99" grpId="0" animBg="1"/>
      <p:bldP spid="100" grpId="0" animBg="1"/>
      <p:bldP spid="10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A567B-2288-650A-9C95-340B06B08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0B9E00E-2E99-07ED-46B8-9506E70B7A3B}"/>
              </a:ext>
            </a:extLst>
          </p:cNvPr>
          <p:cNvSpPr/>
          <p:nvPr/>
        </p:nvSpPr>
        <p:spPr>
          <a:xfrm>
            <a:off x="1811708" y="0"/>
            <a:ext cx="1341689" cy="1012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52FF3B-0BDB-F36E-00B5-E81EB3C27B6D}"/>
              </a:ext>
            </a:extLst>
          </p:cNvPr>
          <p:cNvSpPr/>
          <p:nvPr/>
        </p:nvSpPr>
        <p:spPr>
          <a:xfrm>
            <a:off x="1495514" y="2427006"/>
            <a:ext cx="1717705" cy="119641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92FCD25-4C63-4CE2-3E5B-461DD0E5227C}"/>
              </a:ext>
            </a:extLst>
          </p:cNvPr>
          <p:cNvCxnSpPr/>
          <p:nvPr/>
        </p:nvCxnSpPr>
        <p:spPr>
          <a:xfrm>
            <a:off x="658026" y="2649197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30350FB-530C-3095-6A3D-881D5E3056B4}"/>
              </a:ext>
            </a:extLst>
          </p:cNvPr>
          <p:cNvCxnSpPr/>
          <p:nvPr/>
        </p:nvCxnSpPr>
        <p:spPr>
          <a:xfrm>
            <a:off x="658026" y="3288707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4E3DDF8-6207-6A54-B4CB-ED546BEBD108}"/>
              </a:ext>
            </a:extLst>
          </p:cNvPr>
          <p:cNvCxnSpPr>
            <a:cxnSpLocks/>
          </p:cNvCxnSpPr>
          <p:nvPr/>
        </p:nvCxnSpPr>
        <p:spPr>
          <a:xfrm flipV="1">
            <a:off x="1757584" y="3623417"/>
            <a:ext cx="0" cy="5811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971FE18-A3C2-0EDA-9847-5665A547DA83}"/>
              </a:ext>
            </a:extLst>
          </p:cNvPr>
          <p:cNvSpPr txBox="1"/>
          <p:nvPr/>
        </p:nvSpPr>
        <p:spPr>
          <a:xfrm>
            <a:off x="17091" y="1866326"/>
            <a:ext cx="262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 long-term memory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630287-52F2-9DB2-0D0C-295411D15E5C}"/>
              </a:ext>
            </a:extLst>
          </p:cNvPr>
          <p:cNvSpPr txBox="1"/>
          <p:nvPr/>
        </p:nvSpPr>
        <p:spPr>
          <a:xfrm>
            <a:off x="945485" y="298960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5F9901-BBC2-312F-FAD5-077DD4DEF7E2}"/>
              </a:ext>
            </a:extLst>
          </p:cNvPr>
          <p:cNvSpPr txBox="1"/>
          <p:nvPr/>
        </p:nvSpPr>
        <p:spPr>
          <a:xfrm>
            <a:off x="-28286" y="3442743"/>
            <a:ext cx="15751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 short</a:t>
            </a:r>
          </a:p>
          <a:p>
            <a:r>
              <a:rPr lang="en-US" dirty="0"/>
              <a:t> term memory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C4FBAF-D828-74CD-BB0D-CEAA422AEC96}"/>
              </a:ext>
            </a:extLst>
          </p:cNvPr>
          <p:cNvSpPr txBox="1"/>
          <p:nvPr/>
        </p:nvSpPr>
        <p:spPr>
          <a:xfrm>
            <a:off x="1757584" y="4366901"/>
            <a:ext cx="1050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Day 1 =0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92DEBBD-6EC6-3366-2AF7-D080C83A9CE5}"/>
              </a:ext>
            </a:extLst>
          </p:cNvPr>
          <p:cNvCxnSpPr/>
          <p:nvPr/>
        </p:nvCxnSpPr>
        <p:spPr>
          <a:xfrm>
            <a:off x="3213219" y="2664866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E994356-AD5A-1E3A-E823-9AC7D89999B7}"/>
              </a:ext>
            </a:extLst>
          </p:cNvPr>
          <p:cNvCxnSpPr/>
          <p:nvPr/>
        </p:nvCxnSpPr>
        <p:spPr>
          <a:xfrm>
            <a:off x="3213219" y="3358937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EC2D84-3B2D-7B63-7E7E-53D3E5210C0A}"/>
              </a:ext>
            </a:extLst>
          </p:cNvPr>
          <p:cNvSpPr txBox="1"/>
          <p:nvPr/>
        </p:nvSpPr>
        <p:spPr>
          <a:xfrm>
            <a:off x="3566444" y="1834310"/>
            <a:ext cx="2910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Updated long term memory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109B2F-D28D-BD8A-9424-A251A41DF969}"/>
              </a:ext>
            </a:extLst>
          </p:cNvPr>
          <p:cNvSpPr txBox="1"/>
          <p:nvPr/>
        </p:nvSpPr>
        <p:spPr>
          <a:xfrm>
            <a:off x="3270831" y="3564094"/>
            <a:ext cx="3003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Updated short term memory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84C038-2CFC-D221-EF92-3B4463246CD9}"/>
              </a:ext>
            </a:extLst>
          </p:cNvPr>
          <p:cNvSpPr txBox="1"/>
          <p:nvPr/>
        </p:nvSpPr>
        <p:spPr>
          <a:xfrm>
            <a:off x="965206" y="2350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106AE9-B80A-33BB-2469-70B3CE3F9B27}"/>
              </a:ext>
            </a:extLst>
          </p:cNvPr>
          <p:cNvSpPr txBox="1"/>
          <p:nvPr/>
        </p:nvSpPr>
        <p:spPr>
          <a:xfrm>
            <a:off x="3725820" y="2981772"/>
            <a:ext cx="702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-0.13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4238EA-24ED-F696-62DC-90788040BB46}"/>
              </a:ext>
            </a:extLst>
          </p:cNvPr>
          <p:cNvSpPr txBox="1"/>
          <p:nvPr/>
        </p:nvSpPr>
        <p:spPr>
          <a:xfrm>
            <a:off x="3707669" y="2347961"/>
            <a:ext cx="57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-0.2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8B473F77-70A7-24A9-A3D7-123C00030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429" y="110692"/>
            <a:ext cx="2835803" cy="1338978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6DFB1B8-9F3C-D946-8F93-79251F7B8BB2}"/>
              </a:ext>
            </a:extLst>
          </p:cNvPr>
          <p:cNvSpPr/>
          <p:nvPr/>
        </p:nvSpPr>
        <p:spPr>
          <a:xfrm>
            <a:off x="5105642" y="2408933"/>
            <a:ext cx="1717705" cy="119641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AB34D6-AB0D-C203-9F6E-2F73BC3BC0D3}"/>
              </a:ext>
            </a:extLst>
          </p:cNvPr>
          <p:cNvCxnSpPr/>
          <p:nvPr/>
        </p:nvCxnSpPr>
        <p:spPr>
          <a:xfrm>
            <a:off x="4268154" y="2631124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DCF98AE-E607-D055-F752-3B477F749D21}"/>
              </a:ext>
            </a:extLst>
          </p:cNvPr>
          <p:cNvCxnSpPr/>
          <p:nvPr/>
        </p:nvCxnSpPr>
        <p:spPr>
          <a:xfrm>
            <a:off x="4268154" y="3270634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1DCC8A-FAA3-F5D7-A509-D2D39EB71D9C}"/>
              </a:ext>
            </a:extLst>
          </p:cNvPr>
          <p:cNvCxnSpPr>
            <a:cxnSpLocks/>
          </p:cNvCxnSpPr>
          <p:nvPr/>
        </p:nvCxnSpPr>
        <p:spPr>
          <a:xfrm flipV="1">
            <a:off x="5367712" y="3605344"/>
            <a:ext cx="0" cy="5811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40DE2FB-B08E-606A-8318-B05AD8302D32}"/>
              </a:ext>
            </a:extLst>
          </p:cNvPr>
          <p:cNvCxnSpPr/>
          <p:nvPr/>
        </p:nvCxnSpPr>
        <p:spPr>
          <a:xfrm>
            <a:off x="6823347" y="2646793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236F2DE-51ED-7517-260F-069ED2B89555}"/>
              </a:ext>
            </a:extLst>
          </p:cNvPr>
          <p:cNvCxnSpPr/>
          <p:nvPr/>
        </p:nvCxnSpPr>
        <p:spPr>
          <a:xfrm>
            <a:off x="6823347" y="3340864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B3E519B-D5C9-238D-0175-E14D51EE45B4}"/>
              </a:ext>
            </a:extLst>
          </p:cNvPr>
          <p:cNvSpPr txBox="1"/>
          <p:nvPr/>
        </p:nvSpPr>
        <p:spPr>
          <a:xfrm>
            <a:off x="4661978" y="4244853"/>
            <a:ext cx="1242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Day 2 =0.5</a:t>
            </a:r>
          </a:p>
        </p:txBody>
      </p:sp>
    </p:spTree>
    <p:extLst>
      <p:ext uri="{BB962C8B-B14F-4D97-AF65-F5344CB8AC3E}">
        <p14:creationId xmlns:p14="http://schemas.microsoft.com/office/powerpoint/2010/main" val="20603757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9484BB9-D696-96AB-EAEE-6CF214A4DCFD}"/>
              </a:ext>
            </a:extLst>
          </p:cNvPr>
          <p:cNvSpPr/>
          <p:nvPr/>
        </p:nvSpPr>
        <p:spPr>
          <a:xfrm>
            <a:off x="1811708" y="0"/>
            <a:ext cx="1341689" cy="1012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6528A4-5A5C-0B64-650C-72EC62C82B31}"/>
              </a:ext>
            </a:extLst>
          </p:cNvPr>
          <p:cNvSpPr/>
          <p:nvPr/>
        </p:nvSpPr>
        <p:spPr>
          <a:xfrm>
            <a:off x="1495514" y="2427006"/>
            <a:ext cx="1717705" cy="119641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F58F621-A8A5-98BF-72BE-1E2666FC2B94}"/>
              </a:ext>
            </a:extLst>
          </p:cNvPr>
          <p:cNvCxnSpPr/>
          <p:nvPr/>
        </p:nvCxnSpPr>
        <p:spPr>
          <a:xfrm>
            <a:off x="658026" y="2649197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40CF907-17D2-1B23-A3F6-F21401371421}"/>
              </a:ext>
            </a:extLst>
          </p:cNvPr>
          <p:cNvCxnSpPr/>
          <p:nvPr/>
        </p:nvCxnSpPr>
        <p:spPr>
          <a:xfrm>
            <a:off x="658026" y="3288707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98ED72E-67AC-3024-51B5-6FFAD065C3F7}"/>
              </a:ext>
            </a:extLst>
          </p:cNvPr>
          <p:cNvCxnSpPr>
            <a:cxnSpLocks/>
          </p:cNvCxnSpPr>
          <p:nvPr/>
        </p:nvCxnSpPr>
        <p:spPr>
          <a:xfrm flipV="1">
            <a:off x="1757584" y="3623417"/>
            <a:ext cx="0" cy="5811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3B3EA73-C141-E9B5-F697-90E74BA01DA1}"/>
              </a:ext>
            </a:extLst>
          </p:cNvPr>
          <p:cNvSpPr txBox="1"/>
          <p:nvPr/>
        </p:nvSpPr>
        <p:spPr>
          <a:xfrm>
            <a:off x="17091" y="1866326"/>
            <a:ext cx="262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 long-term memory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E110B1-658E-6354-3E64-FA36C06C1396}"/>
              </a:ext>
            </a:extLst>
          </p:cNvPr>
          <p:cNvSpPr txBox="1"/>
          <p:nvPr/>
        </p:nvSpPr>
        <p:spPr>
          <a:xfrm>
            <a:off x="945485" y="298960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E8196A-AFDF-0838-D9F0-669A353E9D0F}"/>
              </a:ext>
            </a:extLst>
          </p:cNvPr>
          <p:cNvSpPr txBox="1"/>
          <p:nvPr/>
        </p:nvSpPr>
        <p:spPr>
          <a:xfrm>
            <a:off x="-28286" y="3442743"/>
            <a:ext cx="15751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 short</a:t>
            </a:r>
          </a:p>
          <a:p>
            <a:r>
              <a:rPr lang="en-US" dirty="0"/>
              <a:t> term memory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B2CC80-19D4-2113-B4BF-0A1D8A844A76}"/>
              </a:ext>
            </a:extLst>
          </p:cNvPr>
          <p:cNvSpPr txBox="1"/>
          <p:nvPr/>
        </p:nvSpPr>
        <p:spPr>
          <a:xfrm>
            <a:off x="1757584" y="4366901"/>
            <a:ext cx="1050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Day 1 =1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FDD4AB-5B6E-ABD2-BC0A-9A1C5C94D550}"/>
              </a:ext>
            </a:extLst>
          </p:cNvPr>
          <p:cNvCxnSpPr/>
          <p:nvPr/>
        </p:nvCxnSpPr>
        <p:spPr>
          <a:xfrm>
            <a:off x="3213219" y="2664866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5C0426A-CAA1-2CFC-9F4C-5C35CDBC7FCE}"/>
              </a:ext>
            </a:extLst>
          </p:cNvPr>
          <p:cNvCxnSpPr/>
          <p:nvPr/>
        </p:nvCxnSpPr>
        <p:spPr>
          <a:xfrm>
            <a:off x="3213219" y="3358937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51AEFD6-2FFD-256B-354F-7FDC0E2C24BE}"/>
              </a:ext>
            </a:extLst>
          </p:cNvPr>
          <p:cNvSpPr txBox="1"/>
          <p:nvPr/>
        </p:nvSpPr>
        <p:spPr>
          <a:xfrm>
            <a:off x="3566444" y="1834310"/>
            <a:ext cx="2910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Updated long term memory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5A1B7A-92FD-A44D-A334-8E61E757A5B4}"/>
              </a:ext>
            </a:extLst>
          </p:cNvPr>
          <p:cNvSpPr txBox="1"/>
          <p:nvPr/>
        </p:nvSpPr>
        <p:spPr>
          <a:xfrm>
            <a:off x="3270831" y="3564094"/>
            <a:ext cx="3003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Updated short term memory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DE4C2E-29BF-60A0-2F9B-C60663B4B4D9}"/>
              </a:ext>
            </a:extLst>
          </p:cNvPr>
          <p:cNvSpPr txBox="1"/>
          <p:nvPr/>
        </p:nvSpPr>
        <p:spPr>
          <a:xfrm>
            <a:off x="965206" y="2350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E09B35-077F-D0D3-C00E-9A486915AFEF}"/>
              </a:ext>
            </a:extLst>
          </p:cNvPr>
          <p:cNvSpPr txBox="1"/>
          <p:nvPr/>
        </p:nvSpPr>
        <p:spPr>
          <a:xfrm>
            <a:off x="3716195" y="2981772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-.3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D90EF6-BFF9-B693-26C0-EE09E1F81EAF}"/>
              </a:ext>
            </a:extLst>
          </p:cNvPr>
          <p:cNvSpPr txBox="1"/>
          <p:nvPr/>
        </p:nvSpPr>
        <p:spPr>
          <a:xfrm>
            <a:off x="3707669" y="2347961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0.5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57412EE-0CB0-C4AC-6637-62BEE87516CF}"/>
              </a:ext>
            </a:extLst>
          </p:cNvPr>
          <p:cNvSpPr/>
          <p:nvPr/>
        </p:nvSpPr>
        <p:spPr>
          <a:xfrm>
            <a:off x="5105642" y="2408933"/>
            <a:ext cx="1717705" cy="119641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08B7DB5-221C-4976-39D8-606EBE590955}"/>
              </a:ext>
            </a:extLst>
          </p:cNvPr>
          <p:cNvCxnSpPr/>
          <p:nvPr/>
        </p:nvCxnSpPr>
        <p:spPr>
          <a:xfrm>
            <a:off x="4268154" y="2631124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E7ACAD7-E4D8-D295-0996-6B0422107DBB}"/>
              </a:ext>
            </a:extLst>
          </p:cNvPr>
          <p:cNvCxnSpPr/>
          <p:nvPr/>
        </p:nvCxnSpPr>
        <p:spPr>
          <a:xfrm>
            <a:off x="4268154" y="3270634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9A1A084-9A43-4FDB-D938-EEDDC21DC2B3}"/>
              </a:ext>
            </a:extLst>
          </p:cNvPr>
          <p:cNvCxnSpPr>
            <a:cxnSpLocks/>
          </p:cNvCxnSpPr>
          <p:nvPr/>
        </p:nvCxnSpPr>
        <p:spPr>
          <a:xfrm flipV="1">
            <a:off x="5367712" y="3605344"/>
            <a:ext cx="0" cy="5811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04C0385-DEBF-059B-08B8-5DE0A395BAB0}"/>
              </a:ext>
            </a:extLst>
          </p:cNvPr>
          <p:cNvCxnSpPr/>
          <p:nvPr/>
        </p:nvCxnSpPr>
        <p:spPr>
          <a:xfrm>
            <a:off x="6823347" y="2646793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B6100AE-7A6E-0013-E277-BFA24A0842B6}"/>
              </a:ext>
            </a:extLst>
          </p:cNvPr>
          <p:cNvCxnSpPr/>
          <p:nvPr/>
        </p:nvCxnSpPr>
        <p:spPr>
          <a:xfrm>
            <a:off x="6823347" y="3340864"/>
            <a:ext cx="837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859D138-5715-9F46-91D9-B939C9F032C8}"/>
              </a:ext>
            </a:extLst>
          </p:cNvPr>
          <p:cNvSpPr txBox="1"/>
          <p:nvPr/>
        </p:nvSpPr>
        <p:spPr>
          <a:xfrm>
            <a:off x="4661978" y="4244853"/>
            <a:ext cx="1242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Day 2 =0.5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0D99EF1-474C-08E8-21AE-B4A302A289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91" y="49448"/>
            <a:ext cx="4945320" cy="2001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801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3CAA7BDD6E90148B0AE2A8FEC8E0875" ma:contentTypeVersion="17" ma:contentTypeDescription="Create a new document." ma:contentTypeScope="" ma:versionID="8d92cc494622425f2dddc510ee11f906">
  <xsd:schema xmlns:xsd="http://www.w3.org/2001/XMLSchema" xmlns:xs="http://www.w3.org/2001/XMLSchema" xmlns:p="http://schemas.microsoft.com/office/2006/metadata/properties" xmlns:ns3="c3f03550-a4c2-468a-bdc1-cbe2f2088984" xmlns:ns4="5b7eb3d6-8701-4225-88b7-bb1cfb4febda" targetNamespace="http://schemas.microsoft.com/office/2006/metadata/properties" ma:root="true" ma:fieldsID="ac786f04cc7211612565f094c16994fa" ns3:_="" ns4:_="">
    <xsd:import namespace="c3f03550-a4c2-468a-bdc1-cbe2f2088984"/>
    <xsd:import namespace="5b7eb3d6-8701-4225-88b7-bb1cfb4febda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DateTaken" minOccurs="0"/>
                <xsd:element ref="ns4:MediaLengthInSecond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3f03550-a4c2-468a-bdc1-cbe2f2088984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b7eb3d6-8701-4225-88b7-bb1cfb4feb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MediaServiceAutoTags" ma:index="17" nillable="true" ma:displayName="Tags" ma:internalName="MediaServiceAutoTag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b7eb3d6-8701-4225-88b7-bb1cfb4febda" xsi:nil="true"/>
  </documentManagement>
</p:properties>
</file>

<file path=customXml/itemProps1.xml><?xml version="1.0" encoding="utf-8"?>
<ds:datastoreItem xmlns:ds="http://schemas.openxmlformats.org/officeDocument/2006/customXml" ds:itemID="{BC7C9FC8-48D6-4AA0-B76D-737B490F87D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EDDB58B-986C-4F33-BF6D-EDD13F885E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3f03550-a4c2-468a-bdc1-cbe2f2088984"/>
    <ds:schemaRef ds:uri="5b7eb3d6-8701-4225-88b7-bb1cfb4feb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63EA5F9-816B-4E2F-964F-9851F9197076}">
  <ds:schemaRefs>
    <ds:schemaRef ds:uri="http://purl.org/dc/dcmitype/"/>
    <ds:schemaRef ds:uri="http://purl.org/dc/elements/1.1/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5b7eb3d6-8701-4225-88b7-bb1cfb4febda"/>
    <ds:schemaRef ds:uri="c3f03550-a4c2-468a-bdc1-cbe2f2088984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1096</TotalTime>
  <Words>488</Words>
  <Application>Microsoft Office PowerPoint</Application>
  <PresentationFormat>Widescreen</PresentationFormat>
  <Paragraphs>158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Aptos Narrow</vt:lpstr>
      <vt:lpstr>Arial</vt:lpstr>
      <vt:lpstr>Cambria Math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Time Step 1: t=1, Input: x_1=0.5</vt:lpstr>
      <vt:lpstr>PowerPoint Presentation</vt:lpstr>
      <vt:lpstr>PowerPoint Presentation</vt:lpstr>
      <vt:lpstr>Summary table</vt:lpstr>
      <vt:lpstr>How to build and train an LSTM model for time series forecasting</vt:lpstr>
      <vt:lpstr>Data generation (sine + noise)</vt:lpstr>
      <vt:lpstr>Preprocessing and sequence creation </vt:lpstr>
      <vt:lpstr>Building and training an LSTM model</vt:lpstr>
      <vt:lpstr>Train the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Rizk, Dr. Nouhad</dc:creator>
  <cp:lastModifiedBy>Dr. Nouhad Rizk</cp:lastModifiedBy>
  <cp:revision>2</cp:revision>
  <dcterms:created xsi:type="dcterms:W3CDTF">2025-09-29T15:06:53Z</dcterms:created>
  <dcterms:modified xsi:type="dcterms:W3CDTF">2025-09-30T16:43:29Z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0x01010083CAA7BDD6E90148B0AE2A8FEC8E0875</vt:lpwstr>
  </property>
</Properties>
</file>