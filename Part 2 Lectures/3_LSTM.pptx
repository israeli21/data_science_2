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5"/>
  </p:notesMasterIdLst>
  <p:sldIdLst>
    <p:sldId id="716" r:id="rId2"/>
    <p:sldId id="717" r:id="rId3"/>
    <p:sldId id="718" r:id="rId4"/>
    <p:sldId id="719" r:id="rId5"/>
    <p:sldId id="720" r:id="rId6"/>
    <p:sldId id="731" r:id="rId7"/>
    <p:sldId id="261" r:id="rId8"/>
    <p:sldId id="268" r:id="rId9"/>
    <p:sldId id="269" r:id="rId10"/>
    <p:sldId id="722" r:id="rId11"/>
    <p:sldId id="723" r:id="rId12"/>
    <p:sldId id="732" r:id="rId13"/>
    <p:sldId id="733" r:id="rId14"/>
    <p:sldId id="734" r:id="rId15"/>
    <p:sldId id="735" r:id="rId16"/>
    <p:sldId id="736" r:id="rId17"/>
    <p:sldId id="737" r:id="rId18"/>
    <p:sldId id="738" r:id="rId19"/>
    <p:sldId id="724" r:id="rId20"/>
    <p:sldId id="739" r:id="rId21"/>
    <p:sldId id="744" r:id="rId22"/>
    <p:sldId id="741" r:id="rId23"/>
    <p:sldId id="742" r:id="rId24"/>
    <p:sldId id="725" r:id="rId25"/>
    <p:sldId id="274" r:id="rId26"/>
    <p:sldId id="743" r:id="rId27"/>
    <p:sldId id="726" r:id="rId28"/>
    <p:sldId id="727" r:id="rId29"/>
    <p:sldId id="728" r:id="rId30"/>
    <p:sldId id="729" r:id="rId31"/>
    <p:sldId id="279" r:id="rId32"/>
    <p:sldId id="745" r:id="rId33"/>
    <p:sldId id="730" r:id="rId34"/>
  </p:sldIdLst>
  <p:sldSz cx="10083800" cy="5670550"/>
  <p:notesSz cx="10083800" cy="56705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7" autoAdjust="0"/>
    <p:restoredTop sz="94660"/>
  </p:normalViewPr>
  <p:slideViewPr>
    <p:cSldViewPr>
      <p:cViewPr>
        <p:scale>
          <a:sx n="71" d="100"/>
          <a:sy n="71" d="100"/>
        </p:scale>
        <p:origin x="62" y="46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2841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711825" y="0"/>
            <a:ext cx="4370388" cy="284163"/>
          </a:xfrm>
          <a:prstGeom prst="rect">
            <a:avLst/>
          </a:prstGeom>
        </p:spPr>
        <p:txBody>
          <a:bodyPr vert="horz" lIns="91440" tIns="45720" rIns="91440" bIns="45720" rtlCol="0"/>
          <a:lstStyle>
            <a:lvl1pPr algn="r">
              <a:defRPr sz="1200"/>
            </a:lvl1pPr>
          </a:lstStyle>
          <a:p>
            <a:fld id="{FC78DA6D-BA35-47CD-BB0B-F04D34A1F301}" type="datetimeFigureOut">
              <a:rPr lang="en-US" smtClean="0"/>
              <a:t>10/2/2025</a:t>
            </a:fld>
            <a:endParaRPr lang="en-US"/>
          </a:p>
        </p:txBody>
      </p:sp>
      <p:sp>
        <p:nvSpPr>
          <p:cNvPr id="4" name="Slide Image Placeholder 3"/>
          <p:cNvSpPr>
            <a:spLocks noGrp="1" noRot="1" noChangeAspect="1"/>
          </p:cNvSpPr>
          <p:nvPr>
            <p:ph type="sldImg" idx="2"/>
          </p:nvPr>
        </p:nvSpPr>
        <p:spPr>
          <a:xfrm>
            <a:off x="3341688" y="709613"/>
            <a:ext cx="3400425" cy="1912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8063" y="2728913"/>
            <a:ext cx="8067675" cy="2233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386388"/>
            <a:ext cx="4370388" cy="2841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711825" y="5386388"/>
            <a:ext cx="4370388" cy="284162"/>
          </a:xfrm>
          <a:prstGeom prst="rect">
            <a:avLst/>
          </a:prstGeom>
        </p:spPr>
        <p:txBody>
          <a:bodyPr vert="horz" lIns="91440" tIns="45720" rIns="91440" bIns="45720" rtlCol="0" anchor="b"/>
          <a:lstStyle>
            <a:lvl1pPr algn="r">
              <a:defRPr sz="1200"/>
            </a:lvl1pPr>
          </a:lstStyle>
          <a:p>
            <a:fld id="{61985266-2D54-415F-8771-9E663017220A}" type="slidenum">
              <a:rPr lang="en-US" smtClean="0"/>
              <a:t>‹#›</a:t>
            </a:fld>
            <a:endParaRPr lang="en-US"/>
          </a:p>
        </p:txBody>
      </p:sp>
    </p:spTree>
    <p:extLst>
      <p:ext uri="{BB962C8B-B14F-4D97-AF65-F5344CB8AC3E}">
        <p14:creationId xmlns:p14="http://schemas.microsoft.com/office/powerpoint/2010/main" val="410948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F9DA-D544-4AE5-AE86-499652E01402}"/>
              </a:ext>
            </a:extLst>
          </p:cNvPr>
          <p:cNvSpPr>
            <a:spLocks noGrp="1"/>
          </p:cNvSpPr>
          <p:nvPr>
            <p:ph type="ctrTitle"/>
          </p:nvPr>
        </p:nvSpPr>
        <p:spPr>
          <a:xfrm>
            <a:off x="1260475" y="928028"/>
            <a:ext cx="7562850" cy="1974191"/>
          </a:xfrm>
          <a:prstGeom prst="rect">
            <a:avLst/>
          </a:prstGeom>
        </p:spPr>
        <p:txBody>
          <a:bodyPr anchor="b"/>
          <a:lstStyle>
            <a:lvl1pPr algn="ctr">
              <a:defRPr sz="4961"/>
            </a:lvl1pPr>
          </a:lstStyle>
          <a:p>
            <a:r>
              <a:rPr lang="en-US"/>
              <a:t>Click to edit Master title style</a:t>
            </a:r>
          </a:p>
        </p:txBody>
      </p:sp>
      <p:sp>
        <p:nvSpPr>
          <p:cNvPr id="3" name="Subtitle 2">
            <a:extLst>
              <a:ext uri="{FF2B5EF4-FFF2-40B4-BE49-F238E27FC236}">
                <a16:creationId xmlns:a16="http://schemas.microsoft.com/office/drawing/2014/main" id="{F883D6C9-D247-4063-8D2B-AEB523003A2A}"/>
              </a:ext>
            </a:extLst>
          </p:cNvPr>
          <p:cNvSpPr>
            <a:spLocks noGrp="1"/>
          </p:cNvSpPr>
          <p:nvPr>
            <p:ph type="subTitle" idx="1"/>
          </p:nvPr>
        </p:nvSpPr>
        <p:spPr>
          <a:xfrm>
            <a:off x="1260475" y="2978352"/>
            <a:ext cx="7562850" cy="1369070"/>
          </a:xfrm>
          <a:prstGeom prst="rect">
            <a:avLst/>
          </a:prstGeom>
        </p:spPr>
        <p:txBody>
          <a:bodyPr/>
          <a:lstStyle>
            <a:lvl1pPr marL="0" indent="0" algn="ctr">
              <a:buNone/>
              <a:defRPr sz="1985"/>
            </a:lvl1pPr>
            <a:lvl2pPr marL="378059" indent="0" algn="ctr">
              <a:buNone/>
              <a:defRPr sz="1654"/>
            </a:lvl2pPr>
            <a:lvl3pPr marL="756117" indent="0" algn="ctr">
              <a:buNone/>
              <a:defRPr sz="1488"/>
            </a:lvl3pPr>
            <a:lvl4pPr marL="1134176" indent="0" algn="ctr">
              <a:buNone/>
              <a:defRPr sz="1323"/>
            </a:lvl4pPr>
            <a:lvl5pPr marL="1512235" indent="0" algn="ctr">
              <a:buNone/>
              <a:defRPr sz="1323"/>
            </a:lvl5pPr>
            <a:lvl6pPr marL="1890293" indent="0" algn="ctr">
              <a:buNone/>
              <a:defRPr sz="1323"/>
            </a:lvl6pPr>
            <a:lvl7pPr marL="2268352" indent="0" algn="ctr">
              <a:buNone/>
              <a:defRPr sz="1323"/>
            </a:lvl7pPr>
            <a:lvl8pPr marL="2646411" indent="0" algn="ctr">
              <a:buNone/>
              <a:defRPr sz="1323"/>
            </a:lvl8pPr>
            <a:lvl9pPr marL="3024469" indent="0" algn="ctr">
              <a:buNone/>
              <a:defRPr sz="1323"/>
            </a:lvl9pPr>
          </a:lstStyle>
          <a:p>
            <a:r>
              <a:rPr lang="en-US"/>
              <a:t>Click to edit Master subtitle style</a:t>
            </a:r>
          </a:p>
        </p:txBody>
      </p:sp>
      <p:sp>
        <p:nvSpPr>
          <p:cNvPr id="6" name="Slide Number Placeholder 5">
            <a:extLst>
              <a:ext uri="{FF2B5EF4-FFF2-40B4-BE49-F238E27FC236}">
                <a16:creationId xmlns:a16="http://schemas.microsoft.com/office/drawing/2014/main" id="{7A5023A3-3CC5-42AC-A5A0-A9EF34CBB545}"/>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07608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9F77-C56E-49A5-9748-7C52B6AEBC11}"/>
              </a:ext>
            </a:extLst>
          </p:cNvPr>
          <p:cNvSpPr>
            <a:spLocks noGrp="1"/>
          </p:cNvSpPr>
          <p:nvPr>
            <p:ph type="title"/>
          </p:nvPr>
        </p:nvSpPr>
        <p:spPr>
          <a:xfrm>
            <a:off x="693261" y="30190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0117523-2951-4793-9233-9143C1E43CB0}"/>
              </a:ext>
            </a:extLst>
          </p:cNvPr>
          <p:cNvSpPr>
            <a:spLocks noGrp="1"/>
          </p:cNvSpPr>
          <p:nvPr>
            <p:ph idx="1"/>
          </p:nvPr>
        </p:nvSpPr>
        <p:spPr>
          <a:xfrm>
            <a:off x="693261" y="1509521"/>
            <a:ext cx="8697278"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CD2773-D27C-4765-B0E8-2D408B267846}"/>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55084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698C-16A5-4884-BD84-1F07BB8C2CA9}"/>
              </a:ext>
            </a:extLst>
          </p:cNvPr>
          <p:cNvSpPr>
            <a:spLocks noGrp="1"/>
          </p:cNvSpPr>
          <p:nvPr>
            <p:ph type="title"/>
          </p:nvPr>
        </p:nvSpPr>
        <p:spPr>
          <a:xfrm>
            <a:off x="688009" y="1413700"/>
            <a:ext cx="8697278" cy="2358791"/>
          </a:xfrm>
          <a:prstGeom prst="rect">
            <a:avLst/>
          </a:prstGeom>
        </p:spPr>
        <p:txBody>
          <a:bodyPr anchor="b"/>
          <a:lstStyle>
            <a:lvl1pPr>
              <a:defRPr sz="4961"/>
            </a:lvl1pPr>
          </a:lstStyle>
          <a:p>
            <a:r>
              <a:rPr lang="en-US"/>
              <a:t>Click to edit Master title style</a:t>
            </a:r>
          </a:p>
        </p:txBody>
      </p:sp>
      <p:sp>
        <p:nvSpPr>
          <p:cNvPr id="3" name="Text Placeholder 2">
            <a:extLst>
              <a:ext uri="{FF2B5EF4-FFF2-40B4-BE49-F238E27FC236}">
                <a16:creationId xmlns:a16="http://schemas.microsoft.com/office/drawing/2014/main" id="{F1EE61F2-F6C6-4EC4-8168-F008402A117F}"/>
              </a:ext>
            </a:extLst>
          </p:cNvPr>
          <p:cNvSpPr>
            <a:spLocks noGrp="1"/>
          </p:cNvSpPr>
          <p:nvPr>
            <p:ph type="body" idx="1"/>
          </p:nvPr>
        </p:nvSpPr>
        <p:spPr>
          <a:xfrm>
            <a:off x="688009" y="3794807"/>
            <a:ext cx="8697278" cy="1240432"/>
          </a:xfrm>
          <a:prstGeom prst="rect">
            <a:avLst/>
          </a:prstGeom>
        </p:spPr>
        <p:txBody>
          <a:bodyPr/>
          <a:lstStyle>
            <a:lvl1pPr marL="0" indent="0">
              <a:buNone/>
              <a:defRPr sz="1985">
                <a:solidFill>
                  <a:schemeClr val="tx1">
                    <a:tint val="75000"/>
                  </a:schemeClr>
                </a:solidFill>
              </a:defRPr>
            </a:lvl1pPr>
            <a:lvl2pPr marL="378059" indent="0">
              <a:buNone/>
              <a:defRPr sz="1654">
                <a:solidFill>
                  <a:schemeClr val="tx1">
                    <a:tint val="75000"/>
                  </a:schemeClr>
                </a:solidFill>
              </a:defRPr>
            </a:lvl2pPr>
            <a:lvl3pPr marL="756117" indent="0">
              <a:buNone/>
              <a:defRPr sz="1488">
                <a:solidFill>
                  <a:schemeClr val="tx1">
                    <a:tint val="75000"/>
                  </a:schemeClr>
                </a:solidFill>
              </a:defRPr>
            </a:lvl3pPr>
            <a:lvl4pPr marL="1134176" indent="0">
              <a:buNone/>
              <a:defRPr sz="1323">
                <a:solidFill>
                  <a:schemeClr val="tx1">
                    <a:tint val="75000"/>
                  </a:schemeClr>
                </a:solidFill>
              </a:defRPr>
            </a:lvl4pPr>
            <a:lvl5pPr marL="1512235" indent="0">
              <a:buNone/>
              <a:defRPr sz="1323">
                <a:solidFill>
                  <a:schemeClr val="tx1">
                    <a:tint val="75000"/>
                  </a:schemeClr>
                </a:solidFill>
              </a:defRPr>
            </a:lvl5pPr>
            <a:lvl6pPr marL="1890293" indent="0">
              <a:buNone/>
              <a:defRPr sz="1323">
                <a:solidFill>
                  <a:schemeClr val="tx1">
                    <a:tint val="75000"/>
                  </a:schemeClr>
                </a:solidFill>
              </a:defRPr>
            </a:lvl6pPr>
            <a:lvl7pPr marL="2268352" indent="0">
              <a:buNone/>
              <a:defRPr sz="1323">
                <a:solidFill>
                  <a:schemeClr val="tx1">
                    <a:tint val="75000"/>
                  </a:schemeClr>
                </a:solidFill>
              </a:defRPr>
            </a:lvl7pPr>
            <a:lvl8pPr marL="2646411" indent="0">
              <a:buNone/>
              <a:defRPr sz="1323">
                <a:solidFill>
                  <a:schemeClr val="tx1">
                    <a:tint val="75000"/>
                  </a:schemeClr>
                </a:solidFill>
              </a:defRPr>
            </a:lvl8pPr>
            <a:lvl9pPr marL="3024469" indent="0">
              <a:buNone/>
              <a:defRPr sz="1323">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F8EA83EC-4419-4129-A10F-3DB8A14302C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268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91A5C-61A7-4517-8770-1DCCAF6EA7AE}"/>
              </a:ext>
            </a:extLst>
          </p:cNvPr>
          <p:cNvSpPr>
            <a:spLocks noGrp="1"/>
          </p:cNvSpPr>
          <p:nvPr>
            <p:ph type="title"/>
          </p:nvPr>
        </p:nvSpPr>
        <p:spPr>
          <a:xfrm>
            <a:off x="756285" y="19689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4BA7721-920E-451D-8A5A-8242178522DA}"/>
              </a:ext>
            </a:extLst>
          </p:cNvPr>
          <p:cNvSpPr>
            <a:spLocks noGrp="1"/>
          </p:cNvSpPr>
          <p:nvPr>
            <p:ph sz="half" idx="1"/>
          </p:nvPr>
        </p:nvSpPr>
        <p:spPr>
          <a:xfrm>
            <a:off x="693261"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77AB5D-D468-4927-80AC-04CC77B4F5C1}"/>
              </a:ext>
            </a:extLst>
          </p:cNvPr>
          <p:cNvSpPr>
            <a:spLocks noGrp="1"/>
          </p:cNvSpPr>
          <p:nvPr>
            <p:ph sz="half" idx="2"/>
          </p:nvPr>
        </p:nvSpPr>
        <p:spPr>
          <a:xfrm>
            <a:off x="5104924"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0AD16D4-A4EE-48FA-B00A-6F0CF601ACB3}"/>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4988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09566-4C43-42BC-9134-C4624C16DB06}"/>
              </a:ext>
            </a:extLst>
          </p:cNvPr>
          <p:cNvSpPr>
            <a:spLocks noGrp="1"/>
          </p:cNvSpPr>
          <p:nvPr>
            <p:ph type="title"/>
          </p:nvPr>
        </p:nvSpPr>
        <p:spPr>
          <a:xfrm>
            <a:off x="852134" y="196895"/>
            <a:ext cx="8697278" cy="1096044"/>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FDAA08B-D1FE-4C42-A3A7-85391660EC7C}"/>
              </a:ext>
            </a:extLst>
          </p:cNvPr>
          <p:cNvSpPr>
            <a:spLocks noGrp="1"/>
          </p:cNvSpPr>
          <p:nvPr>
            <p:ph type="body" idx="1"/>
          </p:nvPr>
        </p:nvSpPr>
        <p:spPr>
          <a:xfrm>
            <a:off x="694575" y="1390073"/>
            <a:ext cx="4265920"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4" name="Content Placeholder 3">
            <a:extLst>
              <a:ext uri="{FF2B5EF4-FFF2-40B4-BE49-F238E27FC236}">
                <a16:creationId xmlns:a16="http://schemas.microsoft.com/office/drawing/2014/main" id="{A2293804-F74C-44BD-8767-75C411DBFEEB}"/>
              </a:ext>
            </a:extLst>
          </p:cNvPr>
          <p:cNvSpPr>
            <a:spLocks noGrp="1"/>
          </p:cNvSpPr>
          <p:nvPr>
            <p:ph sz="half" idx="2"/>
          </p:nvPr>
        </p:nvSpPr>
        <p:spPr>
          <a:xfrm>
            <a:off x="694575" y="2071326"/>
            <a:ext cx="4265920"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BE2B3F-DE27-4AF0-9C77-83862E8A160F}"/>
              </a:ext>
            </a:extLst>
          </p:cNvPr>
          <p:cNvSpPr>
            <a:spLocks noGrp="1"/>
          </p:cNvSpPr>
          <p:nvPr>
            <p:ph type="body" sz="quarter" idx="3"/>
          </p:nvPr>
        </p:nvSpPr>
        <p:spPr>
          <a:xfrm>
            <a:off x="5104924" y="1390073"/>
            <a:ext cx="4286928"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6" name="Content Placeholder 5">
            <a:extLst>
              <a:ext uri="{FF2B5EF4-FFF2-40B4-BE49-F238E27FC236}">
                <a16:creationId xmlns:a16="http://schemas.microsoft.com/office/drawing/2014/main" id="{9C803ED6-FA5C-42BE-AD02-725C1CA146C2}"/>
              </a:ext>
            </a:extLst>
          </p:cNvPr>
          <p:cNvSpPr>
            <a:spLocks noGrp="1"/>
          </p:cNvSpPr>
          <p:nvPr>
            <p:ph sz="quarter" idx="4"/>
          </p:nvPr>
        </p:nvSpPr>
        <p:spPr>
          <a:xfrm>
            <a:off x="5104924" y="2071326"/>
            <a:ext cx="4286928"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F26F1231-C6EE-418B-95BC-A51AE425B490}"/>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662978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1146B-9C23-46CB-BF79-87BDF885839C}"/>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592E703-9736-4BEE-855C-50F9BF02D249}"/>
              </a:ext>
            </a:extLst>
          </p:cNvPr>
          <p:cNvSpPr>
            <a:spLocks noGrp="1"/>
          </p:cNvSpPr>
          <p:nvPr>
            <p:ph type="dt" sz="half" idx="10"/>
          </p:nvPr>
        </p:nvSpPr>
        <p:spPr>
          <a:xfrm>
            <a:off x="693261" y="5255760"/>
            <a:ext cx="2268855" cy="301904"/>
          </a:xfrm>
          <a:prstGeom prst="rect">
            <a:avLst/>
          </a:prstGeom>
        </p:spPr>
        <p:txBody>
          <a:bodyPr/>
          <a:lstStyle/>
          <a:p>
            <a:pPr defTabSz="756117"/>
            <a:fld id="{C9E90480-6D2B-4DC5-8F84-E5A1E18C92B8}" type="datetimeFigureOut">
              <a:rPr lang="en-US" sz="1488" smtClean="0">
                <a:solidFill>
                  <a:prstClr val="black"/>
                </a:solidFill>
              </a:rPr>
              <a:pPr defTabSz="756117"/>
              <a:t>10/2/2025</a:t>
            </a:fld>
            <a:endParaRPr lang="en-US" sz="1488">
              <a:solidFill>
                <a:prstClr val="black"/>
              </a:solidFill>
            </a:endParaRPr>
          </a:p>
        </p:txBody>
      </p:sp>
      <p:sp>
        <p:nvSpPr>
          <p:cNvPr id="4" name="Footer Placeholder 3">
            <a:extLst>
              <a:ext uri="{FF2B5EF4-FFF2-40B4-BE49-F238E27FC236}">
                <a16:creationId xmlns:a16="http://schemas.microsoft.com/office/drawing/2014/main" id="{C3503929-9BCA-4DA3-842C-5B3A2A75B5D7}"/>
              </a:ext>
            </a:extLst>
          </p:cNvPr>
          <p:cNvSpPr>
            <a:spLocks noGrp="1"/>
          </p:cNvSpPr>
          <p:nvPr>
            <p:ph type="ftr" sz="quarter" idx="11"/>
          </p:nvPr>
        </p:nvSpPr>
        <p:spPr>
          <a:xfrm>
            <a:off x="3340259" y="5255760"/>
            <a:ext cx="3403283" cy="301904"/>
          </a:xfrm>
          <a:prstGeom prst="rect">
            <a:avLst/>
          </a:prstGeom>
        </p:spPr>
        <p:txBody>
          <a:bodyPr/>
          <a:lstStyle/>
          <a:p>
            <a:pPr defTabSz="756117"/>
            <a:endParaRPr lang="en-US" sz="1488">
              <a:solidFill>
                <a:prstClr val="black"/>
              </a:solidFill>
            </a:endParaRPr>
          </a:p>
        </p:txBody>
      </p:sp>
      <p:sp>
        <p:nvSpPr>
          <p:cNvPr id="5" name="Slide Number Placeholder 4">
            <a:extLst>
              <a:ext uri="{FF2B5EF4-FFF2-40B4-BE49-F238E27FC236}">
                <a16:creationId xmlns:a16="http://schemas.microsoft.com/office/drawing/2014/main" id="{0EF0AD8C-314A-44F0-80B1-F3ECD7389E4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47367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71024-34DA-4B13-BFC6-7E5815769AD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81188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20FDB-F273-4FDA-8843-71FE3133B170}"/>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Content Placeholder 2">
            <a:extLst>
              <a:ext uri="{FF2B5EF4-FFF2-40B4-BE49-F238E27FC236}">
                <a16:creationId xmlns:a16="http://schemas.microsoft.com/office/drawing/2014/main" id="{2D9D8A2D-26E3-4111-9DE8-96C6A142F7D3}"/>
              </a:ext>
            </a:extLst>
          </p:cNvPr>
          <p:cNvSpPr>
            <a:spLocks noGrp="1"/>
          </p:cNvSpPr>
          <p:nvPr>
            <p:ph idx="1"/>
          </p:nvPr>
        </p:nvSpPr>
        <p:spPr>
          <a:xfrm>
            <a:off x="4286928" y="816455"/>
            <a:ext cx="5104924" cy="4029766"/>
          </a:xfrm>
          <a:prstGeom prst="rect">
            <a:avLst/>
          </a:prstGeom>
        </p:spPr>
        <p:txBody>
          <a:bodyPr/>
          <a:lstStyle>
            <a:lvl1pPr>
              <a:defRPr sz="2646"/>
            </a:lvl1pPr>
            <a:lvl2pPr>
              <a:defRPr sz="2315"/>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9FEA8F-DF81-4C1A-A7B2-021D68A66C6E}"/>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7F734DF-22E0-4AB9-B1B1-BED86737EBE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075479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D5C9-6CC8-449F-A926-7F6BAA18F9BB}"/>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Picture Placeholder 2">
            <a:extLst>
              <a:ext uri="{FF2B5EF4-FFF2-40B4-BE49-F238E27FC236}">
                <a16:creationId xmlns:a16="http://schemas.microsoft.com/office/drawing/2014/main" id="{A5356DC5-B21D-4C96-A945-A256E84C9130}"/>
              </a:ext>
            </a:extLst>
          </p:cNvPr>
          <p:cNvSpPr>
            <a:spLocks noGrp="1"/>
          </p:cNvSpPr>
          <p:nvPr>
            <p:ph type="pic" idx="1"/>
          </p:nvPr>
        </p:nvSpPr>
        <p:spPr>
          <a:xfrm>
            <a:off x="4286928" y="816455"/>
            <a:ext cx="5104924" cy="4029766"/>
          </a:xfrm>
          <a:prstGeom prst="rect">
            <a:avLst/>
          </a:prstGeom>
        </p:spPr>
        <p:txBody>
          <a:bodyPr/>
          <a:lstStyle>
            <a:lvl1pPr marL="0" indent="0">
              <a:buNone/>
              <a:defRPr sz="2646"/>
            </a:lvl1pPr>
            <a:lvl2pPr marL="378059" indent="0">
              <a:buNone/>
              <a:defRPr sz="2315"/>
            </a:lvl2pPr>
            <a:lvl3pPr marL="756117" indent="0">
              <a:buNone/>
              <a:defRPr sz="1985"/>
            </a:lvl3pPr>
            <a:lvl4pPr marL="1134176" indent="0">
              <a:buNone/>
              <a:defRPr sz="1654"/>
            </a:lvl4pPr>
            <a:lvl5pPr marL="1512235" indent="0">
              <a:buNone/>
              <a:defRPr sz="1654"/>
            </a:lvl5pPr>
            <a:lvl6pPr marL="1890293" indent="0">
              <a:buNone/>
              <a:defRPr sz="1654"/>
            </a:lvl6pPr>
            <a:lvl7pPr marL="2268352" indent="0">
              <a:buNone/>
              <a:defRPr sz="1654"/>
            </a:lvl7pPr>
            <a:lvl8pPr marL="2646411" indent="0">
              <a:buNone/>
              <a:defRPr sz="1654"/>
            </a:lvl8pPr>
            <a:lvl9pPr marL="3024469" indent="0">
              <a:buNone/>
              <a:defRPr sz="1654"/>
            </a:lvl9pPr>
          </a:lstStyle>
          <a:p>
            <a:endParaRPr lang="en-US"/>
          </a:p>
        </p:txBody>
      </p:sp>
      <p:sp>
        <p:nvSpPr>
          <p:cNvPr id="4" name="Text Placeholder 3">
            <a:extLst>
              <a:ext uri="{FF2B5EF4-FFF2-40B4-BE49-F238E27FC236}">
                <a16:creationId xmlns:a16="http://schemas.microsoft.com/office/drawing/2014/main" id="{EEDB7F75-9770-4AFB-834D-1C1F4854C152}"/>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1B47443-A469-4D0A-977A-8F63F52FA96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6012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76EB3-4CB4-42EE-BA12-413DC4CA6F6A}"/>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42E597-37ED-491C-9AC6-FE25FA433628}"/>
              </a:ext>
            </a:extLst>
          </p:cNvPr>
          <p:cNvSpPr>
            <a:spLocks noGrp="1"/>
          </p:cNvSpPr>
          <p:nvPr>
            <p:ph type="body" orient="vert" idx="1"/>
          </p:nvPr>
        </p:nvSpPr>
        <p:spPr>
          <a:xfrm>
            <a:off x="693261" y="1509521"/>
            <a:ext cx="8697278" cy="35979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A83D747-4472-4B75-9994-5D69784D2D2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71642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B699AC-E01A-4929-9445-276F94EECBB6}"/>
              </a:ext>
            </a:extLst>
          </p:cNvPr>
          <p:cNvSpPr>
            <a:spLocks noGrp="1"/>
          </p:cNvSpPr>
          <p:nvPr>
            <p:ph type="title" orient="vert"/>
          </p:nvPr>
        </p:nvSpPr>
        <p:spPr>
          <a:xfrm>
            <a:off x="7216220" y="301904"/>
            <a:ext cx="2174319" cy="480552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AF5439-6ED1-4203-BEE2-4AFDB71C91F8}"/>
              </a:ext>
            </a:extLst>
          </p:cNvPr>
          <p:cNvSpPr>
            <a:spLocks noGrp="1"/>
          </p:cNvSpPr>
          <p:nvPr>
            <p:ph type="body" orient="vert" idx="1"/>
          </p:nvPr>
        </p:nvSpPr>
        <p:spPr>
          <a:xfrm>
            <a:off x="693261" y="301904"/>
            <a:ext cx="6396911" cy="480552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CA5CF74-1DB8-4B55-BDE0-6CDA2882178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973149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81BB922-B92C-4BA4-BA65-EA3025B0BC94}"/>
              </a:ext>
            </a:extLst>
          </p:cNvPr>
          <p:cNvSpPr>
            <a:spLocks noGrp="1"/>
          </p:cNvSpPr>
          <p:nvPr>
            <p:ph type="sldNum" sz="quarter" idx="4"/>
          </p:nvPr>
        </p:nvSpPr>
        <p:spPr>
          <a:xfrm>
            <a:off x="7665264" y="5171751"/>
            <a:ext cx="2268855" cy="301904"/>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pic>
        <p:nvPicPr>
          <p:cNvPr id="7" name="Picture 6">
            <a:extLst>
              <a:ext uri="{FF2B5EF4-FFF2-40B4-BE49-F238E27FC236}">
                <a16:creationId xmlns:a16="http://schemas.microsoft.com/office/drawing/2014/main" id="{1FE5D4FA-4801-4BDA-AFAF-7C5F82906C7A}"/>
              </a:ext>
            </a:extLst>
          </p:cNvPr>
          <p:cNvPicPr>
            <a:picLocks noChangeAspect="1"/>
          </p:cNvPicPr>
          <p:nvPr userDrawn="1"/>
        </p:nvPicPr>
        <p:blipFill>
          <a:blip r:embed="rId13"/>
          <a:stretch>
            <a:fillRect/>
          </a:stretch>
        </p:blipFill>
        <p:spPr>
          <a:xfrm>
            <a:off x="-19957" y="84865"/>
            <a:ext cx="9587488" cy="5347643"/>
          </a:xfrm>
          <a:prstGeom prst="rect">
            <a:avLst/>
          </a:prstGeom>
        </p:spPr>
      </p:pic>
      <p:sp>
        <p:nvSpPr>
          <p:cNvPr id="9" name="Rectangle 8">
            <a:extLst>
              <a:ext uri="{FF2B5EF4-FFF2-40B4-BE49-F238E27FC236}">
                <a16:creationId xmlns:a16="http://schemas.microsoft.com/office/drawing/2014/main" id="{8F568DA6-4B78-463E-8077-A701B45E7694}"/>
              </a:ext>
            </a:extLst>
          </p:cNvPr>
          <p:cNvSpPr/>
          <p:nvPr userDrawn="1"/>
        </p:nvSpPr>
        <p:spPr>
          <a:xfrm>
            <a:off x="7944932" y="5338776"/>
            <a:ext cx="1441668" cy="16539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117" rtl="0" eaLnBrk="1" fontAlgn="auto" latinLnBrk="0" hangingPunct="1">
              <a:lnSpc>
                <a:spcPct val="100000"/>
              </a:lnSpc>
              <a:spcBef>
                <a:spcPts val="0"/>
              </a:spcBef>
              <a:spcAft>
                <a:spcPts val="0"/>
              </a:spcAft>
              <a:buClrTx/>
              <a:buSzTx/>
              <a:buFontTx/>
              <a:buNone/>
              <a:tabLst/>
              <a:defRPr/>
            </a:pPr>
            <a:endParaRPr kumimoji="0" lang="en-US" sz="1488"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A6D3598-85E1-4F91-A630-D7B2DD6761F7}"/>
              </a:ext>
            </a:extLst>
          </p:cNvPr>
          <p:cNvSpPr txBox="1"/>
          <p:nvPr userDrawn="1"/>
        </p:nvSpPr>
        <p:spPr>
          <a:xfrm flipH="1">
            <a:off x="7944932" y="5322702"/>
            <a:ext cx="2472631" cy="219612"/>
          </a:xfrm>
          <a:prstGeom prst="rect">
            <a:avLst/>
          </a:prstGeom>
          <a:noFill/>
        </p:spPr>
        <p:txBody>
          <a:bodyPr wrap="square" rtlCol="0">
            <a:spAutoFit/>
          </a:bodyPr>
          <a:lstStyle/>
          <a:p>
            <a:pPr marL="0" marR="0" lvl="0" indent="0" algn="l" defTabSz="756117" rtl="0" eaLnBrk="1" fontAlgn="auto" latinLnBrk="0" hangingPunct="1">
              <a:lnSpc>
                <a:spcPct val="100000"/>
              </a:lnSpc>
              <a:spcBef>
                <a:spcPts val="0"/>
              </a:spcBef>
              <a:spcAft>
                <a:spcPts val="0"/>
              </a:spcAft>
              <a:buClrTx/>
              <a:buSzTx/>
              <a:buFontTx/>
              <a:buNone/>
              <a:tabLst/>
              <a:defRPr/>
            </a:pPr>
            <a:r>
              <a:rPr kumimoji="0" lang="en-US" sz="827"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COSC 4337 Data Science II</a:t>
            </a:r>
          </a:p>
        </p:txBody>
      </p:sp>
      <p:sp>
        <p:nvSpPr>
          <p:cNvPr id="2" name="TextBox 1">
            <a:extLst>
              <a:ext uri="{FF2B5EF4-FFF2-40B4-BE49-F238E27FC236}">
                <a16:creationId xmlns:a16="http://schemas.microsoft.com/office/drawing/2014/main" id="{18643691-6277-72A9-A123-4633283B046C}"/>
              </a:ext>
            </a:extLst>
          </p:cNvPr>
          <p:cNvSpPr txBox="1"/>
          <p:nvPr userDrawn="1"/>
        </p:nvSpPr>
        <p:spPr>
          <a:xfrm>
            <a:off x="4279900" y="5257946"/>
            <a:ext cx="3048000" cy="246221"/>
          </a:xfrm>
          <a:prstGeom prst="rect">
            <a:avLst/>
          </a:prstGeom>
          <a:noFill/>
        </p:spPr>
        <p:txBody>
          <a:bodyPr wrap="square" rtlCol="0">
            <a:spAutoFit/>
          </a:bodyPr>
          <a:lstStyle/>
          <a:p>
            <a:r>
              <a:rPr lang="en-US" sz="1000" dirty="0">
                <a:solidFill>
                  <a:srgbClr val="FF0000"/>
                </a:solidFill>
              </a:rPr>
              <a:t>LSTM</a:t>
            </a:r>
          </a:p>
        </p:txBody>
      </p:sp>
    </p:spTree>
    <p:extLst>
      <p:ext uri="{BB962C8B-B14F-4D97-AF65-F5344CB8AC3E}">
        <p14:creationId xmlns:p14="http://schemas.microsoft.com/office/powerpoint/2010/main" val="228664472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756117"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29" indent="-189029" algn="l" defTabSz="756117"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88" indent="-189029" algn="l" defTabSz="756117" rtl="0" eaLnBrk="1" latinLnBrk="0" hangingPunct="1">
        <a:lnSpc>
          <a:spcPct val="90000"/>
        </a:lnSpc>
        <a:spcBef>
          <a:spcPts val="413"/>
        </a:spcBef>
        <a:buFont typeface="Arial" panose="020B0604020202020204" pitchFamily="34" charset="0"/>
        <a:buChar char="•"/>
        <a:defRPr sz="1985" kern="1200">
          <a:solidFill>
            <a:schemeClr val="tx1"/>
          </a:solidFill>
          <a:latin typeface="+mn-lt"/>
          <a:ea typeface="+mn-ea"/>
          <a:cs typeface="+mn-cs"/>
        </a:defRPr>
      </a:lvl2pPr>
      <a:lvl3pPr marL="945147" indent="-189029" algn="l" defTabSz="756117"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205"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264"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323"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381"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440"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499"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117" rtl="0" eaLnBrk="1" latinLnBrk="0" hangingPunct="1">
        <a:defRPr sz="1488" kern="1200">
          <a:solidFill>
            <a:schemeClr val="tx1"/>
          </a:solidFill>
          <a:latin typeface="+mn-lt"/>
          <a:ea typeface="+mn-ea"/>
          <a:cs typeface="+mn-cs"/>
        </a:defRPr>
      </a:lvl1pPr>
      <a:lvl2pPr marL="378059" algn="l" defTabSz="756117" rtl="0" eaLnBrk="1" latinLnBrk="0" hangingPunct="1">
        <a:defRPr sz="1488" kern="1200">
          <a:solidFill>
            <a:schemeClr val="tx1"/>
          </a:solidFill>
          <a:latin typeface="+mn-lt"/>
          <a:ea typeface="+mn-ea"/>
          <a:cs typeface="+mn-cs"/>
        </a:defRPr>
      </a:lvl2pPr>
      <a:lvl3pPr marL="756117" algn="l" defTabSz="756117" rtl="0" eaLnBrk="1" latinLnBrk="0" hangingPunct="1">
        <a:defRPr sz="1488" kern="1200">
          <a:solidFill>
            <a:schemeClr val="tx1"/>
          </a:solidFill>
          <a:latin typeface="+mn-lt"/>
          <a:ea typeface="+mn-ea"/>
          <a:cs typeface="+mn-cs"/>
        </a:defRPr>
      </a:lvl3pPr>
      <a:lvl4pPr marL="1134176" algn="l" defTabSz="756117" rtl="0" eaLnBrk="1" latinLnBrk="0" hangingPunct="1">
        <a:defRPr sz="1488" kern="1200">
          <a:solidFill>
            <a:schemeClr val="tx1"/>
          </a:solidFill>
          <a:latin typeface="+mn-lt"/>
          <a:ea typeface="+mn-ea"/>
          <a:cs typeface="+mn-cs"/>
        </a:defRPr>
      </a:lvl4pPr>
      <a:lvl5pPr marL="1512235" algn="l" defTabSz="756117" rtl="0" eaLnBrk="1" latinLnBrk="0" hangingPunct="1">
        <a:defRPr sz="1488" kern="1200">
          <a:solidFill>
            <a:schemeClr val="tx1"/>
          </a:solidFill>
          <a:latin typeface="+mn-lt"/>
          <a:ea typeface="+mn-ea"/>
          <a:cs typeface="+mn-cs"/>
        </a:defRPr>
      </a:lvl5pPr>
      <a:lvl6pPr marL="1890293" algn="l" defTabSz="756117" rtl="0" eaLnBrk="1" latinLnBrk="0" hangingPunct="1">
        <a:defRPr sz="1488" kern="1200">
          <a:solidFill>
            <a:schemeClr val="tx1"/>
          </a:solidFill>
          <a:latin typeface="+mn-lt"/>
          <a:ea typeface="+mn-ea"/>
          <a:cs typeface="+mn-cs"/>
        </a:defRPr>
      </a:lvl6pPr>
      <a:lvl7pPr marL="2268352" algn="l" defTabSz="756117" rtl="0" eaLnBrk="1" latinLnBrk="0" hangingPunct="1">
        <a:defRPr sz="1488" kern="1200">
          <a:solidFill>
            <a:schemeClr val="tx1"/>
          </a:solidFill>
          <a:latin typeface="+mn-lt"/>
          <a:ea typeface="+mn-ea"/>
          <a:cs typeface="+mn-cs"/>
        </a:defRPr>
      </a:lvl7pPr>
      <a:lvl8pPr marL="2646411" algn="l" defTabSz="756117" rtl="0" eaLnBrk="1" latinLnBrk="0" hangingPunct="1">
        <a:defRPr sz="1488" kern="1200">
          <a:solidFill>
            <a:schemeClr val="tx1"/>
          </a:solidFill>
          <a:latin typeface="+mn-lt"/>
          <a:ea typeface="+mn-ea"/>
          <a:cs typeface="+mn-cs"/>
        </a:defRPr>
      </a:lvl8pPr>
      <a:lvl9pPr marL="3024469" algn="l" defTabSz="756117"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34A4-A2B2-BEF8-FE55-95E662DFB0D7}"/>
              </a:ext>
            </a:extLst>
          </p:cNvPr>
          <p:cNvSpPr>
            <a:spLocks noGrp="1"/>
          </p:cNvSpPr>
          <p:nvPr>
            <p:ph type="ctrTitle"/>
          </p:nvPr>
        </p:nvSpPr>
        <p:spPr>
          <a:xfrm>
            <a:off x="694478" y="373225"/>
            <a:ext cx="8692323" cy="3362426"/>
          </a:xfrm>
        </p:spPr>
        <p:txBody>
          <a:bodyPr anchor="b">
            <a:normAutofit/>
          </a:bodyPr>
          <a:lstStyle/>
          <a:p>
            <a:pPr algn="l"/>
            <a:r>
              <a:rPr lang="en-US" sz="5458" b="1" dirty="0"/>
              <a:t>Long Short-Term Memory (LSTM)</a:t>
            </a:r>
            <a:r>
              <a:rPr lang="en-US" sz="5458" dirty="0"/>
              <a:t>.</a:t>
            </a:r>
          </a:p>
        </p:txBody>
      </p:sp>
    </p:spTree>
    <p:extLst>
      <p:ext uri="{BB962C8B-B14F-4D97-AF65-F5344CB8AC3E}">
        <p14:creationId xmlns:p14="http://schemas.microsoft.com/office/powerpoint/2010/main" val="52026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5D1417-3A1F-6E62-859D-F0816114C9B1}"/>
              </a:ext>
            </a:extLst>
          </p:cNvPr>
          <p:cNvPicPr>
            <a:picLocks noChangeAspect="1"/>
          </p:cNvPicPr>
          <p:nvPr/>
        </p:nvPicPr>
        <p:blipFill>
          <a:blip r:embed="rId2"/>
          <a:stretch>
            <a:fillRect/>
          </a:stretch>
        </p:blipFill>
        <p:spPr>
          <a:xfrm>
            <a:off x="1481153" y="258778"/>
            <a:ext cx="6694399" cy="3717361"/>
          </a:xfrm>
          <a:prstGeom prst="rect">
            <a:avLst/>
          </a:prstGeom>
        </p:spPr>
      </p:pic>
      <p:sp>
        <p:nvSpPr>
          <p:cNvPr id="4" name="TextBox 3">
            <a:extLst>
              <a:ext uri="{FF2B5EF4-FFF2-40B4-BE49-F238E27FC236}">
                <a16:creationId xmlns:a16="http://schemas.microsoft.com/office/drawing/2014/main" id="{56B0B304-237F-F190-1F8C-F8A43F6CBA51}"/>
              </a:ext>
            </a:extLst>
          </p:cNvPr>
          <p:cNvSpPr txBox="1"/>
          <p:nvPr/>
        </p:nvSpPr>
        <p:spPr>
          <a:xfrm>
            <a:off x="397724" y="3835660"/>
            <a:ext cx="5040489" cy="550279"/>
          </a:xfrm>
          <a:prstGeom prst="rect">
            <a:avLst/>
          </a:prstGeom>
          <a:noFill/>
        </p:spPr>
        <p:txBody>
          <a:bodyPr wrap="square">
            <a:spAutoFit/>
          </a:bodyPr>
          <a:lstStyle/>
          <a:p>
            <a:pPr algn="l"/>
            <a:r>
              <a:rPr lang="en-US" sz="1488" dirty="0">
                <a:solidFill>
                  <a:srgbClr val="111111"/>
                </a:solidFill>
                <a:latin typeface="Roboto" panose="02000000000000000000" pitchFamily="2" charset="0"/>
              </a:rPr>
              <a:t>RNNs use their internal state (memory) to process sequences of inputs</a:t>
            </a:r>
          </a:p>
        </p:txBody>
      </p:sp>
      <p:sp>
        <p:nvSpPr>
          <p:cNvPr id="6" name="TextBox 5">
            <a:extLst>
              <a:ext uri="{FF2B5EF4-FFF2-40B4-BE49-F238E27FC236}">
                <a16:creationId xmlns:a16="http://schemas.microsoft.com/office/drawing/2014/main" id="{9AF67DCB-2DFD-8D8A-926A-25363DCE36C9}"/>
              </a:ext>
            </a:extLst>
          </p:cNvPr>
          <p:cNvSpPr txBox="1"/>
          <p:nvPr/>
        </p:nvSpPr>
        <p:spPr>
          <a:xfrm>
            <a:off x="4942822" y="4317331"/>
            <a:ext cx="5041450" cy="779252"/>
          </a:xfrm>
          <a:prstGeom prst="rect">
            <a:avLst/>
          </a:prstGeom>
          <a:noFill/>
        </p:spPr>
        <p:txBody>
          <a:bodyPr wrap="square">
            <a:spAutoFit/>
          </a:bodyPr>
          <a:lstStyle/>
          <a:p>
            <a:r>
              <a:rPr lang="en-US" sz="1488" dirty="0">
                <a:solidFill>
                  <a:srgbClr val="111111"/>
                </a:solidFill>
                <a:latin typeface="Roboto" panose="02000000000000000000" pitchFamily="2" charset="0"/>
              </a:rPr>
              <a:t>Long Short-Term Memory (LSTM) network is a variant of RNN, with additional long term memory to remember past data.</a:t>
            </a:r>
            <a:endParaRPr lang="en-US" sz="1488" dirty="0"/>
          </a:p>
        </p:txBody>
      </p:sp>
    </p:spTree>
    <p:extLst>
      <p:ext uri="{BB962C8B-B14F-4D97-AF65-F5344CB8AC3E}">
        <p14:creationId xmlns:p14="http://schemas.microsoft.com/office/powerpoint/2010/main" val="3184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69E5BD-B782-EFA0-7512-12C610DCBF78}"/>
              </a:ext>
            </a:extLst>
          </p:cNvPr>
          <p:cNvSpPr txBox="1"/>
          <p:nvPr/>
        </p:nvSpPr>
        <p:spPr>
          <a:xfrm>
            <a:off x="976804" y="319897"/>
            <a:ext cx="8230233" cy="2128531"/>
          </a:xfrm>
          <a:prstGeom prst="rect">
            <a:avLst/>
          </a:prstGeom>
          <a:noFill/>
        </p:spPr>
        <p:txBody>
          <a:bodyPr wrap="square">
            <a:spAutoFit/>
          </a:bodyPr>
          <a:lstStyle/>
          <a:p>
            <a:r>
              <a:rPr lang="en-US" sz="3308" dirty="0"/>
              <a:t>To address the </a:t>
            </a:r>
            <a:r>
              <a:rPr lang="en-US" sz="3308" b="1" dirty="0"/>
              <a:t>exploding gradient</a:t>
            </a:r>
            <a:r>
              <a:rPr lang="en-US" sz="3308" dirty="0"/>
              <a:t> and </a:t>
            </a:r>
            <a:r>
              <a:rPr lang="en-US" sz="3308" b="1" dirty="0"/>
              <a:t>vanishing gradient</a:t>
            </a:r>
            <a:r>
              <a:rPr lang="en-US" sz="3308" dirty="0"/>
              <a:t> problems, architectures like </a:t>
            </a:r>
            <a:r>
              <a:rPr lang="en-US" sz="3308" b="1" dirty="0"/>
              <a:t>Long Short-Term Memory (LSTM)</a:t>
            </a:r>
            <a:r>
              <a:rPr lang="en-US" sz="3308" dirty="0"/>
              <a:t> are designed to handle long-term dependencies. </a:t>
            </a:r>
          </a:p>
        </p:txBody>
      </p:sp>
      <p:sp>
        <p:nvSpPr>
          <p:cNvPr id="5" name="TextBox 4">
            <a:extLst>
              <a:ext uri="{FF2B5EF4-FFF2-40B4-BE49-F238E27FC236}">
                <a16:creationId xmlns:a16="http://schemas.microsoft.com/office/drawing/2014/main" id="{DD5EEA2E-D7E5-13AE-D959-82D85BC0EA26}"/>
              </a:ext>
            </a:extLst>
          </p:cNvPr>
          <p:cNvSpPr txBox="1"/>
          <p:nvPr/>
        </p:nvSpPr>
        <p:spPr>
          <a:xfrm>
            <a:off x="1715563" y="3232069"/>
            <a:ext cx="7745422" cy="804836"/>
          </a:xfrm>
          <a:prstGeom prst="rect">
            <a:avLst/>
          </a:prstGeom>
          <a:noFill/>
        </p:spPr>
        <p:txBody>
          <a:bodyPr wrap="square">
            <a:spAutoFit/>
          </a:bodyPr>
          <a:lstStyle/>
          <a:p>
            <a:r>
              <a:rPr lang="en-US" sz="2315" b="1" dirty="0">
                <a:solidFill>
                  <a:srgbClr val="FF0000"/>
                </a:solidFill>
              </a:rPr>
              <a:t>LSTMs introduce a gating mechanism that controls how information is stored, passed, or forgotten in the network</a:t>
            </a:r>
          </a:p>
        </p:txBody>
      </p:sp>
    </p:spTree>
    <p:extLst>
      <p:ext uri="{BB962C8B-B14F-4D97-AF65-F5344CB8AC3E}">
        <p14:creationId xmlns:p14="http://schemas.microsoft.com/office/powerpoint/2010/main" val="656973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F348FA3-FEDB-C9DB-314A-2AAD57551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765" y="575923"/>
            <a:ext cx="7749752" cy="3930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453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9B0027-DD0B-41CA-E7D5-B0C616928BF1}"/>
              </a:ext>
            </a:extLst>
          </p:cNvPr>
          <p:cNvPicPr>
            <a:picLocks noChangeAspect="1"/>
          </p:cNvPicPr>
          <p:nvPr/>
        </p:nvPicPr>
        <p:blipFill>
          <a:blip r:embed="rId2"/>
          <a:stretch>
            <a:fillRect/>
          </a:stretch>
        </p:blipFill>
        <p:spPr>
          <a:xfrm>
            <a:off x="3895879" y="2719894"/>
            <a:ext cx="5991669" cy="3040665"/>
          </a:xfrm>
          <a:prstGeom prst="rect">
            <a:avLst/>
          </a:prstGeom>
        </p:spPr>
      </p:pic>
      <p:pic>
        <p:nvPicPr>
          <p:cNvPr id="4" name="Picture 3">
            <a:extLst>
              <a:ext uri="{FF2B5EF4-FFF2-40B4-BE49-F238E27FC236}">
                <a16:creationId xmlns:a16="http://schemas.microsoft.com/office/drawing/2014/main" id="{D4FE487B-22FD-9602-B866-064F83645683}"/>
              </a:ext>
            </a:extLst>
          </p:cNvPr>
          <p:cNvPicPr>
            <a:picLocks noChangeAspect="1"/>
          </p:cNvPicPr>
          <p:nvPr/>
        </p:nvPicPr>
        <p:blipFill>
          <a:blip r:embed="rId3"/>
          <a:stretch>
            <a:fillRect/>
          </a:stretch>
        </p:blipFill>
        <p:spPr>
          <a:xfrm>
            <a:off x="196251" y="-34677"/>
            <a:ext cx="6806094" cy="2869952"/>
          </a:xfrm>
          <a:prstGeom prst="rect">
            <a:avLst/>
          </a:prstGeom>
        </p:spPr>
      </p:pic>
    </p:spTree>
    <p:extLst>
      <p:ext uri="{BB962C8B-B14F-4D97-AF65-F5344CB8AC3E}">
        <p14:creationId xmlns:p14="http://schemas.microsoft.com/office/powerpoint/2010/main" val="3048832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EE86A22-1561-3B3F-4F12-02D0B0544D94}"/>
                  </a:ext>
                </a:extLst>
              </p:cNvPr>
              <p:cNvSpPr txBox="1"/>
              <p:nvPr/>
            </p:nvSpPr>
            <p:spPr>
              <a:xfrm>
                <a:off x="230338" y="473075"/>
                <a:ext cx="5221300" cy="3853106"/>
              </a:xfrm>
              <a:prstGeom prst="rect">
                <a:avLst/>
              </a:prstGeom>
              <a:noFill/>
            </p:spPr>
            <p:txBody>
              <a:bodyPr wrap="square">
                <a:spAutoFit/>
              </a:bodyPr>
              <a:lstStyle/>
              <a:p>
                <a:pPr>
                  <a:buNone/>
                </a:pPr>
                <a:r>
                  <a:rPr lang="en-US" b="1" dirty="0"/>
                  <a:t>Setup (constants &amp; weights)</a:t>
                </a:r>
              </a:p>
              <a:p>
                <a:pPr>
                  <a:buNone/>
                </a:pPr>
                <a:r>
                  <a:rPr lang="en-US" dirty="0"/>
                  <a:t>Inputs / initial states / targets:</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en-US" b="0" i="0" smtClean="0">
                            <a:latin typeface="Cambria Math" panose="02040503050406030204" pitchFamily="18" charset="0"/>
                          </a:rPr>
                          <m:t>0</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𝑥</m:t>
                        </m:r>
                      </m:e>
                      <m:sub>
                        <m:r>
                          <a:rPr lang="en-US" b="0" i="0" smtClean="0">
                            <a:latin typeface="Cambria Math" panose="02040503050406030204" pitchFamily="18" charset="0"/>
                          </a:rPr>
                          <m:t>1</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3</m:t>
                    </m:r>
                  </m:oMath>
                </a14:m>
                <a:endParaRPr lang="ar-AE" dirty="0"/>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0</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𝑐</m:t>
                        </m:r>
                      </m:e>
                      <m:sub>
                        <m:r>
                          <a:rPr lang="ar-AE" b="0" i="0">
                            <a:latin typeface="Cambria Math" panose="02040503050406030204" pitchFamily="18" charset="0"/>
                          </a:rPr>
                          <m:t>0</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1</m:t>
                    </m:r>
                  </m:oMath>
                </a14:m>
                <a:endParaRPr lang="ar-AE" dirty="0"/>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05</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𝑦</m:t>
                        </m:r>
                      </m:e>
                      <m:sub>
                        <m:r>
                          <a:rPr lang="ar-AE" b="0" i="0">
                            <a:latin typeface="Cambria Math" panose="02040503050406030204" pitchFamily="18" charset="0"/>
                          </a:rPr>
                          <m:t>2</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m:t>
                    </m:r>
                  </m:oMath>
                </a14:m>
                <a:endParaRPr lang="ar-AE" dirty="0"/>
              </a:p>
              <a:p>
                <a:pPr>
                  <a:buNone/>
                </a:pPr>
                <a:r>
                  <a:rPr lang="en-US" dirty="0"/>
                  <a:t>Weights / biases (scalars, shared across timesteps):</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7</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𝑈</m:t>
                        </m:r>
                      </m:e>
                      <m:sub>
                        <m:r>
                          <a:rPr lang="ar-AE" b="0" i="1">
                            <a:latin typeface="Cambria Math" panose="02040503050406030204" pitchFamily="18" charset="0"/>
                          </a:rPr>
                          <m:t>𝑖</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10</m:t>
                    </m:r>
                    <m:r>
                      <a:rPr lang="ar-AE" b="0"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𝑏</m:t>
                        </m:r>
                      </m:e>
                      <m:sub>
                        <m:r>
                          <a:rPr lang="ar-AE" b="0" i="1">
                            <a:latin typeface="Cambria Math" panose="02040503050406030204" pitchFamily="18" charset="0"/>
                          </a:rPr>
                          <m:t>𝑖</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m:t>
                    </m:r>
                  </m:oMath>
                </a14:m>
                <a:endParaRPr lang="ar-AE" dirty="0"/>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6</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𝑈</m:t>
                        </m:r>
                      </m:e>
                      <m:sub>
                        <m:r>
                          <a:rPr lang="ar-AE" b="0" i="1">
                            <a:latin typeface="Cambria Math" panose="02040503050406030204" pitchFamily="18" charset="0"/>
                          </a:rPr>
                          <m:t>𝑓</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20</m:t>
                    </m:r>
                    <m:r>
                      <a:rPr lang="ar-AE" b="0"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𝑏</m:t>
                        </m:r>
                      </m:e>
                      <m:sub>
                        <m:r>
                          <a:rPr lang="ar-AE" b="0" i="1">
                            <a:latin typeface="Cambria Math" panose="02040503050406030204" pitchFamily="18" charset="0"/>
                          </a:rPr>
                          <m:t>𝑓</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10</m:t>
                    </m:r>
                  </m:oMath>
                </a14:m>
                <a:endParaRPr lang="ar-AE" dirty="0"/>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𝑈</m:t>
                        </m:r>
                      </m:e>
                      <m:sub>
                        <m:r>
                          <a:rPr lang="ar-AE" b="0" i="1">
                            <a:latin typeface="Cambria Math" panose="02040503050406030204" pitchFamily="18" charset="0"/>
                          </a:rPr>
                          <m:t>𝑜</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10</m:t>
                    </m:r>
                    <m:r>
                      <a:rPr lang="ar-AE" b="0"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𝑏</m:t>
                        </m:r>
                      </m:e>
                      <m:sub>
                        <m:r>
                          <a:rPr lang="ar-AE" b="0" i="1">
                            <a:latin typeface="Cambria Math" panose="02040503050406030204" pitchFamily="18" charset="0"/>
                          </a:rPr>
                          <m:t>𝑜</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m:t>
                    </m:r>
                  </m:oMath>
                </a14:m>
                <a:endParaRPr lang="ar-AE" dirty="0"/>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𝑐</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9</m:t>
                    </m:r>
                    <m:r>
                      <a:rPr lang="ar-AE"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𝑈</m:t>
                        </m:r>
                      </m:e>
                      <m:sub>
                        <m:r>
                          <a:rPr lang="ar-AE" b="0" i="1">
                            <a:latin typeface="Cambria Math" panose="02040503050406030204" pitchFamily="18" charset="0"/>
                          </a:rPr>
                          <m:t>𝑐</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05</m:t>
                    </m:r>
                    <m:r>
                      <a:rPr lang="ar-AE" b="0" i="0">
                        <a:latin typeface="Cambria Math" panose="02040503050406030204" pitchFamily="18" charset="0"/>
                      </a:rPr>
                      <m:t>,</m:t>
                    </m:r>
                    <m:r>
                      <m:rPr>
                        <m:nor/>
                      </m:rPr>
                      <a:rPr lang="ar-AE"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𝑏</m:t>
                        </m:r>
                      </m:e>
                      <m:sub>
                        <m:r>
                          <a:rPr lang="ar-AE" b="0" i="1">
                            <a:latin typeface="Cambria Math" panose="02040503050406030204" pitchFamily="18" charset="0"/>
                          </a:rPr>
                          <m:t>𝑐</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05</m:t>
                    </m:r>
                  </m:oMath>
                </a14:m>
                <a:endParaRPr lang="ar-AE" dirty="0"/>
              </a:p>
              <a:p>
                <a:pPr>
                  <a:buNone/>
                </a:pPr>
                <a:r>
                  <a:rPr lang="en-US" dirty="0"/>
                  <a:t>Activation functions: </a:t>
                </a:r>
                <a14:m>
                  <m:oMath xmlns:m="http://schemas.openxmlformats.org/officeDocument/2006/math">
                    <m:r>
                      <a:rPr lang="en-US"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𝑧</m:t>
                        </m:r>
                      </m:e>
                    </m:d>
                    <m:r>
                      <a:rPr lang="ar-AE" i="0">
                        <a:latin typeface="Cambria Math" panose="02040503050406030204" pitchFamily="18" charset="0"/>
                      </a:rPr>
                      <m:t>=</m:t>
                    </m:r>
                    <m:r>
                      <a:rPr lang="ar-AE" i="0">
                        <a:latin typeface="Cambria Math" panose="02040503050406030204" pitchFamily="18" charset="0"/>
                      </a:rPr>
                      <m:t>1</m:t>
                    </m:r>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i="0">
                                <a:latin typeface="Cambria Math" panose="02040503050406030204" pitchFamily="18" charset="0"/>
                              </a:rPr>
                              <m:t>−</m:t>
                            </m:r>
                            <m:r>
                              <a:rPr lang="ar-AE" i="1">
                                <a:latin typeface="Cambria Math" panose="02040503050406030204" pitchFamily="18" charset="0"/>
                              </a:rPr>
                              <m:t>𝑧</m:t>
                            </m:r>
                          </m:sup>
                        </m:sSup>
                      </m:e>
                    </m:d>
                  </m:oMath>
                </a14:m>
                <a:r>
                  <a:rPr lang="ar-AE" dirty="0"/>
                  <a:t>, .</a:t>
                </a:r>
                <a:br>
                  <a:rPr lang="ar-AE" dirty="0"/>
                </a:br>
                <a:r>
                  <a:rPr lang="en-US" dirty="0"/>
                  <a:t>Loss per timestep: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𝑡</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num>
                      <m:den>
                        <m:r>
                          <a:rPr lang="ar-AE" i="0">
                            <a:latin typeface="Cambria Math" panose="02040503050406030204" pitchFamily="18" charset="0"/>
                          </a:rPr>
                          <m:t>2</m:t>
                        </m:r>
                      </m:den>
                    </m:f>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𝑡</m:t>
                            </m:r>
                          </m:sub>
                        </m:sSub>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e>
                    </m:d>
                  </m:oMath>
                </a14:m>
                <a:r>
                  <a:rPr lang="ar-AE" dirty="0"/>
                  <a:t>, </a:t>
                </a:r>
                <a:r>
                  <a:rPr lang="en-US" dirty="0"/>
                  <a:t>total </a:t>
                </a:r>
                <a14:m>
                  <m:oMath xmlns:m="http://schemas.openxmlformats.org/officeDocument/2006/math">
                    <m:r>
                      <a:rPr lang="en-US" i="1">
                        <a:latin typeface="Cambria Math" panose="02040503050406030204" pitchFamily="18" charset="0"/>
                      </a:rPr>
                      <m:t>𝐿</m:t>
                    </m:r>
                    <m:r>
                      <a:rPr lang="en-US"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0">
                            <a:latin typeface="Cambria Math" panose="02040503050406030204" pitchFamily="18" charset="0"/>
                          </a:rPr>
                          <m:t>1</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0">
                            <a:latin typeface="Cambria Math" panose="02040503050406030204" pitchFamily="18" charset="0"/>
                          </a:rPr>
                          <m:t>2</m:t>
                        </m:r>
                      </m:sub>
                    </m:sSub>
                  </m:oMath>
                </a14:m>
                <a:r>
                  <a:rPr lang="ar-AE" dirty="0"/>
                  <a:t>.</a:t>
                </a:r>
              </a:p>
            </p:txBody>
          </p:sp>
        </mc:Choice>
        <mc:Fallback>
          <p:sp>
            <p:nvSpPr>
              <p:cNvPr id="3" name="TextBox 2">
                <a:extLst>
                  <a:ext uri="{FF2B5EF4-FFF2-40B4-BE49-F238E27FC236}">
                    <a16:creationId xmlns:a16="http://schemas.microsoft.com/office/drawing/2014/main" id="{3EE86A22-1561-3B3F-4F12-02D0B0544D94}"/>
                  </a:ext>
                </a:extLst>
              </p:cNvPr>
              <p:cNvSpPr txBox="1">
                <a:spLocks noRot="1" noChangeAspect="1" noMove="1" noResize="1" noEditPoints="1" noAdjustHandles="1" noChangeArrowheads="1" noChangeShapeType="1" noTextEdit="1"/>
              </p:cNvSpPr>
              <p:nvPr/>
            </p:nvSpPr>
            <p:spPr>
              <a:xfrm>
                <a:off x="230338" y="473075"/>
                <a:ext cx="5221300" cy="3853106"/>
              </a:xfrm>
              <a:prstGeom prst="rect">
                <a:avLst/>
              </a:prstGeom>
              <a:blipFill>
                <a:blip r:embed="rId2"/>
                <a:stretch>
                  <a:fillRect l="-1051" t="-949" b="-2642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C87D3BB-5265-94B3-15FD-776C813DB334}"/>
              </a:ext>
            </a:extLst>
          </p:cNvPr>
          <p:cNvPicPr>
            <a:picLocks noChangeAspect="1"/>
          </p:cNvPicPr>
          <p:nvPr/>
        </p:nvPicPr>
        <p:blipFill>
          <a:blip r:embed="rId3"/>
          <a:stretch>
            <a:fillRect/>
          </a:stretch>
        </p:blipFill>
        <p:spPr>
          <a:xfrm>
            <a:off x="5118100" y="1270522"/>
            <a:ext cx="4758307" cy="2412289"/>
          </a:xfrm>
          <a:prstGeom prst="rect">
            <a:avLst/>
          </a:prstGeom>
        </p:spPr>
      </p:pic>
    </p:spTree>
    <p:extLst>
      <p:ext uri="{BB962C8B-B14F-4D97-AF65-F5344CB8AC3E}">
        <p14:creationId xmlns:p14="http://schemas.microsoft.com/office/powerpoint/2010/main" val="3540546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ED860C-B5D0-8946-BE8E-F9CF9ED2F08C}"/>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pic>
        <p:nvPicPr>
          <p:cNvPr id="5" name="Picture 4">
            <a:extLst>
              <a:ext uri="{FF2B5EF4-FFF2-40B4-BE49-F238E27FC236}">
                <a16:creationId xmlns:a16="http://schemas.microsoft.com/office/drawing/2014/main" id="{0062BD41-4888-1F8D-F016-3DDDE9F0D28D}"/>
              </a:ext>
            </a:extLst>
          </p:cNvPr>
          <p:cNvPicPr>
            <a:picLocks noChangeAspect="1"/>
          </p:cNvPicPr>
          <p:nvPr/>
        </p:nvPicPr>
        <p:blipFill>
          <a:blip r:embed="rId2"/>
          <a:stretch>
            <a:fillRect/>
          </a:stretch>
        </p:blipFill>
        <p:spPr>
          <a:xfrm>
            <a:off x="3534553" y="549275"/>
            <a:ext cx="6512641" cy="3291844"/>
          </a:xfrm>
          <a:prstGeom prst="rect">
            <a:avLst/>
          </a:prstGeom>
        </p:spPr>
      </p:pic>
      <p:sp>
        <p:nvSpPr>
          <p:cNvPr id="7" name="TextBox 6">
            <a:extLst>
              <a:ext uri="{FF2B5EF4-FFF2-40B4-BE49-F238E27FC236}">
                <a16:creationId xmlns:a16="http://schemas.microsoft.com/office/drawing/2014/main" id="{0ED43715-E34C-D250-8F77-793F38D33D86}"/>
              </a:ext>
            </a:extLst>
          </p:cNvPr>
          <p:cNvSpPr txBox="1"/>
          <p:nvPr/>
        </p:nvSpPr>
        <p:spPr>
          <a:xfrm>
            <a:off x="241893" y="722970"/>
            <a:ext cx="5040489" cy="1237198"/>
          </a:xfrm>
          <a:prstGeom prst="rect">
            <a:avLst/>
          </a:prstGeom>
          <a:noFill/>
        </p:spPr>
        <p:txBody>
          <a:bodyPr wrap="square">
            <a:spAutoFit/>
          </a:bodyPr>
          <a:lstStyle/>
          <a:p>
            <a:r>
              <a:rPr lang="en-US" sz="1488" dirty="0"/>
              <a:t>The </a:t>
            </a:r>
            <a:r>
              <a:rPr lang="en-US" sz="1488" dirty="0">
                <a:solidFill>
                  <a:srgbClr val="FF0000"/>
                </a:solidFill>
              </a:rPr>
              <a:t>forget gate </a:t>
            </a:r>
            <a:r>
              <a:rPr lang="en-US" sz="1488" dirty="0"/>
              <a:t>tells the network </a:t>
            </a:r>
          </a:p>
          <a:p>
            <a:r>
              <a:rPr lang="en-US" sz="1488" dirty="0"/>
              <a:t>how much of the previous cell state </a:t>
            </a:r>
          </a:p>
          <a:p>
            <a:r>
              <a:rPr lang="en-US" sz="1488" dirty="0"/>
              <a:t>to forget.</a:t>
            </a:r>
          </a:p>
          <a:p>
            <a:endParaRPr lang="en-US" sz="1488" dirty="0"/>
          </a:p>
          <a:p>
            <a:r>
              <a:rPr lang="en-US" sz="1488" dirty="0"/>
              <a:t>For time step t=1</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34A3CCA-6EB1-8396-17B6-9FA19128105A}"/>
                  </a:ext>
                </a:extLst>
              </p:cNvPr>
              <p:cNvSpPr txBox="1"/>
              <p:nvPr/>
            </p:nvSpPr>
            <p:spPr>
              <a:xfrm>
                <a:off x="2726812" y="4135263"/>
                <a:ext cx="5040726" cy="646331"/>
              </a:xfrm>
              <a:prstGeom prst="rect">
                <a:avLst/>
              </a:prstGeom>
              <a:noFill/>
            </p:spPr>
            <p:txBody>
              <a:bodyPr wrap="square">
                <a:spAutoFit/>
              </a:bodyPr>
              <a:lstStyle/>
              <a:p>
                <a:pPr/>
                <a:r>
                  <a:rPr lang="ar-AE" dirty="0"/>
                  <a:t>=−0.6⋅0.5+0.2⋅0.2+0.1  −</a:t>
                </a:r>
                <a:r>
                  <a:rPr lang="en-US" dirty="0"/>
                  <a:t>  </a:t>
                </a:r>
                <a:r>
                  <a:rPr lang="ar-AE" dirty="0"/>
                  <a:t>0.1600000000</a:t>
                </a:r>
                <a:br>
                  <a:rPr lang="ar-AE"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0">
                              <a:latin typeface="Cambria Math" panose="02040503050406030204" pitchFamily="18" charset="0"/>
                            </a:rPr>
                            <m:t>1</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16</m:t>
                          </m:r>
                        </m:e>
                      </m:d>
                      <m:r>
                        <a:rPr lang="ar-AE" i="0">
                          <a:latin typeface="Cambria Math" panose="02040503050406030204" pitchFamily="18" charset="0"/>
                        </a:rPr>
                        <m:t>=</m:t>
                      </m:r>
                      <m:r>
                        <a:rPr lang="ar-AE" i="0">
                          <a:highlight>
                            <a:srgbClr val="FFFF00"/>
                          </a:highlight>
                          <a:latin typeface="Cambria Math" panose="02040503050406030204" pitchFamily="18" charset="0"/>
                        </a:rPr>
                        <m:t>0</m:t>
                      </m:r>
                      <m:r>
                        <a:rPr lang="ar-AE" i="0">
                          <a:highlight>
                            <a:srgbClr val="FFFF00"/>
                          </a:highlight>
                          <a:latin typeface="Cambria Math" panose="02040503050406030204" pitchFamily="18" charset="0"/>
                        </a:rPr>
                        <m:t>.</m:t>
                      </m:r>
                      <m:r>
                        <a:rPr lang="ar-AE" i="0">
                          <a:highlight>
                            <a:srgbClr val="FFFF00"/>
                          </a:highlight>
                          <a:latin typeface="Cambria Math" panose="02040503050406030204" pitchFamily="18" charset="0"/>
                        </a:rPr>
                        <m:t>4600851154</m:t>
                      </m:r>
                    </m:oMath>
                  </m:oMathPara>
                </a14:m>
                <a:endParaRPr lang="en-US" dirty="0">
                  <a:highlight>
                    <a:srgbClr val="FFFF00"/>
                  </a:highlight>
                </a:endParaRPr>
              </a:p>
            </p:txBody>
          </p:sp>
        </mc:Choice>
        <mc:Fallback>
          <p:sp>
            <p:nvSpPr>
              <p:cNvPr id="3" name="TextBox 2">
                <a:extLst>
                  <a:ext uri="{FF2B5EF4-FFF2-40B4-BE49-F238E27FC236}">
                    <a16:creationId xmlns:a16="http://schemas.microsoft.com/office/drawing/2014/main" id="{F34A3CCA-6EB1-8396-17B6-9FA19128105A}"/>
                  </a:ext>
                </a:extLst>
              </p:cNvPr>
              <p:cNvSpPr txBox="1">
                <a:spLocks noRot="1" noChangeAspect="1" noMove="1" noResize="1" noEditPoints="1" noAdjustHandles="1" noChangeArrowheads="1" noChangeShapeType="1" noTextEdit="1"/>
              </p:cNvSpPr>
              <p:nvPr/>
            </p:nvSpPr>
            <p:spPr>
              <a:xfrm>
                <a:off x="2726812" y="4135263"/>
                <a:ext cx="5040726" cy="646331"/>
              </a:xfrm>
              <a:prstGeom prst="rect">
                <a:avLst/>
              </a:prstGeom>
              <a:blipFill>
                <a:blip r:embed="rId3"/>
                <a:stretch>
                  <a:fillRect l="-1088" t="-6604" b="-7547"/>
                </a:stretch>
              </a:blipFill>
            </p:spPr>
            <p:txBody>
              <a:bodyPr/>
              <a:lstStyle/>
              <a:p>
                <a:r>
                  <a:rPr lang="en-US">
                    <a:noFill/>
                  </a:rPr>
                  <a:t> </a:t>
                </a:r>
              </a:p>
            </p:txBody>
          </p:sp>
        </mc:Fallback>
      </mc:AlternateContent>
    </p:spTree>
    <p:extLst>
      <p:ext uri="{BB962C8B-B14F-4D97-AF65-F5344CB8AC3E}">
        <p14:creationId xmlns:p14="http://schemas.microsoft.com/office/powerpoint/2010/main" val="3494481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A7999-FE91-7311-A0C4-130595B435CE}"/>
              </a:ext>
            </a:extLst>
          </p:cNvPr>
          <p:cNvPicPr>
            <a:picLocks noChangeAspect="1"/>
          </p:cNvPicPr>
          <p:nvPr/>
        </p:nvPicPr>
        <p:blipFill>
          <a:blip r:embed="rId2"/>
          <a:stretch>
            <a:fillRect/>
          </a:stretch>
        </p:blipFill>
        <p:spPr>
          <a:xfrm>
            <a:off x="2762137" y="429421"/>
            <a:ext cx="7191552" cy="3635003"/>
          </a:xfrm>
          <a:prstGeom prst="rect">
            <a:avLst/>
          </a:prstGeom>
        </p:spPr>
      </p:pic>
      <p:sp>
        <p:nvSpPr>
          <p:cNvPr id="4" name="TextBox 3">
            <a:extLst>
              <a:ext uri="{FF2B5EF4-FFF2-40B4-BE49-F238E27FC236}">
                <a16:creationId xmlns:a16="http://schemas.microsoft.com/office/drawing/2014/main" id="{64ED860C-B5D0-8946-BE8E-F9CF9ED2F08C}"/>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0ED43715-E34C-D250-8F77-793F38D33D86}"/>
              </a:ext>
            </a:extLst>
          </p:cNvPr>
          <p:cNvSpPr txBox="1"/>
          <p:nvPr/>
        </p:nvSpPr>
        <p:spPr>
          <a:xfrm>
            <a:off x="241893" y="722969"/>
            <a:ext cx="5040489" cy="779252"/>
          </a:xfrm>
          <a:prstGeom prst="rect">
            <a:avLst/>
          </a:prstGeom>
          <a:noFill/>
        </p:spPr>
        <p:txBody>
          <a:bodyPr wrap="square">
            <a:spAutoFit/>
          </a:bodyPr>
          <a:lstStyle/>
          <a:p>
            <a:r>
              <a:rPr lang="en-US" sz="1488" dirty="0"/>
              <a:t>The </a:t>
            </a:r>
            <a:r>
              <a:rPr lang="en-US" sz="1488" dirty="0">
                <a:solidFill>
                  <a:srgbClr val="FF0000"/>
                </a:solidFill>
              </a:rPr>
              <a:t>input gate </a:t>
            </a:r>
            <a:r>
              <a:rPr lang="en-US" sz="1488" dirty="0"/>
              <a:t>controls how much o</a:t>
            </a:r>
          </a:p>
          <a:p>
            <a:r>
              <a:rPr lang="en-US" sz="1488" dirty="0"/>
              <a:t>f the new candidate state to store.</a:t>
            </a:r>
          </a:p>
          <a:p>
            <a:r>
              <a:rPr lang="en-US" sz="1488" dirty="0"/>
              <a:t>For time step t=1</a:t>
            </a:r>
          </a:p>
        </p:txBody>
      </p:sp>
      <p:sp>
        <p:nvSpPr>
          <p:cNvPr id="5" name="TextBox 4">
            <a:extLst>
              <a:ext uri="{FF2B5EF4-FFF2-40B4-BE49-F238E27FC236}">
                <a16:creationId xmlns:a16="http://schemas.microsoft.com/office/drawing/2014/main" id="{71AB7DAE-2F96-FE4A-34DA-C3B22035EC0F}"/>
              </a:ext>
            </a:extLst>
          </p:cNvPr>
          <p:cNvSpPr txBox="1"/>
          <p:nvPr/>
        </p:nvSpPr>
        <p:spPr>
          <a:xfrm>
            <a:off x="4543234" y="4116584"/>
            <a:ext cx="5040726" cy="646331"/>
          </a:xfrm>
          <a:prstGeom prst="rect">
            <a:avLst/>
          </a:prstGeom>
          <a:noFill/>
        </p:spPr>
        <p:txBody>
          <a:bodyPr wrap="square">
            <a:spAutoFit/>
          </a:bodyPr>
          <a:lstStyle/>
          <a:p>
            <a:r>
              <a:rPr lang="en-US" dirty="0"/>
              <a:t>C (</a:t>
            </a:r>
            <a:r>
              <a:rPr lang="en-US" dirty="0" err="1"/>
              <a:t>tilda</a:t>
            </a:r>
            <a:r>
              <a:rPr lang="en-US" dirty="0"/>
              <a:t>)=0.9⋅0.5+0.05⋅0.2−0.05=0.4100000000</a:t>
            </a:r>
            <a:br>
              <a:rPr lang="en-US" dirty="0"/>
            </a:br>
            <a:endParaRPr lang="en-US" dirty="0"/>
          </a:p>
        </p:txBody>
      </p:sp>
      <p:sp>
        <p:nvSpPr>
          <p:cNvPr id="9" name="TextBox 8">
            <a:extLst>
              <a:ext uri="{FF2B5EF4-FFF2-40B4-BE49-F238E27FC236}">
                <a16:creationId xmlns:a16="http://schemas.microsoft.com/office/drawing/2014/main" id="{42CA5E27-E6AE-69B0-F474-481741A3B9EB}"/>
              </a:ext>
            </a:extLst>
          </p:cNvPr>
          <p:cNvSpPr txBox="1"/>
          <p:nvPr/>
        </p:nvSpPr>
        <p:spPr>
          <a:xfrm>
            <a:off x="4813300" y="4544778"/>
            <a:ext cx="5040726" cy="369332"/>
          </a:xfrm>
          <a:prstGeom prst="rect">
            <a:avLst/>
          </a:prstGeom>
          <a:noFill/>
        </p:spPr>
        <p:txBody>
          <a:bodyPr wrap="square">
            <a:spAutoFit/>
          </a:bodyPr>
          <a:lstStyle/>
          <a:p>
            <a:r>
              <a:rPr lang="en-US" dirty="0"/>
              <a:t>=tanh(0.41)=</a:t>
            </a:r>
            <a:r>
              <a:rPr lang="en-US" dirty="0">
                <a:solidFill>
                  <a:srgbClr val="FF0000"/>
                </a:solidFill>
              </a:rPr>
              <a:t>0.3884726802</a:t>
            </a:r>
          </a:p>
        </p:txBody>
      </p:sp>
      <p:sp>
        <p:nvSpPr>
          <p:cNvPr id="10" name="TextBox 9">
            <a:extLst>
              <a:ext uri="{FF2B5EF4-FFF2-40B4-BE49-F238E27FC236}">
                <a16:creationId xmlns:a16="http://schemas.microsoft.com/office/drawing/2014/main" id="{D16560B5-8B25-BA14-E9E1-C02A1A65F6DD}"/>
              </a:ext>
            </a:extLst>
          </p:cNvPr>
          <p:cNvSpPr txBox="1"/>
          <p:nvPr/>
        </p:nvSpPr>
        <p:spPr>
          <a:xfrm>
            <a:off x="30143" y="3201594"/>
            <a:ext cx="2990062" cy="1924116"/>
          </a:xfrm>
          <a:prstGeom prst="rect">
            <a:avLst/>
          </a:prstGeom>
          <a:noFill/>
        </p:spPr>
        <p:txBody>
          <a:bodyPr wrap="square">
            <a:spAutoFit/>
          </a:bodyPr>
          <a:lstStyle/>
          <a:p>
            <a:r>
              <a:rPr lang="en-US" sz="1488" dirty="0">
                <a:solidFill>
                  <a:srgbClr val="FF0000"/>
                </a:solidFill>
              </a:rPr>
              <a:t>Candidate memory output neurons use hyperbolic tangent function. The properties of this function ensure that all values of the candidate vector are between -1 and 1. This is used to normalize the information that will be added to the cell state.</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FDE48A4-0B1D-1729-E07A-826FC814EA1F}"/>
                  </a:ext>
                </a:extLst>
              </p:cNvPr>
              <p:cNvSpPr txBox="1"/>
              <p:nvPr/>
            </p:nvSpPr>
            <p:spPr>
              <a:xfrm>
                <a:off x="4543234" y="5071298"/>
                <a:ext cx="5040726" cy="646331"/>
              </a:xfrm>
              <a:prstGeom prst="rect">
                <a:avLst/>
              </a:prstGeom>
              <a:noFill/>
            </p:spPr>
            <p:txBody>
              <a:bodyPr wrap="square">
                <a:spAutoFit/>
              </a:bodyPr>
              <a:lstStyle/>
              <a:p>
                <a:pPr/>
                <a:r>
                  <a:rPr lang="ar-AE" dirty="0"/>
                  <a:t>=</a:t>
                </a:r>
                <a:r>
                  <a:rPr lang="en-US" dirty="0"/>
                  <a:t>+0 _</a:t>
                </a:r>
                <a:r>
                  <a:rPr lang="ar-AE" dirty="0"/>
                  <a:t>0.7⋅0.5+0.1⋅0.2</a:t>
                </a:r>
                <a:r>
                  <a:rPr lang="en-US" dirty="0"/>
                  <a:t> </a:t>
                </a:r>
                <a:r>
                  <a:rPr lang="ar-AE" dirty="0"/>
                  <a:t>+0=</a:t>
                </a:r>
                <a:r>
                  <a:rPr lang="en-US" dirty="0"/>
                  <a:t>=</a:t>
                </a:r>
                <a:r>
                  <a:rPr lang="ar-AE" dirty="0"/>
                  <a:t>0.3700000000</a:t>
                </a:r>
                <a:br>
                  <a:rPr lang="ar-AE" dirty="0"/>
                </a:br>
                <a14:m>
                  <m:oMathPara xmlns:m="http://schemas.openxmlformats.org/officeDocument/2006/math">
                    <m:oMathParaPr>
                      <m:jc m:val="centerGroup"/>
                    </m:oMathParaPr>
                    <m:oMath xmlns:m="http://schemas.openxmlformats.org/officeDocument/2006/math">
                      <m:sSub>
                        <m:sSubPr>
                          <m:ctrlPr>
                            <a:rPr lang="ar-AE" i="1" smtClean="0">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𝑖</m:t>
                          </m:r>
                        </m:e>
                        <m:sub>
                          <m:r>
                            <a:rPr lang="ar-AE" i="0">
                              <a:solidFill>
                                <a:srgbClr val="FF0000"/>
                              </a:solidFill>
                              <a:latin typeface="Cambria Math" panose="02040503050406030204" pitchFamily="18" charset="0"/>
                            </a:rPr>
                            <m:t>1</m:t>
                          </m:r>
                        </m:sub>
                      </m:sSub>
                      <m:r>
                        <a:rPr lang="ar-AE" i="0">
                          <a:solidFill>
                            <a:srgbClr val="FF0000"/>
                          </a:solidFill>
                          <a:latin typeface="Cambria Math" panose="02040503050406030204" pitchFamily="18" charset="0"/>
                        </a:rPr>
                        <m:t>=</m:t>
                      </m:r>
                      <m:r>
                        <a:rPr lang="ar-AE" i="1">
                          <a:solidFill>
                            <a:srgbClr val="FF0000"/>
                          </a:solidFill>
                          <a:latin typeface="Cambria Math" panose="02040503050406030204" pitchFamily="18" charset="0"/>
                        </a:rPr>
                        <m:t>𝜎</m:t>
                      </m:r>
                      <m:d>
                        <m:dPr>
                          <m:ctrlPr>
                            <a:rPr lang="ar-AE" i="1">
                              <a:solidFill>
                                <a:srgbClr val="FF0000"/>
                              </a:solidFill>
                              <a:latin typeface="Cambria Math" panose="02040503050406030204" pitchFamily="18" charset="0"/>
                            </a:rPr>
                          </m:ctrlPr>
                        </m:dPr>
                        <m:e>
                          <m:r>
                            <a:rPr lang="ar-AE" i="0">
                              <a:solidFill>
                                <a:srgbClr val="FF0000"/>
                              </a:solidFill>
                              <a:latin typeface="Cambria Math" panose="02040503050406030204" pitchFamily="18" charset="0"/>
                            </a:rPr>
                            <m:t>0</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37</m:t>
                          </m:r>
                        </m:e>
                      </m:d>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0</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5914589784</m:t>
                      </m:r>
                    </m:oMath>
                  </m:oMathPara>
                </a14:m>
                <a:endParaRPr lang="en-US" dirty="0"/>
              </a:p>
            </p:txBody>
          </p:sp>
        </mc:Choice>
        <mc:Fallback>
          <p:sp>
            <p:nvSpPr>
              <p:cNvPr id="12" name="TextBox 11">
                <a:extLst>
                  <a:ext uri="{FF2B5EF4-FFF2-40B4-BE49-F238E27FC236}">
                    <a16:creationId xmlns:a16="http://schemas.microsoft.com/office/drawing/2014/main" id="{5FDE48A4-0B1D-1729-E07A-826FC814EA1F}"/>
                  </a:ext>
                </a:extLst>
              </p:cNvPr>
              <p:cNvSpPr txBox="1">
                <a:spLocks noRot="1" noChangeAspect="1" noMove="1" noResize="1" noEditPoints="1" noAdjustHandles="1" noChangeArrowheads="1" noChangeShapeType="1" noTextEdit="1"/>
              </p:cNvSpPr>
              <p:nvPr/>
            </p:nvSpPr>
            <p:spPr>
              <a:xfrm>
                <a:off x="4543234" y="5071298"/>
                <a:ext cx="5040726" cy="646331"/>
              </a:xfrm>
              <a:prstGeom prst="rect">
                <a:avLst/>
              </a:prstGeom>
              <a:blipFill>
                <a:blip r:embed="rId3"/>
                <a:stretch>
                  <a:fillRect l="-1088" t="-7547"/>
                </a:stretch>
              </a:blipFill>
            </p:spPr>
            <p:txBody>
              <a:bodyPr/>
              <a:lstStyle/>
              <a:p>
                <a:r>
                  <a:rPr lang="en-US">
                    <a:noFill/>
                  </a:rPr>
                  <a:t> </a:t>
                </a:r>
              </a:p>
            </p:txBody>
          </p:sp>
        </mc:Fallback>
      </mc:AlternateContent>
    </p:spTree>
    <p:extLst>
      <p:ext uri="{BB962C8B-B14F-4D97-AF65-F5344CB8AC3E}">
        <p14:creationId xmlns:p14="http://schemas.microsoft.com/office/powerpoint/2010/main" val="2925898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A7999-FE91-7311-A0C4-130595B435CE}"/>
              </a:ext>
            </a:extLst>
          </p:cNvPr>
          <p:cNvPicPr>
            <a:picLocks noChangeAspect="1"/>
          </p:cNvPicPr>
          <p:nvPr/>
        </p:nvPicPr>
        <p:blipFill>
          <a:blip r:embed="rId2"/>
          <a:stretch>
            <a:fillRect/>
          </a:stretch>
        </p:blipFill>
        <p:spPr>
          <a:xfrm>
            <a:off x="3394713" y="445782"/>
            <a:ext cx="6479452" cy="3275068"/>
          </a:xfrm>
          <a:prstGeom prst="rect">
            <a:avLst/>
          </a:prstGeom>
        </p:spPr>
      </p:pic>
      <p:sp>
        <p:nvSpPr>
          <p:cNvPr id="4" name="TextBox 3">
            <a:extLst>
              <a:ext uri="{FF2B5EF4-FFF2-40B4-BE49-F238E27FC236}">
                <a16:creationId xmlns:a16="http://schemas.microsoft.com/office/drawing/2014/main" id="{64ED860C-B5D0-8946-BE8E-F9CF9ED2F08C}"/>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0ED43715-E34C-D250-8F77-793F38D33D86}"/>
              </a:ext>
            </a:extLst>
          </p:cNvPr>
          <p:cNvSpPr txBox="1"/>
          <p:nvPr/>
        </p:nvSpPr>
        <p:spPr>
          <a:xfrm>
            <a:off x="61875" y="821502"/>
            <a:ext cx="5040489" cy="1237198"/>
          </a:xfrm>
          <a:prstGeom prst="rect">
            <a:avLst/>
          </a:prstGeom>
          <a:noFill/>
        </p:spPr>
        <p:txBody>
          <a:bodyPr wrap="square">
            <a:spAutoFit/>
          </a:bodyPr>
          <a:lstStyle/>
          <a:p>
            <a:r>
              <a:rPr lang="en-US" sz="1488" dirty="0"/>
              <a:t>The </a:t>
            </a:r>
            <a:r>
              <a:rPr lang="en-US" sz="1488" dirty="0">
                <a:solidFill>
                  <a:srgbClr val="FF0000"/>
                </a:solidFill>
              </a:rPr>
              <a:t>candidate state </a:t>
            </a:r>
            <a:r>
              <a:rPr lang="en-US" sz="1488" dirty="0"/>
              <a:t>controls how much</a:t>
            </a:r>
          </a:p>
          <a:p>
            <a:r>
              <a:rPr lang="en-US" sz="1488" dirty="0"/>
              <a:t>new information to be added</a:t>
            </a:r>
          </a:p>
          <a:p>
            <a:endParaRPr lang="en-US" sz="1488" dirty="0"/>
          </a:p>
          <a:p>
            <a:endParaRPr lang="en-US" sz="1488" dirty="0"/>
          </a:p>
          <a:p>
            <a:r>
              <a:rPr lang="en-US" sz="1488" dirty="0"/>
              <a:t>For time step t=1</a:t>
            </a:r>
          </a:p>
        </p:txBody>
      </p:sp>
      <p:sp>
        <p:nvSpPr>
          <p:cNvPr id="3" name="TextBox 2">
            <a:extLst>
              <a:ext uri="{FF2B5EF4-FFF2-40B4-BE49-F238E27FC236}">
                <a16:creationId xmlns:a16="http://schemas.microsoft.com/office/drawing/2014/main" id="{7E76F0BA-437C-FF1D-2F4A-CBE00727340F}"/>
              </a:ext>
            </a:extLst>
          </p:cNvPr>
          <p:cNvSpPr txBox="1"/>
          <p:nvPr/>
        </p:nvSpPr>
        <p:spPr>
          <a:xfrm>
            <a:off x="3136900" y="4418342"/>
            <a:ext cx="6813465" cy="646331"/>
          </a:xfrm>
          <a:prstGeom prst="rect">
            <a:avLst/>
          </a:prstGeom>
          <a:noFill/>
        </p:spPr>
        <p:txBody>
          <a:bodyPr wrap="square">
            <a:spAutoFit/>
          </a:bodyPr>
          <a:lstStyle/>
          <a:p>
            <a:r>
              <a:rPr lang="nn-NO" dirty="0">
                <a:solidFill>
                  <a:srgbClr val="FF0000"/>
                </a:solidFill>
              </a:rPr>
              <a:t>c1​</a:t>
            </a:r>
            <a:r>
              <a:rPr lang="nn-NO" dirty="0"/>
              <a:t>=f1​c0​+i1​ctilda1​=</a:t>
            </a:r>
            <a:r>
              <a:rPr lang="nn-NO" dirty="0">
                <a:solidFill>
                  <a:srgbClr val="FF0000"/>
                </a:solidFill>
                <a:highlight>
                  <a:srgbClr val="FFFF00"/>
                </a:highlight>
              </a:rPr>
              <a:t>0.4600851154</a:t>
            </a:r>
            <a:r>
              <a:rPr lang="nn-NO" dirty="0"/>
              <a:t>⋅0.1+</a:t>
            </a:r>
            <a:r>
              <a:rPr lang="nn-NO" dirty="0">
                <a:solidFill>
                  <a:srgbClr val="FF0000"/>
                </a:solidFill>
              </a:rPr>
              <a:t>0.5914589784</a:t>
            </a:r>
            <a:r>
              <a:rPr lang="nn-NO" dirty="0"/>
              <a:t>⋅</a:t>
            </a:r>
            <a:r>
              <a:rPr lang="nn-NO" dirty="0">
                <a:solidFill>
                  <a:srgbClr val="FF0000"/>
                </a:solidFill>
              </a:rPr>
              <a:t>0.3884726802</a:t>
            </a:r>
          </a:p>
          <a:p>
            <a:r>
              <a:rPr lang="nn-NO" dirty="0"/>
              <a:t>                        =0.2757741661</a:t>
            </a:r>
            <a:endParaRPr lang="en-US" dirty="0"/>
          </a:p>
        </p:txBody>
      </p:sp>
      <p:sp>
        <p:nvSpPr>
          <p:cNvPr id="8" name="TextBox 7">
            <a:extLst>
              <a:ext uri="{FF2B5EF4-FFF2-40B4-BE49-F238E27FC236}">
                <a16:creationId xmlns:a16="http://schemas.microsoft.com/office/drawing/2014/main" id="{D2CBC863-AFA0-A263-2049-F10785DE57CA}"/>
              </a:ext>
            </a:extLst>
          </p:cNvPr>
          <p:cNvSpPr txBox="1"/>
          <p:nvPr/>
        </p:nvSpPr>
        <p:spPr>
          <a:xfrm>
            <a:off x="-25955" y="2217965"/>
            <a:ext cx="5040726" cy="646331"/>
          </a:xfrm>
          <a:prstGeom prst="rect">
            <a:avLst/>
          </a:prstGeom>
          <a:noFill/>
        </p:spPr>
        <p:txBody>
          <a:bodyPr wrap="square">
            <a:spAutoFit/>
          </a:bodyPr>
          <a:lstStyle/>
          <a:p>
            <a:r>
              <a:rPr lang="en-US" dirty="0"/>
              <a:t>C (</a:t>
            </a:r>
            <a:r>
              <a:rPr lang="en-US" dirty="0" err="1"/>
              <a:t>tilda</a:t>
            </a:r>
            <a:r>
              <a:rPr lang="en-US" dirty="0"/>
              <a:t>)=0.9⋅0.5+0.05⋅0.2−0.05=0.4100000000</a:t>
            </a:r>
            <a:br>
              <a:rPr lang="en-US" dirty="0"/>
            </a:br>
            <a:endParaRPr lang="en-US" dirty="0"/>
          </a:p>
        </p:txBody>
      </p:sp>
      <p:sp>
        <p:nvSpPr>
          <p:cNvPr id="10" name="TextBox 9">
            <a:extLst>
              <a:ext uri="{FF2B5EF4-FFF2-40B4-BE49-F238E27FC236}">
                <a16:creationId xmlns:a16="http://schemas.microsoft.com/office/drawing/2014/main" id="{16263483-490D-0760-DA45-3E56D331A526}"/>
              </a:ext>
            </a:extLst>
          </p:cNvPr>
          <p:cNvSpPr txBox="1"/>
          <p:nvPr/>
        </p:nvSpPr>
        <p:spPr>
          <a:xfrm>
            <a:off x="244111" y="2646159"/>
            <a:ext cx="5040726" cy="369332"/>
          </a:xfrm>
          <a:prstGeom prst="rect">
            <a:avLst/>
          </a:prstGeom>
          <a:noFill/>
        </p:spPr>
        <p:txBody>
          <a:bodyPr wrap="square">
            <a:spAutoFit/>
          </a:bodyPr>
          <a:lstStyle/>
          <a:p>
            <a:r>
              <a:rPr lang="en-US" dirty="0"/>
              <a:t>=tanh(0.41)=</a:t>
            </a:r>
            <a:r>
              <a:rPr lang="en-US" dirty="0">
                <a:solidFill>
                  <a:srgbClr val="FF0000"/>
                </a:solidFill>
              </a:rPr>
              <a:t>0.3884726802</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0551C31-17D1-55F8-CD60-0B3319D46ACF}"/>
                  </a:ext>
                </a:extLst>
              </p:cNvPr>
              <p:cNvSpPr txBox="1"/>
              <p:nvPr/>
            </p:nvSpPr>
            <p:spPr>
              <a:xfrm>
                <a:off x="-25955" y="3172679"/>
                <a:ext cx="5040726" cy="646331"/>
              </a:xfrm>
              <a:prstGeom prst="rect">
                <a:avLst/>
              </a:prstGeom>
              <a:noFill/>
            </p:spPr>
            <p:txBody>
              <a:bodyPr wrap="square">
                <a:spAutoFit/>
              </a:bodyPr>
              <a:lstStyle/>
              <a:p>
                <a:pPr/>
                <a:r>
                  <a:rPr lang="ar-AE" dirty="0"/>
                  <a:t>=</a:t>
                </a:r>
                <a:r>
                  <a:rPr lang="en-US" dirty="0"/>
                  <a:t>+0 _</a:t>
                </a:r>
                <a:r>
                  <a:rPr lang="ar-AE" dirty="0"/>
                  <a:t>0.7⋅0.5+0.1⋅0.2</a:t>
                </a:r>
                <a:r>
                  <a:rPr lang="en-US" dirty="0"/>
                  <a:t> </a:t>
                </a:r>
                <a:r>
                  <a:rPr lang="ar-AE" dirty="0"/>
                  <a:t>+0=</a:t>
                </a:r>
                <a:r>
                  <a:rPr lang="en-US" dirty="0"/>
                  <a:t>=</a:t>
                </a:r>
                <a:r>
                  <a:rPr lang="ar-AE" dirty="0"/>
                  <a:t>0.3700000000</a:t>
                </a:r>
                <a:br>
                  <a:rPr lang="ar-AE" dirty="0"/>
                </a:br>
                <a14:m>
                  <m:oMathPara xmlns:m="http://schemas.openxmlformats.org/officeDocument/2006/math">
                    <m:oMathParaPr>
                      <m:jc m:val="centerGroup"/>
                    </m:oMathParaPr>
                    <m:oMath xmlns:m="http://schemas.openxmlformats.org/officeDocument/2006/math">
                      <m:sSub>
                        <m:sSubPr>
                          <m:ctrlPr>
                            <a:rPr lang="ar-AE" i="1" smtClean="0">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𝑖</m:t>
                          </m:r>
                        </m:e>
                        <m:sub>
                          <m:r>
                            <a:rPr lang="ar-AE" i="0">
                              <a:solidFill>
                                <a:srgbClr val="FF0000"/>
                              </a:solidFill>
                              <a:latin typeface="Cambria Math" panose="02040503050406030204" pitchFamily="18" charset="0"/>
                            </a:rPr>
                            <m:t>1</m:t>
                          </m:r>
                        </m:sub>
                      </m:sSub>
                      <m:r>
                        <a:rPr lang="ar-AE" i="0">
                          <a:solidFill>
                            <a:srgbClr val="FF0000"/>
                          </a:solidFill>
                          <a:latin typeface="Cambria Math" panose="02040503050406030204" pitchFamily="18" charset="0"/>
                        </a:rPr>
                        <m:t>=</m:t>
                      </m:r>
                      <m:r>
                        <a:rPr lang="ar-AE" i="1">
                          <a:solidFill>
                            <a:srgbClr val="FF0000"/>
                          </a:solidFill>
                          <a:latin typeface="Cambria Math" panose="02040503050406030204" pitchFamily="18" charset="0"/>
                        </a:rPr>
                        <m:t>𝜎</m:t>
                      </m:r>
                      <m:d>
                        <m:dPr>
                          <m:ctrlPr>
                            <a:rPr lang="ar-AE" i="1">
                              <a:solidFill>
                                <a:srgbClr val="FF0000"/>
                              </a:solidFill>
                              <a:latin typeface="Cambria Math" panose="02040503050406030204" pitchFamily="18" charset="0"/>
                            </a:rPr>
                          </m:ctrlPr>
                        </m:dPr>
                        <m:e>
                          <m:r>
                            <a:rPr lang="ar-AE" i="0">
                              <a:solidFill>
                                <a:srgbClr val="FF0000"/>
                              </a:solidFill>
                              <a:latin typeface="Cambria Math" panose="02040503050406030204" pitchFamily="18" charset="0"/>
                            </a:rPr>
                            <m:t>0</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37</m:t>
                          </m:r>
                        </m:e>
                      </m:d>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0</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5914589784</m:t>
                      </m:r>
                    </m:oMath>
                  </m:oMathPara>
                </a14:m>
                <a:endParaRPr lang="en-US" dirty="0"/>
              </a:p>
            </p:txBody>
          </p:sp>
        </mc:Choice>
        <mc:Fallback>
          <p:sp>
            <p:nvSpPr>
              <p:cNvPr id="11" name="TextBox 10">
                <a:extLst>
                  <a:ext uri="{FF2B5EF4-FFF2-40B4-BE49-F238E27FC236}">
                    <a16:creationId xmlns:a16="http://schemas.microsoft.com/office/drawing/2014/main" id="{70551C31-17D1-55F8-CD60-0B3319D46ACF}"/>
                  </a:ext>
                </a:extLst>
              </p:cNvPr>
              <p:cNvSpPr txBox="1">
                <a:spLocks noRot="1" noChangeAspect="1" noMove="1" noResize="1" noEditPoints="1" noAdjustHandles="1" noChangeArrowheads="1" noChangeShapeType="1" noTextEdit="1"/>
              </p:cNvSpPr>
              <p:nvPr/>
            </p:nvSpPr>
            <p:spPr>
              <a:xfrm>
                <a:off x="-25955" y="3172679"/>
                <a:ext cx="5040726" cy="646331"/>
              </a:xfrm>
              <a:prstGeom prst="rect">
                <a:avLst/>
              </a:prstGeom>
              <a:blipFill>
                <a:blip r:embed="rId3"/>
                <a:stretch>
                  <a:fillRect l="-1209" t="-6604"/>
                </a:stretch>
              </a:blipFill>
            </p:spPr>
            <p:txBody>
              <a:bodyPr/>
              <a:lstStyle/>
              <a:p>
                <a:r>
                  <a:rPr lang="en-US">
                    <a:noFill/>
                  </a:rPr>
                  <a:t> </a:t>
                </a:r>
              </a:p>
            </p:txBody>
          </p:sp>
        </mc:Fallback>
      </mc:AlternateContent>
    </p:spTree>
    <p:extLst>
      <p:ext uri="{BB962C8B-B14F-4D97-AF65-F5344CB8AC3E}">
        <p14:creationId xmlns:p14="http://schemas.microsoft.com/office/powerpoint/2010/main" val="662479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A7999-FE91-7311-A0C4-130595B435CE}"/>
              </a:ext>
            </a:extLst>
          </p:cNvPr>
          <p:cNvPicPr>
            <a:picLocks noChangeAspect="1"/>
          </p:cNvPicPr>
          <p:nvPr/>
        </p:nvPicPr>
        <p:blipFill>
          <a:blip r:embed="rId2"/>
          <a:stretch>
            <a:fillRect/>
          </a:stretch>
        </p:blipFill>
        <p:spPr>
          <a:xfrm>
            <a:off x="698500" y="2395482"/>
            <a:ext cx="6479452" cy="3275068"/>
          </a:xfrm>
          <a:prstGeom prst="rect">
            <a:avLst/>
          </a:prstGeom>
        </p:spPr>
      </p:pic>
      <p:sp>
        <p:nvSpPr>
          <p:cNvPr id="4" name="TextBox 3">
            <a:extLst>
              <a:ext uri="{FF2B5EF4-FFF2-40B4-BE49-F238E27FC236}">
                <a16:creationId xmlns:a16="http://schemas.microsoft.com/office/drawing/2014/main" id="{64ED860C-B5D0-8946-BE8E-F9CF9ED2F08C}"/>
              </a:ext>
            </a:extLst>
          </p:cNvPr>
          <p:cNvSpPr txBox="1"/>
          <p:nvPr/>
        </p:nvSpPr>
        <p:spPr>
          <a:xfrm>
            <a:off x="366699" y="19099"/>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0ED43715-E34C-D250-8F77-793F38D33D86}"/>
              </a:ext>
            </a:extLst>
          </p:cNvPr>
          <p:cNvSpPr txBox="1"/>
          <p:nvPr/>
        </p:nvSpPr>
        <p:spPr>
          <a:xfrm>
            <a:off x="241727" y="855003"/>
            <a:ext cx="5040489" cy="1237198"/>
          </a:xfrm>
          <a:prstGeom prst="rect">
            <a:avLst/>
          </a:prstGeom>
          <a:noFill/>
        </p:spPr>
        <p:txBody>
          <a:bodyPr wrap="square">
            <a:spAutoFit/>
          </a:bodyPr>
          <a:lstStyle/>
          <a:p>
            <a:r>
              <a:rPr lang="en-US" sz="1488" dirty="0"/>
              <a:t>The </a:t>
            </a:r>
            <a:r>
              <a:rPr lang="en-US" sz="1488" dirty="0">
                <a:solidFill>
                  <a:srgbClr val="FF0000"/>
                </a:solidFill>
              </a:rPr>
              <a:t>cell state </a:t>
            </a:r>
            <a:r>
              <a:rPr lang="en-US" sz="1488" dirty="0"/>
              <a:t>controls how much</a:t>
            </a:r>
          </a:p>
          <a:p>
            <a:r>
              <a:rPr lang="en-US" sz="1488" dirty="0"/>
              <a:t>new information to be added</a:t>
            </a:r>
          </a:p>
          <a:p>
            <a:endParaRPr lang="en-US" sz="1488" dirty="0"/>
          </a:p>
          <a:p>
            <a:endParaRPr lang="en-US" sz="1488" dirty="0"/>
          </a:p>
          <a:p>
            <a:r>
              <a:rPr lang="en-US" sz="1488" dirty="0"/>
              <a:t>For time step t=1</a:t>
            </a:r>
          </a:p>
        </p:txBody>
      </p:sp>
      <p:sp>
        <p:nvSpPr>
          <p:cNvPr id="9" name="TextBox 8">
            <a:extLst>
              <a:ext uri="{FF2B5EF4-FFF2-40B4-BE49-F238E27FC236}">
                <a16:creationId xmlns:a16="http://schemas.microsoft.com/office/drawing/2014/main" id="{043B3EA2-7C11-5933-597D-79D8C7459CC4}"/>
              </a:ext>
            </a:extLst>
          </p:cNvPr>
          <p:cNvSpPr txBox="1"/>
          <p:nvPr/>
        </p:nvSpPr>
        <p:spPr>
          <a:xfrm>
            <a:off x="6946900" y="3597275"/>
            <a:ext cx="2990062" cy="550279"/>
          </a:xfrm>
          <a:prstGeom prst="rect">
            <a:avLst/>
          </a:prstGeom>
          <a:noFill/>
        </p:spPr>
        <p:txBody>
          <a:bodyPr wrap="square">
            <a:spAutoFit/>
          </a:bodyPr>
          <a:lstStyle/>
          <a:p>
            <a:r>
              <a:rPr lang="en-US" sz="1488" dirty="0">
                <a:solidFill>
                  <a:srgbClr val="FF0000"/>
                </a:solidFill>
              </a:rPr>
              <a:t>Cell state C at time t1 how much to forget + How much to add</a:t>
            </a:r>
          </a:p>
        </p:txBody>
      </p:sp>
      <p:sp>
        <p:nvSpPr>
          <p:cNvPr id="3" name="TextBox 2">
            <a:extLst>
              <a:ext uri="{FF2B5EF4-FFF2-40B4-BE49-F238E27FC236}">
                <a16:creationId xmlns:a16="http://schemas.microsoft.com/office/drawing/2014/main" id="{1FC3F1E5-E14E-A9A6-7A3E-85073FEE375A}"/>
              </a:ext>
            </a:extLst>
          </p:cNvPr>
          <p:cNvSpPr txBox="1"/>
          <p:nvPr/>
        </p:nvSpPr>
        <p:spPr>
          <a:xfrm>
            <a:off x="5037311" y="2319418"/>
            <a:ext cx="5040726" cy="369332"/>
          </a:xfrm>
          <a:prstGeom prst="rect">
            <a:avLst/>
          </a:prstGeom>
          <a:noFill/>
        </p:spPr>
        <p:txBody>
          <a:bodyPr wrap="square">
            <a:spAutoFit/>
          </a:bodyPr>
          <a:lstStyle/>
          <a:p>
            <a:r>
              <a:rPr lang="nn-NO" dirty="0">
                <a:solidFill>
                  <a:srgbClr val="FF0000"/>
                </a:solidFill>
                <a:highlight>
                  <a:srgbClr val="FFFF00"/>
                </a:highlight>
              </a:rPr>
              <a:t> =0.2757741661=0.28</a:t>
            </a:r>
            <a:endParaRPr lang="en-US" dirty="0">
              <a:solidFill>
                <a:srgbClr val="FF0000"/>
              </a:solidFill>
              <a:highlight>
                <a:srgbClr val="FFFF00"/>
              </a:highlight>
            </a:endParaRPr>
          </a:p>
        </p:txBody>
      </p:sp>
    </p:spTree>
    <p:extLst>
      <p:ext uri="{BB962C8B-B14F-4D97-AF65-F5344CB8AC3E}">
        <p14:creationId xmlns:p14="http://schemas.microsoft.com/office/powerpoint/2010/main" val="1036359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ED860C-B5D0-8946-BE8E-F9CF9ED2F08C}"/>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0ED43715-E34C-D250-8F77-793F38D33D86}"/>
              </a:ext>
            </a:extLst>
          </p:cNvPr>
          <p:cNvSpPr txBox="1"/>
          <p:nvPr/>
        </p:nvSpPr>
        <p:spPr>
          <a:xfrm>
            <a:off x="241893" y="722970"/>
            <a:ext cx="5040489" cy="1237198"/>
          </a:xfrm>
          <a:prstGeom prst="rect">
            <a:avLst/>
          </a:prstGeom>
          <a:noFill/>
        </p:spPr>
        <p:txBody>
          <a:bodyPr wrap="square">
            <a:spAutoFit/>
          </a:bodyPr>
          <a:lstStyle/>
          <a:p>
            <a:r>
              <a:rPr lang="en-US" sz="1488" dirty="0"/>
              <a:t>The </a:t>
            </a:r>
            <a:r>
              <a:rPr lang="en-US" sz="1488" dirty="0">
                <a:solidFill>
                  <a:srgbClr val="FF0000"/>
                </a:solidFill>
              </a:rPr>
              <a:t>output gate </a:t>
            </a:r>
            <a:r>
              <a:rPr lang="en-US" sz="1488" dirty="0"/>
              <a:t>tells the network </a:t>
            </a:r>
          </a:p>
          <a:p>
            <a:r>
              <a:rPr lang="en-US" sz="1488" dirty="0"/>
              <a:t>how much of the previous cell state </a:t>
            </a:r>
          </a:p>
          <a:p>
            <a:r>
              <a:rPr lang="en-US" sz="1488" dirty="0"/>
              <a:t>to forget.</a:t>
            </a:r>
          </a:p>
          <a:p>
            <a:endParaRPr lang="en-US" sz="1488" dirty="0"/>
          </a:p>
          <a:p>
            <a:r>
              <a:rPr lang="en-US" sz="1488" dirty="0"/>
              <a:t>For time step t=1</a:t>
            </a:r>
          </a:p>
        </p:txBody>
      </p:sp>
      <p:pic>
        <p:nvPicPr>
          <p:cNvPr id="2" name="Picture 1">
            <a:extLst>
              <a:ext uri="{FF2B5EF4-FFF2-40B4-BE49-F238E27FC236}">
                <a16:creationId xmlns:a16="http://schemas.microsoft.com/office/drawing/2014/main" id="{649AD451-5743-13FC-66E9-CBCDD4549D72}"/>
              </a:ext>
            </a:extLst>
          </p:cNvPr>
          <p:cNvPicPr>
            <a:picLocks noChangeAspect="1"/>
          </p:cNvPicPr>
          <p:nvPr/>
        </p:nvPicPr>
        <p:blipFill>
          <a:blip r:embed="rId2"/>
          <a:stretch>
            <a:fillRect/>
          </a:stretch>
        </p:blipFill>
        <p:spPr>
          <a:xfrm>
            <a:off x="2540137" y="97363"/>
            <a:ext cx="7675915" cy="3879826"/>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9CA09E7-A67F-E01A-DDB3-955FFDE42165}"/>
                  </a:ext>
                </a:extLst>
              </p:cNvPr>
              <p:cNvSpPr txBox="1"/>
              <p:nvPr/>
            </p:nvSpPr>
            <p:spPr>
              <a:xfrm>
                <a:off x="3441700" y="4130675"/>
                <a:ext cx="5109882" cy="646331"/>
              </a:xfrm>
              <a:prstGeom prst="rect">
                <a:avLst/>
              </a:prstGeom>
              <a:noFill/>
            </p:spPr>
            <p:txBody>
              <a:bodyPr wrap="square">
                <a:spAutoFit/>
              </a:bodyPr>
              <a:lstStyle/>
              <a:p>
                <a:pPr/>
                <a:r>
                  <a:rPr lang="en-US" dirty="0"/>
                  <a:t>z​=0.3⋅0.5−0.1⋅0.2=0.1300000000</a:t>
                </a:r>
                <a:br>
                  <a:rPr lang="en-US"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0">
                              <a:latin typeface="Cambria Math" panose="02040503050406030204" pitchFamily="18" charset="0"/>
                            </a:rPr>
                            <m:t>1</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13</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5324543064</m:t>
                      </m:r>
                    </m:oMath>
                  </m:oMathPara>
                </a14:m>
                <a:endParaRPr lang="en-US" dirty="0"/>
              </a:p>
            </p:txBody>
          </p:sp>
        </mc:Choice>
        <mc:Fallback>
          <p:sp>
            <p:nvSpPr>
              <p:cNvPr id="5" name="TextBox 4">
                <a:extLst>
                  <a:ext uri="{FF2B5EF4-FFF2-40B4-BE49-F238E27FC236}">
                    <a16:creationId xmlns:a16="http://schemas.microsoft.com/office/drawing/2014/main" id="{D9CA09E7-A67F-E01A-DDB3-955FFDE42165}"/>
                  </a:ext>
                </a:extLst>
              </p:cNvPr>
              <p:cNvSpPr txBox="1">
                <a:spLocks noRot="1" noChangeAspect="1" noMove="1" noResize="1" noEditPoints="1" noAdjustHandles="1" noChangeArrowheads="1" noChangeShapeType="1" noTextEdit="1"/>
              </p:cNvSpPr>
              <p:nvPr/>
            </p:nvSpPr>
            <p:spPr>
              <a:xfrm>
                <a:off x="3441700" y="4130675"/>
                <a:ext cx="5109882" cy="646331"/>
              </a:xfrm>
              <a:prstGeom prst="rect">
                <a:avLst/>
              </a:prstGeom>
              <a:blipFill>
                <a:blip r:embed="rId3"/>
                <a:stretch>
                  <a:fillRect l="-1074" t="-7547"/>
                </a:stretch>
              </a:blipFill>
            </p:spPr>
            <p:txBody>
              <a:bodyPr/>
              <a:lstStyle/>
              <a:p>
                <a:r>
                  <a:rPr lang="en-US">
                    <a:noFill/>
                  </a:rPr>
                  <a:t> </a:t>
                </a:r>
              </a:p>
            </p:txBody>
          </p:sp>
        </mc:Fallback>
      </mc:AlternateContent>
    </p:spTree>
    <p:extLst>
      <p:ext uri="{BB962C8B-B14F-4D97-AF65-F5344CB8AC3E}">
        <p14:creationId xmlns:p14="http://schemas.microsoft.com/office/powerpoint/2010/main" val="73161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3D076A-A98A-9B47-9923-35F00103A2D3}"/>
              </a:ext>
            </a:extLst>
          </p:cNvPr>
          <p:cNvPicPr>
            <a:picLocks noChangeAspect="1"/>
          </p:cNvPicPr>
          <p:nvPr/>
        </p:nvPicPr>
        <p:blipFill>
          <a:blip r:embed="rId2"/>
          <a:stretch>
            <a:fillRect/>
          </a:stretch>
        </p:blipFill>
        <p:spPr>
          <a:xfrm>
            <a:off x="1155700" y="320675"/>
            <a:ext cx="7079152" cy="3578189"/>
          </a:xfrm>
          <a:prstGeom prst="rect">
            <a:avLst/>
          </a:prstGeom>
        </p:spPr>
      </p:pic>
      <p:sp>
        <p:nvSpPr>
          <p:cNvPr id="6" name="TextBox 5">
            <a:extLst>
              <a:ext uri="{FF2B5EF4-FFF2-40B4-BE49-F238E27FC236}">
                <a16:creationId xmlns:a16="http://schemas.microsoft.com/office/drawing/2014/main" id="{1F0D4E7B-0585-3853-9C48-03B400E8F058}"/>
              </a:ext>
            </a:extLst>
          </p:cNvPr>
          <p:cNvSpPr txBox="1"/>
          <p:nvPr/>
        </p:nvSpPr>
        <p:spPr>
          <a:xfrm>
            <a:off x="3898900" y="3632991"/>
            <a:ext cx="6413500" cy="369332"/>
          </a:xfrm>
          <a:prstGeom prst="rect">
            <a:avLst/>
          </a:prstGeom>
          <a:noFill/>
        </p:spPr>
        <p:txBody>
          <a:bodyPr wrap="square">
            <a:spAutoFit/>
          </a:bodyPr>
          <a:lstStyle/>
          <a:p>
            <a:r>
              <a:rPr lang="pt-BR" dirty="0"/>
              <a:t>h1​=o1​tanh(c1​)=0.5324543064⋅0.2689894825=</a:t>
            </a:r>
            <a:r>
              <a:rPr lang="pt-BR" dirty="0">
                <a:highlight>
                  <a:srgbClr val="FFFF00"/>
                </a:highlight>
              </a:rPr>
              <a:t>0.14322460</a:t>
            </a:r>
            <a:r>
              <a:rPr lang="pt-BR" dirty="0"/>
              <a:t>84</a:t>
            </a:r>
            <a:endParaRPr lang="en-US" dirty="0"/>
          </a:p>
        </p:txBody>
      </p:sp>
      <p:sp>
        <p:nvSpPr>
          <p:cNvPr id="3" name="TextBox 2">
            <a:extLst>
              <a:ext uri="{FF2B5EF4-FFF2-40B4-BE49-F238E27FC236}">
                <a16:creationId xmlns:a16="http://schemas.microsoft.com/office/drawing/2014/main" id="{B9B5D023-62B7-66E6-FFD9-624244C454D8}"/>
              </a:ext>
            </a:extLst>
          </p:cNvPr>
          <p:cNvSpPr txBox="1"/>
          <p:nvPr/>
        </p:nvSpPr>
        <p:spPr>
          <a:xfrm>
            <a:off x="4813300" y="3300932"/>
            <a:ext cx="5221300" cy="369332"/>
          </a:xfrm>
          <a:prstGeom prst="rect">
            <a:avLst/>
          </a:prstGeom>
          <a:noFill/>
        </p:spPr>
        <p:txBody>
          <a:bodyPr wrap="square">
            <a:spAutoFit/>
          </a:bodyPr>
          <a:lstStyle/>
          <a:p>
            <a:r>
              <a:rPr lang="en-US" dirty="0"/>
              <a:t>tanh(c1​)=0.268989482</a:t>
            </a:r>
          </a:p>
        </p:txBody>
      </p:sp>
      <p:sp>
        <p:nvSpPr>
          <p:cNvPr id="8" name="TextBox 7">
            <a:extLst>
              <a:ext uri="{FF2B5EF4-FFF2-40B4-BE49-F238E27FC236}">
                <a16:creationId xmlns:a16="http://schemas.microsoft.com/office/drawing/2014/main" id="{BDC50B83-51D5-E27A-28B2-30EB9642193B}"/>
              </a:ext>
            </a:extLst>
          </p:cNvPr>
          <p:cNvSpPr txBox="1"/>
          <p:nvPr/>
        </p:nvSpPr>
        <p:spPr>
          <a:xfrm>
            <a:off x="1460500" y="4334383"/>
            <a:ext cx="7924800" cy="461665"/>
          </a:xfrm>
          <a:prstGeom prst="rect">
            <a:avLst/>
          </a:prstGeom>
          <a:noFill/>
        </p:spPr>
        <p:txBody>
          <a:bodyPr wrap="square">
            <a:spAutoFit/>
          </a:bodyPr>
          <a:lstStyle/>
          <a:p>
            <a:r>
              <a:rPr lang="pt-BR" sz="2400" dirty="0">
                <a:solidFill>
                  <a:srgbClr val="FF0000"/>
                </a:solidFill>
              </a:rPr>
              <a:t>L1​=21​(h1​−y1​)</a:t>
            </a:r>
            <a:r>
              <a:rPr lang="pt-BR" sz="2400" baseline="30000" dirty="0">
                <a:solidFill>
                  <a:srgbClr val="FF0000"/>
                </a:solidFill>
              </a:rPr>
              <a:t>2</a:t>
            </a:r>
            <a:r>
              <a:rPr lang="pt-BR" sz="2400" dirty="0">
                <a:solidFill>
                  <a:srgbClr val="FF0000"/>
                </a:solidFill>
              </a:rPr>
              <a:t>=0.5⋅(0.1432246084−0.05)</a:t>
            </a:r>
            <a:r>
              <a:rPr lang="pt-BR" sz="2400" baseline="30000" dirty="0">
                <a:solidFill>
                  <a:srgbClr val="FF0000"/>
                </a:solidFill>
              </a:rPr>
              <a:t>2</a:t>
            </a:r>
            <a:r>
              <a:rPr lang="pt-BR" sz="2400" dirty="0">
                <a:solidFill>
                  <a:srgbClr val="FF0000"/>
                </a:solidFill>
              </a:rPr>
              <a:t>=0.004345413801</a:t>
            </a:r>
            <a:endParaRPr lang="en-US" sz="2400" dirty="0">
              <a:solidFill>
                <a:srgbClr val="FF0000"/>
              </a:solidFill>
            </a:endParaRPr>
          </a:p>
        </p:txBody>
      </p:sp>
    </p:spTree>
    <p:extLst>
      <p:ext uri="{BB962C8B-B14F-4D97-AF65-F5344CB8AC3E}">
        <p14:creationId xmlns:p14="http://schemas.microsoft.com/office/powerpoint/2010/main" val="3106360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FAF6E95-827A-FDC4-623E-6B65DEA771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FD6D3D-C59F-FDD9-C7EA-9F53F578FC6D}"/>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pic>
        <p:nvPicPr>
          <p:cNvPr id="5" name="Picture 4">
            <a:extLst>
              <a:ext uri="{FF2B5EF4-FFF2-40B4-BE49-F238E27FC236}">
                <a16:creationId xmlns:a16="http://schemas.microsoft.com/office/drawing/2014/main" id="{100252C4-5588-BFC4-9416-A10A5B8453FE}"/>
              </a:ext>
            </a:extLst>
          </p:cNvPr>
          <p:cNvPicPr>
            <a:picLocks noChangeAspect="1"/>
          </p:cNvPicPr>
          <p:nvPr/>
        </p:nvPicPr>
        <p:blipFill>
          <a:blip r:embed="rId2"/>
          <a:stretch>
            <a:fillRect/>
          </a:stretch>
        </p:blipFill>
        <p:spPr>
          <a:xfrm>
            <a:off x="3534553" y="549275"/>
            <a:ext cx="6512641" cy="3291844"/>
          </a:xfrm>
          <a:prstGeom prst="rect">
            <a:avLst/>
          </a:prstGeom>
        </p:spPr>
      </p:pic>
      <p:sp>
        <p:nvSpPr>
          <p:cNvPr id="7" name="TextBox 6">
            <a:extLst>
              <a:ext uri="{FF2B5EF4-FFF2-40B4-BE49-F238E27FC236}">
                <a16:creationId xmlns:a16="http://schemas.microsoft.com/office/drawing/2014/main" id="{315C56BF-352D-CCBD-99A6-B0EF6FF88D57}"/>
              </a:ext>
            </a:extLst>
          </p:cNvPr>
          <p:cNvSpPr txBox="1"/>
          <p:nvPr/>
        </p:nvSpPr>
        <p:spPr>
          <a:xfrm>
            <a:off x="241893" y="722970"/>
            <a:ext cx="5040489" cy="1237198"/>
          </a:xfrm>
          <a:prstGeom prst="rect">
            <a:avLst/>
          </a:prstGeom>
          <a:noFill/>
        </p:spPr>
        <p:txBody>
          <a:bodyPr wrap="square">
            <a:spAutoFit/>
          </a:bodyPr>
          <a:lstStyle/>
          <a:p>
            <a:r>
              <a:rPr lang="en-US" sz="1488" dirty="0"/>
              <a:t>The </a:t>
            </a:r>
            <a:r>
              <a:rPr lang="en-US" sz="1488" dirty="0">
                <a:solidFill>
                  <a:srgbClr val="FF0000"/>
                </a:solidFill>
              </a:rPr>
              <a:t>forget gate </a:t>
            </a:r>
            <a:r>
              <a:rPr lang="en-US" sz="1488" dirty="0"/>
              <a:t>tells the network </a:t>
            </a:r>
          </a:p>
          <a:p>
            <a:r>
              <a:rPr lang="en-US" sz="1488" dirty="0"/>
              <a:t>how much of the previous cell state </a:t>
            </a:r>
          </a:p>
          <a:p>
            <a:r>
              <a:rPr lang="en-US" sz="1488" dirty="0"/>
              <a:t>to forget.</a:t>
            </a:r>
          </a:p>
          <a:p>
            <a:endParaRPr lang="en-US" sz="1488" dirty="0"/>
          </a:p>
          <a:p>
            <a:r>
              <a:rPr lang="en-US" sz="1488" dirty="0"/>
              <a:t>For time step t=2</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A9A2A6D-36E6-04F7-002A-2E809EB04C94}"/>
                  </a:ext>
                </a:extLst>
              </p:cNvPr>
              <p:cNvSpPr txBox="1"/>
              <p:nvPr/>
            </p:nvSpPr>
            <p:spPr>
              <a:xfrm>
                <a:off x="2298700" y="4359275"/>
                <a:ext cx="6248400" cy="646331"/>
              </a:xfrm>
              <a:prstGeom prst="rect">
                <a:avLst/>
              </a:prstGeom>
              <a:noFill/>
            </p:spPr>
            <p:txBody>
              <a:bodyPr wrap="square">
                <a:spAutoFit/>
              </a:bodyPr>
              <a:lstStyle/>
              <a:p>
                <a:pPr/>
                <a:r>
                  <a:rPr lang="ar-AE" dirty="0"/>
                  <a:t>=−0.6(−0.3)+0.2(0.1432246084)+0.1=0.3086449217</a:t>
                </a:r>
                <a:br>
                  <a:rPr lang="ar-AE"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3086449217</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5765544675</m:t>
                      </m:r>
                    </m:oMath>
                  </m:oMathPara>
                </a14:m>
                <a:endParaRPr lang="en-US" dirty="0"/>
              </a:p>
            </p:txBody>
          </p:sp>
        </mc:Choice>
        <mc:Fallback>
          <p:sp>
            <p:nvSpPr>
              <p:cNvPr id="6" name="TextBox 5">
                <a:extLst>
                  <a:ext uri="{FF2B5EF4-FFF2-40B4-BE49-F238E27FC236}">
                    <a16:creationId xmlns:a16="http://schemas.microsoft.com/office/drawing/2014/main" id="{5A9A2A6D-36E6-04F7-002A-2E809EB04C94}"/>
                  </a:ext>
                </a:extLst>
              </p:cNvPr>
              <p:cNvSpPr txBox="1">
                <a:spLocks noRot="1" noChangeAspect="1" noMove="1" noResize="1" noEditPoints="1" noAdjustHandles="1" noChangeArrowheads="1" noChangeShapeType="1" noTextEdit="1"/>
              </p:cNvSpPr>
              <p:nvPr/>
            </p:nvSpPr>
            <p:spPr>
              <a:xfrm>
                <a:off x="2298700" y="4359275"/>
                <a:ext cx="6248400" cy="646331"/>
              </a:xfrm>
              <a:prstGeom prst="rect">
                <a:avLst/>
              </a:prstGeom>
              <a:blipFill>
                <a:blip r:embed="rId3"/>
                <a:stretch>
                  <a:fillRect l="-780" t="-5660" b="-7547"/>
                </a:stretch>
              </a:blipFill>
            </p:spPr>
            <p:txBody>
              <a:bodyPr/>
              <a:lstStyle/>
              <a:p>
                <a:r>
                  <a:rPr lang="en-US">
                    <a:noFill/>
                  </a:rPr>
                  <a:t> </a:t>
                </a:r>
              </a:p>
            </p:txBody>
          </p:sp>
        </mc:Fallback>
      </mc:AlternateContent>
    </p:spTree>
    <p:extLst>
      <p:ext uri="{BB962C8B-B14F-4D97-AF65-F5344CB8AC3E}">
        <p14:creationId xmlns:p14="http://schemas.microsoft.com/office/powerpoint/2010/main" val="353022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753B0F2-E8FA-CEBC-62A4-582B7CFFBC1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FD6FA40-1CB4-7065-4C5A-92FAA0C0C47A}"/>
              </a:ext>
            </a:extLst>
          </p:cNvPr>
          <p:cNvPicPr>
            <a:picLocks noChangeAspect="1"/>
          </p:cNvPicPr>
          <p:nvPr/>
        </p:nvPicPr>
        <p:blipFill>
          <a:blip r:embed="rId2"/>
          <a:stretch>
            <a:fillRect/>
          </a:stretch>
        </p:blipFill>
        <p:spPr>
          <a:xfrm>
            <a:off x="2762137" y="258655"/>
            <a:ext cx="7191552" cy="3635003"/>
          </a:xfrm>
          <a:prstGeom prst="rect">
            <a:avLst/>
          </a:prstGeom>
        </p:spPr>
      </p:pic>
      <p:sp>
        <p:nvSpPr>
          <p:cNvPr id="4" name="TextBox 3">
            <a:extLst>
              <a:ext uri="{FF2B5EF4-FFF2-40B4-BE49-F238E27FC236}">
                <a16:creationId xmlns:a16="http://schemas.microsoft.com/office/drawing/2014/main" id="{E7B17A42-323D-9682-5FCA-F9A44A9D1935}"/>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6DA0E365-B406-1582-1DD8-317845CD5167}"/>
              </a:ext>
            </a:extLst>
          </p:cNvPr>
          <p:cNvSpPr txBox="1"/>
          <p:nvPr/>
        </p:nvSpPr>
        <p:spPr>
          <a:xfrm>
            <a:off x="241893" y="722969"/>
            <a:ext cx="5040489" cy="779252"/>
          </a:xfrm>
          <a:prstGeom prst="rect">
            <a:avLst/>
          </a:prstGeom>
          <a:noFill/>
        </p:spPr>
        <p:txBody>
          <a:bodyPr wrap="square">
            <a:spAutoFit/>
          </a:bodyPr>
          <a:lstStyle/>
          <a:p>
            <a:r>
              <a:rPr lang="en-US" sz="1488" dirty="0"/>
              <a:t>The </a:t>
            </a:r>
            <a:r>
              <a:rPr lang="en-US" sz="1488" dirty="0">
                <a:solidFill>
                  <a:srgbClr val="FF0000"/>
                </a:solidFill>
              </a:rPr>
              <a:t>input gate </a:t>
            </a:r>
            <a:r>
              <a:rPr lang="en-US" sz="1488" dirty="0"/>
              <a:t>controls how much o</a:t>
            </a:r>
          </a:p>
          <a:p>
            <a:r>
              <a:rPr lang="en-US" sz="1488" dirty="0"/>
              <a:t>f the new candidate state to store.</a:t>
            </a:r>
          </a:p>
          <a:p>
            <a:r>
              <a:rPr lang="en-US" sz="1488" dirty="0"/>
              <a:t>For time step t=1</a:t>
            </a:r>
          </a:p>
        </p:txBody>
      </p:sp>
      <p:sp>
        <p:nvSpPr>
          <p:cNvPr id="5" name="TextBox 4">
            <a:extLst>
              <a:ext uri="{FF2B5EF4-FFF2-40B4-BE49-F238E27FC236}">
                <a16:creationId xmlns:a16="http://schemas.microsoft.com/office/drawing/2014/main" id="{CEC62D19-4912-1D25-1427-EBCA91802EC0}"/>
              </a:ext>
            </a:extLst>
          </p:cNvPr>
          <p:cNvSpPr txBox="1"/>
          <p:nvPr/>
        </p:nvSpPr>
        <p:spPr>
          <a:xfrm>
            <a:off x="3262030" y="3701686"/>
            <a:ext cx="6447060" cy="646331"/>
          </a:xfrm>
          <a:prstGeom prst="rect">
            <a:avLst/>
          </a:prstGeom>
          <a:noFill/>
        </p:spPr>
        <p:txBody>
          <a:bodyPr wrap="square">
            <a:spAutoFit/>
          </a:bodyPr>
          <a:lstStyle/>
          <a:p>
            <a:r>
              <a:rPr lang="en-US" dirty="0"/>
              <a:t>C(</a:t>
            </a:r>
            <a:r>
              <a:rPr lang="en-US" dirty="0" err="1"/>
              <a:t>tilda</a:t>
            </a:r>
            <a:r>
              <a:rPr lang="en-US" dirty="0"/>
              <a:t>)=0.9(−0.3)+0.05(0.1432246084)−0.05=−0.3128387696</a:t>
            </a:r>
          </a:p>
          <a:p>
            <a:r>
              <a:rPr lang="en-US" dirty="0"/>
              <a:t>tanh(−0.3128387696)=</a:t>
            </a:r>
            <a:r>
              <a:rPr lang="en-US" dirty="0">
                <a:solidFill>
                  <a:srgbClr val="FF0000"/>
                </a:solidFill>
              </a:rPr>
              <a:t>−0.3030174248</a:t>
            </a:r>
          </a:p>
        </p:txBody>
      </p:sp>
      <p:sp>
        <p:nvSpPr>
          <p:cNvPr id="10" name="TextBox 9">
            <a:extLst>
              <a:ext uri="{FF2B5EF4-FFF2-40B4-BE49-F238E27FC236}">
                <a16:creationId xmlns:a16="http://schemas.microsoft.com/office/drawing/2014/main" id="{19C9D25F-38A5-8B5C-D68E-131E569E8F62}"/>
              </a:ext>
            </a:extLst>
          </p:cNvPr>
          <p:cNvSpPr txBox="1"/>
          <p:nvPr/>
        </p:nvSpPr>
        <p:spPr>
          <a:xfrm>
            <a:off x="30143" y="3201594"/>
            <a:ext cx="2990062" cy="1924116"/>
          </a:xfrm>
          <a:prstGeom prst="rect">
            <a:avLst/>
          </a:prstGeom>
          <a:noFill/>
        </p:spPr>
        <p:txBody>
          <a:bodyPr wrap="square">
            <a:spAutoFit/>
          </a:bodyPr>
          <a:lstStyle/>
          <a:p>
            <a:r>
              <a:rPr lang="en-US" sz="1488" dirty="0">
                <a:solidFill>
                  <a:srgbClr val="FF0000"/>
                </a:solidFill>
              </a:rPr>
              <a:t>Candidate memory output neurons use hyperbolic tangent function. The properties of this function ensure that all values of the candidate vector are between -1 and 1. This is used to normalize the information that will be added to the cell state.</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E7E149C-2F6E-9625-E701-A1524DDB83D5}"/>
                  </a:ext>
                </a:extLst>
              </p:cNvPr>
              <p:cNvSpPr txBox="1"/>
              <p:nvPr/>
            </p:nvSpPr>
            <p:spPr>
              <a:xfrm>
                <a:off x="3213100" y="4587875"/>
                <a:ext cx="5221300" cy="646331"/>
              </a:xfrm>
              <a:prstGeom prst="rect">
                <a:avLst/>
              </a:prstGeom>
              <a:noFill/>
            </p:spPr>
            <p:txBody>
              <a:bodyPr wrap="square">
                <a:spAutoFit/>
              </a:bodyPr>
              <a:lstStyle/>
              <a:p>
                <a:pPr/>
                <a:r>
                  <a:rPr lang="ar-AE" dirty="0"/>
                  <a:t>=0.7(−0.3)+0.1(0.1432246084)+0=−0.1956775392</a:t>
                </a:r>
                <a:br>
                  <a:rPr lang="ar-AE"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1956775392</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4512361122</m:t>
                      </m:r>
                    </m:oMath>
                  </m:oMathPara>
                </a14:m>
                <a:endParaRPr lang="en-US" dirty="0"/>
              </a:p>
            </p:txBody>
          </p:sp>
        </mc:Choice>
        <mc:Fallback>
          <p:sp>
            <p:nvSpPr>
              <p:cNvPr id="3" name="TextBox 2">
                <a:extLst>
                  <a:ext uri="{FF2B5EF4-FFF2-40B4-BE49-F238E27FC236}">
                    <a16:creationId xmlns:a16="http://schemas.microsoft.com/office/drawing/2014/main" id="{7E7E149C-2F6E-9625-E701-A1524DDB83D5}"/>
                  </a:ext>
                </a:extLst>
              </p:cNvPr>
              <p:cNvSpPr txBox="1">
                <a:spLocks noRot="1" noChangeAspect="1" noMove="1" noResize="1" noEditPoints="1" noAdjustHandles="1" noChangeArrowheads="1" noChangeShapeType="1" noTextEdit="1"/>
              </p:cNvSpPr>
              <p:nvPr/>
            </p:nvSpPr>
            <p:spPr>
              <a:xfrm>
                <a:off x="3213100" y="4587875"/>
                <a:ext cx="5221300" cy="646331"/>
              </a:xfrm>
              <a:prstGeom prst="rect">
                <a:avLst/>
              </a:prstGeom>
              <a:blipFill>
                <a:blip r:embed="rId3"/>
                <a:stretch>
                  <a:fillRect l="-933" t="-6604"/>
                </a:stretch>
              </a:blipFill>
            </p:spPr>
            <p:txBody>
              <a:bodyPr/>
              <a:lstStyle/>
              <a:p>
                <a:r>
                  <a:rPr lang="en-US">
                    <a:noFill/>
                  </a:rPr>
                  <a:t> </a:t>
                </a:r>
              </a:p>
            </p:txBody>
          </p:sp>
        </mc:Fallback>
      </mc:AlternateContent>
    </p:spTree>
    <p:extLst>
      <p:ext uri="{BB962C8B-B14F-4D97-AF65-F5344CB8AC3E}">
        <p14:creationId xmlns:p14="http://schemas.microsoft.com/office/powerpoint/2010/main" val="4087540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F2B39DDB-455C-DC74-117D-A8B6C28AEA9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C64A0E-AE90-2817-94E5-1A7669363055}"/>
              </a:ext>
            </a:extLst>
          </p:cNvPr>
          <p:cNvPicPr>
            <a:picLocks noChangeAspect="1"/>
          </p:cNvPicPr>
          <p:nvPr/>
        </p:nvPicPr>
        <p:blipFill>
          <a:blip r:embed="rId2"/>
          <a:stretch>
            <a:fillRect/>
          </a:stretch>
        </p:blipFill>
        <p:spPr>
          <a:xfrm>
            <a:off x="3418939" y="794900"/>
            <a:ext cx="5746665" cy="2904678"/>
          </a:xfrm>
          <a:prstGeom prst="rect">
            <a:avLst/>
          </a:prstGeom>
        </p:spPr>
      </p:pic>
      <p:sp>
        <p:nvSpPr>
          <p:cNvPr id="4" name="TextBox 3">
            <a:extLst>
              <a:ext uri="{FF2B5EF4-FFF2-40B4-BE49-F238E27FC236}">
                <a16:creationId xmlns:a16="http://schemas.microsoft.com/office/drawing/2014/main" id="{A04C8CB3-1607-AF42-231A-1DEE60DB3F02}"/>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D3AF84BF-9D70-8D2A-DCF9-14DAD083DD51}"/>
              </a:ext>
            </a:extLst>
          </p:cNvPr>
          <p:cNvSpPr txBox="1"/>
          <p:nvPr/>
        </p:nvSpPr>
        <p:spPr>
          <a:xfrm>
            <a:off x="61875" y="821502"/>
            <a:ext cx="5040489" cy="1237198"/>
          </a:xfrm>
          <a:prstGeom prst="rect">
            <a:avLst/>
          </a:prstGeom>
          <a:noFill/>
        </p:spPr>
        <p:txBody>
          <a:bodyPr wrap="square">
            <a:spAutoFit/>
          </a:bodyPr>
          <a:lstStyle/>
          <a:p>
            <a:r>
              <a:rPr lang="en-US" sz="1488" dirty="0"/>
              <a:t>The </a:t>
            </a:r>
            <a:r>
              <a:rPr lang="en-US" sz="1488" dirty="0">
                <a:solidFill>
                  <a:srgbClr val="FF0000"/>
                </a:solidFill>
              </a:rPr>
              <a:t>candidate state </a:t>
            </a:r>
            <a:r>
              <a:rPr lang="en-US" sz="1488" dirty="0"/>
              <a:t>controls how much</a:t>
            </a:r>
          </a:p>
          <a:p>
            <a:r>
              <a:rPr lang="en-US" sz="1488" dirty="0"/>
              <a:t>new information to be added</a:t>
            </a:r>
          </a:p>
          <a:p>
            <a:endParaRPr lang="en-US" sz="1488" dirty="0"/>
          </a:p>
          <a:p>
            <a:endParaRPr lang="en-US" sz="1488" dirty="0"/>
          </a:p>
          <a:p>
            <a:r>
              <a:rPr lang="en-US" sz="1488" dirty="0"/>
              <a:t>For time step t=2</a:t>
            </a:r>
          </a:p>
        </p:txBody>
      </p:sp>
      <p:sp>
        <p:nvSpPr>
          <p:cNvPr id="3" name="TextBox 2">
            <a:extLst>
              <a:ext uri="{FF2B5EF4-FFF2-40B4-BE49-F238E27FC236}">
                <a16:creationId xmlns:a16="http://schemas.microsoft.com/office/drawing/2014/main" id="{4264AA07-B369-5A4E-7C0E-568F758CA177}"/>
              </a:ext>
            </a:extLst>
          </p:cNvPr>
          <p:cNvSpPr txBox="1"/>
          <p:nvPr/>
        </p:nvSpPr>
        <p:spPr>
          <a:xfrm>
            <a:off x="1536700" y="4200022"/>
            <a:ext cx="7880265" cy="646331"/>
          </a:xfrm>
          <a:prstGeom prst="rect">
            <a:avLst/>
          </a:prstGeom>
          <a:noFill/>
        </p:spPr>
        <p:txBody>
          <a:bodyPr wrap="square">
            <a:spAutoFit/>
          </a:bodyPr>
          <a:lstStyle/>
          <a:p>
            <a:r>
              <a:rPr lang="nn-NO" dirty="0">
                <a:solidFill>
                  <a:srgbClr val="FF0000"/>
                </a:solidFill>
              </a:rPr>
              <a:t>c2​</a:t>
            </a:r>
            <a:r>
              <a:rPr lang="nn-NO" dirty="0"/>
              <a:t>==f2​c1​+i2​ctilda2​=0.5765544675⋅0.2757741661+0.4512361122⋅(−0.3030174248)=0.0222664228</a:t>
            </a:r>
            <a:endParaRPr lang="en-US" dirty="0"/>
          </a:p>
        </p:txBody>
      </p:sp>
      <p:sp>
        <p:nvSpPr>
          <p:cNvPr id="2" name="TextBox 1">
            <a:extLst>
              <a:ext uri="{FF2B5EF4-FFF2-40B4-BE49-F238E27FC236}">
                <a16:creationId xmlns:a16="http://schemas.microsoft.com/office/drawing/2014/main" id="{C53BB8D0-5017-E9D5-4ED0-07A90A1257E0}"/>
              </a:ext>
            </a:extLst>
          </p:cNvPr>
          <p:cNvSpPr txBox="1"/>
          <p:nvPr/>
        </p:nvSpPr>
        <p:spPr>
          <a:xfrm>
            <a:off x="171183" y="2247239"/>
            <a:ext cx="6447060" cy="646331"/>
          </a:xfrm>
          <a:prstGeom prst="rect">
            <a:avLst/>
          </a:prstGeom>
          <a:noFill/>
        </p:spPr>
        <p:txBody>
          <a:bodyPr wrap="square">
            <a:spAutoFit/>
          </a:bodyPr>
          <a:lstStyle/>
          <a:p>
            <a:r>
              <a:rPr lang="en-US" dirty="0"/>
              <a:t>C(</a:t>
            </a:r>
            <a:r>
              <a:rPr lang="en-US" dirty="0" err="1"/>
              <a:t>tilda</a:t>
            </a:r>
            <a:r>
              <a:rPr lang="en-US" dirty="0"/>
              <a:t>)=0.9(−0.3)+0.05(0.1432246084)−0.05=−0.3128387696</a:t>
            </a:r>
          </a:p>
          <a:p>
            <a:r>
              <a:rPr lang="en-US" dirty="0"/>
              <a:t>tanh(−0.3128387696)=</a:t>
            </a:r>
            <a:r>
              <a:rPr lang="en-US" dirty="0">
                <a:solidFill>
                  <a:srgbClr val="FF0000"/>
                </a:solidFill>
              </a:rPr>
              <a:t>−0.3030174248</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0AFF9A7-C7FD-80B8-C909-6EB58184DD78}"/>
                  </a:ext>
                </a:extLst>
              </p:cNvPr>
              <p:cNvSpPr txBox="1"/>
              <p:nvPr/>
            </p:nvSpPr>
            <p:spPr>
              <a:xfrm>
                <a:off x="122253" y="3133428"/>
                <a:ext cx="5221300" cy="646331"/>
              </a:xfrm>
              <a:prstGeom prst="rect">
                <a:avLst/>
              </a:prstGeom>
              <a:noFill/>
            </p:spPr>
            <p:txBody>
              <a:bodyPr wrap="square">
                <a:spAutoFit/>
              </a:bodyPr>
              <a:lstStyle/>
              <a:p>
                <a:pPr/>
                <a:r>
                  <a:rPr lang="ar-AE" dirty="0"/>
                  <a:t>=0.7(−0.3)+0.1(0.1432246084)+0=−0.1956775392</a:t>
                </a:r>
                <a:br>
                  <a:rPr lang="ar-AE"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1956775392</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4512361122</m:t>
                      </m:r>
                    </m:oMath>
                  </m:oMathPara>
                </a14:m>
                <a:endParaRPr lang="en-US" dirty="0"/>
              </a:p>
            </p:txBody>
          </p:sp>
        </mc:Choice>
        <mc:Fallback>
          <p:sp>
            <p:nvSpPr>
              <p:cNvPr id="5" name="TextBox 4">
                <a:extLst>
                  <a:ext uri="{FF2B5EF4-FFF2-40B4-BE49-F238E27FC236}">
                    <a16:creationId xmlns:a16="http://schemas.microsoft.com/office/drawing/2014/main" id="{20AFF9A7-C7FD-80B8-C909-6EB58184DD78}"/>
                  </a:ext>
                </a:extLst>
              </p:cNvPr>
              <p:cNvSpPr txBox="1">
                <a:spLocks noRot="1" noChangeAspect="1" noMove="1" noResize="1" noEditPoints="1" noAdjustHandles="1" noChangeArrowheads="1" noChangeShapeType="1" noTextEdit="1"/>
              </p:cNvSpPr>
              <p:nvPr/>
            </p:nvSpPr>
            <p:spPr>
              <a:xfrm>
                <a:off x="122253" y="3133428"/>
                <a:ext cx="5221300" cy="646331"/>
              </a:xfrm>
              <a:prstGeom prst="rect">
                <a:avLst/>
              </a:prstGeom>
              <a:blipFill>
                <a:blip r:embed="rId3"/>
                <a:stretch>
                  <a:fillRect l="-933" t="-5660"/>
                </a:stretch>
              </a:blipFill>
            </p:spPr>
            <p:txBody>
              <a:bodyPr/>
              <a:lstStyle/>
              <a:p>
                <a:r>
                  <a:rPr lang="en-US">
                    <a:noFill/>
                  </a:rPr>
                  <a:t> </a:t>
                </a:r>
              </a:p>
            </p:txBody>
          </p:sp>
        </mc:Fallback>
      </mc:AlternateContent>
    </p:spTree>
    <p:extLst>
      <p:ext uri="{BB962C8B-B14F-4D97-AF65-F5344CB8AC3E}">
        <p14:creationId xmlns:p14="http://schemas.microsoft.com/office/powerpoint/2010/main" val="2102366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BAC02C3-A75E-3980-E7E1-6D25266812C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7506117-A392-B2A4-2CCB-E4334CA1931E}"/>
              </a:ext>
            </a:extLst>
          </p:cNvPr>
          <p:cNvPicPr>
            <a:picLocks noChangeAspect="1"/>
          </p:cNvPicPr>
          <p:nvPr/>
        </p:nvPicPr>
        <p:blipFill>
          <a:blip r:embed="rId2"/>
          <a:stretch>
            <a:fillRect/>
          </a:stretch>
        </p:blipFill>
        <p:spPr>
          <a:xfrm>
            <a:off x="698500" y="2395482"/>
            <a:ext cx="6479452" cy="3275068"/>
          </a:xfrm>
          <a:prstGeom prst="rect">
            <a:avLst/>
          </a:prstGeom>
        </p:spPr>
      </p:pic>
      <p:sp>
        <p:nvSpPr>
          <p:cNvPr id="4" name="TextBox 3">
            <a:extLst>
              <a:ext uri="{FF2B5EF4-FFF2-40B4-BE49-F238E27FC236}">
                <a16:creationId xmlns:a16="http://schemas.microsoft.com/office/drawing/2014/main" id="{E51786FA-54F0-68DB-B898-EA63B54B9418}"/>
              </a:ext>
            </a:extLst>
          </p:cNvPr>
          <p:cNvSpPr txBox="1"/>
          <p:nvPr/>
        </p:nvSpPr>
        <p:spPr>
          <a:xfrm>
            <a:off x="366699" y="19099"/>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3478083B-9F26-CC1F-298E-BB97E7A3211D}"/>
              </a:ext>
            </a:extLst>
          </p:cNvPr>
          <p:cNvSpPr txBox="1"/>
          <p:nvPr/>
        </p:nvSpPr>
        <p:spPr>
          <a:xfrm>
            <a:off x="241727" y="855003"/>
            <a:ext cx="5040489" cy="1237198"/>
          </a:xfrm>
          <a:prstGeom prst="rect">
            <a:avLst/>
          </a:prstGeom>
          <a:noFill/>
        </p:spPr>
        <p:txBody>
          <a:bodyPr wrap="square">
            <a:spAutoFit/>
          </a:bodyPr>
          <a:lstStyle/>
          <a:p>
            <a:r>
              <a:rPr lang="en-US" sz="1488" dirty="0"/>
              <a:t>The </a:t>
            </a:r>
            <a:r>
              <a:rPr lang="en-US" sz="1488" dirty="0">
                <a:solidFill>
                  <a:srgbClr val="FF0000"/>
                </a:solidFill>
              </a:rPr>
              <a:t>cell state </a:t>
            </a:r>
            <a:r>
              <a:rPr lang="en-US" sz="1488" dirty="0"/>
              <a:t>controls how much</a:t>
            </a:r>
          </a:p>
          <a:p>
            <a:r>
              <a:rPr lang="en-US" sz="1488" dirty="0"/>
              <a:t>new information to be added</a:t>
            </a:r>
          </a:p>
          <a:p>
            <a:endParaRPr lang="en-US" sz="1488" dirty="0"/>
          </a:p>
          <a:p>
            <a:endParaRPr lang="en-US" sz="1488" dirty="0"/>
          </a:p>
          <a:p>
            <a:r>
              <a:rPr lang="en-US" sz="1488" dirty="0"/>
              <a:t>For time step t=2</a:t>
            </a:r>
          </a:p>
        </p:txBody>
      </p:sp>
      <p:sp>
        <p:nvSpPr>
          <p:cNvPr id="5" name="TextBox 4">
            <a:extLst>
              <a:ext uri="{FF2B5EF4-FFF2-40B4-BE49-F238E27FC236}">
                <a16:creationId xmlns:a16="http://schemas.microsoft.com/office/drawing/2014/main" id="{0BAEDBD5-767D-70B0-4493-B94D2FC6A927}"/>
              </a:ext>
            </a:extLst>
          </p:cNvPr>
          <p:cNvSpPr txBox="1"/>
          <p:nvPr/>
        </p:nvSpPr>
        <p:spPr>
          <a:xfrm>
            <a:off x="5118100" y="2315391"/>
            <a:ext cx="5221300" cy="369332"/>
          </a:xfrm>
          <a:prstGeom prst="rect">
            <a:avLst/>
          </a:prstGeom>
          <a:noFill/>
        </p:spPr>
        <p:txBody>
          <a:bodyPr wrap="square">
            <a:spAutoFit/>
          </a:bodyPr>
          <a:lstStyle/>
          <a:p>
            <a:r>
              <a:rPr lang="nn-NO" dirty="0">
                <a:highlight>
                  <a:srgbClr val="FFFF00"/>
                </a:highlight>
              </a:rPr>
              <a:t>0.0222664228</a:t>
            </a:r>
            <a:endParaRPr lang="en-US" dirty="0">
              <a:highlight>
                <a:srgbClr val="FFFF00"/>
              </a:highlight>
            </a:endParaRPr>
          </a:p>
        </p:txBody>
      </p:sp>
    </p:spTree>
    <p:extLst>
      <p:ext uri="{BB962C8B-B14F-4D97-AF65-F5344CB8AC3E}">
        <p14:creationId xmlns:p14="http://schemas.microsoft.com/office/powerpoint/2010/main" val="2652809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1592164-7579-D137-0DB3-E27C1249BC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AA824E-2408-6062-BD12-2F473D7AF00B}"/>
              </a:ext>
            </a:extLst>
          </p:cNvPr>
          <p:cNvSpPr txBox="1"/>
          <p:nvPr/>
        </p:nvSpPr>
        <p:spPr>
          <a:xfrm>
            <a:off x="241893" y="97363"/>
            <a:ext cx="5040489" cy="321306"/>
          </a:xfrm>
          <a:prstGeom prst="rect">
            <a:avLst/>
          </a:prstGeom>
          <a:noFill/>
        </p:spPr>
        <p:txBody>
          <a:bodyPr wrap="square">
            <a:spAutoFit/>
          </a:bodyPr>
          <a:lstStyle/>
          <a:p>
            <a:r>
              <a:rPr lang="en-US" sz="1488" b="1" dirty="0"/>
              <a:t>LSTM Forward Pass Example</a:t>
            </a:r>
          </a:p>
        </p:txBody>
      </p:sp>
      <p:sp>
        <p:nvSpPr>
          <p:cNvPr id="7" name="TextBox 6">
            <a:extLst>
              <a:ext uri="{FF2B5EF4-FFF2-40B4-BE49-F238E27FC236}">
                <a16:creationId xmlns:a16="http://schemas.microsoft.com/office/drawing/2014/main" id="{57465818-80C2-57D5-E09E-FED87A7DA7AE}"/>
              </a:ext>
            </a:extLst>
          </p:cNvPr>
          <p:cNvSpPr txBox="1"/>
          <p:nvPr/>
        </p:nvSpPr>
        <p:spPr>
          <a:xfrm>
            <a:off x="241893" y="722970"/>
            <a:ext cx="5040489" cy="1237198"/>
          </a:xfrm>
          <a:prstGeom prst="rect">
            <a:avLst/>
          </a:prstGeom>
          <a:noFill/>
        </p:spPr>
        <p:txBody>
          <a:bodyPr wrap="square">
            <a:spAutoFit/>
          </a:bodyPr>
          <a:lstStyle/>
          <a:p>
            <a:r>
              <a:rPr lang="en-US" sz="1488" dirty="0"/>
              <a:t>The </a:t>
            </a:r>
            <a:r>
              <a:rPr lang="en-US" sz="1488" dirty="0">
                <a:solidFill>
                  <a:srgbClr val="FF0000"/>
                </a:solidFill>
              </a:rPr>
              <a:t>output gate </a:t>
            </a:r>
            <a:r>
              <a:rPr lang="en-US" sz="1488" dirty="0"/>
              <a:t>tells the network </a:t>
            </a:r>
          </a:p>
          <a:p>
            <a:r>
              <a:rPr lang="en-US" sz="1488" dirty="0"/>
              <a:t>how much of the previous cell state </a:t>
            </a:r>
          </a:p>
          <a:p>
            <a:r>
              <a:rPr lang="en-US" sz="1488" dirty="0"/>
              <a:t>to forget.</a:t>
            </a:r>
          </a:p>
          <a:p>
            <a:endParaRPr lang="en-US" sz="1488" dirty="0"/>
          </a:p>
          <a:p>
            <a:r>
              <a:rPr lang="en-US" sz="1488" dirty="0"/>
              <a:t>For time step t=2</a:t>
            </a:r>
          </a:p>
        </p:txBody>
      </p:sp>
      <p:pic>
        <p:nvPicPr>
          <p:cNvPr id="2" name="Picture 1">
            <a:extLst>
              <a:ext uri="{FF2B5EF4-FFF2-40B4-BE49-F238E27FC236}">
                <a16:creationId xmlns:a16="http://schemas.microsoft.com/office/drawing/2014/main" id="{D96C4C5E-938F-B1E0-66B0-1451E4E73FEE}"/>
              </a:ext>
            </a:extLst>
          </p:cNvPr>
          <p:cNvPicPr>
            <a:picLocks noChangeAspect="1"/>
          </p:cNvPicPr>
          <p:nvPr/>
        </p:nvPicPr>
        <p:blipFill>
          <a:blip r:embed="rId2"/>
          <a:stretch>
            <a:fillRect/>
          </a:stretch>
        </p:blipFill>
        <p:spPr>
          <a:xfrm>
            <a:off x="2540137" y="97363"/>
            <a:ext cx="7675915" cy="3879826"/>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F004A4D-ADF1-77F8-92BD-9066AD3BC8EF}"/>
                  </a:ext>
                </a:extLst>
              </p:cNvPr>
              <p:cNvSpPr txBox="1"/>
              <p:nvPr/>
            </p:nvSpPr>
            <p:spPr>
              <a:xfrm>
                <a:off x="3767444" y="4281490"/>
                <a:ext cx="5221300" cy="646331"/>
              </a:xfrm>
              <a:prstGeom prst="rect">
                <a:avLst/>
              </a:prstGeom>
              <a:noFill/>
            </p:spPr>
            <p:txBody>
              <a:bodyPr wrap="square">
                <a:spAutoFit/>
              </a:bodyPr>
              <a:lstStyle/>
              <a:p>
                <a:pPr/>
                <a:r>
                  <a:rPr lang="ar-AE" dirty="0"/>
                  <a:t>=0.3(−0.3)−0.1(0.1432246084)=−0.1043224608</a:t>
                </a:r>
                <a:br>
                  <a:rPr lang="ar-AE" dirty="0"/>
                </a:b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1043224608</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4739430124</m:t>
                      </m:r>
                    </m:oMath>
                  </m:oMathPara>
                </a14:m>
                <a:endParaRPr lang="en-US" dirty="0"/>
              </a:p>
            </p:txBody>
          </p:sp>
        </mc:Choice>
        <mc:Fallback>
          <p:sp>
            <p:nvSpPr>
              <p:cNvPr id="6" name="TextBox 5">
                <a:extLst>
                  <a:ext uri="{FF2B5EF4-FFF2-40B4-BE49-F238E27FC236}">
                    <a16:creationId xmlns:a16="http://schemas.microsoft.com/office/drawing/2014/main" id="{6F004A4D-ADF1-77F8-92BD-9066AD3BC8EF}"/>
                  </a:ext>
                </a:extLst>
              </p:cNvPr>
              <p:cNvSpPr txBox="1">
                <a:spLocks noRot="1" noChangeAspect="1" noMove="1" noResize="1" noEditPoints="1" noAdjustHandles="1" noChangeArrowheads="1" noChangeShapeType="1" noTextEdit="1"/>
              </p:cNvSpPr>
              <p:nvPr/>
            </p:nvSpPr>
            <p:spPr>
              <a:xfrm>
                <a:off x="3767444" y="4281490"/>
                <a:ext cx="5221300" cy="646331"/>
              </a:xfrm>
              <a:prstGeom prst="rect">
                <a:avLst/>
              </a:prstGeom>
              <a:blipFill>
                <a:blip r:embed="rId3"/>
                <a:stretch>
                  <a:fillRect l="-933" t="-5660"/>
                </a:stretch>
              </a:blipFill>
            </p:spPr>
            <p:txBody>
              <a:bodyPr/>
              <a:lstStyle/>
              <a:p>
                <a:r>
                  <a:rPr lang="en-US">
                    <a:noFill/>
                  </a:rPr>
                  <a:t> </a:t>
                </a:r>
              </a:p>
            </p:txBody>
          </p:sp>
        </mc:Fallback>
      </mc:AlternateContent>
    </p:spTree>
    <p:extLst>
      <p:ext uri="{BB962C8B-B14F-4D97-AF65-F5344CB8AC3E}">
        <p14:creationId xmlns:p14="http://schemas.microsoft.com/office/powerpoint/2010/main" val="3915800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F39D5AAC-42D9-17D4-1A86-3FFDC9D3DB1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F247005-64CD-5938-EDF5-D9C72C592FFC}"/>
              </a:ext>
            </a:extLst>
          </p:cNvPr>
          <p:cNvPicPr>
            <a:picLocks noChangeAspect="1"/>
          </p:cNvPicPr>
          <p:nvPr/>
        </p:nvPicPr>
        <p:blipFill>
          <a:blip r:embed="rId2"/>
          <a:stretch>
            <a:fillRect/>
          </a:stretch>
        </p:blipFill>
        <p:spPr>
          <a:xfrm>
            <a:off x="1155700" y="320675"/>
            <a:ext cx="7079152" cy="3578189"/>
          </a:xfrm>
          <a:prstGeom prst="rect">
            <a:avLst/>
          </a:prstGeom>
        </p:spPr>
      </p:pic>
      <p:sp>
        <p:nvSpPr>
          <p:cNvPr id="8" name="TextBox 7">
            <a:extLst>
              <a:ext uri="{FF2B5EF4-FFF2-40B4-BE49-F238E27FC236}">
                <a16:creationId xmlns:a16="http://schemas.microsoft.com/office/drawing/2014/main" id="{A5F4C88E-0048-C2E4-0987-80249C7D1317}"/>
              </a:ext>
            </a:extLst>
          </p:cNvPr>
          <p:cNvSpPr txBox="1"/>
          <p:nvPr/>
        </p:nvSpPr>
        <p:spPr>
          <a:xfrm>
            <a:off x="1460500" y="4334383"/>
            <a:ext cx="7924800" cy="461665"/>
          </a:xfrm>
          <a:prstGeom prst="rect">
            <a:avLst/>
          </a:prstGeom>
          <a:noFill/>
        </p:spPr>
        <p:txBody>
          <a:bodyPr wrap="square">
            <a:spAutoFit/>
          </a:bodyPr>
          <a:lstStyle/>
          <a:p>
            <a:r>
              <a:rPr lang="pt-BR" sz="2400" dirty="0">
                <a:solidFill>
                  <a:srgbClr val="FF0000"/>
                </a:solidFill>
              </a:rPr>
              <a:t>L2​=1/2​(h2​−y2​)</a:t>
            </a:r>
            <a:r>
              <a:rPr lang="pt-BR" sz="2400" baseline="30000" dirty="0">
                <a:solidFill>
                  <a:srgbClr val="FF0000"/>
                </a:solidFill>
              </a:rPr>
              <a:t>2</a:t>
            </a:r>
            <a:r>
              <a:rPr lang="pt-BR" sz="2400" dirty="0">
                <a:solidFill>
                  <a:srgbClr val="FF0000"/>
                </a:solidFill>
              </a:rPr>
              <a:t>=</a:t>
            </a:r>
            <a:r>
              <a:rPr lang="en-US" sz="2400" dirty="0"/>
              <a:t> =0.5⋅(0.0105512718−0)2=0.00005566466</a:t>
            </a:r>
            <a:endParaRPr lang="en-US" sz="2400" dirty="0">
              <a:solidFill>
                <a:srgbClr val="FF0000"/>
              </a:solidFill>
            </a:endParaRPr>
          </a:p>
        </p:txBody>
      </p:sp>
      <p:sp>
        <p:nvSpPr>
          <p:cNvPr id="9" name="TextBox 8">
            <a:extLst>
              <a:ext uri="{FF2B5EF4-FFF2-40B4-BE49-F238E27FC236}">
                <a16:creationId xmlns:a16="http://schemas.microsoft.com/office/drawing/2014/main" id="{A5786FAB-2A64-7E36-CBE6-7AC8606F3D52}"/>
              </a:ext>
            </a:extLst>
          </p:cNvPr>
          <p:cNvSpPr txBox="1"/>
          <p:nvPr/>
        </p:nvSpPr>
        <p:spPr>
          <a:xfrm>
            <a:off x="3213100" y="3677033"/>
            <a:ext cx="6400800" cy="646331"/>
          </a:xfrm>
          <a:prstGeom prst="rect">
            <a:avLst/>
          </a:prstGeom>
          <a:noFill/>
        </p:spPr>
        <p:txBody>
          <a:bodyPr wrap="square">
            <a:spAutoFit/>
          </a:bodyPr>
          <a:lstStyle/>
          <a:p>
            <a:r>
              <a:rPr lang="en-US" dirty="0"/>
              <a:t>tanh⁡(𝑐2)=0.0222621381</a:t>
            </a:r>
          </a:p>
          <a:p>
            <a:r>
              <a:rPr lang="en-US" dirty="0"/>
              <a:t>ℎ2=o2​tanh(c2​)=0.4739430124⋅0.0222621381=</a:t>
            </a:r>
            <a:r>
              <a:rPr lang="en-US" dirty="0">
                <a:highlight>
                  <a:srgbClr val="FFFF00"/>
                </a:highlight>
              </a:rPr>
              <a:t>0.0105512</a:t>
            </a:r>
            <a:r>
              <a:rPr lang="en-US" dirty="0"/>
              <a:t>718</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FCD59DA-155C-44D5-6F2F-36BA411D66DF}"/>
                  </a:ext>
                </a:extLst>
              </p:cNvPr>
              <p:cNvSpPr txBox="1"/>
              <p:nvPr/>
            </p:nvSpPr>
            <p:spPr>
              <a:xfrm>
                <a:off x="2431250" y="4862235"/>
                <a:ext cx="5221300" cy="369332"/>
              </a:xfrm>
              <a:prstGeom prst="rect">
                <a:avLst/>
              </a:prstGeom>
              <a:noFill/>
            </p:spPr>
            <p:txBody>
              <a:bodyPr wrap="square">
                <a:spAutoFit/>
              </a:bodyPr>
              <a:lstStyle/>
              <a:p>
                <a:r>
                  <a:rPr lang="en-US" b="1" dirty="0">
                    <a:solidFill>
                      <a:srgbClr val="FF0000"/>
                    </a:solidFill>
                    <a:highlight>
                      <a:srgbClr val="FFFF00"/>
                    </a:highlight>
                  </a:rPr>
                  <a:t>Total loss:</a:t>
                </a:r>
                <a:r>
                  <a:rPr lang="en-US" dirty="0">
                    <a:solidFill>
                      <a:srgbClr val="FF0000"/>
                    </a:solidFill>
                    <a:highlight>
                      <a:srgbClr val="FFFF00"/>
                    </a:highlight>
                  </a:rPr>
                  <a:t> </a:t>
                </a:r>
                <a14:m>
                  <m:oMath xmlns:m="http://schemas.openxmlformats.org/officeDocument/2006/math">
                    <m:r>
                      <a:rPr lang="en-US" i="1">
                        <a:solidFill>
                          <a:srgbClr val="FF0000"/>
                        </a:solidFill>
                        <a:highlight>
                          <a:srgbClr val="FFFF00"/>
                        </a:highlight>
                        <a:latin typeface="Cambria Math" panose="02040503050406030204" pitchFamily="18" charset="0"/>
                      </a:rPr>
                      <m:t>𝐿</m:t>
                    </m:r>
                    <m:r>
                      <a:rPr lang="en-US" i="0">
                        <a:solidFill>
                          <a:srgbClr val="FF0000"/>
                        </a:solidFill>
                        <a:highlight>
                          <a:srgbClr val="FFFF00"/>
                        </a:highlight>
                        <a:latin typeface="Cambria Math" panose="02040503050406030204" pitchFamily="18" charset="0"/>
                      </a:rPr>
                      <m:t>=</m:t>
                    </m:r>
                    <m:sSub>
                      <m:sSubPr>
                        <m:ctrlPr>
                          <a:rPr lang="ar-AE" i="1">
                            <a:solidFill>
                              <a:srgbClr val="FF0000"/>
                            </a:solidFill>
                            <a:highlight>
                              <a:srgbClr val="FFFF00"/>
                            </a:highlight>
                            <a:latin typeface="Cambria Math" panose="02040503050406030204" pitchFamily="18" charset="0"/>
                          </a:rPr>
                        </m:ctrlPr>
                      </m:sSubPr>
                      <m:e>
                        <m:r>
                          <a:rPr lang="ar-AE" i="1">
                            <a:solidFill>
                              <a:srgbClr val="FF0000"/>
                            </a:solidFill>
                            <a:highlight>
                              <a:srgbClr val="FFFF00"/>
                            </a:highlight>
                            <a:latin typeface="Cambria Math" panose="02040503050406030204" pitchFamily="18" charset="0"/>
                          </a:rPr>
                          <m:t>𝐿</m:t>
                        </m:r>
                      </m:e>
                      <m:sub>
                        <m:r>
                          <a:rPr lang="ar-AE" i="0">
                            <a:solidFill>
                              <a:srgbClr val="FF0000"/>
                            </a:solidFill>
                            <a:highlight>
                              <a:srgbClr val="FFFF00"/>
                            </a:highlight>
                            <a:latin typeface="Cambria Math" panose="02040503050406030204" pitchFamily="18" charset="0"/>
                          </a:rPr>
                          <m:t>1</m:t>
                        </m:r>
                      </m:sub>
                    </m:sSub>
                    <m:r>
                      <a:rPr lang="ar-AE" i="0">
                        <a:solidFill>
                          <a:srgbClr val="FF0000"/>
                        </a:solidFill>
                        <a:highlight>
                          <a:srgbClr val="FFFF00"/>
                        </a:highlight>
                        <a:latin typeface="Cambria Math" panose="02040503050406030204" pitchFamily="18" charset="0"/>
                      </a:rPr>
                      <m:t>+</m:t>
                    </m:r>
                    <m:sSub>
                      <m:sSubPr>
                        <m:ctrlPr>
                          <a:rPr lang="ar-AE" i="1">
                            <a:solidFill>
                              <a:srgbClr val="FF0000"/>
                            </a:solidFill>
                            <a:highlight>
                              <a:srgbClr val="FFFF00"/>
                            </a:highlight>
                            <a:latin typeface="Cambria Math" panose="02040503050406030204" pitchFamily="18" charset="0"/>
                          </a:rPr>
                        </m:ctrlPr>
                      </m:sSubPr>
                      <m:e>
                        <m:r>
                          <a:rPr lang="ar-AE" i="1">
                            <a:solidFill>
                              <a:srgbClr val="FF0000"/>
                            </a:solidFill>
                            <a:highlight>
                              <a:srgbClr val="FFFF00"/>
                            </a:highlight>
                            <a:latin typeface="Cambria Math" panose="02040503050406030204" pitchFamily="18" charset="0"/>
                          </a:rPr>
                          <m:t>𝐿</m:t>
                        </m:r>
                      </m:e>
                      <m:sub>
                        <m:r>
                          <a:rPr lang="ar-AE" i="0">
                            <a:solidFill>
                              <a:srgbClr val="FF0000"/>
                            </a:solidFill>
                            <a:highlight>
                              <a:srgbClr val="FFFF00"/>
                            </a:highlight>
                            <a:latin typeface="Cambria Math" panose="02040503050406030204" pitchFamily="18" charset="0"/>
                          </a:rPr>
                          <m:t>2</m:t>
                        </m:r>
                      </m:sub>
                    </m:sSub>
                    <m:r>
                      <a:rPr lang="ar-AE" i="0">
                        <a:solidFill>
                          <a:srgbClr val="FF0000"/>
                        </a:solidFill>
                        <a:highlight>
                          <a:srgbClr val="FFFF00"/>
                        </a:highlight>
                        <a:latin typeface="Cambria Math" panose="02040503050406030204" pitchFamily="18" charset="0"/>
                      </a:rPr>
                      <m:t>=</m:t>
                    </m:r>
                    <m:r>
                      <a:rPr lang="ar-AE" i="0">
                        <a:solidFill>
                          <a:srgbClr val="FF0000"/>
                        </a:solidFill>
                        <a:highlight>
                          <a:srgbClr val="FFFF00"/>
                        </a:highlight>
                        <a:latin typeface="Cambria Math" panose="02040503050406030204" pitchFamily="18" charset="0"/>
                      </a:rPr>
                      <m:t>0</m:t>
                    </m:r>
                    <m:r>
                      <a:rPr lang="ar-AE" i="0">
                        <a:solidFill>
                          <a:srgbClr val="FF0000"/>
                        </a:solidFill>
                        <a:highlight>
                          <a:srgbClr val="FFFF00"/>
                        </a:highlight>
                        <a:latin typeface="Cambria Math" panose="02040503050406030204" pitchFamily="18" charset="0"/>
                      </a:rPr>
                      <m:t>.</m:t>
                    </m:r>
                    <m:r>
                      <a:rPr lang="ar-AE" i="0">
                        <a:solidFill>
                          <a:srgbClr val="FF0000"/>
                        </a:solidFill>
                        <a:highlight>
                          <a:srgbClr val="FFFF00"/>
                        </a:highlight>
                        <a:latin typeface="Cambria Math" panose="02040503050406030204" pitchFamily="18" charset="0"/>
                      </a:rPr>
                      <m:t>004401078469</m:t>
                    </m:r>
                  </m:oMath>
                </a14:m>
                <a:endParaRPr lang="en-US" dirty="0">
                  <a:solidFill>
                    <a:srgbClr val="FF0000"/>
                  </a:solidFill>
                  <a:highlight>
                    <a:srgbClr val="FFFF00"/>
                  </a:highlight>
                </a:endParaRPr>
              </a:p>
            </p:txBody>
          </p:sp>
        </mc:Choice>
        <mc:Fallback>
          <p:sp>
            <p:nvSpPr>
              <p:cNvPr id="11" name="TextBox 10">
                <a:extLst>
                  <a:ext uri="{FF2B5EF4-FFF2-40B4-BE49-F238E27FC236}">
                    <a16:creationId xmlns:a16="http://schemas.microsoft.com/office/drawing/2014/main" id="{2FCD59DA-155C-44D5-6F2F-36BA411D66DF}"/>
                  </a:ext>
                </a:extLst>
              </p:cNvPr>
              <p:cNvSpPr txBox="1">
                <a:spLocks noRot="1" noChangeAspect="1" noMove="1" noResize="1" noEditPoints="1" noAdjustHandles="1" noChangeArrowheads="1" noChangeShapeType="1" noTextEdit="1"/>
              </p:cNvSpPr>
              <p:nvPr/>
            </p:nvSpPr>
            <p:spPr>
              <a:xfrm>
                <a:off x="2431250" y="4862235"/>
                <a:ext cx="5221300" cy="369332"/>
              </a:xfrm>
              <a:prstGeom prst="rect">
                <a:avLst/>
              </a:prstGeom>
              <a:blipFill>
                <a:blip r:embed="rId3"/>
                <a:stretch>
                  <a:fillRect l="-1051"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1862625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34A4-A2B2-BEF8-FE55-95E662DFB0D7}"/>
              </a:ext>
            </a:extLst>
          </p:cNvPr>
          <p:cNvSpPr>
            <a:spLocks noGrp="1"/>
          </p:cNvSpPr>
          <p:nvPr>
            <p:ph type="ctrTitle"/>
          </p:nvPr>
        </p:nvSpPr>
        <p:spPr>
          <a:xfrm>
            <a:off x="694478" y="373225"/>
            <a:ext cx="8692323" cy="3362426"/>
          </a:xfrm>
        </p:spPr>
        <p:txBody>
          <a:bodyPr anchor="b">
            <a:normAutofit/>
          </a:bodyPr>
          <a:lstStyle/>
          <a:p>
            <a:pPr algn="l"/>
            <a:r>
              <a:rPr lang="en-US" sz="5458" b="1" dirty="0"/>
              <a:t>Using Backpropagation LSTM learns long-term dependencies more effectively</a:t>
            </a:r>
            <a:br>
              <a:rPr lang="en-US" sz="5458" b="1" dirty="0"/>
            </a:br>
            <a:endParaRPr lang="en-US" sz="5458" b="1" dirty="0"/>
          </a:p>
        </p:txBody>
      </p:sp>
      <p:pic>
        <p:nvPicPr>
          <p:cNvPr id="4" name="Picture 3">
            <a:extLst>
              <a:ext uri="{FF2B5EF4-FFF2-40B4-BE49-F238E27FC236}">
                <a16:creationId xmlns:a16="http://schemas.microsoft.com/office/drawing/2014/main" id="{3FA6269F-DBDC-A65C-6D57-8708493A48B8}"/>
              </a:ext>
            </a:extLst>
          </p:cNvPr>
          <p:cNvPicPr>
            <a:picLocks noChangeAspect="1"/>
          </p:cNvPicPr>
          <p:nvPr/>
        </p:nvPicPr>
        <p:blipFill>
          <a:blip r:embed="rId2"/>
          <a:stretch>
            <a:fillRect/>
          </a:stretch>
        </p:blipFill>
        <p:spPr>
          <a:xfrm>
            <a:off x="5422900" y="2397420"/>
            <a:ext cx="4091267" cy="2676462"/>
          </a:xfrm>
          <a:prstGeom prst="rect">
            <a:avLst/>
          </a:prstGeom>
        </p:spPr>
      </p:pic>
    </p:spTree>
    <p:extLst>
      <p:ext uri="{BB962C8B-B14F-4D97-AF65-F5344CB8AC3E}">
        <p14:creationId xmlns:p14="http://schemas.microsoft.com/office/powerpoint/2010/main" val="204872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E103551-A22D-716D-9BFA-D25495CEA625}"/>
              </a:ext>
            </a:extLst>
          </p:cNvPr>
          <p:cNvPicPr>
            <a:picLocks noChangeAspect="1"/>
          </p:cNvPicPr>
          <p:nvPr/>
        </p:nvPicPr>
        <p:blipFill>
          <a:blip r:embed="rId2"/>
          <a:stretch>
            <a:fillRect/>
          </a:stretch>
        </p:blipFill>
        <p:spPr>
          <a:xfrm>
            <a:off x="1533887" y="388646"/>
            <a:ext cx="7016026" cy="4893257"/>
          </a:xfrm>
          <a:prstGeom prst="rect">
            <a:avLst/>
          </a:prstGeom>
        </p:spPr>
      </p:pic>
    </p:spTree>
    <p:extLst>
      <p:ext uri="{BB962C8B-B14F-4D97-AF65-F5344CB8AC3E}">
        <p14:creationId xmlns:p14="http://schemas.microsoft.com/office/powerpoint/2010/main" val="1897366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54E1C-9A9C-F6FE-9967-56712CF1639D}"/>
              </a:ext>
            </a:extLst>
          </p:cNvPr>
          <p:cNvPicPr>
            <a:picLocks noChangeAspect="1"/>
          </p:cNvPicPr>
          <p:nvPr/>
        </p:nvPicPr>
        <p:blipFill>
          <a:blip r:embed="rId2"/>
          <a:stretch>
            <a:fillRect/>
          </a:stretch>
        </p:blipFill>
        <p:spPr>
          <a:xfrm>
            <a:off x="927100" y="177098"/>
            <a:ext cx="7315200" cy="5042517"/>
          </a:xfrm>
          <a:prstGeom prst="rect">
            <a:avLst/>
          </a:prstGeom>
        </p:spPr>
      </p:pic>
      <p:sp>
        <p:nvSpPr>
          <p:cNvPr id="4" name="Rectangle 3">
            <a:extLst>
              <a:ext uri="{FF2B5EF4-FFF2-40B4-BE49-F238E27FC236}">
                <a16:creationId xmlns:a16="http://schemas.microsoft.com/office/drawing/2014/main" id="{E9D402B3-E8B5-2956-34CC-0163117F92E7}"/>
              </a:ext>
            </a:extLst>
          </p:cNvPr>
          <p:cNvSpPr/>
          <p:nvPr/>
        </p:nvSpPr>
        <p:spPr>
          <a:xfrm>
            <a:off x="7556500" y="177098"/>
            <a:ext cx="762000" cy="524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1877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E452B-8E33-83AA-B774-4A0343BC976D}"/>
              </a:ext>
            </a:extLst>
          </p:cNvPr>
          <p:cNvPicPr>
            <a:picLocks noChangeAspect="1"/>
          </p:cNvPicPr>
          <p:nvPr/>
        </p:nvPicPr>
        <p:blipFill>
          <a:blip r:embed="rId2"/>
          <a:stretch>
            <a:fillRect/>
          </a:stretch>
        </p:blipFill>
        <p:spPr>
          <a:xfrm>
            <a:off x="1231900" y="396875"/>
            <a:ext cx="7048574" cy="5034697"/>
          </a:xfrm>
          <a:prstGeom prst="rect">
            <a:avLst/>
          </a:prstGeom>
        </p:spPr>
      </p:pic>
      <p:sp>
        <p:nvSpPr>
          <p:cNvPr id="4" name="Rectangle 3">
            <a:extLst>
              <a:ext uri="{FF2B5EF4-FFF2-40B4-BE49-F238E27FC236}">
                <a16:creationId xmlns:a16="http://schemas.microsoft.com/office/drawing/2014/main" id="{7F27A7C3-D9A3-DE6E-251F-D5A7BF69ED52}"/>
              </a:ext>
            </a:extLst>
          </p:cNvPr>
          <p:cNvSpPr/>
          <p:nvPr/>
        </p:nvSpPr>
        <p:spPr>
          <a:xfrm>
            <a:off x="7480300" y="320675"/>
            <a:ext cx="903408" cy="5987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A45E1F-33C1-5ACC-954C-EC4FC298BAA2}"/>
              </a:ext>
            </a:extLst>
          </p:cNvPr>
          <p:cNvSpPr/>
          <p:nvPr/>
        </p:nvSpPr>
        <p:spPr>
          <a:xfrm>
            <a:off x="7175500" y="4587875"/>
            <a:ext cx="1905000" cy="5987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286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2A8364-E8F7-5D35-D52A-690EDB78339C}"/>
              </a:ext>
            </a:extLst>
          </p:cNvPr>
          <p:cNvSpPr txBox="1">
            <a:spLocks/>
          </p:cNvSpPr>
          <p:nvPr/>
        </p:nvSpPr>
        <p:spPr>
          <a:xfrm>
            <a:off x="-292100" y="183147"/>
            <a:ext cx="9020656" cy="1395572"/>
          </a:xfrm>
          <a:prstGeom prst="rect">
            <a:avLst/>
          </a:prstGeom>
        </p:spPr>
        <p:txBody>
          <a:bodyPr vert="horz" lIns="75607" tIns="37804" rIns="75607" bIns="37804" rtlCol="0" anchor="b">
            <a:normAutofit/>
          </a:bodyPr>
          <a:lstStyle>
            <a:lvl1pPr algn="l" defTabSz="756117" rtl="0" eaLnBrk="1" latinLnBrk="0" hangingPunct="1">
              <a:lnSpc>
                <a:spcPct val="90000"/>
              </a:lnSpc>
              <a:spcBef>
                <a:spcPct val="0"/>
              </a:spcBef>
              <a:buNone/>
              <a:defRPr sz="3638" kern="1200">
                <a:solidFill>
                  <a:schemeClr val="tx1"/>
                </a:solidFill>
                <a:latin typeface="+mj-lt"/>
                <a:ea typeface="+mj-ea"/>
                <a:cs typeface="+mj-cs"/>
              </a:defRPr>
            </a:lvl1pPr>
          </a:lstStyle>
          <a:p>
            <a:pPr algn="ctr"/>
            <a:r>
              <a:rPr lang="en-US" sz="4631"/>
              <a:t>1. </a:t>
            </a:r>
            <a:r>
              <a:rPr lang="en-US" sz="4631" b="1"/>
              <a:t>Gradient of Loss with Respect to Hidden State</a:t>
            </a:r>
            <a:endParaRPr lang="en-US" sz="4631"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B4579F8-6027-64BD-4E98-0D752313EEB7}"/>
                  </a:ext>
                </a:extLst>
              </p:cNvPr>
              <p:cNvSpPr txBox="1"/>
              <p:nvPr/>
            </p:nvSpPr>
            <p:spPr>
              <a:xfrm>
                <a:off x="522223" y="2135254"/>
                <a:ext cx="5186722" cy="664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𝒅</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𝒉</m:t>
                          </m:r>
                        </m:e>
                        <m:sub>
                          <m:r>
                            <a:rPr lang="en-US" b="1" i="0">
                              <a:solidFill>
                                <a:srgbClr val="FF0000"/>
                              </a:solidFill>
                              <a:latin typeface="Cambria Math" panose="02040503050406030204" pitchFamily="18" charset="0"/>
                            </a:rPr>
                            <m:t>𝟐</m:t>
                          </m:r>
                        </m:sub>
                      </m:sSub>
                      <m:r>
                        <a:rPr lang="en-US" b="1" i="0">
                          <a:solidFill>
                            <a:srgbClr val="FF0000"/>
                          </a:solidFill>
                          <a:latin typeface="Cambria Math" panose="02040503050406030204" pitchFamily="18" charset="0"/>
                        </a:rPr>
                        <m:t>=</m:t>
                      </m:r>
                      <m:f>
                        <m:fPr>
                          <m:ctrlPr>
                            <a:rPr lang="en-US"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𝑳</m:t>
                          </m:r>
                        </m:num>
                        <m:den>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𝒉</m:t>
                              </m:r>
                            </m:e>
                            <m:sub>
                              <m:r>
                                <a:rPr lang="en-US" b="1" i="0">
                                  <a:solidFill>
                                    <a:srgbClr val="FF0000"/>
                                  </a:solidFill>
                                  <a:latin typeface="Cambria Math" panose="02040503050406030204" pitchFamily="18" charset="0"/>
                                </a:rPr>
                                <m:t>𝟐</m:t>
                              </m:r>
                            </m:sub>
                          </m:sSub>
                        </m:den>
                      </m:f>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𝒉</m:t>
                          </m:r>
                        </m:e>
                        <m:sub>
                          <m:r>
                            <a:rPr lang="en-US" b="1" i="0">
                              <a:solidFill>
                                <a:srgbClr val="FF0000"/>
                              </a:solidFill>
                              <a:latin typeface="Cambria Math" panose="02040503050406030204" pitchFamily="18" charset="0"/>
                            </a:rPr>
                            <m:t>𝟐</m:t>
                          </m:r>
                        </m:sub>
                      </m:sSub>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𝒚</m:t>
                          </m:r>
                        </m:e>
                        <m:sub>
                          <m:r>
                            <a:rPr lang="en-US" b="1" i="0">
                              <a:solidFill>
                                <a:srgbClr val="FF0000"/>
                              </a:solidFill>
                              <a:latin typeface="Cambria Math" panose="02040503050406030204" pitchFamily="18" charset="0"/>
                            </a:rPr>
                            <m:t>𝟐</m:t>
                          </m:r>
                        </m:sub>
                      </m:sSub>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𝟎𝟏𝟎𝟓𝟓𝟏𝟐𝟕𝟏𝟖</m:t>
                      </m:r>
                      <m:r>
                        <a:rPr lang="en-US" b="1" i="0">
                          <a:solidFill>
                            <a:srgbClr val="FF0000"/>
                          </a:solidFill>
                          <a:latin typeface="Cambria Math" panose="02040503050406030204" pitchFamily="18" charset="0"/>
                        </a:rPr>
                        <m:t>.</m:t>
                      </m:r>
                    </m:oMath>
                  </m:oMathPara>
                </a14:m>
                <a:endParaRPr lang="en-US" b="1" dirty="0">
                  <a:solidFill>
                    <a:srgbClr val="FF0000"/>
                  </a:solidFill>
                </a:endParaRPr>
              </a:p>
            </p:txBody>
          </p:sp>
        </mc:Choice>
        <mc:Fallback>
          <p:sp>
            <p:nvSpPr>
              <p:cNvPr id="6" name="TextBox 5">
                <a:extLst>
                  <a:ext uri="{FF2B5EF4-FFF2-40B4-BE49-F238E27FC236}">
                    <a16:creationId xmlns:a16="http://schemas.microsoft.com/office/drawing/2014/main" id="{7B4579F8-6027-64BD-4E98-0D752313EEB7}"/>
                  </a:ext>
                </a:extLst>
              </p:cNvPr>
              <p:cNvSpPr txBox="1">
                <a:spLocks noRot="1" noChangeAspect="1" noMove="1" noResize="1" noEditPoints="1" noAdjustHandles="1" noChangeArrowheads="1" noChangeShapeType="1" noTextEdit="1"/>
              </p:cNvSpPr>
              <p:nvPr/>
            </p:nvSpPr>
            <p:spPr>
              <a:xfrm>
                <a:off x="522223" y="2135254"/>
                <a:ext cx="5186722" cy="664349"/>
              </a:xfrm>
              <a:prstGeom prst="rect">
                <a:avLst/>
              </a:prstGeom>
              <a:blipFill>
                <a:blip r:embed="rId2"/>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C84DED6-9750-ECFA-D6A4-45BE251FED73}"/>
              </a:ext>
            </a:extLst>
          </p:cNvPr>
          <p:cNvPicPr>
            <a:picLocks noChangeAspect="1"/>
          </p:cNvPicPr>
          <p:nvPr/>
        </p:nvPicPr>
        <p:blipFill>
          <a:blip r:embed="rId3"/>
          <a:stretch>
            <a:fillRect/>
          </a:stretch>
        </p:blipFill>
        <p:spPr>
          <a:xfrm>
            <a:off x="5675033" y="1851595"/>
            <a:ext cx="4091267" cy="2676462"/>
          </a:xfrm>
          <a:prstGeom prst="rect">
            <a:avLst/>
          </a:prstGeom>
        </p:spPr>
      </p:pic>
      <p:pic>
        <p:nvPicPr>
          <p:cNvPr id="9" name="Picture 8">
            <a:extLst>
              <a:ext uri="{FF2B5EF4-FFF2-40B4-BE49-F238E27FC236}">
                <a16:creationId xmlns:a16="http://schemas.microsoft.com/office/drawing/2014/main" id="{F9AC3B12-44FC-8704-CE8E-319211167135}"/>
              </a:ext>
            </a:extLst>
          </p:cNvPr>
          <p:cNvPicPr>
            <a:picLocks noChangeAspect="1"/>
          </p:cNvPicPr>
          <p:nvPr/>
        </p:nvPicPr>
        <p:blipFill>
          <a:blip r:embed="rId4"/>
          <a:stretch>
            <a:fillRect/>
          </a:stretch>
        </p:blipFill>
        <p:spPr>
          <a:xfrm>
            <a:off x="3115584" y="3521075"/>
            <a:ext cx="1692773" cy="1856063"/>
          </a:xfrm>
          <a:prstGeom prst="rect">
            <a:avLst/>
          </a:prstGeom>
        </p:spPr>
      </p:pic>
    </p:spTree>
    <p:extLst>
      <p:ext uri="{BB962C8B-B14F-4D97-AF65-F5344CB8AC3E}">
        <p14:creationId xmlns:p14="http://schemas.microsoft.com/office/powerpoint/2010/main" val="3778416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292100" y="183147"/>
            <a:ext cx="9020656" cy="1395572"/>
          </a:xfrm>
        </p:spPr>
        <p:txBody>
          <a:bodyPr vert="horz" lIns="75607" tIns="37804" rIns="75607" bIns="37804" rtlCol="0" anchor="b">
            <a:normAutofit/>
          </a:bodyPr>
          <a:lstStyle/>
          <a:p>
            <a:pPr algn="ctr"/>
            <a:r>
              <a:rPr lang="en-US" sz="4631" dirty="0"/>
              <a:t>1. </a:t>
            </a:r>
            <a:r>
              <a:rPr lang="en-US" sz="4631" b="1" dirty="0"/>
              <a:t>Gradient of Loss with Respect to Hidden State</a:t>
            </a:r>
            <a:endParaRPr lang="en-US" sz="4631" dirty="0"/>
          </a:p>
        </p:txBody>
      </p:sp>
      <p:pic>
        <p:nvPicPr>
          <p:cNvPr id="4" name="Picture 3" descr="A black text on a white background&#10;&#10;Description automatically generated">
            <a:extLst>
              <a:ext uri="{FF2B5EF4-FFF2-40B4-BE49-F238E27FC236}">
                <a16:creationId xmlns:a16="http://schemas.microsoft.com/office/drawing/2014/main" id="{1871E42D-043C-494D-EA14-6A44F7376DE6}"/>
              </a:ext>
            </a:extLst>
          </p:cNvPr>
          <p:cNvPicPr>
            <a:picLocks noChangeAspect="1"/>
          </p:cNvPicPr>
          <p:nvPr/>
        </p:nvPicPr>
        <p:blipFill>
          <a:blip r:embed="rId2"/>
          <a:stretch>
            <a:fillRect/>
          </a:stretch>
        </p:blipFill>
        <p:spPr>
          <a:xfrm>
            <a:off x="622300" y="1859908"/>
            <a:ext cx="5324585" cy="1599076"/>
          </a:xfrm>
          <a:prstGeom prst="rect">
            <a:avLst/>
          </a:prstGeom>
        </p:spPr>
      </p:pic>
      <p:pic>
        <p:nvPicPr>
          <p:cNvPr id="5" name="Picture 4">
            <a:extLst>
              <a:ext uri="{FF2B5EF4-FFF2-40B4-BE49-F238E27FC236}">
                <a16:creationId xmlns:a16="http://schemas.microsoft.com/office/drawing/2014/main" id="{6A002571-311F-4334-E644-EB32C2EF0872}"/>
              </a:ext>
            </a:extLst>
          </p:cNvPr>
          <p:cNvPicPr>
            <a:picLocks noChangeAspect="1"/>
          </p:cNvPicPr>
          <p:nvPr/>
        </p:nvPicPr>
        <p:blipFill>
          <a:blip r:embed="rId3"/>
          <a:stretch>
            <a:fillRect/>
          </a:stretch>
        </p:blipFill>
        <p:spPr>
          <a:xfrm>
            <a:off x="6108700" y="1578719"/>
            <a:ext cx="3705080" cy="1880265"/>
          </a:xfrm>
          <a:prstGeom prst="rect">
            <a:avLst/>
          </a:prstGeom>
        </p:spPr>
      </p:pic>
    </p:spTree>
    <p:extLst>
      <p:ext uri="{BB962C8B-B14F-4D97-AF65-F5344CB8AC3E}">
        <p14:creationId xmlns:p14="http://schemas.microsoft.com/office/powerpoint/2010/main" val="419496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88900" y="166308"/>
            <a:ext cx="9020656" cy="1395572"/>
          </a:xfrm>
        </p:spPr>
        <p:txBody>
          <a:bodyPr vert="horz" lIns="75607" tIns="37804" rIns="75607" bIns="37804" rtlCol="0" anchor="b">
            <a:normAutofit/>
          </a:bodyPr>
          <a:lstStyle/>
          <a:p>
            <a:pPr algn="ctr"/>
            <a:r>
              <a:rPr lang="en-US" sz="4631" dirty="0"/>
              <a:t>2. </a:t>
            </a:r>
            <a:r>
              <a:rPr lang="en-US" sz="4631" b="1" dirty="0"/>
              <a:t>Gradient of Loss with Respect to output gate</a:t>
            </a:r>
            <a:endParaRPr lang="en-US" sz="4631" dirty="0"/>
          </a:p>
        </p:txBody>
      </p:sp>
      <p:pic>
        <p:nvPicPr>
          <p:cNvPr id="6" name="Picture 5">
            <a:extLst>
              <a:ext uri="{FF2B5EF4-FFF2-40B4-BE49-F238E27FC236}">
                <a16:creationId xmlns:a16="http://schemas.microsoft.com/office/drawing/2014/main" id="{F614F804-C3E7-093E-11D9-05C5AF8C278B}"/>
              </a:ext>
            </a:extLst>
          </p:cNvPr>
          <p:cNvPicPr>
            <a:picLocks noChangeAspect="1"/>
          </p:cNvPicPr>
          <p:nvPr/>
        </p:nvPicPr>
        <p:blipFill>
          <a:blip r:embed="rId2"/>
          <a:stretch>
            <a:fillRect/>
          </a:stretch>
        </p:blipFill>
        <p:spPr>
          <a:xfrm>
            <a:off x="7251700" y="913691"/>
            <a:ext cx="2117818" cy="738450"/>
          </a:xfrm>
          <a:prstGeom prst="rect">
            <a:avLst/>
          </a:prstGeom>
        </p:spPr>
      </p:pic>
      <p:sp>
        <p:nvSpPr>
          <p:cNvPr id="4" name="TextBox 3">
            <a:extLst>
              <a:ext uri="{FF2B5EF4-FFF2-40B4-BE49-F238E27FC236}">
                <a16:creationId xmlns:a16="http://schemas.microsoft.com/office/drawing/2014/main" id="{C55C3CA0-4F01-E574-8EF4-EF63893FF6CA}"/>
              </a:ext>
            </a:extLst>
          </p:cNvPr>
          <p:cNvSpPr txBox="1"/>
          <p:nvPr/>
        </p:nvSpPr>
        <p:spPr>
          <a:xfrm>
            <a:off x="558800" y="3901823"/>
            <a:ext cx="9525000" cy="1200329"/>
          </a:xfrm>
          <a:prstGeom prst="rect">
            <a:avLst/>
          </a:prstGeom>
          <a:noFill/>
        </p:spPr>
        <p:txBody>
          <a:bodyPr wrap="square">
            <a:spAutoFit/>
          </a:bodyPr>
          <a:lstStyle/>
          <a:p>
            <a:r>
              <a:rPr lang="en-US" dirty="0"/>
              <a:t>From ℎ2=𝑜2tanh⁡(𝑐2)</a:t>
            </a:r>
          </a:p>
          <a:p>
            <a:r>
              <a:rPr lang="en-US" dirty="0"/>
              <a:t>         𝑑h2 w.r.t to o =(𝑑l </a:t>
            </a:r>
            <a:r>
              <a:rPr lang="en-US" dirty="0" err="1"/>
              <a:t>w.r.t.</a:t>
            </a:r>
            <a:r>
              <a:rPr lang="en-US" dirty="0"/>
              <a:t> to ℎ2)⋅tanh⁡(𝑐2)=</a:t>
            </a:r>
            <a:r>
              <a:rPr lang="en-US" b="1" dirty="0">
                <a:solidFill>
                  <a:srgbClr val="FF0000"/>
                </a:solidFill>
                <a:latin typeface="Cambria Math" panose="02040503050406030204" pitchFamily="18" charset="0"/>
              </a:rPr>
              <a:t>0.0105512718</a:t>
            </a:r>
            <a:r>
              <a:rPr lang="en-US" dirty="0"/>
              <a:t>⋅0.0222621381=</a:t>
            </a:r>
            <a:r>
              <a:rPr lang="en-US" dirty="0">
                <a:solidFill>
                  <a:schemeClr val="accent5">
                    <a:lumMod val="75000"/>
                  </a:schemeClr>
                </a:solidFill>
              </a:rPr>
              <a:t>0.0002344809</a:t>
            </a:r>
            <a:r>
              <a:rPr lang="en-US" dirty="0"/>
              <a:t>.</a:t>
            </a:r>
          </a:p>
          <a:p>
            <a:endParaRPr lang="en-US" dirty="0"/>
          </a:p>
          <a:p>
            <a:r>
              <a:rPr lang="en-US" dirty="0"/>
              <a:t>𝑑(z𝑜2)=</a:t>
            </a:r>
            <a:r>
              <a:rPr lang="en-US" dirty="0">
                <a:solidFill>
                  <a:srgbClr val="FF0000"/>
                </a:solidFill>
              </a:rPr>
              <a:t>𝑑𝑜2</a:t>
            </a:r>
            <a:r>
              <a:rPr lang="en-US" dirty="0"/>
              <a:t>⋅𝑜2(1−𝑜2)=</a:t>
            </a:r>
            <a:r>
              <a:rPr lang="en-US" dirty="0">
                <a:solidFill>
                  <a:schemeClr val="accent5">
                    <a:lumMod val="75000"/>
                  </a:schemeClr>
                </a:solidFill>
              </a:rPr>
              <a:t>0.0002344809</a:t>
            </a:r>
            <a:r>
              <a:rPr lang="en-US" dirty="0"/>
              <a:t>⋅0.4739430124⋅(1−0.4739430124)≈</a:t>
            </a:r>
            <a:r>
              <a:rPr lang="en-US" dirty="0">
                <a:highlight>
                  <a:srgbClr val="FFFF00"/>
                </a:highlight>
              </a:rPr>
              <a:t>0.000147501353.</a:t>
            </a:r>
          </a:p>
        </p:txBody>
      </p:sp>
      <p:pic>
        <p:nvPicPr>
          <p:cNvPr id="7" name="Picture 6">
            <a:extLst>
              <a:ext uri="{FF2B5EF4-FFF2-40B4-BE49-F238E27FC236}">
                <a16:creationId xmlns:a16="http://schemas.microsoft.com/office/drawing/2014/main" id="{95A655E6-75C6-C7C5-649F-3B8C4D6B3A10}"/>
              </a:ext>
            </a:extLst>
          </p:cNvPr>
          <p:cNvPicPr>
            <a:picLocks noChangeAspect="1"/>
          </p:cNvPicPr>
          <p:nvPr/>
        </p:nvPicPr>
        <p:blipFill>
          <a:blip r:embed="rId3"/>
          <a:stretch>
            <a:fillRect/>
          </a:stretch>
        </p:blipFill>
        <p:spPr>
          <a:xfrm>
            <a:off x="5792989" y="1552142"/>
            <a:ext cx="4091267" cy="2676462"/>
          </a:xfrm>
          <a:prstGeom prst="rect">
            <a:avLst/>
          </a:prstGeom>
        </p:spPr>
      </p:pic>
      <p:pic>
        <p:nvPicPr>
          <p:cNvPr id="8" name="Picture 7">
            <a:extLst>
              <a:ext uri="{FF2B5EF4-FFF2-40B4-BE49-F238E27FC236}">
                <a16:creationId xmlns:a16="http://schemas.microsoft.com/office/drawing/2014/main" id="{9B636866-08BF-8C28-1776-DEABAB041475}"/>
              </a:ext>
            </a:extLst>
          </p:cNvPr>
          <p:cNvPicPr>
            <a:picLocks noChangeAspect="1"/>
          </p:cNvPicPr>
          <p:nvPr/>
        </p:nvPicPr>
        <p:blipFill>
          <a:blip r:embed="rId4"/>
          <a:stretch>
            <a:fillRect/>
          </a:stretch>
        </p:blipFill>
        <p:spPr>
          <a:xfrm>
            <a:off x="850900" y="925350"/>
            <a:ext cx="2362200" cy="2590065"/>
          </a:xfrm>
          <a:prstGeom prst="rect">
            <a:avLst/>
          </a:prstGeom>
        </p:spPr>
      </p:pic>
      <p:sp>
        <p:nvSpPr>
          <p:cNvPr id="9" name="Arrow: Right 8">
            <a:extLst>
              <a:ext uri="{FF2B5EF4-FFF2-40B4-BE49-F238E27FC236}">
                <a16:creationId xmlns:a16="http://schemas.microsoft.com/office/drawing/2014/main" id="{D4CD07F3-48BF-9DDB-C99D-B182BD19B982}"/>
              </a:ext>
            </a:extLst>
          </p:cNvPr>
          <p:cNvSpPr/>
          <p:nvPr/>
        </p:nvSpPr>
        <p:spPr>
          <a:xfrm>
            <a:off x="270746" y="2039844"/>
            <a:ext cx="457200"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DA14C53E-CDDB-2EF2-2572-6107B353BCF3}"/>
              </a:ext>
            </a:extLst>
          </p:cNvPr>
          <p:cNvSpPr/>
          <p:nvPr/>
        </p:nvSpPr>
        <p:spPr>
          <a:xfrm>
            <a:off x="88900" y="4275063"/>
            <a:ext cx="457200"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36E5E0D6-48B8-0ED9-6F83-3D2B0C78530A}"/>
              </a:ext>
            </a:extLst>
          </p:cNvPr>
          <p:cNvSpPr/>
          <p:nvPr/>
        </p:nvSpPr>
        <p:spPr>
          <a:xfrm>
            <a:off x="317500" y="2378075"/>
            <a:ext cx="533400" cy="29213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525053B0-8A99-C1A6-8E8B-337D05743652}"/>
              </a:ext>
            </a:extLst>
          </p:cNvPr>
          <p:cNvSpPr/>
          <p:nvPr/>
        </p:nvSpPr>
        <p:spPr>
          <a:xfrm>
            <a:off x="36392" y="4797674"/>
            <a:ext cx="533400" cy="29213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7769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11A48E-30EF-2400-32C2-BA5F93E2B217}"/>
              </a:ext>
            </a:extLst>
          </p:cNvPr>
          <p:cNvPicPr>
            <a:picLocks noChangeAspect="1"/>
          </p:cNvPicPr>
          <p:nvPr/>
        </p:nvPicPr>
        <p:blipFill>
          <a:blip r:embed="rId2"/>
          <a:stretch>
            <a:fillRect/>
          </a:stretch>
        </p:blipFill>
        <p:spPr>
          <a:xfrm>
            <a:off x="622300" y="1362991"/>
            <a:ext cx="2362200" cy="2590065"/>
          </a:xfrm>
          <a:prstGeom prst="rect">
            <a:avLst/>
          </a:prstGeom>
        </p:spPr>
      </p:pic>
      <p:pic>
        <p:nvPicPr>
          <p:cNvPr id="4" name="Picture 3">
            <a:extLst>
              <a:ext uri="{FF2B5EF4-FFF2-40B4-BE49-F238E27FC236}">
                <a16:creationId xmlns:a16="http://schemas.microsoft.com/office/drawing/2014/main" id="{9AF71998-A574-A7D8-39FE-1230C8C11358}"/>
              </a:ext>
            </a:extLst>
          </p:cNvPr>
          <p:cNvPicPr>
            <a:picLocks noChangeAspect="1"/>
          </p:cNvPicPr>
          <p:nvPr/>
        </p:nvPicPr>
        <p:blipFill>
          <a:blip r:embed="rId3"/>
          <a:stretch>
            <a:fillRect/>
          </a:stretch>
        </p:blipFill>
        <p:spPr>
          <a:xfrm>
            <a:off x="5792989" y="1552142"/>
            <a:ext cx="4091267" cy="2676462"/>
          </a:xfrm>
          <a:prstGeom prst="rect">
            <a:avLst/>
          </a:prstGeom>
        </p:spPr>
      </p:pic>
      <p:sp>
        <p:nvSpPr>
          <p:cNvPr id="5" name="Arrow: Right 4">
            <a:extLst>
              <a:ext uri="{FF2B5EF4-FFF2-40B4-BE49-F238E27FC236}">
                <a16:creationId xmlns:a16="http://schemas.microsoft.com/office/drawing/2014/main" id="{F2E5548D-5C9B-9954-13CE-364B13C80BFF}"/>
              </a:ext>
            </a:extLst>
          </p:cNvPr>
          <p:cNvSpPr/>
          <p:nvPr/>
        </p:nvSpPr>
        <p:spPr>
          <a:xfrm>
            <a:off x="161017" y="3063875"/>
            <a:ext cx="381000" cy="6605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9A1C9CB-7D0E-EECD-1817-97E3C85E2E41}"/>
              </a:ext>
            </a:extLst>
          </p:cNvPr>
          <p:cNvSpPr txBox="1"/>
          <p:nvPr/>
        </p:nvSpPr>
        <p:spPr>
          <a:xfrm>
            <a:off x="1231900" y="4587875"/>
            <a:ext cx="4265591" cy="646331"/>
          </a:xfrm>
          <a:prstGeom prst="rect">
            <a:avLst/>
          </a:prstGeom>
          <a:noFill/>
        </p:spPr>
        <p:txBody>
          <a:bodyPr wrap="none" rtlCol="0">
            <a:spAutoFit/>
          </a:bodyPr>
          <a:lstStyle/>
          <a:p>
            <a:r>
              <a:rPr lang="en-US" dirty="0"/>
              <a:t>Dl </a:t>
            </a:r>
            <a:r>
              <a:rPr lang="en-US" dirty="0" err="1"/>
              <a:t>w.r.</a:t>
            </a:r>
            <a:r>
              <a:rPr lang="en-US" dirty="0"/>
              <a:t> to x   =-0.3*</a:t>
            </a:r>
            <a:r>
              <a:rPr lang="en-US" dirty="0">
                <a:highlight>
                  <a:srgbClr val="FFFF00"/>
                </a:highlight>
              </a:rPr>
              <a:t> 0.000147501353</a:t>
            </a:r>
          </a:p>
          <a:p>
            <a:r>
              <a:rPr lang="en-US" dirty="0">
                <a:highlight>
                  <a:srgbClr val="FFFF00"/>
                </a:highlight>
                <a:sym typeface="Wingdings" panose="05000000000000000000" pitchFamily="2" charset="2"/>
              </a:rPr>
              <a:t> W =old weight – learning rate *dl w.r.t w</a:t>
            </a:r>
            <a:endParaRPr lang="en-US" dirty="0"/>
          </a:p>
        </p:txBody>
      </p:sp>
    </p:spTree>
    <p:extLst>
      <p:ext uri="{BB962C8B-B14F-4D97-AF65-F5344CB8AC3E}">
        <p14:creationId xmlns:p14="http://schemas.microsoft.com/office/powerpoint/2010/main" val="60563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899090-36B4-5640-FC56-54BFED91699F}"/>
              </a:ext>
            </a:extLst>
          </p:cNvPr>
          <p:cNvPicPr>
            <a:picLocks noChangeAspect="1"/>
          </p:cNvPicPr>
          <p:nvPr/>
        </p:nvPicPr>
        <p:blipFill>
          <a:blip r:embed="rId2"/>
          <a:stretch>
            <a:fillRect/>
          </a:stretch>
        </p:blipFill>
        <p:spPr>
          <a:xfrm>
            <a:off x="622300" y="1346932"/>
            <a:ext cx="7972852" cy="1395572"/>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4EC16A6-D990-C811-F8C8-707B5F9FA956}"/>
                  </a:ext>
                </a:extLst>
              </p:cNvPr>
              <p:cNvSpPr txBox="1"/>
              <p:nvPr/>
            </p:nvSpPr>
            <p:spPr>
              <a:xfrm>
                <a:off x="319341" y="3960740"/>
                <a:ext cx="8305800" cy="1060868"/>
              </a:xfrm>
              <a:prstGeom prst="rect">
                <a:avLst/>
              </a:prstGeom>
              <a:noFill/>
            </p:spPr>
            <p:txBody>
              <a:bodyPr wrap="square">
                <a:spAutoFit/>
              </a:bodyPr>
              <a:lstStyle/>
              <a:p>
                <a:pPr>
                  <a:buNone/>
                </a:pPr>
                <a:r>
                  <a:rPr lang="en-US" dirty="0"/>
                  <a:t>Contribution to cell from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2</m:t>
                        </m:r>
                      </m:sub>
                    </m:sSub>
                  </m:oMath>
                </a14:m>
                <a:r>
                  <a:rPr lang="ar-AE" dirty="0"/>
                  <a:t>-</a:t>
                </a:r>
                <a:r>
                  <a:rPr lang="en-US" dirty="0"/>
                  <a:t>path:</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sSubSup>
                        <m:sSubSupPr>
                          <m:ctrlPr>
                            <a:rPr lang="ar-AE" i="1">
                              <a:latin typeface="Cambria Math" panose="02040503050406030204" pitchFamily="18" charset="0"/>
                            </a:rPr>
                          </m:ctrlPr>
                        </m:sSubSupPr>
                        <m:e>
                          <m:r>
                            <a:rPr lang="ar-AE" i="1">
                              <a:latin typeface="Cambria Math" panose="02040503050406030204" pitchFamily="18" charset="0"/>
                            </a:rPr>
                            <m:t>𝑐</m:t>
                          </m:r>
                        </m:e>
                        <m:sub>
                          <m:r>
                            <a:rPr lang="ar-AE" i="0">
                              <a:latin typeface="Cambria Math" panose="02040503050406030204" pitchFamily="18" charset="0"/>
                            </a:rPr>
                            <m:t>2</m:t>
                          </m:r>
                        </m:sub>
                        <m:sup/>
                      </m:sSubSup>
                      <m:r>
                        <a:rPr lang="ar-AE" b="0" i="0">
                          <a:latin typeface="Cambria Math" panose="02040503050406030204" pitchFamily="18" charset="0"/>
                        </a:rPr>
                        <m:t>=</m:t>
                      </m:r>
                      <m:r>
                        <a:rPr lang="ar-AE" b="0" i="1">
                          <a:latin typeface="Cambria Math" panose="02040503050406030204" pitchFamily="18" charset="0"/>
                        </a:rPr>
                        <m:t>𝑑</m:t>
                      </m:r>
                      <m:sSub>
                        <m:sSubPr>
                          <m:ctrlPr>
                            <a:rPr lang="ar-AE" b="0" i="1">
                              <a:latin typeface="Cambria Math" panose="02040503050406030204" pitchFamily="18" charset="0"/>
                            </a:rPr>
                          </m:ctrlPr>
                        </m:sSubPr>
                        <m:e>
                          <m:r>
                            <a:rPr lang="ar-AE" b="0" i="1">
                              <a:latin typeface="Cambria Math" panose="02040503050406030204" pitchFamily="18" charset="0"/>
                            </a:rPr>
                            <m:t>h</m:t>
                          </m:r>
                        </m:e>
                        <m:sub>
                          <m:r>
                            <a:rPr lang="ar-AE" b="0" i="0">
                              <a:latin typeface="Cambria Math" panose="02040503050406030204" pitchFamily="18" charset="0"/>
                            </a:rPr>
                            <m:t>2</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𝑜</m:t>
                          </m:r>
                        </m:e>
                        <m:sub>
                          <m:r>
                            <a:rPr lang="ar-AE" b="0" i="0">
                              <a:latin typeface="Cambria Math" panose="02040503050406030204" pitchFamily="18" charset="0"/>
                            </a:rPr>
                            <m:t>2</m:t>
                          </m:r>
                        </m:sub>
                      </m:sSub>
                      <m:r>
                        <a:rPr lang="ar-AE" b="0" i="0">
                          <a:latin typeface="Cambria Math" panose="02040503050406030204" pitchFamily="18" charset="0"/>
                        </a:rPr>
                        <m:t>⋅</m:t>
                      </m:r>
                      <m:d>
                        <m:dPr>
                          <m:ctrlPr>
                            <a:rPr lang="ar-AE" b="0" i="1">
                              <a:latin typeface="Cambria Math" panose="02040503050406030204" pitchFamily="18" charset="0"/>
                            </a:rPr>
                          </m:ctrlPr>
                        </m:dPr>
                        <m:e>
                          <m:r>
                            <a:rPr lang="ar-AE" b="0" i="0">
                              <a:latin typeface="Cambria Math" panose="02040503050406030204" pitchFamily="18" charset="0"/>
                            </a:rPr>
                            <m:t>1</m:t>
                          </m:r>
                          <m:r>
                            <a:rPr lang="ar-AE" b="0" i="0">
                              <a:latin typeface="Cambria Math" panose="02040503050406030204" pitchFamily="18" charset="0"/>
                            </a:rPr>
                            <m:t>−</m:t>
                          </m:r>
                          <m:sSup>
                            <m:sSupPr>
                              <m:ctrlPr>
                                <a:rPr lang="ar-AE" b="0" i="1">
                                  <a:latin typeface="Cambria Math" panose="02040503050406030204" pitchFamily="18" charset="0"/>
                                </a:rPr>
                              </m:ctrlPr>
                            </m:sSupPr>
                            <m:e>
                              <m:func>
                                <m:funcPr>
                                  <m:ctrlPr>
                                    <a:rPr lang="ar-AE" b="0" i="1">
                                      <a:latin typeface="Cambria Math" panose="02040503050406030204" pitchFamily="18" charset="0"/>
                                    </a:rPr>
                                  </m:ctrlPr>
                                </m:funcPr>
                                <m:fName>
                                  <m:r>
                                    <m:rPr>
                                      <m:sty m:val="p"/>
                                    </m:rPr>
                                    <a:rPr lang="en-US" b="0" i="0">
                                      <a:latin typeface="Cambria Math" panose="02040503050406030204" pitchFamily="18" charset="0"/>
                                    </a:rPr>
                                    <m:t>tanh</m:t>
                                  </m:r>
                                </m:fName>
                                <m:e/>
                              </m:func>
                            </m:e>
                            <m:sup>
                              <m:r>
                                <a:rPr lang="ar-AE" b="0" i="0">
                                  <a:latin typeface="Cambria Math" panose="02040503050406030204" pitchFamily="18" charset="0"/>
                                </a:rPr>
                                <m:t>2</m:t>
                              </m:r>
                            </m:sup>
                          </m:sSup>
                          <m:d>
                            <m:dPr>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𝑐</m:t>
                                  </m:r>
                                </m:e>
                                <m:sub>
                                  <m:r>
                                    <a:rPr lang="ar-AE" b="0" i="0">
                                      <a:latin typeface="Cambria Math" panose="02040503050406030204" pitchFamily="18" charset="0"/>
                                    </a:rPr>
                                    <m:t>2</m:t>
                                  </m:r>
                                </m:sub>
                              </m:sSub>
                            </m:e>
                          </m:d>
                        </m:e>
                      </m:d>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0105512718</m:t>
                      </m:r>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4739430124</m:t>
                      </m:r>
                      <m:r>
                        <a:rPr lang="ar-AE" b="0" i="0">
                          <a:latin typeface="Cambria Math" panose="02040503050406030204" pitchFamily="18" charset="0"/>
                        </a:rPr>
                        <m:t>⋅</m:t>
                      </m:r>
                      <m:d>
                        <m:dPr>
                          <m:ctrlPr>
                            <a:rPr lang="ar-AE" b="0" i="1">
                              <a:latin typeface="Cambria Math" panose="02040503050406030204" pitchFamily="18" charset="0"/>
                            </a:rPr>
                          </m:ctrlPr>
                        </m:dPr>
                        <m:e>
                          <m:r>
                            <a:rPr lang="ar-AE" b="0" i="0">
                              <a:latin typeface="Cambria Math" panose="02040503050406030204" pitchFamily="18" charset="0"/>
                            </a:rPr>
                            <m:t>1</m:t>
                          </m:r>
                          <m:r>
                            <a:rPr lang="ar-AE" b="0" i="0">
                              <a:latin typeface="Cambria Math" panose="02040503050406030204" pitchFamily="18" charset="0"/>
                            </a:rPr>
                            <m:t>−</m:t>
                          </m:r>
                          <m:sSup>
                            <m:sSupPr>
                              <m:ctrlPr>
                                <a:rPr lang="ar-AE" b="0" i="1">
                                  <a:latin typeface="Cambria Math" panose="02040503050406030204" pitchFamily="18" charset="0"/>
                                </a:rPr>
                              </m:ctrlPr>
                            </m:sSupPr>
                            <m:e>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0222621381</m:t>
                              </m:r>
                            </m:e>
                            <m:sup>
                              <m:r>
                                <a:rPr lang="ar-AE" b="0" i="0">
                                  <a:latin typeface="Cambria Math" panose="02040503050406030204" pitchFamily="18" charset="0"/>
                                </a:rPr>
                                <m:t>2</m:t>
                              </m:r>
                            </m:sup>
                          </m:sSup>
                        </m:e>
                      </m:d>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004998223044</m:t>
                      </m:r>
                      <m:r>
                        <a:rPr lang="ar-AE" b="0" i="0">
                          <a:latin typeface="Cambria Math" panose="02040503050406030204" pitchFamily="18" charset="0"/>
                        </a:rPr>
                        <m:t>.</m:t>
                      </m:r>
                    </m:oMath>
                  </m:oMathPara>
                </a14:m>
                <a:endParaRPr lang="ar-AE" b="0" dirty="0"/>
              </a:p>
            </p:txBody>
          </p:sp>
        </mc:Choice>
        <mc:Fallback>
          <p:sp>
            <p:nvSpPr>
              <p:cNvPr id="6" name="TextBox 5">
                <a:extLst>
                  <a:ext uri="{FF2B5EF4-FFF2-40B4-BE49-F238E27FC236}">
                    <a16:creationId xmlns:a16="http://schemas.microsoft.com/office/drawing/2014/main" id="{F4EC16A6-D990-C811-F8C8-707B5F9FA956}"/>
                  </a:ext>
                </a:extLst>
              </p:cNvPr>
              <p:cNvSpPr txBox="1">
                <a:spLocks noRot="1" noChangeAspect="1" noMove="1" noResize="1" noEditPoints="1" noAdjustHandles="1" noChangeArrowheads="1" noChangeShapeType="1" noTextEdit="1"/>
              </p:cNvSpPr>
              <p:nvPr/>
            </p:nvSpPr>
            <p:spPr>
              <a:xfrm>
                <a:off x="319341" y="3960740"/>
                <a:ext cx="8305800" cy="1060868"/>
              </a:xfrm>
              <a:prstGeom prst="rect">
                <a:avLst/>
              </a:prstGeom>
              <a:blipFill>
                <a:blip r:embed="rId3"/>
                <a:stretch>
                  <a:fillRect l="-587" t="-4023"/>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63500" y="301299"/>
            <a:ext cx="9020656" cy="1395572"/>
          </a:xfrm>
        </p:spPr>
        <p:txBody>
          <a:bodyPr vert="horz" lIns="75607" tIns="37804" rIns="75607" bIns="37804" rtlCol="0" anchor="b">
            <a:normAutofit/>
          </a:bodyPr>
          <a:lstStyle/>
          <a:p>
            <a:pPr algn="ctr"/>
            <a:r>
              <a:rPr lang="en-US" sz="4631" dirty="0"/>
              <a:t>3. </a:t>
            </a:r>
            <a:r>
              <a:rPr lang="en-US" sz="4631" b="1" dirty="0"/>
              <a:t>Gradient of Loss with Respect to the cell state</a:t>
            </a:r>
            <a:endParaRPr lang="en-US" sz="4631" dirty="0"/>
          </a:p>
        </p:txBody>
      </p:sp>
      <p:pic>
        <p:nvPicPr>
          <p:cNvPr id="7" name="Picture 6">
            <a:extLst>
              <a:ext uri="{FF2B5EF4-FFF2-40B4-BE49-F238E27FC236}">
                <a16:creationId xmlns:a16="http://schemas.microsoft.com/office/drawing/2014/main" id="{F6FC783A-EC73-A43A-3F07-231B9434C3EB}"/>
              </a:ext>
            </a:extLst>
          </p:cNvPr>
          <p:cNvPicPr>
            <a:picLocks noChangeAspect="1"/>
          </p:cNvPicPr>
          <p:nvPr/>
        </p:nvPicPr>
        <p:blipFill>
          <a:blip r:embed="rId4"/>
          <a:stretch>
            <a:fillRect/>
          </a:stretch>
        </p:blipFill>
        <p:spPr>
          <a:xfrm>
            <a:off x="5792989" y="1552142"/>
            <a:ext cx="4091267" cy="2676462"/>
          </a:xfrm>
          <a:prstGeom prst="rect">
            <a:avLst/>
          </a:prstGeom>
        </p:spPr>
      </p:pic>
      <p:sp>
        <p:nvSpPr>
          <p:cNvPr id="8" name="TextBox 7">
            <a:extLst>
              <a:ext uri="{FF2B5EF4-FFF2-40B4-BE49-F238E27FC236}">
                <a16:creationId xmlns:a16="http://schemas.microsoft.com/office/drawing/2014/main" id="{8BC9A3AE-08EB-1F35-81F4-6DCC463D32E0}"/>
              </a:ext>
            </a:extLst>
          </p:cNvPr>
          <p:cNvSpPr txBox="1"/>
          <p:nvPr/>
        </p:nvSpPr>
        <p:spPr>
          <a:xfrm>
            <a:off x="850900" y="5197475"/>
            <a:ext cx="5162119" cy="369332"/>
          </a:xfrm>
          <a:prstGeom prst="rect">
            <a:avLst/>
          </a:prstGeom>
          <a:noFill/>
        </p:spPr>
        <p:txBody>
          <a:bodyPr wrap="none" rtlCol="0">
            <a:spAutoFit/>
          </a:bodyPr>
          <a:lstStyle/>
          <a:p>
            <a:r>
              <a:rPr lang="en-US" dirty="0"/>
              <a:t>Dl w.r.t to h      ,        o2                                           tanh2 </a:t>
            </a:r>
          </a:p>
        </p:txBody>
      </p:sp>
    </p:spTree>
    <p:extLst>
      <p:ext uri="{BB962C8B-B14F-4D97-AF65-F5344CB8AC3E}">
        <p14:creationId xmlns:p14="http://schemas.microsoft.com/office/powerpoint/2010/main" val="3119208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88900" y="183147"/>
            <a:ext cx="9020656" cy="1395572"/>
          </a:xfrm>
        </p:spPr>
        <p:txBody>
          <a:bodyPr vert="horz" lIns="75607" tIns="37804" rIns="75607" bIns="37804" rtlCol="0" anchor="b">
            <a:normAutofit/>
          </a:bodyPr>
          <a:lstStyle/>
          <a:p>
            <a:pPr algn="ctr"/>
            <a:r>
              <a:rPr lang="en-US" sz="4631" dirty="0"/>
              <a:t>4. </a:t>
            </a:r>
            <a:r>
              <a:rPr lang="en-US" sz="4631" b="1" dirty="0"/>
              <a:t>Gradient of Loss with Respect to Forget Gate</a:t>
            </a:r>
            <a:endParaRPr lang="en-US" sz="4631" dirty="0"/>
          </a:p>
        </p:txBody>
      </p:sp>
      <p:pic>
        <p:nvPicPr>
          <p:cNvPr id="5" name="Picture 4">
            <a:extLst>
              <a:ext uri="{FF2B5EF4-FFF2-40B4-BE49-F238E27FC236}">
                <a16:creationId xmlns:a16="http://schemas.microsoft.com/office/drawing/2014/main" id="{6A002571-311F-4334-E644-EB32C2EF0872}"/>
              </a:ext>
            </a:extLst>
          </p:cNvPr>
          <p:cNvPicPr>
            <a:picLocks noChangeAspect="1"/>
          </p:cNvPicPr>
          <p:nvPr/>
        </p:nvPicPr>
        <p:blipFill>
          <a:blip r:embed="rId2"/>
          <a:stretch>
            <a:fillRect/>
          </a:stretch>
        </p:blipFill>
        <p:spPr>
          <a:xfrm>
            <a:off x="6255135" y="1311275"/>
            <a:ext cx="3705080" cy="1880265"/>
          </a:xfrm>
          <a:prstGeom prst="rect">
            <a:avLst/>
          </a:prstGeom>
        </p:spPr>
      </p:pic>
      <p:pic>
        <p:nvPicPr>
          <p:cNvPr id="6" name="Picture 5">
            <a:extLst>
              <a:ext uri="{FF2B5EF4-FFF2-40B4-BE49-F238E27FC236}">
                <a16:creationId xmlns:a16="http://schemas.microsoft.com/office/drawing/2014/main" id="{062838FD-0ED6-5AFF-C9E9-F3B594BDA313}"/>
              </a:ext>
            </a:extLst>
          </p:cNvPr>
          <p:cNvPicPr>
            <a:picLocks noChangeAspect="1"/>
          </p:cNvPicPr>
          <p:nvPr/>
        </p:nvPicPr>
        <p:blipFill>
          <a:blip r:embed="rId3"/>
          <a:stretch>
            <a:fillRect/>
          </a:stretch>
        </p:blipFill>
        <p:spPr>
          <a:xfrm>
            <a:off x="393700" y="1578719"/>
            <a:ext cx="3356594" cy="1058057"/>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DD8E42E-4EB3-A1B5-BBB9-6A46A685C249}"/>
                  </a:ext>
                </a:extLst>
              </p:cNvPr>
              <p:cNvSpPr txBox="1"/>
              <p:nvPr/>
            </p:nvSpPr>
            <p:spPr>
              <a:xfrm>
                <a:off x="651654" y="2919550"/>
                <a:ext cx="8809845" cy="1388072"/>
              </a:xfrm>
              <a:prstGeom prst="rect">
                <a:avLst/>
              </a:prstGeom>
              <a:noFill/>
            </p:spPr>
            <p:txBody>
              <a:bodyPr wrap="square">
                <a:spAutoFit/>
              </a:bodyPr>
              <a:lstStyle/>
              <a:p>
                <a:pPr>
                  <a:buNone/>
                </a:pPr>
                <a:r>
                  <a:rPr lang="en-US" dirty="0"/>
                  <a:t>Split through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0">
                            <a:latin typeface="Cambria Math" panose="02040503050406030204" pitchFamily="18" charset="0"/>
                          </a:rPr>
                          <m:t>2</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0">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0">
                            <a:latin typeface="Cambria Math" panose="02040503050406030204" pitchFamily="18" charset="0"/>
                          </a:rPr>
                          <m:t>1</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0">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0">
                            <a:latin typeface="Cambria Math" panose="02040503050406030204" pitchFamily="18" charset="0"/>
                          </a:rPr>
                          <m:t>2</m:t>
                        </m:r>
                      </m:sub>
                    </m:sSub>
                  </m:oMath>
                </a14:m>
                <a:r>
                  <a:rPr lang="ar-AE" dirty="0"/>
                  <a:t>:</a:t>
                </a:r>
              </a:p>
              <a:p>
                <a:pPr>
                  <a:buFont typeface="Arial" panose="020B0604020202020204" pitchFamily="34" charset="0"/>
                  <a:buChar char="•"/>
                </a:pPr>
                <a14:m>
                  <m:oMath xmlns:m="http://schemas.openxmlformats.org/officeDocument/2006/math">
                    <m:r>
                      <a:rPr lang="ar-AE" i="1">
                        <a:latin typeface="Cambria Math" panose="02040503050406030204" pitchFamily="18" charset="0"/>
                      </a:rPr>
                      <m:t>𝑑</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𝑑</m:t>
                    </m:r>
                    <m:sSubSup>
                      <m:sSubSupPr>
                        <m:ctrlPr>
                          <a:rPr lang="ar-AE" i="1">
                            <a:latin typeface="Cambria Math" panose="02040503050406030204" pitchFamily="18" charset="0"/>
                          </a:rPr>
                        </m:ctrlPr>
                      </m:sSubSupPr>
                      <m:e>
                        <m:r>
                          <a:rPr lang="ar-AE" i="1">
                            <a:latin typeface="Cambria Math" panose="02040503050406030204" pitchFamily="18" charset="0"/>
                          </a:rPr>
                          <m:t>𝑐</m:t>
                        </m:r>
                      </m:e>
                      <m:sub>
                        <m:r>
                          <a:rPr lang="ar-AE" i="0">
                            <a:latin typeface="Cambria Math" panose="02040503050406030204" pitchFamily="18" charset="0"/>
                          </a:rPr>
                          <m:t>2</m:t>
                        </m:r>
                      </m:sub>
                      <m:sup>
                        <m:d>
                          <m:dPr>
                            <m:ctrlPr>
                              <a:rPr lang="ar-AE" i="1">
                                <a:latin typeface="Cambria Math" panose="02040503050406030204" pitchFamily="18" charset="0"/>
                              </a:rPr>
                            </m:ctrlPr>
                          </m:dPr>
                          <m:e>
                            <m:r>
                              <m:rPr>
                                <m:nor/>
                              </m:rPr>
                              <a:rPr lang="en-US" b="0" i="1">
                                <a:latin typeface="Cambria Math" panose="02040503050406030204" pitchFamily="18" charset="0"/>
                              </a:rPr>
                              <m:t>from</m:t>
                            </m:r>
                            <m:r>
                              <m:rPr>
                                <m:nor/>
                              </m:rPr>
                              <a:rPr lang="en-US" b="0" i="1">
                                <a:latin typeface="Cambria Math" panose="02040503050406030204" pitchFamily="18" charset="0"/>
                              </a:rPr>
                              <m:t> </m:t>
                            </m:r>
                            <m:r>
                              <a:rPr lang="en-US" b="0" i="1">
                                <a:latin typeface="Cambria Math" panose="02040503050406030204" pitchFamily="18" charset="0"/>
                              </a:rPr>
                              <m:t>h</m:t>
                            </m:r>
                          </m:e>
                        </m:d>
                      </m:sup>
                    </m:sSubSup>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𝑐</m:t>
                        </m:r>
                      </m:e>
                      <m:sub>
                        <m:r>
                          <a:rPr lang="ar-AE" b="0" i="0">
                            <a:latin typeface="Cambria Math" panose="02040503050406030204" pitchFamily="18" charset="0"/>
                          </a:rPr>
                          <m:t>1</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001377708672</m:t>
                    </m:r>
                    <m:r>
                      <a:rPr lang="ar-AE" b="0" i="0">
                        <a:latin typeface="Cambria Math" panose="02040503050406030204" pitchFamily="18" charset="0"/>
                      </a:rPr>
                      <m:t>.</m:t>
                    </m:r>
                  </m:oMath>
                </a14:m>
                <a:br>
                  <a:rPr lang="ar-AE" dirty="0"/>
                </a:br>
                <a14:m>
                  <m:oMath xmlns:m="http://schemas.openxmlformats.org/officeDocument/2006/math">
                    <m:r>
                      <a:rPr lang="ar-AE" i="1">
                        <a:latin typeface="Cambria Math" panose="02040503050406030204" pitchFamily="18" charset="0"/>
                      </a:rPr>
                      <m:t>𝑑</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m:rPr>
                                <m:nor/>
                              </m:rPr>
                              <a:rPr lang="en-US" b="0" i="1">
                                <a:latin typeface="Cambria Math" panose="02040503050406030204" pitchFamily="18" charset="0"/>
                              </a:rPr>
                              <m:t>pre</m:t>
                            </m:r>
                          </m:e>
                          <m:sub>
                            <m:r>
                              <a:rPr lang="ar-AE" b="0" i="1">
                                <a:latin typeface="Cambria Math" panose="02040503050406030204" pitchFamily="18" charset="0"/>
                              </a:rPr>
                              <m:t>𝑓</m:t>
                            </m:r>
                          </m:sub>
                          <m:sup>
                            <m:r>
                              <a:rPr lang="ar-AE" b="0" i="0">
                                <a:latin typeface="Cambria Math" panose="02040503050406030204" pitchFamily="18" charset="0"/>
                              </a:rPr>
                              <m:t>2</m:t>
                            </m:r>
                          </m:sup>
                        </m:sSubSup>
                      </m:e>
                    </m:d>
                    <m:r>
                      <a:rPr lang="ar-AE" b="0" i="0">
                        <a:latin typeface="Cambria Math" panose="02040503050406030204" pitchFamily="18" charset="0"/>
                      </a:rPr>
                      <m:t>=</m:t>
                    </m:r>
                    <m:r>
                      <a:rPr lang="ar-AE" b="0" i="1">
                        <a:latin typeface="Cambria Math" panose="02040503050406030204" pitchFamily="18" charset="0"/>
                      </a:rPr>
                      <m:t>𝑑</m:t>
                    </m:r>
                    <m:sSub>
                      <m:sSubPr>
                        <m:ctrlPr>
                          <a:rPr lang="ar-AE" b="0" i="1">
                            <a:latin typeface="Cambria Math" panose="02040503050406030204" pitchFamily="18" charset="0"/>
                          </a:rPr>
                        </m:ctrlPr>
                      </m:sSubPr>
                      <m:e>
                        <m:r>
                          <a:rPr lang="ar-AE" b="0" i="1">
                            <a:latin typeface="Cambria Math" panose="02040503050406030204" pitchFamily="18" charset="0"/>
                          </a:rPr>
                          <m:t>𝑓</m:t>
                        </m:r>
                      </m:e>
                      <m:sub>
                        <m:r>
                          <a:rPr lang="ar-AE" b="0" i="0">
                            <a:latin typeface="Cambria Math" panose="02040503050406030204" pitchFamily="18" charset="0"/>
                          </a:rPr>
                          <m:t>2</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𝑓</m:t>
                        </m:r>
                      </m:e>
                      <m:sub>
                        <m:r>
                          <a:rPr lang="ar-AE" b="0" i="0">
                            <a:latin typeface="Cambria Math" panose="02040503050406030204" pitchFamily="18" charset="0"/>
                          </a:rPr>
                          <m:t>2</m:t>
                        </m:r>
                      </m:sub>
                    </m:sSub>
                    <m:d>
                      <m:dPr>
                        <m:ctrlPr>
                          <a:rPr lang="ar-AE" b="0" i="1">
                            <a:latin typeface="Cambria Math" panose="02040503050406030204" pitchFamily="18" charset="0"/>
                          </a:rPr>
                        </m:ctrlPr>
                      </m:dPr>
                      <m:e>
                        <m:r>
                          <a:rPr lang="ar-AE" b="0" i="0">
                            <a:latin typeface="Cambria Math" panose="02040503050406030204" pitchFamily="18" charset="0"/>
                          </a:rPr>
                          <m:t>1</m:t>
                        </m:r>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𝑓</m:t>
                            </m:r>
                          </m:e>
                          <m:sub>
                            <m:r>
                              <a:rPr lang="ar-AE" b="0" i="0">
                                <a:latin typeface="Cambria Math" panose="02040503050406030204" pitchFamily="18" charset="0"/>
                              </a:rPr>
                              <m:t>2</m:t>
                            </m:r>
                          </m:sub>
                        </m:sSub>
                      </m:e>
                    </m:d>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000470056074</m:t>
                    </m:r>
                    <m:r>
                      <a:rPr lang="ar-AE" b="0" i="0">
                        <a:latin typeface="Cambria Math" panose="02040503050406030204" pitchFamily="18" charset="0"/>
                      </a:rPr>
                      <m:t>.</m:t>
                    </m:r>
                  </m:oMath>
                </a14:m>
                <a:endParaRPr lang="ar-AE" dirty="0"/>
              </a:p>
              <a:p>
                <a:pPr>
                  <a:buFont typeface="Arial" panose="020B0604020202020204" pitchFamily="34" charset="0"/>
                  <a:buChar char="•"/>
                </a:pPr>
                <a14:m>
                  <m:oMath xmlns:m="http://schemas.openxmlformats.org/officeDocument/2006/math">
                    <m:r>
                      <a:rPr lang="ar-AE" b="0" i="0">
                        <a:latin typeface="Cambria Math" panose="02040503050406030204" pitchFamily="18" charset="0"/>
                      </a:rPr>
                      <m:t>.</m:t>
                    </m:r>
                  </m:oMath>
                </a14:m>
                <a:endParaRPr lang="ar-AE" dirty="0"/>
              </a:p>
            </p:txBody>
          </p:sp>
        </mc:Choice>
        <mc:Fallback>
          <p:sp>
            <p:nvSpPr>
              <p:cNvPr id="4" name="TextBox 3">
                <a:extLst>
                  <a:ext uri="{FF2B5EF4-FFF2-40B4-BE49-F238E27FC236}">
                    <a16:creationId xmlns:a16="http://schemas.microsoft.com/office/drawing/2014/main" id="{9DD8E42E-4EB3-A1B5-BBB9-6A46A685C249}"/>
                  </a:ext>
                </a:extLst>
              </p:cNvPr>
              <p:cNvSpPr txBox="1">
                <a:spLocks noRot="1" noChangeAspect="1" noMove="1" noResize="1" noEditPoints="1" noAdjustHandles="1" noChangeArrowheads="1" noChangeShapeType="1" noTextEdit="1"/>
              </p:cNvSpPr>
              <p:nvPr/>
            </p:nvSpPr>
            <p:spPr>
              <a:xfrm>
                <a:off x="651654" y="2919550"/>
                <a:ext cx="8809845" cy="1388072"/>
              </a:xfrm>
              <a:prstGeom prst="rect">
                <a:avLst/>
              </a:prstGeom>
              <a:blipFill>
                <a:blip r:embed="rId4"/>
                <a:stretch>
                  <a:fillRect l="-623" t="-3070" b="-4825"/>
                </a:stretch>
              </a:blipFill>
            </p:spPr>
            <p:txBody>
              <a:bodyPr/>
              <a:lstStyle/>
              <a:p>
                <a:r>
                  <a:rPr lang="en-US">
                    <a:noFill/>
                  </a:rPr>
                  <a:t> </a:t>
                </a:r>
              </a:p>
            </p:txBody>
          </p:sp>
        </mc:Fallback>
      </mc:AlternateContent>
    </p:spTree>
    <p:extLst>
      <p:ext uri="{BB962C8B-B14F-4D97-AF65-F5344CB8AC3E}">
        <p14:creationId xmlns:p14="http://schemas.microsoft.com/office/powerpoint/2010/main" val="1082355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338746" y="930275"/>
            <a:ext cx="9020656" cy="1395572"/>
          </a:xfrm>
        </p:spPr>
        <p:txBody>
          <a:bodyPr vert="horz" lIns="75607" tIns="37804" rIns="75607" bIns="37804" rtlCol="0" anchor="b">
            <a:normAutofit/>
          </a:bodyPr>
          <a:lstStyle/>
          <a:p>
            <a:pPr algn="ctr"/>
            <a:r>
              <a:rPr lang="en-US" sz="4631" dirty="0"/>
              <a:t>5. </a:t>
            </a:r>
            <a:r>
              <a:rPr lang="en-US" sz="4631" b="1" dirty="0"/>
              <a:t>Gradient of Loss with Respect to Input Gate</a:t>
            </a:r>
            <a:endParaRPr lang="en-US" sz="4631" dirty="0"/>
          </a:p>
        </p:txBody>
      </p:sp>
      <p:pic>
        <p:nvPicPr>
          <p:cNvPr id="5" name="Picture 4">
            <a:extLst>
              <a:ext uri="{FF2B5EF4-FFF2-40B4-BE49-F238E27FC236}">
                <a16:creationId xmlns:a16="http://schemas.microsoft.com/office/drawing/2014/main" id="{6A002571-311F-4334-E644-EB32C2EF0872}"/>
              </a:ext>
            </a:extLst>
          </p:cNvPr>
          <p:cNvPicPr>
            <a:picLocks noChangeAspect="1"/>
          </p:cNvPicPr>
          <p:nvPr/>
        </p:nvPicPr>
        <p:blipFill>
          <a:blip r:embed="rId2"/>
          <a:stretch>
            <a:fillRect/>
          </a:stretch>
        </p:blipFill>
        <p:spPr>
          <a:xfrm>
            <a:off x="6108700" y="2987675"/>
            <a:ext cx="3705080" cy="1880265"/>
          </a:xfrm>
          <a:prstGeom prst="rect">
            <a:avLst/>
          </a:prstGeom>
        </p:spPr>
      </p:pic>
      <p:pic>
        <p:nvPicPr>
          <p:cNvPr id="8" name="Picture 7">
            <a:extLst>
              <a:ext uri="{FF2B5EF4-FFF2-40B4-BE49-F238E27FC236}">
                <a16:creationId xmlns:a16="http://schemas.microsoft.com/office/drawing/2014/main" id="{67D1F272-72E3-4164-1495-55402296C0E4}"/>
              </a:ext>
            </a:extLst>
          </p:cNvPr>
          <p:cNvPicPr>
            <a:picLocks noChangeAspect="1"/>
          </p:cNvPicPr>
          <p:nvPr/>
        </p:nvPicPr>
        <p:blipFill>
          <a:blip r:embed="rId3"/>
          <a:stretch>
            <a:fillRect/>
          </a:stretch>
        </p:blipFill>
        <p:spPr>
          <a:xfrm>
            <a:off x="393700" y="2093825"/>
            <a:ext cx="4074374" cy="1482899"/>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60F3DD2-9778-86BC-F6DD-C9713BF388C4}"/>
                  </a:ext>
                </a:extLst>
              </p:cNvPr>
              <p:cNvSpPr txBox="1"/>
              <p:nvPr/>
            </p:nvSpPr>
            <p:spPr>
              <a:xfrm>
                <a:off x="-1435100" y="4048805"/>
                <a:ext cx="9220200" cy="8191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ar-AE" i="1" smtClean="0">
                          <a:latin typeface="Cambria Math" panose="02040503050406030204" pitchFamily="18" charset="0"/>
                        </a:rPr>
                        <m:t>𝑑</m:t>
                      </m:r>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𝑑</m:t>
                      </m:r>
                      <m:sSubSup>
                        <m:sSubSupPr>
                          <m:ctrlPr>
                            <a:rPr lang="ar-AE" i="1">
                              <a:latin typeface="Cambria Math" panose="02040503050406030204" pitchFamily="18" charset="0"/>
                            </a:rPr>
                          </m:ctrlPr>
                        </m:sSubSupPr>
                        <m:e>
                          <m:r>
                            <a:rPr lang="ar-AE" i="1">
                              <a:latin typeface="Cambria Math" panose="02040503050406030204" pitchFamily="18" charset="0"/>
                            </a:rPr>
                            <m:t>𝑐</m:t>
                          </m:r>
                        </m:e>
                        <m:sub>
                          <m:r>
                            <a:rPr lang="ar-AE" i="0">
                              <a:latin typeface="Cambria Math" panose="02040503050406030204" pitchFamily="18" charset="0"/>
                            </a:rPr>
                            <m:t>2</m:t>
                          </m:r>
                        </m:sub>
                        <m:sup>
                          <m:d>
                            <m:dPr>
                              <m:ctrlPr>
                                <a:rPr lang="ar-AE" i="1">
                                  <a:latin typeface="Cambria Math" panose="02040503050406030204" pitchFamily="18" charset="0"/>
                                </a:rPr>
                              </m:ctrlPr>
                            </m:dPr>
                            <m:e>
                              <m:r>
                                <m:rPr>
                                  <m:nor/>
                                </m:rPr>
                                <a:rPr lang="en-US" b="0" i="1">
                                  <a:latin typeface="Cambria Math" panose="02040503050406030204" pitchFamily="18" charset="0"/>
                                </a:rPr>
                                <m:t>from</m:t>
                              </m:r>
                              <m:r>
                                <m:rPr>
                                  <m:nor/>
                                </m:rPr>
                                <a:rPr lang="en-US" b="0" i="1">
                                  <a:latin typeface="Cambria Math" panose="02040503050406030204" pitchFamily="18" charset="0"/>
                                </a:rPr>
                                <m:t> </m:t>
                              </m:r>
                              <m:r>
                                <a:rPr lang="en-US" b="0" i="1">
                                  <a:latin typeface="Cambria Math" panose="02040503050406030204" pitchFamily="18" charset="0"/>
                                </a:rPr>
                                <m:t>h</m:t>
                              </m:r>
                            </m:e>
                          </m:d>
                        </m:sup>
                      </m:sSubSup>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𝑔</m:t>
                          </m:r>
                        </m:e>
                        <m:sub>
                          <m:r>
                            <a:rPr lang="ar-AE" b="0" i="0">
                              <a:latin typeface="Cambria Math" panose="02040503050406030204" pitchFamily="18" charset="0"/>
                            </a:rPr>
                            <m:t>2</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001513700888</m:t>
                      </m:r>
                      <m:r>
                        <a:rPr lang="ar-AE" b="0" i="0">
                          <a:latin typeface="Cambria Math" panose="02040503050406030204" pitchFamily="18" charset="0"/>
                        </a:rPr>
                        <m:t>.</m:t>
                      </m:r>
                    </m:oMath>
                    <m:oMath xmlns:m="http://schemas.openxmlformats.org/officeDocument/2006/math">
                      <m:r>
                        <a:rPr lang="ar-AE" i="1">
                          <a:latin typeface="Cambria Math" panose="02040503050406030204" pitchFamily="18" charset="0"/>
                        </a:rPr>
                        <m:t>𝑑</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m:rPr>
                                  <m:nor/>
                                </m:rPr>
                                <a:rPr lang="en-US" b="0" i="1">
                                  <a:latin typeface="Cambria Math" panose="02040503050406030204" pitchFamily="18" charset="0"/>
                                </a:rPr>
                                <m:t>pre</m:t>
                              </m:r>
                            </m:e>
                            <m:sub>
                              <m:r>
                                <a:rPr lang="ar-AE" b="0" i="1">
                                  <a:latin typeface="Cambria Math" panose="02040503050406030204" pitchFamily="18" charset="0"/>
                                </a:rPr>
                                <m:t>𝑖</m:t>
                              </m:r>
                            </m:sub>
                            <m:sup>
                              <m:r>
                                <a:rPr lang="ar-AE" b="0" i="0">
                                  <a:latin typeface="Cambria Math" panose="02040503050406030204" pitchFamily="18" charset="0"/>
                                </a:rPr>
                                <m:t>2</m:t>
                              </m:r>
                            </m:sup>
                          </m:sSubSup>
                        </m:e>
                      </m:d>
                      <m:r>
                        <a:rPr lang="ar-AE" b="0" i="0">
                          <a:latin typeface="Cambria Math" panose="02040503050406030204" pitchFamily="18" charset="0"/>
                        </a:rPr>
                        <m:t>=</m:t>
                      </m:r>
                      <m:r>
                        <a:rPr lang="ar-AE" b="0" i="1">
                          <a:latin typeface="Cambria Math" panose="02040503050406030204" pitchFamily="18" charset="0"/>
                        </a:rPr>
                        <m:t>𝑑</m:t>
                      </m:r>
                      <m:sSub>
                        <m:sSubPr>
                          <m:ctrlPr>
                            <a:rPr lang="ar-AE" b="0" i="1">
                              <a:latin typeface="Cambria Math" panose="02040503050406030204" pitchFamily="18" charset="0"/>
                            </a:rPr>
                          </m:ctrlPr>
                        </m:sSubPr>
                        <m:e>
                          <m:r>
                            <a:rPr lang="ar-AE" b="0" i="1">
                              <a:latin typeface="Cambria Math" panose="02040503050406030204" pitchFamily="18" charset="0"/>
                            </a:rPr>
                            <m:t>𝑖</m:t>
                          </m:r>
                        </m:e>
                        <m:sub>
                          <m:r>
                            <a:rPr lang="ar-AE" b="0" i="0">
                              <a:latin typeface="Cambria Math" panose="02040503050406030204" pitchFamily="18" charset="0"/>
                            </a:rPr>
                            <m:t>2</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𝑖</m:t>
                          </m:r>
                        </m:e>
                        <m:sub>
                          <m:r>
                            <a:rPr lang="ar-AE" b="0" i="0">
                              <a:latin typeface="Cambria Math" panose="02040503050406030204" pitchFamily="18" charset="0"/>
                            </a:rPr>
                            <m:t>2</m:t>
                          </m:r>
                        </m:sub>
                      </m:sSub>
                      <m:d>
                        <m:dPr>
                          <m:ctrlPr>
                            <a:rPr lang="ar-AE" b="0" i="1">
                              <a:latin typeface="Cambria Math" panose="02040503050406030204" pitchFamily="18" charset="0"/>
                            </a:rPr>
                          </m:ctrlPr>
                        </m:dPr>
                        <m:e>
                          <m:r>
                            <a:rPr lang="ar-AE" b="0" i="0">
                              <a:latin typeface="Cambria Math" panose="02040503050406030204" pitchFamily="18" charset="0"/>
                            </a:rPr>
                            <m:t>1</m:t>
                          </m:r>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𝑖</m:t>
                              </m:r>
                            </m:e>
                            <m:sub>
                              <m:r>
                                <a:rPr lang="ar-AE" b="0" i="0">
                                  <a:latin typeface="Cambria Math" panose="02040503050406030204" pitchFamily="18" charset="0"/>
                                </a:rPr>
                                <m:t>2</m:t>
                              </m:r>
                            </m:sub>
                          </m:sSub>
                        </m:e>
                      </m:d>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000375540687</m:t>
                      </m:r>
                    </m:oMath>
                  </m:oMathPara>
                </a14:m>
                <a:endParaRPr lang="en-US" dirty="0"/>
              </a:p>
            </p:txBody>
          </p:sp>
        </mc:Choice>
        <mc:Fallback>
          <p:sp>
            <p:nvSpPr>
              <p:cNvPr id="4" name="TextBox 3">
                <a:extLst>
                  <a:ext uri="{FF2B5EF4-FFF2-40B4-BE49-F238E27FC236}">
                    <a16:creationId xmlns:a16="http://schemas.microsoft.com/office/drawing/2014/main" id="{360F3DD2-9778-86BC-F6DD-C9713BF388C4}"/>
                  </a:ext>
                </a:extLst>
              </p:cNvPr>
              <p:cNvSpPr txBox="1">
                <a:spLocks noRot="1" noChangeAspect="1" noMove="1" noResize="1" noEditPoints="1" noAdjustHandles="1" noChangeArrowheads="1" noChangeShapeType="1" noTextEdit="1"/>
              </p:cNvSpPr>
              <p:nvPr/>
            </p:nvSpPr>
            <p:spPr>
              <a:xfrm>
                <a:off x="-1435100" y="4048805"/>
                <a:ext cx="9220200" cy="819135"/>
              </a:xfrm>
              <a:prstGeom prst="rect">
                <a:avLst/>
              </a:prstGeom>
              <a:blipFill>
                <a:blip r:embed="rId4"/>
                <a:stretch>
                  <a:fillRect b="-741"/>
                </a:stretch>
              </a:blipFill>
            </p:spPr>
            <p:txBody>
              <a:bodyPr/>
              <a:lstStyle/>
              <a:p>
                <a:r>
                  <a:rPr lang="en-US">
                    <a:noFill/>
                  </a:rPr>
                  <a:t> </a:t>
                </a:r>
              </a:p>
            </p:txBody>
          </p:sp>
        </mc:Fallback>
      </mc:AlternateContent>
    </p:spTree>
    <p:extLst>
      <p:ext uri="{BB962C8B-B14F-4D97-AF65-F5344CB8AC3E}">
        <p14:creationId xmlns:p14="http://schemas.microsoft.com/office/powerpoint/2010/main" val="3091737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165100" y="357094"/>
            <a:ext cx="9020656" cy="1395572"/>
          </a:xfrm>
        </p:spPr>
        <p:txBody>
          <a:bodyPr vert="horz" lIns="75607" tIns="37804" rIns="75607" bIns="37804" rtlCol="0" anchor="b">
            <a:normAutofit/>
          </a:bodyPr>
          <a:lstStyle/>
          <a:p>
            <a:pPr algn="ctr"/>
            <a:r>
              <a:rPr lang="en-US" sz="4631" dirty="0"/>
              <a:t>6. </a:t>
            </a:r>
            <a:r>
              <a:rPr lang="en-US" sz="4631" b="1" dirty="0"/>
              <a:t>Gradient of Loss with Respect to Candidate cell state</a:t>
            </a:r>
            <a:endParaRPr lang="en-US" sz="4631" dirty="0"/>
          </a:p>
        </p:txBody>
      </p:sp>
      <p:pic>
        <p:nvPicPr>
          <p:cNvPr id="5" name="Picture 4">
            <a:extLst>
              <a:ext uri="{FF2B5EF4-FFF2-40B4-BE49-F238E27FC236}">
                <a16:creationId xmlns:a16="http://schemas.microsoft.com/office/drawing/2014/main" id="{6A002571-311F-4334-E644-EB32C2EF0872}"/>
              </a:ext>
            </a:extLst>
          </p:cNvPr>
          <p:cNvPicPr>
            <a:picLocks noChangeAspect="1"/>
          </p:cNvPicPr>
          <p:nvPr/>
        </p:nvPicPr>
        <p:blipFill>
          <a:blip r:embed="rId2"/>
          <a:stretch>
            <a:fillRect/>
          </a:stretch>
        </p:blipFill>
        <p:spPr>
          <a:xfrm>
            <a:off x="6184900" y="2625752"/>
            <a:ext cx="3705080" cy="1880265"/>
          </a:xfrm>
          <a:prstGeom prst="rect">
            <a:avLst/>
          </a:prstGeom>
        </p:spPr>
      </p:pic>
      <p:pic>
        <p:nvPicPr>
          <p:cNvPr id="4" name="Picture 3">
            <a:extLst>
              <a:ext uri="{FF2B5EF4-FFF2-40B4-BE49-F238E27FC236}">
                <a16:creationId xmlns:a16="http://schemas.microsoft.com/office/drawing/2014/main" id="{9169ADE2-A61D-4446-FFC3-2CC7CB589E87}"/>
              </a:ext>
            </a:extLst>
          </p:cNvPr>
          <p:cNvPicPr>
            <a:picLocks noChangeAspect="1"/>
          </p:cNvPicPr>
          <p:nvPr/>
        </p:nvPicPr>
        <p:blipFill>
          <a:blip r:embed="rId3"/>
          <a:stretch>
            <a:fillRect/>
          </a:stretch>
        </p:blipFill>
        <p:spPr>
          <a:xfrm>
            <a:off x="393700" y="1616075"/>
            <a:ext cx="5640654" cy="1651279"/>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03C7810-F3DF-16D5-0291-89D92EAD9C98}"/>
                  </a:ext>
                </a:extLst>
              </p:cNvPr>
              <p:cNvSpPr txBox="1"/>
              <p:nvPr/>
            </p:nvSpPr>
            <p:spPr>
              <a:xfrm>
                <a:off x="317500" y="4113433"/>
                <a:ext cx="5040726" cy="1096134"/>
              </a:xfrm>
              <a:prstGeom prst="rect">
                <a:avLst/>
              </a:prstGeom>
              <a:noFill/>
            </p:spPr>
            <p:txBody>
              <a:bodyPr wrap="square">
                <a:spAutoFit/>
              </a:bodyPr>
              <a:lstStyle/>
              <a:p>
                <a:pPr>
                  <a:buFont typeface="Arial" panose="020B0604020202020204" pitchFamily="34" charset="0"/>
                  <a:buChar char="•"/>
                </a:pPr>
                <a14:m>
                  <m:oMath xmlns:m="http://schemas.openxmlformats.org/officeDocument/2006/math">
                    <m:r>
                      <a:rPr lang="ar-AE" i="1" smtClean="0">
                        <a:latin typeface="Cambria Math" panose="02040503050406030204" pitchFamily="18" charset="0"/>
                      </a:rPr>
                      <m:t>𝑑</m:t>
                    </m:r>
                    <m:sSub>
                      <m:sSubPr>
                        <m:ctrlPr>
                          <a:rPr lang="ar-AE" i="1">
                            <a:latin typeface="Cambria Math" panose="02040503050406030204" pitchFamily="18" charset="0"/>
                          </a:rPr>
                        </m:ctrlPr>
                      </m:sSubPr>
                      <m:e>
                        <m:r>
                          <a:rPr lang="en-US" b="0" i="1" smtClean="0">
                            <a:latin typeface="Cambria Math" panose="02040503050406030204" pitchFamily="18" charset="0"/>
                          </a:rPr>
                          <m:t>𝑐𝑡𝑖𝑙𝑑𝑎</m:t>
                        </m:r>
                      </m:e>
                      <m:sub>
                        <m:r>
                          <a:rPr lang="ar-AE" i="0">
                            <a:latin typeface="Cambria Math" panose="02040503050406030204" pitchFamily="18" charset="0"/>
                          </a:rPr>
                          <m:t>2</m:t>
                        </m:r>
                      </m:sub>
                    </m:sSub>
                    <m:r>
                      <a:rPr lang="ar-AE" i="0">
                        <a:latin typeface="Cambria Math" panose="02040503050406030204" pitchFamily="18" charset="0"/>
                      </a:rPr>
                      <m:t>=</m:t>
                    </m:r>
                    <m:r>
                      <a:rPr lang="ar-AE" i="1">
                        <a:latin typeface="Cambria Math" panose="02040503050406030204" pitchFamily="18" charset="0"/>
                      </a:rPr>
                      <m:t>𝑑</m:t>
                    </m:r>
                    <m:sSubSup>
                      <m:sSubSupPr>
                        <m:ctrlPr>
                          <a:rPr lang="ar-AE" i="1">
                            <a:latin typeface="Cambria Math" panose="02040503050406030204" pitchFamily="18" charset="0"/>
                          </a:rPr>
                        </m:ctrlPr>
                      </m:sSubSupPr>
                      <m:e>
                        <m:r>
                          <a:rPr lang="ar-AE" i="1">
                            <a:latin typeface="Cambria Math" panose="02040503050406030204" pitchFamily="18" charset="0"/>
                          </a:rPr>
                          <m:t>𝑐</m:t>
                        </m:r>
                      </m:e>
                      <m:sub>
                        <m:r>
                          <a:rPr lang="ar-AE" i="0">
                            <a:latin typeface="Cambria Math" panose="02040503050406030204" pitchFamily="18" charset="0"/>
                          </a:rPr>
                          <m:t>2</m:t>
                        </m:r>
                      </m:sub>
                      <m:sup>
                        <m:d>
                          <m:dPr>
                            <m:ctrlPr>
                              <a:rPr lang="ar-AE" i="1">
                                <a:latin typeface="Cambria Math" panose="02040503050406030204" pitchFamily="18" charset="0"/>
                              </a:rPr>
                            </m:ctrlPr>
                          </m:dPr>
                          <m:e>
                            <m:r>
                              <m:rPr>
                                <m:nor/>
                              </m:rPr>
                              <a:rPr lang="en-US" b="0" i="1">
                                <a:latin typeface="Cambria Math" panose="02040503050406030204" pitchFamily="18" charset="0"/>
                              </a:rPr>
                              <m:t>from</m:t>
                            </m:r>
                            <m:r>
                              <m:rPr>
                                <m:nor/>
                              </m:rPr>
                              <a:rPr lang="en-US" b="0" i="1">
                                <a:latin typeface="Cambria Math" panose="02040503050406030204" pitchFamily="18" charset="0"/>
                              </a:rPr>
                              <m:t> </m:t>
                            </m:r>
                            <m:r>
                              <a:rPr lang="en-US" b="0" i="1">
                                <a:latin typeface="Cambria Math" panose="02040503050406030204" pitchFamily="18" charset="0"/>
                              </a:rPr>
                              <m:t>h</m:t>
                            </m:r>
                          </m:e>
                        </m:d>
                      </m:sup>
                    </m:sSubSup>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𝑖</m:t>
                        </m:r>
                      </m:e>
                      <m:sub>
                        <m:r>
                          <a:rPr lang="ar-AE" b="0" i="0">
                            <a:latin typeface="Cambria Math" panose="02040503050406030204" pitchFamily="18" charset="0"/>
                          </a:rPr>
                          <m:t>2</m:t>
                        </m:r>
                      </m:sub>
                    </m:sSub>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002255954652</m:t>
                    </m:r>
                    <m:r>
                      <a:rPr lang="ar-AE" b="0" i="0">
                        <a:latin typeface="Cambria Math" panose="02040503050406030204" pitchFamily="18" charset="0"/>
                      </a:rPr>
                      <m:t>.</m:t>
                    </m:r>
                  </m:oMath>
                </a14:m>
                <a:br>
                  <a:rPr lang="ar-AE" dirty="0"/>
                </a:br>
                <a14:m>
                  <m:oMath xmlns:m="http://schemas.openxmlformats.org/officeDocument/2006/math">
                    <m:r>
                      <a:rPr lang="ar-AE" i="1">
                        <a:latin typeface="Cambria Math" panose="02040503050406030204" pitchFamily="18" charset="0"/>
                      </a:rPr>
                      <m:t>𝑑</m:t>
                    </m:r>
                    <m:d>
                      <m:dPr>
                        <m:ctrlPr>
                          <a:rPr lang="ar-AE" i="1">
                            <a:latin typeface="Cambria Math" panose="02040503050406030204" pitchFamily="18" charset="0"/>
                          </a:rPr>
                        </m:ctrlPr>
                      </m:dPr>
                      <m:e>
                        <m:r>
                          <a:rPr lang="en-US" i="1" smtClean="0">
                            <a:latin typeface="Cambria Math" panose="02040503050406030204" pitchFamily="18" charset="0"/>
                          </a:rPr>
                          <m:t>𝑐</m:t>
                        </m:r>
                        <m:r>
                          <a:rPr lang="en-US" b="0" i="1" smtClean="0">
                            <a:latin typeface="Cambria Math" panose="02040503050406030204" pitchFamily="18" charset="0"/>
                          </a:rPr>
                          <m:t>𝑡𝑖𝑙𝑑𝑎</m:t>
                        </m:r>
                      </m:e>
                    </m:d>
                    <m:r>
                      <a:rPr lang="ar-AE" b="0" i="0">
                        <a:latin typeface="Cambria Math" panose="02040503050406030204" pitchFamily="18" charset="0"/>
                      </a:rPr>
                      <m:t>=</m:t>
                    </m:r>
                    <m:r>
                      <a:rPr lang="ar-AE" b="0" i="1">
                        <a:latin typeface="Cambria Math" panose="02040503050406030204" pitchFamily="18" charset="0"/>
                      </a:rPr>
                      <m:t>𝑑</m:t>
                    </m:r>
                    <m:sSub>
                      <m:sSubPr>
                        <m:ctrlPr>
                          <a:rPr lang="ar-AE" b="0" i="1">
                            <a:latin typeface="Cambria Math" panose="02040503050406030204" pitchFamily="18" charset="0"/>
                          </a:rPr>
                        </m:ctrlPr>
                      </m:sSubPr>
                      <m:e>
                        <m:r>
                          <a:rPr lang="en-US" b="0" i="1" smtClean="0">
                            <a:latin typeface="Cambria Math" panose="02040503050406030204" pitchFamily="18" charset="0"/>
                          </a:rPr>
                          <m:t>𝑐𝑡𝑖𝑙𝑑𝑎</m:t>
                        </m:r>
                      </m:e>
                      <m:sub>
                        <m:r>
                          <a:rPr lang="ar-AE" b="0" i="0">
                            <a:latin typeface="Cambria Math" panose="02040503050406030204" pitchFamily="18" charset="0"/>
                          </a:rPr>
                          <m:t>2</m:t>
                        </m:r>
                      </m:sub>
                    </m:sSub>
                    <m:r>
                      <a:rPr lang="ar-AE" b="0" i="0">
                        <a:latin typeface="Cambria Math" panose="02040503050406030204" pitchFamily="18" charset="0"/>
                      </a:rPr>
                      <m:t>⋅</m:t>
                    </m:r>
                    <m:d>
                      <m:dPr>
                        <m:ctrlPr>
                          <a:rPr lang="ar-AE" b="0" i="1">
                            <a:latin typeface="Cambria Math" panose="02040503050406030204" pitchFamily="18" charset="0"/>
                          </a:rPr>
                        </m:ctrlPr>
                      </m:dPr>
                      <m:e>
                        <m:r>
                          <a:rPr lang="ar-AE" b="0" i="0">
                            <a:latin typeface="Cambria Math" panose="02040503050406030204" pitchFamily="18" charset="0"/>
                          </a:rPr>
                          <m:t>1</m:t>
                        </m:r>
                        <m:r>
                          <a:rPr lang="ar-AE" b="0" i="0">
                            <a:latin typeface="Cambria Math" panose="02040503050406030204" pitchFamily="18" charset="0"/>
                          </a:rPr>
                          <m:t>−</m:t>
                        </m:r>
                        <m:sSubSup>
                          <m:sSubSupPr>
                            <m:ctrlPr>
                              <a:rPr lang="ar-AE" b="0" i="1">
                                <a:latin typeface="Cambria Math" panose="02040503050406030204" pitchFamily="18" charset="0"/>
                              </a:rPr>
                            </m:ctrlPr>
                          </m:sSubSupPr>
                          <m:e>
                            <m:r>
                              <a:rPr lang="en-US" b="0" i="1" smtClean="0">
                                <a:latin typeface="Cambria Math" panose="02040503050406030204" pitchFamily="18" charset="0"/>
                              </a:rPr>
                              <m:t>𝑑𝑐𝑡𝑖𝑙𝑑𝑎</m:t>
                            </m:r>
                          </m:e>
                          <m:sub>
                            <m:r>
                              <a:rPr lang="ar-AE" b="0" i="0">
                                <a:latin typeface="Cambria Math" panose="02040503050406030204" pitchFamily="18" charset="0"/>
                              </a:rPr>
                              <m:t>2</m:t>
                            </m:r>
                          </m:sub>
                          <m:sup>
                            <m:r>
                              <a:rPr lang="ar-AE" b="0" i="0">
                                <a:latin typeface="Cambria Math" panose="02040503050406030204" pitchFamily="18" charset="0"/>
                              </a:rPr>
                              <m:t>2</m:t>
                            </m:r>
                          </m:sup>
                        </m:sSubSup>
                      </m:e>
                    </m:d>
                    <m:r>
                      <a:rPr lang="ar-AE" b="0" i="0">
                        <a:latin typeface="Cambria Math" panose="02040503050406030204" pitchFamily="18" charset="0"/>
                      </a:rPr>
                      <m:t>≈</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002298672329</m:t>
                    </m:r>
                    <m:r>
                      <a:rPr lang="ar-AE" b="0" i="0">
                        <a:latin typeface="Cambria Math" panose="02040503050406030204" pitchFamily="18" charset="0"/>
                      </a:rPr>
                      <m:t>.</m:t>
                    </m:r>
                  </m:oMath>
                </a14:m>
                <a:endParaRPr lang="ar-AE" dirty="0"/>
              </a:p>
            </p:txBody>
          </p:sp>
        </mc:Choice>
        <mc:Fallback>
          <p:sp>
            <p:nvSpPr>
              <p:cNvPr id="6" name="TextBox 5">
                <a:extLst>
                  <a:ext uri="{FF2B5EF4-FFF2-40B4-BE49-F238E27FC236}">
                    <a16:creationId xmlns:a16="http://schemas.microsoft.com/office/drawing/2014/main" id="{603C7810-F3DF-16D5-0291-89D92EAD9C98}"/>
                  </a:ext>
                </a:extLst>
              </p:cNvPr>
              <p:cNvSpPr txBox="1">
                <a:spLocks noRot="1" noChangeAspect="1" noMove="1" noResize="1" noEditPoints="1" noAdjustHandles="1" noChangeArrowheads="1" noChangeShapeType="1" noTextEdit="1"/>
              </p:cNvSpPr>
              <p:nvPr/>
            </p:nvSpPr>
            <p:spPr>
              <a:xfrm>
                <a:off x="317500" y="4113433"/>
                <a:ext cx="5040726" cy="109613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97546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D57-40D8-F5D3-A2B0-C3DEF829578B}"/>
              </a:ext>
            </a:extLst>
          </p:cNvPr>
          <p:cNvSpPr>
            <a:spLocks noGrp="1"/>
          </p:cNvSpPr>
          <p:nvPr>
            <p:ph type="title"/>
          </p:nvPr>
        </p:nvSpPr>
        <p:spPr>
          <a:xfrm>
            <a:off x="529671" y="378037"/>
            <a:ext cx="9020656" cy="1131641"/>
          </a:xfrm>
        </p:spPr>
        <p:txBody>
          <a:bodyPr vert="horz" lIns="75607" tIns="37804" rIns="75607" bIns="37804" rtlCol="0" anchor="ctr">
            <a:normAutofit/>
          </a:bodyPr>
          <a:lstStyle/>
          <a:p>
            <a:pPr algn="ctr"/>
            <a:r>
              <a:rPr lang="en-US" sz="5458"/>
              <a:t>7. </a:t>
            </a:r>
            <a:r>
              <a:rPr lang="en-US" sz="5458" b="1"/>
              <a:t>Weight updates</a:t>
            </a:r>
            <a:endParaRPr lang="en-US" sz="5458"/>
          </a:p>
        </p:txBody>
      </p:sp>
      <p:pic>
        <p:nvPicPr>
          <p:cNvPr id="8" name="Picture 7">
            <a:extLst>
              <a:ext uri="{FF2B5EF4-FFF2-40B4-BE49-F238E27FC236}">
                <a16:creationId xmlns:a16="http://schemas.microsoft.com/office/drawing/2014/main" id="{DCC049F3-E6C1-F026-EEE7-6CCEADA02BA4}"/>
              </a:ext>
            </a:extLst>
          </p:cNvPr>
          <p:cNvPicPr>
            <a:picLocks noChangeAspect="1"/>
          </p:cNvPicPr>
          <p:nvPr/>
        </p:nvPicPr>
        <p:blipFill>
          <a:blip r:embed="rId2"/>
          <a:stretch>
            <a:fillRect/>
          </a:stretch>
        </p:blipFill>
        <p:spPr>
          <a:xfrm>
            <a:off x="317500" y="1314561"/>
            <a:ext cx="8256532" cy="1025790"/>
          </a:xfrm>
          <a:prstGeom prst="rect">
            <a:avLst/>
          </a:prstGeom>
        </p:spPr>
      </p:pic>
      <p:sp>
        <p:nvSpPr>
          <p:cNvPr id="6" name="TextBox 5">
            <a:extLst>
              <a:ext uri="{FF2B5EF4-FFF2-40B4-BE49-F238E27FC236}">
                <a16:creationId xmlns:a16="http://schemas.microsoft.com/office/drawing/2014/main" id="{5355B59F-1335-12E9-0D6D-647C00F0557C}"/>
              </a:ext>
            </a:extLst>
          </p:cNvPr>
          <p:cNvSpPr txBox="1"/>
          <p:nvPr/>
        </p:nvSpPr>
        <p:spPr>
          <a:xfrm>
            <a:off x="1384300" y="2294416"/>
            <a:ext cx="8699500" cy="923330"/>
          </a:xfrm>
          <a:prstGeom prst="rect">
            <a:avLst/>
          </a:prstGeom>
          <a:noFill/>
        </p:spPr>
        <p:txBody>
          <a:bodyPr wrap="square">
            <a:spAutoFit/>
          </a:bodyPr>
          <a:lstStyle/>
          <a:p>
            <a:r>
              <a:rPr lang="en-US" dirty="0"/>
              <a:t>𝑑𝑊𝑖(2)=𝑑(pre𝑖2)⋅𝑥2≈−0.000375540687⋅(−0.3)=0.000112510709. 𝑑𝑈𝑖(2)=𝑑(pre𝑖2)⋅ℎ1≈−0.000375540687⋅0.1432246084≈−0.000053718322.</a:t>
            </a:r>
          </a:p>
          <a:p>
            <a:r>
              <a:rPr lang="en-US" dirty="0" err="1"/>
              <a:t>dbi</a:t>
            </a:r>
            <a:r>
              <a:rPr lang="en-US" dirty="0"/>
              <a:t>(2)	​=d(prei2	​)≈−0.000375540687</a:t>
            </a:r>
          </a:p>
        </p:txBody>
      </p:sp>
      <p:sp>
        <p:nvSpPr>
          <p:cNvPr id="11" name="TextBox 10">
            <a:extLst>
              <a:ext uri="{FF2B5EF4-FFF2-40B4-BE49-F238E27FC236}">
                <a16:creationId xmlns:a16="http://schemas.microsoft.com/office/drawing/2014/main" id="{5BD42D36-6072-FDE7-C07A-B3E850DFE40E}"/>
              </a:ext>
            </a:extLst>
          </p:cNvPr>
          <p:cNvSpPr txBox="1"/>
          <p:nvPr/>
        </p:nvSpPr>
        <p:spPr>
          <a:xfrm>
            <a:off x="393700" y="3825875"/>
            <a:ext cx="9296400" cy="1200329"/>
          </a:xfrm>
          <a:prstGeom prst="rect">
            <a:avLst/>
          </a:prstGeom>
          <a:noFill/>
        </p:spPr>
        <p:txBody>
          <a:bodyPr wrap="square">
            <a:spAutoFit/>
          </a:bodyPr>
          <a:lstStyle/>
          <a:p>
            <a:r>
              <a:rPr lang="en-US" dirty="0"/>
              <a:t>The cell gradient to be propagated into 𝑐1	​ (from t=2) is:𝑑𝑐1(from future)=𝑓2⋅𝑑𝑐2(total)=𝑓2⋅𝑑𝑐2(from ℎ)≈0.5765544675⋅0.004998223044=0.002881747826.dc1(from future)	​=f2	​⋅dc2(total)	​=f2	​⋅dc2(from h)	​≈0.5765544675⋅0.004998223044=0.002881747826.</a:t>
            </a:r>
          </a:p>
        </p:txBody>
      </p:sp>
    </p:spTree>
    <p:extLst>
      <p:ext uri="{BB962C8B-B14F-4D97-AF65-F5344CB8AC3E}">
        <p14:creationId xmlns:p14="http://schemas.microsoft.com/office/powerpoint/2010/main" val="2027981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48025C-1C87-7EF9-3AAB-04B7825CF0EC}"/>
              </a:ext>
            </a:extLst>
          </p:cNvPr>
          <p:cNvPicPr>
            <a:picLocks noChangeAspect="1"/>
          </p:cNvPicPr>
          <p:nvPr/>
        </p:nvPicPr>
        <p:blipFill>
          <a:blip r:embed="rId2"/>
          <a:stretch>
            <a:fillRect/>
          </a:stretch>
        </p:blipFill>
        <p:spPr>
          <a:xfrm>
            <a:off x="1079500" y="130380"/>
            <a:ext cx="6781800" cy="5225321"/>
          </a:xfrm>
          <a:prstGeom prst="rect">
            <a:avLst/>
          </a:prstGeom>
        </p:spPr>
      </p:pic>
    </p:spTree>
    <p:extLst>
      <p:ext uri="{BB962C8B-B14F-4D97-AF65-F5344CB8AC3E}">
        <p14:creationId xmlns:p14="http://schemas.microsoft.com/office/powerpoint/2010/main" val="2631113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25B54-B8AB-65DC-41E8-24E780454624}"/>
              </a:ext>
            </a:extLst>
          </p:cNvPr>
          <p:cNvSpPr txBox="1"/>
          <p:nvPr/>
        </p:nvSpPr>
        <p:spPr>
          <a:xfrm>
            <a:off x="971032" y="178919"/>
            <a:ext cx="8553440" cy="4570995"/>
          </a:xfrm>
          <a:prstGeom prst="rect">
            <a:avLst/>
          </a:prstGeom>
          <a:noFill/>
        </p:spPr>
        <p:txBody>
          <a:bodyPr wrap="square">
            <a:spAutoFit/>
          </a:bodyPr>
          <a:lstStyle/>
          <a:p>
            <a:r>
              <a:rPr lang="en-US" sz="3638" b="1" dirty="0">
                <a:solidFill>
                  <a:srgbClr val="FF0000"/>
                </a:solidFill>
              </a:rPr>
              <a:t>Applications</a:t>
            </a:r>
          </a:p>
          <a:p>
            <a:r>
              <a:rPr lang="en-US" sz="3638" b="1" dirty="0"/>
              <a:t>Both LSTMs and RNNs can be used for speech recognition, language modeling, and natural language processing (NLP). LSTMs are also used for sentiment analysis and video analysis. RNNs can be used to predict daily flood levels and solve ordinal or temporal problems</a:t>
            </a:r>
            <a:r>
              <a:rPr lang="en-US" sz="1488" dirty="0"/>
              <a:t>. </a:t>
            </a:r>
          </a:p>
        </p:txBody>
      </p:sp>
    </p:spTree>
    <p:extLst>
      <p:ext uri="{BB962C8B-B14F-4D97-AF65-F5344CB8AC3E}">
        <p14:creationId xmlns:p14="http://schemas.microsoft.com/office/powerpoint/2010/main" val="120314772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11995</TotalTime>
  <Words>1402</Words>
  <Application>Microsoft Office PowerPoint</Application>
  <PresentationFormat>Custom</PresentationFormat>
  <Paragraphs>132</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Cambria Math</vt:lpstr>
      <vt:lpstr>Roboto</vt:lpstr>
      <vt:lpstr>Wingdings</vt:lpstr>
      <vt:lpstr>1_Office Theme</vt:lpstr>
      <vt:lpstr>Long Short-Term Memory (LSTM).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Backpropagation LSTM learns long-term dependencies more effectively </vt:lpstr>
      <vt:lpstr>PowerPoint Presentation</vt:lpstr>
      <vt:lpstr>PowerPoint Presentation</vt:lpstr>
      <vt:lpstr>PowerPoint Presentation</vt:lpstr>
      <vt:lpstr>PowerPoint Presentation</vt:lpstr>
      <vt:lpstr>1. Gradient of Loss with Respect to Hidden State</vt:lpstr>
      <vt:lpstr>2. Gradient of Loss with Respect to output gate</vt:lpstr>
      <vt:lpstr>PowerPoint Presentation</vt:lpstr>
      <vt:lpstr>3. Gradient of Loss with Respect to the cell state</vt:lpstr>
      <vt:lpstr>4. Gradient of Loss with Respect to Forget Gate</vt:lpstr>
      <vt:lpstr>5. Gradient of Loss with Respect to Input Gate</vt:lpstr>
      <vt:lpstr>6. Gradient of Loss with Respect to Candidate cell state</vt:lpstr>
      <vt:lpstr>7. Weight updates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cp:lastModifiedBy>Dr. Nouhad Rizk</cp:lastModifiedBy>
  <cp:revision>51</cp:revision>
  <dcterms:created xsi:type="dcterms:W3CDTF">2021-05-31T22:46:47Z</dcterms:created>
  <dcterms:modified xsi:type="dcterms:W3CDTF">2025-10-05T22:26:28Z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2020-01-27T00:00:00Z</vt:filetime>
  </property>
  <property fmtid="{D5CDD505-2E9C-101B-9397-08002B2CF9AE}" pid="3" name="Creator">
    <vt:lpwstr>Impress</vt:lpwstr>
  </property>
  <property fmtid="{D5CDD505-2E9C-101B-9397-08002B2CF9AE}" pid="4" name="LastSaved">
    <vt:filetime>2020-01-27T00:00:00Z</vt:filetime>
  </property>
</Properties>
</file>