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81" r:id="rId3"/>
    <p:sldId id="283" r:id="rId4"/>
    <p:sldId id="284" r:id="rId5"/>
    <p:sldId id="285" r:id="rId6"/>
    <p:sldId id="268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7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098A-472A-414B-0C2F-F23C74B3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variants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D6B27-A995-6E9D-40D4-FDFF0DB0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LeNet (1998) </a:t>
            </a:r>
            <a:r>
              <a:rPr lang="en-US" dirty="0"/>
              <a:t>– The pioneer of CNNs; introduced the concept of convolution + pooling for handwritten digit recognition.</a:t>
            </a:r>
          </a:p>
          <a:p>
            <a:r>
              <a:rPr lang="en-US" dirty="0" err="1">
                <a:solidFill>
                  <a:srgbClr val="FF0000"/>
                </a:solidFill>
              </a:rPr>
              <a:t>AlexNet</a:t>
            </a:r>
            <a:r>
              <a:rPr lang="en-US" dirty="0">
                <a:solidFill>
                  <a:srgbClr val="FF0000"/>
                </a:solidFill>
              </a:rPr>
              <a:t> (2012) </a:t>
            </a:r>
            <a:r>
              <a:rPr lang="en-US" dirty="0"/>
              <a:t>– Sparked the deep learning revolution; used </a:t>
            </a:r>
            <a:r>
              <a:rPr lang="en-US" dirty="0" err="1"/>
              <a:t>ReLU</a:t>
            </a:r>
            <a:r>
              <a:rPr lang="en-US" dirty="0"/>
              <a:t>, dropout, and GPU training to achieve huge ImageNet success.</a:t>
            </a:r>
          </a:p>
          <a:p>
            <a:r>
              <a:rPr lang="en-US" dirty="0">
                <a:solidFill>
                  <a:srgbClr val="FF0000"/>
                </a:solidFill>
              </a:rPr>
              <a:t>VGG (2014) </a:t>
            </a:r>
            <a:r>
              <a:rPr lang="en-US" dirty="0"/>
              <a:t>– Showed that depth and uniform small filters (3×3) improve performance, though at the cost of computation.</a:t>
            </a:r>
          </a:p>
          <a:p>
            <a:r>
              <a:rPr lang="en-US" dirty="0" err="1">
                <a:solidFill>
                  <a:srgbClr val="FF0000"/>
                </a:solidFill>
              </a:rPr>
              <a:t>ResNet</a:t>
            </a:r>
            <a:r>
              <a:rPr lang="en-US" dirty="0">
                <a:solidFill>
                  <a:srgbClr val="FF0000"/>
                </a:solidFill>
              </a:rPr>
              <a:t> (2015) </a:t>
            </a:r>
            <a:r>
              <a:rPr lang="en-US" dirty="0"/>
              <a:t>– Solved the vanishing gradient problem using skip connections, allowing networks with 100+ layers to train effectively.</a:t>
            </a:r>
          </a:p>
        </p:txBody>
      </p:sp>
    </p:spTree>
    <p:extLst>
      <p:ext uri="{BB962C8B-B14F-4D97-AF65-F5344CB8AC3E}">
        <p14:creationId xmlns:p14="http://schemas.microsoft.com/office/powerpoint/2010/main" val="139919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FE8DE-3C4D-EDFA-4D6B-1934B21E7F23}"/>
              </a:ext>
            </a:extLst>
          </p:cNvPr>
          <p:cNvSpPr txBox="1"/>
          <p:nvPr/>
        </p:nvSpPr>
        <p:spPr>
          <a:xfrm>
            <a:off x="1151725" y="593313"/>
            <a:ext cx="6861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LeNet → </a:t>
            </a:r>
            <a:r>
              <a:rPr lang="en-US" sz="2400" b="1" dirty="0" err="1"/>
              <a:t>AlexNet</a:t>
            </a:r>
            <a:r>
              <a:rPr lang="en-US" sz="2400" b="1" dirty="0"/>
              <a:t> → VGG → </a:t>
            </a:r>
            <a:r>
              <a:rPr lang="en-US" sz="2400" b="1" dirty="0" err="1"/>
              <a:t>ResNet</a:t>
            </a:r>
            <a:r>
              <a:rPr lang="en-US" sz="2400" dirty="0"/>
              <a:t> represents the </a:t>
            </a:r>
            <a:r>
              <a:rPr lang="en-US" sz="2400" b="1" dirty="0"/>
              <a:t>evolution from shallow to ultra-deep CNNs</a:t>
            </a:r>
            <a:r>
              <a:rPr lang="en-US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A2784-5B83-47BD-0C68-F43C14F7C6E6}"/>
              </a:ext>
            </a:extLst>
          </p:cNvPr>
          <p:cNvSpPr txBox="1"/>
          <p:nvPr/>
        </p:nvSpPr>
        <p:spPr>
          <a:xfrm>
            <a:off x="1033062" y="1521675"/>
            <a:ext cx="686149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700" dirty="0" err="1">
                <a:solidFill>
                  <a:srgbClr val="FF0000"/>
                </a:solidFill>
              </a:rPr>
              <a:t>ResNet</a:t>
            </a:r>
            <a:r>
              <a:rPr lang="en-US" sz="2700" dirty="0"/>
              <a:t> is the foundation for most modern architectures (e.g., </a:t>
            </a:r>
            <a:r>
              <a:rPr lang="en-US" sz="2700" dirty="0" err="1"/>
              <a:t>EfficientNet</a:t>
            </a:r>
            <a:r>
              <a:rPr lang="en-US" sz="2700" dirty="0"/>
              <a:t>, </a:t>
            </a:r>
            <a:r>
              <a:rPr lang="en-US" sz="2700" dirty="0" err="1"/>
              <a:t>DenseNet</a:t>
            </a:r>
            <a:r>
              <a:rPr lang="en-US" sz="2700" dirty="0"/>
              <a:t>, Vision Transformers use similar residual ideas).</a:t>
            </a:r>
            <a:br>
              <a:rPr lang="en-US" sz="2700" dirty="0"/>
            </a:br>
            <a:br>
              <a:rPr lang="en-US" sz="2700" dirty="0"/>
            </a:br>
            <a:endParaRPr lang="en-US" sz="27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700" dirty="0">
                <a:solidFill>
                  <a:srgbClr val="FF0000"/>
                </a:solidFill>
              </a:rPr>
              <a:t>VGG</a:t>
            </a:r>
            <a:r>
              <a:rPr lang="en-US" sz="2700" dirty="0"/>
              <a:t> remains popular for feature extraction in transfer learning due to its simplicity.</a:t>
            </a:r>
            <a:br>
              <a:rPr lang="en-US" sz="2700" dirty="0"/>
            </a:br>
            <a:br>
              <a:rPr lang="en-US" sz="2700" dirty="0"/>
            </a:br>
            <a:endParaRPr lang="en-US" sz="27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700" dirty="0" err="1">
                <a:solidFill>
                  <a:srgbClr val="FF0000"/>
                </a:solidFill>
              </a:rPr>
              <a:t>AlexNet</a:t>
            </a:r>
            <a:r>
              <a:rPr lang="en-US" sz="2700" dirty="0"/>
              <a:t> introduced GPU acceleration and </a:t>
            </a:r>
            <a:r>
              <a:rPr lang="en-US" sz="2700" dirty="0" err="1"/>
              <a:t>ReLU</a:t>
            </a:r>
            <a:r>
              <a:rPr lang="en-US" sz="2700" dirty="0"/>
              <a:t> — two turning points in deep learning history.</a:t>
            </a:r>
          </a:p>
        </p:txBody>
      </p:sp>
    </p:spTree>
    <p:extLst>
      <p:ext uri="{BB962C8B-B14F-4D97-AF65-F5344CB8AC3E}">
        <p14:creationId xmlns:p14="http://schemas.microsoft.com/office/powerpoint/2010/main" val="360517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0748A8-6C03-2174-76C4-F97CF6F42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87712"/>
              </p:ext>
            </p:extLst>
          </p:nvPr>
        </p:nvGraphicFramePr>
        <p:xfrm>
          <a:off x="104702" y="1"/>
          <a:ext cx="8927616" cy="6551588"/>
        </p:xfrm>
        <a:graphic>
          <a:graphicData uri="http://schemas.openxmlformats.org/drawingml/2006/table">
            <a:tbl>
              <a:tblPr/>
              <a:tblGrid>
                <a:gridCol w="1796691">
                  <a:extLst>
                    <a:ext uri="{9D8B030D-6E8A-4147-A177-3AD203B41FA5}">
                      <a16:colId xmlns:a16="http://schemas.microsoft.com/office/drawing/2014/main" val="2715293201"/>
                    </a:ext>
                  </a:extLst>
                </a:gridCol>
                <a:gridCol w="1796691">
                  <a:extLst>
                    <a:ext uri="{9D8B030D-6E8A-4147-A177-3AD203B41FA5}">
                      <a16:colId xmlns:a16="http://schemas.microsoft.com/office/drawing/2014/main" val="4075379305"/>
                    </a:ext>
                  </a:extLst>
                </a:gridCol>
                <a:gridCol w="1796691">
                  <a:extLst>
                    <a:ext uri="{9D8B030D-6E8A-4147-A177-3AD203B41FA5}">
                      <a16:colId xmlns:a16="http://schemas.microsoft.com/office/drawing/2014/main" val="3671770819"/>
                    </a:ext>
                  </a:extLst>
                </a:gridCol>
                <a:gridCol w="1796691">
                  <a:extLst>
                    <a:ext uri="{9D8B030D-6E8A-4147-A177-3AD203B41FA5}">
                      <a16:colId xmlns:a16="http://schemas.microsoft.com/office/drawing/2014/main" val="1108805089"/>
                    </a:ext>
                  </a:extLst>
                </a:gridCol>
                <a:gridCol w="1740852">
                  <a:extLst>
                    <a:ext uri="{9D8B030D-6E8A-4147-A177-3AD203B41FA5}">
                      <a16:colId xmlns:a16="http://schemas.microsoft.com/office/drawing/2014/main" val="2180525917"/>
                    </a:ext>
                  </a:extLst>
                </a:gridCol>
              </a:tblGrid>
              <a:tr h="172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Aspect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LeNet-5 (1998)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AlexNet (2012)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VGGNet (2014)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ResNet (2015)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666193"/>
                  </a:ext>
                </a:extLst>
              </a:tr>
              <a:tr h="562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Introduced by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Yann LeCun et al.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Alex Krizhevsky et al.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Karen Simonyan &amp; Andrew Zisserman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Kaiming He et al.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543318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Dataset Used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MNIST (digits)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ImageNet (1.2M images, 1000 classes)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ImageNet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ImageNet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859445"/>
                  </a:ext>
                </a:extLst>
              </a:tr>
              <a:tr h="302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Input Size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32×32 grayscale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227×227 RGB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224×224 RGB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224×224 RGB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206730"/>
                  </a:ext>
                </a:extLst>
              </a:tr>
              <a:tr h="302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# of Layers (approx.)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5–7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 (5 conv + 3 FC)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16 or 19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34, 50, 101, 152, ...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201889"/>
                  </a:ext>
                </a:extLst>
              </a:tr>
              <a:tr h="692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</a:rPr>
                        <a:t>Main Innovation</a:t>
                      </a:r>
                      <a:endParaRPr lang="en-US" sz="1100">
                        <a:solidFill>
                          <a:srgbClr val="FF0000"/>
                        </a:solidFill>
                      </a:endParaRP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First successful CNN for digit recognition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Reintroduced deep CNNs with ReLU and GPU training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Deeper but simple architecture with small (3×3) filters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Introduced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residual connections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 to train very deep networks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052150"/>
                  </a:ext>
                </a:extLst>
              </a:tr>
              <a:tr h="302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Activation Function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Sigmoid / tanh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ReLU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ReLU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ReLU</a:t>
                      </a:r>
                      <a:endParaRPr lang="en-US" sz="1100" dirty="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1346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</a:rPr>
                        <a:t>Pooling</a:t>
                      </a:r>
                      <a:endParaRPr lang="en-US" sz="1100">
                        <a:solidFill>
                          <a:srgbClr val="FF0000"/>
                        </a:solidFill>
                      </a:endParaRP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Average pooling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Max pooling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Max pooling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Average pooling (at end)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664070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Normalization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None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Local Response Normalization (LRN)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None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Batch Normalization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131954"/>
                  </a:ext>
                </a:extLst>
              </a:tr>
              <a:tr h="302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# Parameters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~60K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~60 million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~138 million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~25 million (ResNet-50)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745181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Depth Characteristics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Shallow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Moderately deep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deep, uniform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Extremely deep with skip connections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85652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</a:rPr>
                        <a:t>Performance (Top-5 Error on ImageNet)</a:t>
                      </a:r>
                      <a:endParaRPr lang="en-US" sz="1100">
                        <a:solidFill>
                          <a:srgbClr val="FF0000"/>
                        </a:solidFill>
                      </a:endParaRP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N/A (MNIST task)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~16%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FF0000"/>
                          </a:solidFill>
                        </a:rPr>
                        <a:t>~7.3% (VGG-16)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~3.6% (ResNet-152)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87637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Training Difficulty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Easy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Hard without GPUs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Hard (vanishing gradients)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Easier due to residual learning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203591"/>
                  </a:ext>
                </a:extLst>
              </a:tr>
              <a:tr h="302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Computational Cost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Low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 (for 2012)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high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Moderate (for its depth)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23766"/>
                  </a:ext>
                </a:extLst>
              </a:tr>
              <a:tr h="562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Use Cases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Digit recognition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Object classification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 extraction, transfer learning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Most modern CNN-based tasks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29434"/>
                  </a:ext>
                </a:extLst>
              </a:tr>
              <a:tr h="432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Architecture Highlights</a:t>
                      </a:r>
                      <a:endParaRPr lang="en-US" sz="1100"/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Conv → Pool → FC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Conv-ReLU-Pool stacks, dropout, GPUs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Repeated 3×3 conv layers, simplicity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Residual blocks (identity shortcuts)</a:t>
                      </a:r>
                    </a:p>
                  </a:txBody>
                  <a:tcPr marL="29973" marR="29973" marT="14987" marB="149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86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75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5241ECD5-0916-77A2-93D0-2CC1AC4F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2103665"/>
            <a:ext cx="3971037" cy="2650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996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2A30252-FE39-609A-9A27-7F1EC2490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362" y="2103666"/>
            <a:ext cx="3971037" cy="26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8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F1E3A2-A3F8-D342-430A-F74753FAB4BA}"/>
              </a:ext>
            </a:extLst>
          </p:cNvPr>
          <p:cNvSpPr txBox="1"/>
          <p:nvPr/>
        </p:nvSpPr>
        <p:spPr>
          <a:xfrm>
            <a:off x="296655" y="349443"/>
            <a:ext cx="7542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Each model’s </a:t>
            </a:r>
            <a:r>
              <a:rPr lang="nb-NO" b="1" dirty="0"/>
              <a:t>input size differs</a:t>
            </a:r>
            <a:r>
              <a:rPr lang="nb-NO" dirty="0"/>
              <a:t> (32×32 for LeNet, 227×227 for AlexNet, 224×224 for VGG/ResNet)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CF12A-DFE5-F088-B64C-DC68F5853728}"/>
              </a:ext>
            </a:extLst>
          </p:cNvPr>
          <p:cNvSpPr txBox="1"/>
          <p:nvPr/>
        </p:nvSpPr>
        <p:spPr>
          <a:xfrm>
            <a:off x="952790" y="1542614"/>
            <a:ext cx="67393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      Parameters   Accuracy (%)   Train Time (s)</a:t>
            </a:r>
          </a:p>
          <a:p>
            <a:r>
              <a:rPr lang="en-US" b="1" dirty="0">
                <a:solidFill>
                  <a:srgbClr val="FF0000"/>
                </a:solidFill>
              </a:rPr>
              <a:t>LeNet           61,706             68.50          25.4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AlexNet</a:t>
            </a:r>
            <a:r>
              <a:rPr lang="en-US" b="1" dirty="0">
                <a:solidFill>
                  <a:srgbClr val="FF0000"/>
                </a:solidFill>
              </a:rPr>
              <a:t>       3,154,442        72.12          61.8</a:t>
            </a:r>
          </a:p>
          <a:p>
            <a:r>
              <a:rPr lang="en-US" b="1" dirty="0">
                <a:solidFill>
                  <a:srgbClr val="FF0000"/>
                </a:solidFill>
              </a:rPr>
              <a:t>VGG16        14,714,634       77.85         120.3</a:t>
            </a:r>
          </a:p>
          <a:p>
            <a:r>
              <a:rPr lang="en-US" b="1" dirty="0">
                <a:solidFill>
                  <a:srgbClr val="FF0000"/>
                </a:solidFill>
              </a:rPr>
              <a:t>ResNet50     23,587,712      84.56         180.9</a:t>
            </a:r>
          </a:p>
        </p:txBody>
      </p:sp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3CD157C4-436B-D5A2-7946-55674D47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4084" y="3061357"/>
            <a:ext cx="5687855" cy="379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30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A845-D0EC-71DE-B6C1-37E567B3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2C37-BE41-5BD7-A1EF-05F1EC41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F702-68FF-BDB7-DCAD-85F444628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1726"/>
            <a:ext cx="8229600" cy="4974438"/>
          </a:xfrm>
        </p:spPr>
        <p:txBody>
          <a:bodyPr>
            <a:normAutofit lnSpcReduction="10000"/>
          </a:bodyPr>
          <a:lstStyle/>
          <a:p>
            <a:r>
              <a:rPr dirty="0"/>
              <a:t>1. Why doesn’t adding layers always help?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Deep networks degrade w/o skip connections</a:t>
            </a:r>
            <a:endParaRPr dirty="0">
              <a:highlight>
                <a:srgbClr val="FFFF00"/>
              </a:highlight>
            </a:endParaRPr>
          </a:p>
          <a:p>
            <a:r>
              <a:rPr dirty="0"/>
              <a:t>2. What if we unfreeze all </a:t>
            </a:r>
            <a:r>
              <a:rPr dirty="0" err="1"/>
              <a:t>ResNet</a:t>
            </a:r>
            <a:r>
              <a:rPr dirty="0"/>
              <a:t> layers?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Overfits small data</a:t>
            </a:r>
            <a:endParaRPr dirty="0">
              <a:highlight>
                <a:srgbClr val="FFFF00"/>
              </a:highlight>
            </a:endParaRPr>
          </a:p>
          <a:p>
            <a:r>
              <a:rPr dirty="0"/>
              <a:t>3. How do skip connections help?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Skip connections preserve gradient flow</a:t>
            </a:r>
            <a:endParaRPr dirty="0">
              <a:highlight>
                <a:srgbClr val="FFFF00"/>
              </a:highlight>
            </a:endParaRPr>
          </a:p>
          <a:p>
            <a:r>
              <a:rPr dirty="0"/>
              <a:t>4. Would </a:t>
            </a:r>
            <a:r>
              <a:rPr dirty="0" err="1"/>
              <a:t>AlexNet</a:t>
            </a:r>
            <a:r>
              <a:rPr dirty="0"/>
              <a:t> improve with </a:t>
            </a:r>
            <a:r>
              <a:rPr dirty="0" err="1"/>
              <a:t>BatchNorm</a:t>
            </a:r>
            <a:r>
              <a:rPr dirty="0"/>
              <a:t>?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BN stabilizes &amp; regularizes</a:t>
            </a:r>
            <a:endParaRPr dirty="0">
              <a:highlight>
                <a:srgbClr val="FFFF00"/>
              </a:highlight>
            </a:endParaRPr>
          </a:p>
          <a:p>
            <a:r>
              <a:rPr dirty="0"/>
              <a:t>5. When might transfer learning fail?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Fails with domain mismatch</a:t>
            </a:r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832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2B6CD-2FD8-AA1E-A547-870B5213A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432769"/>
            <a:ext cx="7782466" cy="556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1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E0B16-AE29-A547-8435-F089C671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4" y="181483"/>
            <a:ext cx="9171132" cy="56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1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3AB1F-F8EF-0854-840C-2BE02F38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80" y="154724"/>
            <a:ext cx="6686986" cy="654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6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9186E-8398-A417-3A2F-C183800F2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81" y="1333209"/>
            <a:ext cx="8374667" cy="294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8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63592-85FE-58A1-AA7D-4BA0757A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8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1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416C4D-7B8A-58DA-94C0-4EC1B0DB0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85" b="-1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8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EF2D2-B9C7-941B-E938-A2314DDB3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21675"/>
            <a:ext cx="8178799" cy="341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0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A6749-E3E7-4D9C-2780-15D27915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66" y="169738"/>
            <a:ext cx="4436249" cy="63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63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B9CE7-D3F3-ACA2-C10C-FFB55059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25" y="-64539"/>
            <a:ext cx="5834245" cy="595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36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CF8111-5262-1BB7-A9FE-DCC387140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70" y="434945"/>
            <a:ext cx="5955881" cy="598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5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7034</TotalTime>
  <Words>579</Words>
  <Application>Microsoft Office PowerPoint</Application>
  <PresentationFormat>On-screen Show (4:3)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CNNs variants Evolution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Nouhad Rizk</cp:lastModifiedBy>
  <cp:revision>11</cp:revision>
  <dcterms:created xsi:type="dcterms:W3CDTF">2013-01-27T09:14:16Z</dcterms:created>
  <dcterms:modified xsi:type="dcterms:W3CDTF">2025-10-13T18:06:15Z</dcterms:modified>
  <cp:category/>
</cp:coreProperties>
</file>