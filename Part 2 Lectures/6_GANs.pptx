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70"/>
  </p:notesMasterIdLst>
  <p:sldIdLst>
    <p:sldId id="257" r:id="rId2"/>
    <p:sldId id="692" r:id="rId3"/>
    <p:sldId id="259" r:id="rId4"/>
    <p:sldId id="260" r:id="rId5"/>
    <p:sldId id="261" r:id="rId6"/>
    <p:sldId id="262" r:id="rId7"/>
    <p:sldId id="693" r:id="rId8"/>
    <p:sldId id="264" r:id="rId9"/>
    <p:sldId id="265" r:id="rId10"/>
    <p:sldId id="267" r:id="rId11"/>
    <p:sldId id="694" r:id="rId12"/>
    <p:sldId id="269" r:id="rId13"/>
    <p:sldId id="270" r:id="rId14"/>
    <p:sldId id="271" r:id="rId15"/>
    <p:sldId id="272" r:id="rId16"/>
    <p:sldId id="273" r:id="rId17"/>
    <p:sldId id="695" r:id="rId18"/>
    <p:sldId id="275" r:id="rId19"/>
    <p:sldId id="276" r:id="rId20"/>
    <p:sldId id="277" r:id="rId21"/>
    <p:sldId id="278" r:id="rId22"/>
    <p:sldId id="696" r:id="rId23"/>
    <p:sldId id="697" r:id="rId24"/>
    <p:sldId id="698" r:id="rId25"/>
    <p:sldId id="699" r:id="rId26"/>
    <p:sldId id="700" r:id="rId27"/>
    <p:sldId id="701" r:id="rId28"/>
    <p:sldId id="285" r:id="rId29"/>
    <p:sldId id="702" r:id="rId30"/>
    <p:sldId id="287" r:id="rId31"/>
    <p:sldId id="288" r:id="rId32"/>
    <p:sldId id="703" r:id="rId33"/>
    <p:sldId id="704" r:id="rId34"/>
    <p:sldId id="705" r:id="rId35"/>
    <p:sldId id="292" r:id="rId36"/>
    <p:sldId id="293" r:id="rId37"/>
    <p:sldId id="706" r:id="rId38"/>
    <p:sldId id="715" r:id="rId39"/>
    <p:sldId id="716" r:id="rId40"/>
    <p:sldId id="717" r:id="rId41"/>
    <p:sldId id="718" r:id="rId42"/>
    <p:sldId id="719" r:id="rId43"/>
    <p:sldId id="720" r:id="rId44"/>
    <p:sldId id="721" r:id="rId45"/>
    <p:sldId id="722" r:id="rId46"/>
    <p:sldId id="723" r:id="rId47"/>
    <p:sldId id="724" r:id="rId48"/>
    <p:sldId id="713" r:id="rId49"/>
    <p:sldId id="709" r:id="rId50"/>
    <p:sldId id="710" r:id="rId51"/>
    <p:sldId id="711" r:id="rId52"/>
    <p:sldId id="712" r:id="rId53"/>
    <p:sldId id="298" r:id="rId54"/>
    <p:sldId id="708" r:id="rId55"/>
    <p:sldId id="707" r:id="rId56"/>
    <p:sldId id="714" r:id="rId57"/>
    <p:sldId id="725" r:id="rId58"/>
    <p:sldId id="727" r:id="rId59"/>
    <p:sldId id="728" r:id="rId60"/>
    <p:sldId id="729" r:id="rId61"/>
    <p:sldId id="730" r:id="rId62"/>
    <p:sldId id="726" r:id="rId63"/>
    <p:sldId id="737" r:id="rId64"/>
    <p:sldId id="731" r:id="rId65"/>
    <p:sldId id="732" r:id="rId66"/>
    <p:sldId id="733" r:id="rId67"/>
    <p:sldId id="734" r:id="rId68"/>
    <p:sldId id="735" r:id="rId69"/>
  </p:sldIdLst>
  <p:sldSz cx="10083800" cy="5670550"/>
  <p:notesSz cx="10083800" cy="56705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94660"/>
  </p:normalViewPr>
  <p:slideViewPr>
    <p:cSldViewPr>
      <p:cViewPr>
        <p:scale>
          <a:sx n="74" d="100"/>
          <a:sy n="74" d="100"/>
        </p:scale>
        <p:origin x="31" y="3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284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8DA6D-BA35-47CD-BB0B-F04D34A1F30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709613"/>
            <a:ext cx="3400425" cy="1912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8063" y="2728913"/>
            <a:ext cx="8067675" cy="2233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11825" y="5386388"/>
            <a:ext cx="4370388" cy="2841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85266-2D54-415F-8771-9E663017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F9DA-D544-4AE5-AE86-499652E01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028"/>
            <a:ext cx="7562850" cy="1974191"/>
          </a:xfrm>
          <a:prstGeom prst="rect">
            <a:avLst/>
          </a:prstGeom>
        </p:spPr>
        <p:txBody>
          <a:bodyPr anchor="b"/>
          <a:lstStyle>
            <a:lvl1pPr algn="ctr"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3D6C9-D247-4063-8D2B-AEB52300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352"/>
            <a:ext cx="7562850" cy="13690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23A3-3CC5-42AC-A5A0-A9EF34CB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8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9F77-C56E-49A5-9748-7C52B6AE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7523-2951-4793-9233-9143C1E4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D2773-D27C-4765-B0E8-2D408B26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84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698C-16A5-4884-BD84-1F07BB8C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09" y="1413700"/>
            <a:ext cx="8697278" cy="2358791"/>
          </a:xfrm>
          <a:prstGeom prst="rect">
            <a:avLst/>
          </a:prstGeom>
        </p:spPr>
        <p:txBody>
          <a:bodyPr anchor="b"/>
          <a:lstStyle>
            <a:lvl1pPr>
              <a:defRPr sz="496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61F2-F6C6-4EC4-8168-F008402A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009" y="3794807"/>
            <a:ext cx="8697278" cy="12404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A83EC-4419-4129-A10F-3DB8A143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68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1A5C-61A7-4517-8770-1DCCAF6E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85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7721-920E-451D-8A5A-82421785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261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7AB5D-D468-4927-80AC-04CC77B4F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4924" y="1509521"/>
            <a:ext cx="4285615" cy="3597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16D4-A4EE-48FA-B00A-6F0CF601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09566-4C43-42BC-9134-C4624C16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34" y="19689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A08B-D1FE-4C42-A3A7-85391660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575" y="1390073"/>
            <a:ext cx="4265920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3804-F74C-44BD-8767-75C411DB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575" y="2071326"/>
            <a:ext cx="4265920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2B3F-DE27-4AF0-9C77-83862E8A1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4924" y="1390073"/>
            <a:ext cx="4286928" cy="6812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03ED6-FA5C-42BE-AD02-725C1CA14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4924" y="2071326"/>
            <a:ext cx="4286928" cy="3046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F1231-C6EE-418B-95BC-A51AE425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7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146B-9C23-46CB-BF79-87BDF8858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2E703-9736-4BEE-855C-50F9BF02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261" y="5255760"/>
            <a:ext cx="2268855" cy="301904"/>
          </a:xfrm>
          <a:prstGeom prst="rect">
            <a:avLst/>
          </a:prstGeom>
        </p:spPr>
        <p:txBody>
          <a:bodyPr/>
          <a:lstStyle/>
          <a:p>
            <a:pPr defTabSz="756117"/>
            <a:fld id="{C9E90480-6D2B-4DC5-8F84-E5A1E18C92B8}" type="datetimeFigureOut">
              <a:rPr lang="en-US" sz="1488" smtClean="0">
                <a:solidFill>
                  <a:prstClr val="black"/>
                </a:solidFill>
              </a:rPr>
              <a:pPr defTabSz="756117"/>
              <a:t>10/15/2025</a:t>
            </a:fld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03929-9BCA-4DA3-842C-5B3A2A75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0259" y="5255760"/>
            <a:ext cx="3403283" cy="301904"/>
          </a:xfrm>
          <a:prstGeom prst="rect">
            <a:avLst/>
          </a:prstGeom>
        </p:spPr>
        <p:txBody>
          <a:bodyPr/>
          <a:lstStyle/>
          <a:p>
            <a:pPr defTabSz="756117"/>
            <a:endParaRPr lang="en-US" sz="1488">
              <a:solidFill>
                <a:prstClr val="black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0AD8C-314A-44F0-80B1-F3ECD738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7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71024-34DA-4B13-BFC6-7E581576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88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0FDB-F273-4FDA-8843-71FE3133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8A2D-26E3-4111-9DE8-96C6A142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FEA8F-DF81-4C1A-A7B2-021D68A66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734DF-22E0-4AB9-B1B1-BED86737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7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D5C9-6CC8-449F-A926-7F6BAA18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75" y="378037"/>
            <a:ext cx="3252288" cy="1323128"/>
          </a:xfrm>
          <a:prstGeom prst="rect">
            <a:avLst/>
          </a:prstGeom>
        </p:spPr>
        <p:txBody>
          <a:bodyPr anchor="b"/>
          <a:lstStyle>
            <a:lvl1pPr>
              <a:defRPr sz="264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56DC5-B21D-4C96-A945-A256E84C9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928" y="816455"/>
            <a:ext cx="5104924" cy="4029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DB7F75-9770-4AFB-834D-1C1F4854C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575" y="1701165"/>
            <a:ext cx="3252288" cy="31516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47443-A469-4D0A-977A-8F63F52F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EB3-4CB4-42EE-BA12-413DC4CA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61" y="301905"/>
            <a:ext cx="8697278" cy="1096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2E597-37ED-491C-9AC6-FE25FA433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1509521"/>
            <a:ext cx="8697278" cy="3597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3D747-4472-4B75-9994-5D69784D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2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699AC-E01A-4929-9445-276F94EEC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6220" y="301904"/>
            <a:ext cx="2174319" cy="480552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F5439-6ED1-4203-BEE2-4AFDB71C9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261" y="301904"/>
            <a:ext cx="6396911" cy="480552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5CF74-1DB8-4B55-BDE0-6CDA2882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149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36453" y="2145048"/>
            <a:ext cx="94536" cy="378037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099" y="342900"/>
                </a:moveTo>
                <a:lnTo>
                  <a:pt x="0" y="342901"/>
                </a:lnTo>
                <a:lnTo>
                  <a:pt x="57150" y="457201"/>
                </a:lnTo>
                <a:lnTo>
                  <a:pt x="104774" y="361951"/>
                </a:lnTo>
                <a:lnTo>
                  <a:pt x="38100" y="361951"/>
                </a:lnTo>
                <a:lnTo>
                  <a:pt x="38099" y="342900"/>
                </a:lnTo>
                <a:close/>
              </a:path>
              <a:path w="114300" h="457200">
                <a:moveTo>
                  <a:pt x="76199" y="342900"/>
                </a:moveTo>
                <a:lnTo>
                  <a:pt x="38099" y="342900"/>
                </a:lnTo>
                <a:lnTo>
                  <a:pt x="38100" y="361951"/>
                </a:lnTo>
                <a:lnTo>
                  <a:pt x="76200" y="361951"/>
                </a:lnTo>
                <a:lnTo>
                  <a:pt x="76199" y="34290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199" y="342900"/>
                </a:lnTo>
                <a:lnTo>
                  <a:pt x="76200" y="361951"/>
                </a:lnTo>
                <a:lnTo>
                  <a:pt x="104774" y="361951"/>
                </a:lnTo>
                <a:lnTo>
                  <a:pt x="114300" y="342900"/>
                </a:lnTo>
                <a:close/>
              </a:path>
              <a:path w="114300" h="457200">
                <a:moveTo>
                  <a:pt x="76198" y="0"/>
                </a:moveTo>
                <a:lnTo>
                  <a:pt x="38098" y="1"/>
                </a:lnTo>
                <a:lnTo>
                  <a:pt x="38099" y="342900"/>
                </a:lnTo>
                <a:lnTo>
                  <a:pt x="76199" y="342900"/>
                </a:lnTo>
                <a:lnTo>
                  <a:pt x="761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17" name="bg object 17"/>
          <p:cNvSpPr/>
          <p:nvPr/>
        </p:nvSpPr>
        <p:spPr>
          <a:xfrm>
            <a:off x="6551187" y="2842052"/>
            <a:ext cx="94536" cy="315031"/>
          </a:xfrm>
          <a:custGeom>
            <a:avLst/>
            <a:gdLst/>
            <a:ahLst/>
            <a:cxnLst/>
            <a:rect l="l" t="t" r="r" b="b"/>
            <a:pathLst>
              <a:path w="114300" h="381000">
                <a:moveTo>
                  <a:pt x="38099" y="266700"/>
                </a:moveTo>
                <a:lnTo>
                  <a:pt x="0" y="266700"/>
                </a:lnTo>
                <a:lnTo>
                  <a:pt x="57150" y="381000"/>
                </a:lnTo>
                <a:lnTo>
                  <a:pt x="104775" y="285750"/>
                </a:lnTo>
                <a:lnTo>
                  <a:pt x="38100" y="285750"/>
                </a:lnTo>
                <a:lnTo>
                  <a:pt x="38099" y="266700"/>
                </a:lnTo>
                <a:close/>
              </a:path>
              <a:path w="114300" h="381000">
                <a:moveTo>
                  <a:pt x="76198" y="0"/>
                </a:moveTo>
                <a:lnTo>
                  <a:pt x="38098" y="0"/>
                </a:lnTo>
                <a:lnTo>
                  <a:pt x="38100" y="285750"/>
                </a:lnTo>
                <a:lnTo>
                  <a:pt x="76200" y="285750"/>
                </a:lnTo>
                <a:lnTo>
                  <a:pt x="76198" y="0"/>
                </a:lnTo>
                <a:close/>
              </a:path>
              <a:path w="114300" h="381000">
                <a:moveTo>
                  <a:pt x="114300" y="266700"/>
                </a:moveTo>
                <a:lnTo>
                  <a:pt x="76199" y="266700"/>
                </a:lnTo>
                <a:lnTo>
                  <a:pt x="76200" y="285750"/>
                </a:lnTo>
                <a:lnTo>
                  <a:pt x="104775" y="285750"/>
                </a:lnTo>
                <a:lnTo>
                  <a:pt x="114300" y="266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18" name="bg object 18"/>
          <p:cNvSpPr/>
          <p:nvPr/>
        </p:nvSpPr>
        <p:spPr>
          <a:xfrm>
            <a:off x="6558451" y="3558251"/>
            <a:ext cx="94536" cy="378037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899"/>
                </a:moveTo>
                <a:lnTo>
                  <a:pt x="0" y="342899"/>
                </a:lnTo>
                <a:lnTo>
                  <a:pt x="57150" y="457199"/>
                </a:lnTo>
                <a:lnTo>
                  <a:pt x="104775" y="361949"/>
                </a:lnTo>
                <a:lnTo>
                  <a:pt x="38100" y="361949"/>
                </a:lnTo>
                <a:lnTo>
                  <a:pt x="38100" y="342899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49"/>
                </a:lnTo>
                <a:lnTo>
                  <a:pt x="76200" y="361949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899"/>
                </a:moveTo>
                <a:lnTo>
                  <a:pt x="76200" y="342899"/>
                </a:lnTo>
                <a:lnTo>
                  <a:pt x="76200" y="361949"/>
                </a:lnTo>
                <a:lnTo>
                  <a:pt x="104775" y="361949"/>
                </a:lnTo>
                <a:lnTo>
                  <a:pt x="114300" y="3428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19" name="bg object 19"/>
          <p:cNvSpPr/>
          <p:nvPr/>
        </p:nvSpPr>
        <p:spPr>
          <a:xfrm>
            <a:off x="6558451" y="4210457"/>
            <a:ext cx="94536" cy="378037"/>
          </a:xfrm>
          <a:custGeom>
            <a:avLst/>
            <a:gdLst/>
            <a:ahLst/>
            <a:cxnLst/>
            <a:rect l="l" t="t" r="r" b="b"/>
            <a:pathLst>
              <a:path w="114300" h="457200">
                <a:moveTo>
                  <a:pt x="38100" y="342900"/>
                </a:move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38100" y="361950"/>
                </a:lnTo>
                <a:lnTo>
                  <a:pt x="38100" y="342900"/>
                </a:lnTo>
                <a:close/>
              </a:path>
              <a:path w="114300" h="457200">
                <a:moveTo>
                  <a:pt x="76200" y="0"/>
                </a:moveTo>
                <a:lnTo>
                  <a:pt x="38100" y="0"/>
                </a:lnTo>
                <a:lnTo>
                  <a:pt x="38100" y="361950"/>
                </a:lnTo>
                <a:lnTo>
                  <a:pt x="76200" y="361950"/>
                </a:lnTo>
                <a:lnTo>
                  <a:pt x="76200" y="0"/>
                </a:lnTo>
                <a:close/>
              </a:path>
              <a:path w="114300" h="457200">
                <a:moveTo>
                  <a:pt x="114300" y="342900"/>
                </a:moveTo>
                <a:lnTo>
                  <a:pt x="76200" y="342900"/>
                </a:lnTo>
                <a:lnTo>
                  <a:pt x="76200" y="36195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20" name="bg object 20"/>
          <p:cNvSpPr/>
          <p:nvPr/>
        </p:nvSpPr>
        <p:spPr>
          <a:xfrm>
            <a:off x="5194225" y="1032446"/>
            <a:ext cx="3102868" cy="4302267"/>
          </a:xfrm>
          <a:custGeom>
            <a:avLst/>
            <a:gdLst/>
            <a:ahLst/>
            <a:cxnLst/>
            <a:rect l="l" t="t" r="r" b="b"/>
            <a:pathLst>
              <a:path w="3751579" h="5203190">
                <a:moveTo>
                  <a:pt x="0" y="0"/>
                </a:moveTo>
                <a:lnTo>
                  <a:pt x="3751553" y="0"/>
                </a:lnTo>
                <a:lnTo>
                  <a:pt x="3751553" y="5203188"/>
                </a:lnTo>
                <a:lnTo>
                  <a:pt x="0" y="52031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88"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969" y="920507"/>
            <a:ext cx="810553" cy="367012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4334969" y="920506"/>
            <a:ext cx="810906" cy="367011"/>
          </a:xfrm>
          <a:custGeom>
            <a:avLst/>
            <a:gdLst/>
            <a:ahLst/>
            <a:cxnLst/>
            <a:rect l="l" t="t" r="r" b="b"/>
            <a:pathLst>
              <a:path w="980439" h="443865">
                <a:moveTo>
                  <a:pt x="0" y="110966"/>
                </a:moveTo>
                <a:lnTo>
                  <a:pt x="758081" y="110966"/>
                </a:lnTo>
                <a:lnTo>
                  <a:pt x="758081" y="0"/>
                </a:lnTo>
                <a:lnTo>
                  <a:pt x="980015" y="221933"/>
                </a:lnTo>
                <a:lnTo>
                  <a:pt x="758081" y="443867"/>
                </a:lnTo>
                <a:lnTo>
                  <a:pt x="758081" y="332900"/>
                </a:lnTo>
                <a:lnTo>
                  <a:pt x="0" y="332900"/>
                </a:lnTo>
                <a:lnTo>
                  <a:pt x="0" y="110966"/>
                </a:lnTo>
                <a:close/>
              </a:path>
            </a:pathLst>
          </a:custGeom>
          <a:ln w="6350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23" name="bg object 23"/>
          <p:cNvSpPr/>
          <p:nvPr/>
        </p:nvSpPr>
        <p:spPr>
          <a:xfrm>
            <a:off x="1271669" y="1008571"/>
            <a:ext cx="2965267" cy="4027141"/>
          </a:xfrm>
          <a:custGeom>
            <a:avLst/>
            <a:gdLst/>
            <a:ahLst/>
            <a:cxnLst/>
            <a:rect l="l" t="t" r="r" b="b"/>
            <a:pathLst>
              <a:path w="3585210" h="4870450">
                <a:moveTo>
                  <a:pt x="3585210" y="0"/>
                </a:moveTo>
                <a:lnTo>
                  <a:pt x="0" y="0"/>
                </a:lnTo>
                <a:lnTo>
                  <a:pt x="0" y="4870202"/>
                </a:lnTo>
                <a:lnTo>
                  <a:pt x="3585210" y="4870202"/>
                </a:lnTo>
                <a:lnTo>
                  <a:pt x="358521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24" name="bg object 24"/>
          <p:cNvSpPr/>
          <p:nvPr/>
        </p:nvSpPr>
        <p:spPr>
          <a:xfrm>
            <a:off x="2642428" y="2111796"/>
            <a:ext cx="103989" cy="2653607"/>
          </a:xfrm>
          <a:custGeom>
            <a:avLst/>
            <a:gdLst/>
            <a:ahLst/>
            <a:cxnLst/>
            <a:rect l="l" t="t" r="r" b="b"/>
            <a:pathLst>
              <a:path w="125729" h="3209290">
                <a:moveTo>
                  <a:pt x="114300" y="3094685"/>
                </a:moveTo>
                <a:lnTo>
                  <a:pt x="76200" y="3094685"/>
                </a:lnTo>
                <a:lnTo>
                  <a:pt x="76200" y="2751785"/>
                </a:lnTo>
                <a:lnTo>
                  <a:pt x="38100" y="2751785"/>
                </a:lnTo>
                <a:lnTo>
                  <a:pt x="38100" y="3094685"/>
                </a:lnTo>
                <a:lnTo>
                  <a:pt x="0" y="3094685"/>
                </a:lnTo>
                <a:lnTo>
                  <a:pt x="57150" y="3208985"/>
                </a:lnTo>
                <a:lnTo>
                  <a:pt x="104775" y="3113735"/>
                </a:lnTo>
                <a:lnTo>
                  <a:pt x="114300" y="3094685"/>
                </a:lnTo>
                <a:close/>
              </a:path>
              <a:path w="125729" h="3209290">
                <a:moveTo>
                  <a:pt x="114300" y="342900"/>
                </a:moveTo>
                <a:lnTo>
                  <a:pt x="76200" y="342900"/>
                </a:lnTo>
                <a:lnTo>
                  <a:pt x="76200" y="0"/>
                </a:ln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57150" y="457200"/>
                </a:lnTo>
                <a:lnTo>
                  <a:pt x="104775" y="361950"/>
                </a:lnTo>
                <a:lnTo>
                  <a:pt x="114300" y="342900"/>
                </a:lnTo>
                <a:close/>
              </a:path>
              <a:path w="125729" h="3209290">
                <a:moveTo>
                  <a:pt x="125730" y="1924481"/>
                </a:moveTo>
                <a:lnTo>
                  <a:pt x="87630" y="1924481"/>
                </a:lnTo>
                <a:lnTo>
                  <a:pt x="87630" y="1581581"/>
                </a:lnTo>
                <a:lnTo>
                  <a:pt x="49530" y="1581581"/>
                </a:lnTo>
                <a:lnTo>
                  <a:pt x="49530" y="1924481"/>
                </a:lnTo>
                <a:lnTo>
                  <a:pt x="11430" y="1924481"/>
                </a:lnTo>
                <a:lnTo>
                  <a:pt x="68580" y="2038781"/>
                </a:lnTo>
                <a:lnTo>
                  <a:pt x="116205" y="1943531"/>
                </a:lnTo>
                <a:lnTo>
                  <a:pt x="125730" y="1924481"/>
                </a:lnTo>
                <a:close/>
              </a:path>
              <a:path w="125729" h="3209290">
                <a:moveTo>
                  <a:pt x="125730" y="1162481"/>
                </a:moveTo>
                <a:lnTo>
                  <a:pt x="87630" y="1162481"/>
                </a:lnTo>
                <a:lnTo>
                  <a:pt x="87630" y="819581"/>
                </a:lnTo>
                <a:lnTo>
                  <a:pt x="49530" y="819581"/>
                </a:lnTo>
                <a:lnTo>
                  <a:pt x="49530" y="1162481"/>
                </a:lnTo>
                <a:lnTo>
                  <a:pt x="11430" y="1162481"/>
                </a:lnTo>
                <a:lnTo>
                  <a:pt x="68580" y="1276781"/>
                </a:lnTo>
                <a:lnTo>
                  <a:pt x="116205" y="1181531"/>
                </a:lnTo>
                <a:lnTo>
                  <a:pt x="125730" y="11624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4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38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304227"/>
            <a:ext cx="4386453" cy="320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304227"/>
            <a:ext cx="4386453" cy="320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92" b="0" i="0">
                <a:solidFill>
                  <a:srgbClr val="898989"/>
                </a:solidFill>
                <a:latin typeface="Calibri Light"/>
                <a:cs typeface="Calibri Light"/>
              </a:defRPr>
            </a:lvl1pPr>
          </a:lstStyle>
          <a:p>
            <a:pPr marL="31505">
              <a:spcBef>
                <a:spcPts val="33"/>
              </a:spcBef>
            </a:pPr>
            <a:fld id="{81D60167-4931-47E6-BA6A-407CBD079E47}" type="slidenum">
              <a:rPr lang="en-US" smtClean="0"/>
              <a:pPr marL="31505">
                <a:spcBef>
                  <a:spcPts val="33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9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BB922-B92C-4BA4-BA65-EA3025B0B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5264" y="5171751"/>
            <a:ext cx="2268855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56117"/>
            <a:fld id="{E01CCCCC-388D-4F94-9868-71B320C71AC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5611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5D4FA-4801-4BDA-AFAF-7C5F82906C7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012"/>
            <a:ext cx="9587488" cy="53476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68DA6-4B78-463E-8077-A701B45E7694}"/>
              </a:ext>
            </a:extLst>
          </p:cNvPr>
          <p:cNvSpPr/>
          <p:nvPr userDrawn="1"/>
        </p:nvSpPr>
        <p:spPr>
          <a:xfrm>
            <a:off x="7944932" y="5338776"/>
            <a:ext cx="1441668" cy="1653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8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D3598-85E1-4F91-A630-D7B2DD6761F7}"/>
              </a:ext>
            </a:extLst>
          </p:cNvPr>
          <p:cNvSpPr txBox="1"/>
          <p:nvPr userDrawn="1"/>
        </p:nvSpPr>
        <p:spPr>
          <a:xfrm flipH="1">
            <a:off x="7944932" y="5322702"/>
            <a:ext cx="2472631" cy="219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56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7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COSC 4337 Data Science 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43691-6277-72A9-A123-4633283B046C}"/>
              </a:ext>
            </a:extLst>
          </p:cNvPr>
          <p:cNvSpPr txBox="1"/>
          <p:nvPr userDrawn="1"/>
        </p:nvSpPr>
        <p:spPr>
          <a:xfrm>
            <a:off x="4349413" y="5296093"/>
            <a:ext cx="304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GANs</a:t>
            </a:r>
          </a:p>
        </p:txBody>
      </p:sp>
    </p:spTree>
    <p:extLst>
      <p:ext uri="{BB962C8B-B14F-4D97-AF65-F5344CB8AC3E}">
        <p14:creationId xmlns:p14="http://schemas.microsoft.com/office/powerpoint/2010/main" val="228664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13" Type="http://schemas.openxmlformats.org/officeDocument/2006/relationships/image" Target="../media/image39.jpg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12" Type="http://schemas.openxmlformats.org/officeDocument/2006/relationships/image" Target="../media/image38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11" Type="http://schemas.openxmlformats.org/officeDocument/2006/relationships/image" Target="../media/image37.jpg"/><Relationship Id="rId5" Type="http://schemas.openxmlformats.org/officeDocument/2006/relationships/image" Target="../media/image31.png"/><Relationship Id="rId15" Type="http://schemas.openxmlformats.org/officeDocument/2006/relationships/image" Target="../media/image41.jpg"/><Relationship Id="rId10" Type="http://schemas.openxmlformats.org/officeDocument/2006/relationships/image" Target="../media/image36.jpg"/><Relationship Id="rId4" Type="http://schemas.openxmlformats.org/officeDocument/2006/relationships/image" Target="../media/image30.png"/><Relationship Id="rId9" Type="http://schemas.openxmlformats.org/officeDocument/2006/relationships/image" Target="../media/image35.jpg"/><Relationship Id="rId14" Type="http://schemas.openxmlformats.org/officeDocument/2006/relationships/image" Target="../media/image40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4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65.jpg"/><Relationship Id="rId7" Type="http://schemas.openxmlformats.org/officeDocument/2006/relationships/image" Target="../media/image69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jpg"/><Relationship Id="rId4" Type="http://schemas.openxmlformats.org/officeDocument/2006/relationships/image" Target="../media/image66.jpg"/><Relationship Id="rId9" Type="http://schemas.openxmlformats.org/officeDocument/2006/relationships/image" Target="../media/image71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73.jpg"/><Relationship Id="rId7" Type="http://schemas.openxmlformats.org/officeDocument/2006/relationships/image" Target="../media/image75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3.png"/><Relationship Id="rId5" Type="http://schemas.openxmlformats.org/officeDocument/2006/relationships/image" Target="../media/image67.jpg"/><Relationship Id="rId10" Type="http://schemas.openxmlformats.org/officeDocument/2006/relationships/image" Target="../media/image76.png"/><Relationship Id="rId4" Type="http://schemas.openxmlformats.org/officeDocument/2006/relationships/image" Target="../media/image66.jpg"/><Relationship Id="rId9" Type="http://schemas.openxmlformats.org/officeDocument/2006/relationships/image" Target="../media/image7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173" y="1918333"/>
            <a:ext cx="7966470" cy="1451627"/>
          </a:xfrm>
          <a:prstGeom prst="rect">
            <a:avLst/>
          </a:prstGeom>
        </p:spPr>
        <p:txBody>
          <a:bodyPr vert="horz" wrap="square" lIns="0" tIns="230834" rIns="0" bIns="0" rtlCol="0">
            <a:spAutoFit/>
          </a:bodyPr>
          <a:lstStyle/>
          <a:p>
            <a:pPr marL="382704" indent="-376654">
              <a:spcBef>
                <a:spcPts val="1818"/>
              </a:spcBef>
              <a:buAutoNum type="romanUcPeriod"/>
              <a:tabLst>
                <a:tab pos="383022" algn="l"/>
              </a:tabLst>
            </a:pPr>
            <a:r>
              <a:rPr sz="3209" spc="43" dirty="0">
                <a:solidFill>
                  <a:srgbClr val="C82506"/>
                </a:solidFill>
                <a:latin typeface="Arial"/>
                <a:cs typeface="Arial"/>
              </a:rPr>
              <a:t>Attacking</a:t>
            </a:r>
            <a:r>
              <a:rPr sz="3209" spc="4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dirty="0">
                <a:solidFill>
                  <a:srgbClr val="C82506"/>
                </a:solidFill>
                <a:latin typeface="Arial"/>
                <a:cs typeface="Arial"/>
              </a:rPr>
              <a:t>NNs</a:t>
            </a:r>
            <a:r>
              <a:rPr sz="3209" spc="4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dirty="0">
                <a:solidFill>
                  <a:srgbClr val="C82506"/>
                </a:solidFill>
                <a:latin typeface="Arial"/>
                <a:cs typeface="Arial"/>
              </a:rPr>
              <a:t>with</a:t>
            </a:r>
            <a:r>
              <a:rPr sz="3209" spc="4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3209" spc="4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spc="-5" dirty="0">
                <a:solidFill>
                  <a:srgbClr val="C82506"/>
                </a:solidFill>
                <a:latin typeface="Arial"/>
                <a:cs typeface="Arial"/>
              </a:rPr>
              <a:t>Examples</a:t>
            </a:r>
            <a:endParaRPr sz="3209">
              <a:latin typeface="Arial"/>
              <a:cs typeface="Arial"/>
            </a:endParaRPr>
          </a:p>
          <a:p>
            <a:pPr marL="461346" indent="-455296">
              <a:spcBef>
                <a:spcPts val="1772"/>
              </a:spcBef>
              <a:buAutoNum type="romanUcPeriod"/>
              <a:tabLst>
                <a:tab pos="461664" algn="l"/>
              </a:tabLst>
            </a:pPr>
            <a:r>
              <a:rPr sz="3209" dirty="0">
                <a:solidFill>
                  <a:srgbClr val="C82506"/>
                </a:solidFill>
                <a:latin typeface="Arial"/>
                <a:cs typeface="Arial"/>
              </a:rPr>
              <a:t>Generative</a:t>
            </a:r>
            <a:r>
              <a:rPr sz="3209" spc="8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3209" spc="8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209" spc="-5" dirty="0">
                <a:solidFill>
                  <a:srgbClr val="C82506"/>
                </a:solidFill>
                <a:latin typeface="Arial"/>
                <a:cs typeface="Arial"/>
              </a:rPr>
              <a:t>Networks</a:t>
            </a:r>
            <a:endParaRPr sz="3209">
              <a:latin typeface="Arial"/>
              <a:cs typeface="Arial"/>
            </a:endParaRPr>
          </a:p>
        </p:txBody>
      </p:sp>
      <p:sp>
        <p:nvSpPr>
          <p:cNvPr id="7" name="object 2"/>
          <p:cNvSpPr txBox="1"/>
          <p:nvPr/>
        </p:nvSpPr>
        <p:spPr>
          <a:xfrm>
            <a:off x="469900" y="320675"/>
            <a:ext cx="8043839" cy="47687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algn="ctr">
              <a:spcBef>
                <a:spcPts val="8"/>
              </a:spcBef>
            </a:pPr>
            <a:r>
              <a:rPr sz="3059" dirty="0">
                <a:latin typeface="Arial"/>
                <a:cs typeface="Arial"/>
              </a:rPr>
              <a:t>Networks</a:t>
            </a:r>
            <a:r>
              <a:rPr sz="3059" spc="-48" dirty="0">
                <a:latin typeface="Arial"/>
                <a:cs typeface="Arial"/>
              </a:rPr>
              <a:t> </a:t>
            </a:r>
            <a:r>
              <a:rPr sz="3059" dirty="0">
                <a:latin typeface="Arial"/>
                <a:cs typeface="Arial"/>
              </a:rPr>
              <a:t>with</a:t>
            </a:r>
            <a:r>
              <a:rPr sz="3059" spc="-48" dirty="0">
                <a:latin typeface="Arial"/>
                <a:cs typeface="Arial"/>
              </a:rPr>
              <a:t> </a:t>
            </a:r>
            <a:r>
              <a:rPr sz="3059" dirty="0">
                <a:latin typeface="Arial"/>
                <a:cs typeface="Arial"/>
              </a:rPr>
              <a:t>Adversarial</a:t>
            </a:r>
            <a:r>
              <a:rPr sz="3059" spc="-48" dirty="0">
                <a:latin typeface="Arial"/>
                <a:cs typeface="Arial"/>
              </a:rPr>
              <a:t> </a:t>
            </a:r>
            <a:r>
              <a:rPr sz="3059" spc="-5" dirty="0">
                <a:latin typeface="Arial"/>
                <a:cs typeface="Arial"/>
              </a:rPr>
              <a:t>Examples</a:t>
            </a:r>
            <a:endParaRPr sz="3059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7740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515910">
              <a:lnSpc>
                <a:spcPct val="100000"/>
              </a:lnSpc>
              <a:spcBef>
                <a:spcPts val="57"/>
              </a:spcBef>
            </a:pPr>
            <a:r>
              <a:rPr dirty="0"/>
              <a:t>I.</a:t>
            </a:r>
            <a:r>
              <a:rPr spc="-88" dirty="0"/>
              <a:t> </a:t>
            </a:r>
            <a:r>
              <a:rPr dirty="0"/>
              <a:t>Adversarial</a:t>
            </a:r>
            <a:r>
              <a:rPr spc="-13" dirty="0"/>
              <a:t> </a:t>
            </a:r>
            <a:r>
              <a:rPr spc="-5" dirty="0"/>
              <a:t>examples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99" y="5489637"/>
            <a:ext cx="5657814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4919" y="2272193"/>
            <a:ext cx="8610576" cy="153063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410403" indent="-404354">
              <a:spcBef>
                <a:spcPts val="50"/>
              </a:spcBef>
              <a:buAutoNum type="alphaUcPeriod"/>
              <a:tabLst>
                <a:tab pos="410722" algn="l"/>
              </a:tabLst>
            </a:pP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Attacking</a:t>
            </a:r>
            <a:r>
              <a:rPr sz="2357" spc="3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</a:t>
            </a:r>
            <a:r>
              <a:rPr sz="2357" spc="3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network</a:t>
            </a:r>
            <a:r>
              <a:rPr sz="2357" spc="3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with</a:t>
            </a:r>
            <a:r>
              <a:rPr sz="2357" spc="3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2357" spc="3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spc="-5" dirty="0">
                <a:solidFill>
                  <a:srgbClr val="C82506"/>
                </a:solidFill>
                <a:latin typeface="Arial"/>
                <a:cs typeface="Arial"/>
              </a:rPr>
              <a:t>examples</a:t>
            </a:r>
            <a:endParaRPr sz="2357">
              <a:latin typeface="Arial"/>
              <a:cs typeface="Arial"/>
            </a:endParaRPr>
          </a:p>
          <a:p>
            <a:pPr marL="410403" indent="-404354">
              <a:spcBef>
                <a:spcPts val="1717"/>
              </a:spcBef>
              <a:buAutoNum type="alphaUcPeriod"/>
              <a:tabLst>
                <a:tab pos="410722" algn="l"/>
              </a:tabLst>
            </a:pP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Defenses</a:t>
            </a:r>
            <a:r>
              <a:rPr sz="2357" spc="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against</a:t>
            </a:r>
            <a:r>
              <a:rPr sz="2357" spc="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2357" spc="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spc="-5" dirty="0">
                <a:solidFill>
                  <a:srgbClr val="C82506"/>
                </a:solidFill>
                <a:latin typeface="Arial"/>
                <a:cs typeface="Arial"/>
              </a:rPr>
              <a:t>examples</a:t>
            </a:r>
            <a:endParaRPr sz="2357">
              <a:latin typeface="Arial"/>
              <a:cs typeface="Arial"/>
            </a:endParaRPr>
          </a:p>
          <a:p>
            <a:pPr marL="410403" indent="-404354">
              <a:spcBef>
                <a:spcPts val="1719"/>
              </a:spcBef>
              <a:buAutoNum type="alphaUcPeriod"/>
              <a:tabLst>
                <a:tab pos="410722" algn="l"/>
              </a:tabLst>
            </a:pP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Why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are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neural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networks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vulnerable</a:t>
            </a:r>
            <a:r>
              <a:rPr sz="2357" spc="-2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to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2357" spc="-2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2357" spc="-5" dirty="0">
                <a:solidFill>
                  <a:srgbClr val="C82506"/>
                </a:solidFill>
                <a:latin typeface="Arial"/>
                <a:cs typeface="Arial"/>
              </a:rPr>
              <a:t>examples?</a:t>
            </a:r>
            <a:endParaRPr sz="235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99" y="5312025"/>
            <a:ext cx="3131379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[Szegedy</a:t>
            </a:r>
            <a:r>
              <a:rPr sz="852" spc="6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et</a:t>
            </a:r>
            <a:r>
              <a:rPr sz="852" spc="6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al.</a:t>
            </a:r>
            <a:r>
              <a:rPr sz="852" spc="6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(2013):</a:t>
            </a:r>
            <a:r>
              <a:rPr sz="852" spc="6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Intriguing</a:t>
            </a:r>
            <a:r>
              <a:rPr sz="852" spc="6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properties</a:t>
            </a:r>
            <a:r>
              <a:rPr sz="852" spc="6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of</a:t>
            </a:r>
            <a:r>
              <a:rPr sz="852" spc="6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neural</a:t>
            </a:r>
            <a:r>
              <a:rPr sz="852" spc="63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networks]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29843" y="1783930"/>
            <a:ext cx="355325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“tomato”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35094" y="2209192"/>
            <a:ext cx="227331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b="1" spc="-183" dirty="0">
                <a:solidFill>
                  <a:srgbClr val="00882B"/>
                </a:solidFill>
                <a:latin typeface="Arial"/>
                <a:cs typeface="Arial"/>
              </a:rPr>
              <a:t>“</a:t>
            </a:r>
            <a:r>
              <a:rPr sz="702" spc="-73" dirty="0">
                <a:latin typeface="Arial"/>
                <a:cs typeface="Arial"/>
              </a:rPr>
              <a:t>“</a:t>
            </a:r>
            <a:r>
              <a:rPr sz="702" b="1" spc="-301" dirty="0">
                <a:solidFill>
                  <a:srgbClr val="00882B"/>
                </a:solidFill>
                <a:latin typeface="Arial"/>
                <a:cs typeface="Arial"/>
              </a:rPr>
              <a:t>c</a:t>
            </a:r>
            <a:r>
              <a:rPr sz="702" spc="-75" dirty="0">
                <a:latin typeface="Arial"/>
                <a:cs typeface="Arial"/>
              </a:rPr>
              <a:t>c</a:t>
            </a:r>
            <a:r>
              <a:rPr sz="702" b="1" spc="-301" dirty="0">
                <a:solidFill>
                  <a:srgbClr val="00882B"/>
                </a:solidFill>
                <a:latin typeface="Arial"/>
                <a:cs typeface="Arial"/>
              </a:rPr>
              <a:t>a</a:t>
            </a:r>
            <a:r>
              <a:rPr sz="702" spc="-83" dirty="0">
                <a:latin typeface="Arial"/>
                <a:cs typeface="Arial"/>
              </a:rPr>
              <a:t>a</a:t>
            </a:r>
            <a:r>
              <a:rPr sz="702" b="1" spc="-143" dirty="0">
                <a:solidFill>
                  <a:srgbClr val="00882B"/>
                </a:solidFill>
                <a:latin typeface="Arial"/>
                <a:cs typeface="Arial"/>
              </a:rPr>
              <a:t>t</a:t>
            </a:r>
            <a:r>
              <a:rPr sz="702" spc="-45" dirty="0">
                <a:latin typeface="Arial"/>
                <a:cs typeface="Arial"/>
              </a:rPr>
              <a:t>t</a:t>
            </a:r>
            <a:r>
              <a:rPr sz="702" b="1" spc="-298" dirty="0">
                <a:solidFill>
                  <a:srgbClr val="00882B"/>
                </a:solidFill>
                <a:latin typeface="Arial"/>
                <a:cs typeface="Arial"/>
              </a:rPr>
              <a:t>”</a:t>
            </a:r>
            <a:r>
              <a:rPr sz="702" spc="5" dirty="0">
                <a:latin typeface="Arial"/>
                <a:cs typeface="Arial"/>
              </a:rPr>
              <a:t>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3310" y="1901401"/>
            <a:ext cx="373155" cy="325714"/>
          </a:xfrm>
          <a:custGeom>
            <a:avLst/>
            <a:gdLst/>
            <a:ahLst/>
            <a:cxnLst/>
            <a:rect l="l" t="t" r="r" b="b"/>
            <a:pathLst>
              <a:path w="744220" h="649604">
                <a:moveTo>
                  <a:pt x="450645" y="427503"/>
                </a:moveTo>
                <a:lnTo>
                  <a:pt x="450645" y="649542"/>
                </a:lnTo>
                <a:lnTo>
                  <a:pt x="743940" y="324771"/>
                </a:lnTo>
                <a:lnTo>
                  <a:pt x="450645" y="0"/>
                </a:lnTo>
                <a:lnTo>
                  <a:pt x="450645" y="222039"/>
                </a:lnTo>
                <a:lnTo>
                  <a:pt x="0" y="222039"/>
                </a:lnTo>
                <a:lnTo>
                  <a:pt x="0" y="427503"/>
                </a:lnTo>
                <a:lnTo>
                  <a:pt x="450645" y="427503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" name="object 5"/>
          <p:cNvSpPr txBox="1"/>
          <p:nvPr/>
        </p:nvSpPr>
        <p:spPr>
          <a:xfrm>
            <a:off x="4109014" y="1311938"/>
            <a:ext cx="2081961" cy="117180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2866" rIns="0" bIns="0" rtlCol="0">
            <a:spAutoFit/>
          </a:bodyPr>
          <a:lstStyle/>
          <a:p>
            <a:pPr>
              <a:spcBef>
                <a:spcPts val="23"/>
              </a:spcBef>
            </a:pPr>
            <a:endParaRPr sz="2031">
              <a:latin typeface="Times New Roman"/>
              <a:cs typeface="Times New Roman"/>
            </a:endParaRPr>
          </a:p>
          <a:p>
            <a:pPr marL="187213" marR="183710" algn="ctr">
              <a:lnSpc>
                <a:spcPct val="100299"/>
              </a:lnSpc>
            </a:pPr>
            <a:r>
              <a:rPr sz="1855" b="1" dirty="0">
                <a:latin typeface="Arial"/>
                <a:cs typeface="Arial"/>
              </a:rPr>
              <a:t>Neural</a:t>
            </a:r>
            <a:r>
              <a:rPr sz="1855" b="1" spc="-3" dirty="0">
                <a:latin typeface="Arial"/>
                <a:cs typeface="Arial"/>
              </a:rPr>
              <a:t> </a:t>
            </a:r>
            <a:r>
              <a:rPr sz="1855" b="1" spc="-5" dirty="0">
                <a:latin typeface="Arial"/>
                <a:cs typeface="Arial"/>
              </a:rPr>
              <a:t>network </a:t>
            </a:r>
            <a:r>
              <a:rPr sz="1855" dirty="0">
                <a:latin typeface="Arial"/>
                <a:cs typeface="Arial"/>
              </a:rPr>
              <a:t>(pretrained</a:t>
            </a:r>
            <a:r>
              <a:rPr sz="1855" spc="120" dirty="0">
                <a:latin typeface="Arial"/>
                <a:cs typeface="Arial"/>
              </a:rPr>
              <a:t> </a:t>
            </a:r>
            <a:r>
              <a:rPr sz="1855" spc="-13" dirty="0">
                <a:latin typeface="Arial"/>
                <a:cs typeface="Arial"/>
              </a:rPr>
              <a:t>on </a:t>
            </a:r>
            <a:r>
              <a:rPr sz="1855" spc="-5" dirty="0">
                <a:latin typeface="Arial"/>
                <a:cs typeface="Arial"/>
              </a:rPr>
              <a:t>ImageNet)</a:t>
            </a:r>
            <a:endParaRPr sz="1855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01666" y="1901401"/>
            <a:ext cx="318073" cy="325714"/>
          </a:xfrm>
          <a:custGeom>
            <a:avLst/>
            <a:gdLst/>
            <a:ahLst/>
            <a:cxnLst/>
            <a:rect l="l" t="t" r="r" b="b"/>
            <a:pathLst>
              <a:path w="634365" h="649604">
                <a:moveTo>
                  <a:pt x="340781" y="427503"/>
                </a:moveTo>
                <a:lnTo>
                  <a:pt x="340781" y="649542"/>
                </a:lnTo>
                <a:lnTo>
                  <a:pt x="634077" y="324771"/>
                </a:lnTo>
                <a:lnTo>
                  <a:pt x="340781" y="0"/>
                </a:lnTo>
                <a:lnTo>
                  <a:pt x="340781" y="222039"/>
                </a:lnTo>
                <a:lnTo>
                  <a:pt x="0" y="222039"/>
                </a:lnTo>
                <a:lnTo>
                  <a:pt x="0" y="427503"/>
                </a:lnTo>
                <a:lnTo>
                  <a:pt x="340781" y="427503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9" name="object 9"/>
          <p:cNvSpPr txBox="1"/>
          <p:nvPr/>
        </p:nvSpPr>
        <p:spPr>
          <a:xfrm>
            <a:off x="820638" y="252927"/>
            <a:ext cx="8995829" cy="548498"/>
          </a:xfrm>
          <a:prstGeom prst="rect">
            <a:avLst/>
          </a:prstGeom>
        </p:spPr>
        <p:txBody>
          <a:bodyPr vert="horz" wrap="square" lIns="0" tIns="4776" rIns="0" bIns="0" rtlCol="0">
            <a:spAutoFit/>
          </a:bodyPr>
          <a:lstStyle/>
          <a:p>
            <a:pPr marL="6368" marR="2547">
              <a:lnSpc>
                <a:spcPct val="101200"/>
              </a:lnSpc>
              <a:spcBef>
                <a:spcPts val="38"/>
              </a:spcBef>
            </a:pPr>
            <a:r>
              <a:rPr sz="1805" b="1" dirty="0">
                <a:latin typeface="Arial"/>
                <a:cs typeface="Arial"/>
              </a:rPr>
              <a:t>Goal</a:t>
            </a:r>
            <a:r>
              <a:rPr sz="1805" dirty="0">
                <a:latin typeface="Arial"/>
                <a:cs typeface="Arial"/>
              </a:rPr>
              <a:t>: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Given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network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pretrained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on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ImageNet,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spc="28" dirty="0">
                <a:latin typeface="Arial"/>
                <a:cs typeface="Arial"/>
              </a:rPr>
              <a:t>find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an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input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image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that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is</a:t>
            </a:r>
            <a:endParaRPr lang="en-US" sz="1805" dirty="0">
              <a:latin typeface="Arial"/>
              <a:cs typeface="Arial"/>
            </a:endParaRPr>
          </a:p>
          <a:p>
            <a:pPr marL="6368" marR="2547">
              <a:lnSpc>
                <a:spcPct val="101200"/>
              </a:lnSpc>
              <a:spcBef>
                <a:spcPts val="38"/>
              </a:spcBef>
            </a:pP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not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</a:t>
            </a:r>
            <a:r>
              <a:rPr lang="en-US" sz="1805" dirty="0">
                <a:latin typeface="Arial"/>
                <a:cs typeface="Arial"/>
              </a:rPr>
              <a:t>n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spc="-5" dirty="0">
                <a:latin typeface="Arial"/>
                <a:cs typeface="Arial"/>
              </a:rPr>
              <a:t>iguana </a:t>
            </a:r>
            <a:r>
              <a:rPr sz="1805" spc="33" dirty="0">
                <a:latin typeface="Arial"/>
                <a:cs typeface="Arial"/>
              </a:rPr>
              <a:t>but</a:t>
            </a:r>
            <a:r>
              <a:rPr sz="1805" spc="38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will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spc="50" dirty="0">
                <a:latin typeface="Arial"/>
                <a:cs typeface="Arial"/>
              </a:rPr>
              <a:t>be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classified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as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an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spc="-5" dirty="0">
                <a:latin typeface="Arial"/>
                <a:cs typeface="Arial"/>
              </a:rPr>
              <a:t>iguana.</a:t>
            </a:r>
            <a:endParaRPr sz="1805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47950" y="1521004"/>
            <a:ext cx="1104500" cy="1104818"/>
            <a:chOff x="4679234" y="3033492"/>
            <a:chExt cx="2202815" cy="22034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9234" y="3033492"/>
              <a:ext cx="2202485" cy="22031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1588" y="3078181"/>
              <a:ext cx="2076991" cy="20773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31588" y="3078181"/>
              <a:ext cx="2077085" cy="2077720"/>
            </a:xfrm>
            <a:custGeom>
              <a:avLst/>
              <a:gdLst/>
              <a:ahLst/>
              <a:cxnLst/>
              <a:rect l="l" t="t" r="r" b="b"/>
              <a:pathLst>
                <a:path w="2077084" h="2077720">
                  <a:moveTo>
                    <a:pt x="0" y="0"/>
                  </a:moveTo>
                  <a:lnTo>
                    <a:pt x="2076834" y="0"/>
                  </a:lnTo>
                  <a:lnTo>
                    <a:pt x="2076834" y="2077489"/>
                  </a:lnTo>
                  <a:lnTo>
                    <a:pt x="0" y="2077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74201" y="1543411"/>
            <a:ext cx="1041458" cy="768693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256942" rIns="0" bIns="0" rtlCol="0">
            <a:spAutoFit/>
          </a:bodyPr>
          <a:lstStyle/>
          <a:p>
            <a:pPr algn="ctr">
              <a:spcBef>
                <a:spcPts val="2023"/>
              </a:spcBef>
            </a:pPr>
            <a:r>
              <a:rPr sz="3309" spc="-3" dirty="0">
                <a:latin typeface="Arial"/>
                <a:cs typeface="Arial"/>
              </a:rPr>
              <a:t>x</a:t>
            </a:r>
            <a:endParaRPr sz="3309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43461" y="1328898"/>
            <a:ext cx="388756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655" b="1" spc="-8" baseline="2525" dirty="0">
                <a:latin typeface="Symbol"/>
                <a:cs typeface="Symbol"/>
              </a:rPr>
              <a:t></a:t>
            </a:r>
            <a:r>
              <a:rPr sz="1655" spc="-199" baseline="2525" dirty="0">
                <a:latin typeface="Times New Roman"/>
                <a:cs typeface="Times New Roman"/>
              </a:rPr>
              <a:t> </a:t>
            </a:r>
            <a:r>
              <a:rPr sz="1103" b="1" spc="-5" dirty="0">
                <a:latin typeface="Times New Roman"/>
                <a:cs typeface="Times New Roman"/>
              </a:rPr>
              <a:t>0.04</a:t>
            </a:r>
            <a:r>
              <a:rPr sz="1655" b="1" spc="-8" baseline="2525" dirty="0">
                <a:latin typeface="Symbol"/>
                <a:cs typeface="Symbol"/>
              </a:rPr>
              <a:t></a:t>
            </a:r>
            <a:endParaRPr sz="1655" baseline="252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30725" y="2378624"/>
            <a:ext cx="145505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75" baseline="-16414" dirty="0">
                <a:latin typeface="Symbol"/>
                <a:cs typeface="Symbol"/>
              </a:rPr>
              <a:t></a:t>
            </a:r>
            <a:r>
              <a:rPr sz="1103" b="1" spc="50" dirty="0">
                <a:latin typeface="Malgun Gothic"/>
                <a:cs typeface="Malgun Gothic"/>
              </a:rPr>
              <a:t>:</a:t>
            </a:r>
            <a:endParaRPr sz="1103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0725" y="1538843"/>
            <a:ext cx="414227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-8" baseline="22727" dirty="0">
                <a:latin typeface="Symbol"/>
                <a:cs typeface="Symbol"/>
              </a:rPr>
              <a:t></a:t>
            </a:r>
            <a:r>
              <a:rPr sz="1103" spc="-5" dirty="0">
                <a:latin typeface="Arial Unicode MS"/>
                <a:cs typeface="Arial Unicode MS"/>
              </a:rPr>
              <a:t>:</a:t>
            </a:r>
            <a:r>
              <a:rPr sz="1103" spc="-5" dirty="0">
                <a:latin typeface="Times New Roman"/>
                <a:cs typeface="Times New Roman"/>
              </a:rPr>
              <a:t>0.85</a:t>
            </a:r>
            <a:r>
              <a:rPr sz="1655" b="1" spc="-8" baseline="22727" dirty="0">
                <a:latin typeface="Symbol"/>
                <a:cs typeface="Symbol"/>
              </a:rPr>
              <a:t></a:t>
            </a:r>
            <a:endParaRPr sz="1655" baseline="22727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43461" y="1615385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30725" y="1708256"/>
            <a:ext cx="414227" cy="425892"/>
          </a:xfrm>
          <a:prstGeom prst="rect">
            <a:avLst/>
          </a:prstGeom>
        </p:spPr>
        <p:txBody>
          <a:bodyPr vert="horz" wrap="square" lIns="0" tIns="47440" rIns="0" bIns="0" rtlCol="0">
            <a:spAutoFit/>
          </a:bodyPr>
          <a:lstStyle/>
          <a:p>
            <a:pPr marL="19103">
              <a:spcBef>
                <a:spcPts val="374"/>
              </a:spcBef>
            </a:pPr>
            <a:r>
              <a:rPr sz="1103" b="1" spc="-48" dirty="0">
                <a:latin typeface="Symbol"/>
                <a:cs typeface="Symbol"/>
              </a:rPr>
              <a:t></a:t>
            </a:r>
            <a:r>
              <a:rPr sz="1103" spc="-48" dirty="0">
                <a:latin typeface="Arial Unicode MS"/>
                <a:cs typeface="Arial Unicode MS"/>
              </a:rPr>
              <a:t>:</a:t>
            </a:r>
            <a:r>
              <a:rPr sz="1103" spc="-48" dirty="0">
                <a:latin typeface="Times New Roman"/>
                <a:cs typeface="Times New Roman"/>
              </a:rPr>
              <a:t>0.02</a:t>
            </a:r>
            <a:r>
              <a:rPr sz="1103" spc="-140" dirty="0">
                <a:latin typeface="Times New Roman"/>
                <a:cs typeface="Times New Roman"/>
              </a:rPr>
              <a:t> 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  <a:p>
            <a:pPr marL="19103">
              <a:spcBef>
                <a:spcPts val="323"/>
              </a:spcBef>
            </a:pPr>
            <a:r>
              <a:rPr sz="1655" b="1" spc="-8" baseline="30303" dirty="0">
                <a:latin typeface="Symbol"/>
                <a:cs typeface="Symbol"/>
              </a:rPr>
              <a:t></a:t>
            </a:r>
            <a:r>
              <a:rPr sz="1655" spc="-199" baseline="30303" dirty="0">
                <a:latin typeface="Times New Roman"/>
                <a:cs typeface="Times New Roman"/>
              </a:rPr>
              <a:t> </a:t>
            </a:r>
            <a:r>
              <a:rPr sz="1103" b="1" spc="-5" dirty="0">
                <a:latin typeface="Times New Roman"/>
                <a:cs typeface="Times New Roman"/>
              </a:rPr>
              <a:t>0.07</a:t>
            </a:r>
            <a:r>
              <a:rPr sz="1655" b="1" spc="-8" baseline="30303" dirty="0">
                <a:latin typeface="Symbol"/>
                <a:cs typeface="Symbol"/>
              </a:rPr>
              <a:t></a:t>
            </a:r>
            <a:endParaRPr sz="1655" baseline="30303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43461" y="2017781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30725" y="2168679"/>
            <a:ext cx="414227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-8" baseline="6313" dirty="0">
                <a:latin typeface="Symbol"/>
                <a:cs typeface="Symbol"/>
              </a:rPr>
              <a:t></a:t>
            </a:r>
            <a:r>
              <a:rPr sz="1655" spc="-199" baseline="6313" dirty="0">
                <a:latin typeface="Times New Roman"/>
                <a:cs typeface="Times New Roman"/>
              </a:rPr>
              <a:t> </a:t>
            </a:r>
            <a:r>
              <a:rPr sz="1103" b="1" spc="-68" dirty="0">
                <a:latin typeface="Times New Roman"/>
                <a:cs typeface="Times New Roman"/>
              </a:rPr>
              <a:t>0.</a:t>
            </a:r>
            <a:r>
              <a:rPr sz="1103" spc="-68" dirty="0">
                <a:latin typeface="Times New Roman"/>
                <a:cs typeface="Times New Roman"/>
              </a:rPr>
              <a:t>80</a:t>
            </a:r>
            <a:r>
              <a:rPr sz="1103" b="1" spc="-68" dirty="0">
                <a:latin typeface="Times New Roman"/>
                <a:cs typeface="Times New Roman"/>
              </a:rPr>
              <a:t>1</a:t>
            </a:r>
            <a:r>
              <a:rPr sz="1655" b="1" spc="-101" baseline="6313" dirty="0">
                <a:latin typeface="Symbol"/>
                <a:cs typeface="Symbol"/>
              </a:rPr>
              <a:t></a:t>
            </a:r>
            <a:endParaRPr sz="1655" baseline="6313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43461" y="2286044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65669" y="2420176"/>
            <a:ext cx="66544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103" b="1" spc="-3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20513" y="2588570"/>
            <a:ext cx="424416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spc="-451" baseline="16414" dirty="0">
                <a:latin typeface="Symbol"/>
                <a:cs typeface="Symbol"/>
              </a:rPr>
              <a:t></a:t>
            </a:r>
            <a:r>
              <a:rPr sz="1655" spc="-451" baseline="-6313" dirty="0">
                <a:latin typeface="Symbol"/>
                <a:cs typeface="Symbol"/>
              </a:rPr>
              <a:t></a:t>
            </a:r>
            <a:r>
              <a:rPr sz="1655" spc="-451" baseline="16414" dirty="0">
                <a:latin typeface="Symbol"/>
                <a:cs typeface="Symbol"/>
              </a:rPr>
              <a:t></a:t>
            </a:r>
            <a:r>
              <a:rPr sz="1655" spc="-451" baseline="-6313" dirty="0">
                <a:latin typeface="Symbol"/>
                <a:cs typeface="Symbol"/>
              </a:rPr>
              <a:t></a:t>
            </a:r>
            <a:r>
              <a:rPr sz="1655" spc="-196" baseline="-6313" dirty="0">
                <a:latin typeface="Times New Roman"/>
                <a:cs typeface="Times New Roman"/>
              </a:rPr>
              <a:t> </a:t>
            </a:r>
            <a:r>
              <a:rPr sz="1103" b="1" spc="-208" dirty="0">
                <a:latin typeface="Times New Roman"/>
                <a:cs typeface="Times New Roman"/>
              </a:rPr>
              <a:t>0.0</a:t>
            </a:r>
            <a:r>
              <a:rPr sz="1103" spc="-208" dirty="0">
                <a:latin typeface="Times New Roman"/>
                <a:cs typeface="Times New Roman"/>
              </a:rPr>
              <a:t>72</a:t>
            </a:r>
            <a:r>
              <a:rPr sz="1655" spc="-312" baseline="16414" dirty="0">
                <a:latin typeface="Symbol"/>
                <a:cs typeface="Symbol"/>
              </a:rPr>
              <a:t></a:t>
            </a:r>
            <a:r>
              <a:rPr sz="1655" spc="-312" baseline="-6313" dirty="0">
                <a:latin typeface="Symbol"/>
                <a:cs typeface="Symbol"/>
              </a:rPr>
              <a:t></a:t>
            </a:r>
            <a:r>
              <a:rPr sz="1655" spc="-312" baseline="16414" dirty="0">
                <a:latin typeface="Symbol"/>
                <a:cs typeface="Symbol"/>
              </a:rPr>
              <a:t></a:t>
            </a:r>
            <a:r>
              <a:rPr sz="1655" spc="-312" baseline="-6313" dirty="0">
                <a:latin typeface="Symbol"/>
                <a:cs typeface="Symbol"/>
              </a:rPr>
              <a:t></a:t>
            </a:r>
            <a:endParaRPr sz="1655" baseline="-6313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35094" y="1988686"/>
            <a:ext cx="250892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“bike”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24593" y="1579175"/>
            <a:ext cx="345136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b="1" spc="-5" dirty="0">
                <a:solidFill>
                  <a:srgbClr val="00882B"/>
                </a:solidFill>
                <a:latin typeface="Arial"/>
                <a:cs typeface="Arial"/>
              </a:rPr>
              <a:t>“iguana</a:t>
            </a:r>
            <a:endParaRPr sz="702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29843" y="1358669"/>
            <a:ext cx="211412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“car”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5094" y="2629203"/>
            <a:ext cx="265857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“crab”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1154" y="3148966"/>
            <a:ext cx="2517520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1.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Rephrasing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what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we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want:</a:t>
            </a:r>
            <a:endParaRPr sz="1529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95560" y="4007191"/>
            <a:ext cx="345455" cy="1514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928" i="1" spc="-5" dirty="0">
                <a:latin typeface="Times New Roman"/>
                <a:cs typeface="Times New Roman"/>
              </a:rPr>
              <a:t>iguana</a:t>
            </a:r>
            <a:endParaRPr sz="92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8917" y="3841985"/>
            <a:ext cx="2601576" cy="298944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19103">
              <a:spcBef>
                <a:spcPts val="45"/>
              </a:spcBef>
              <a:tabLst>
                <a:tab pos="1906195" algn="l"/>
              </a:tabLst>
            </a:pPr>
            <a:r>
              <a:rPr sz="1905" dirty="0">
                <a:latin typeface="Arial"/>
                <a:cs typeface="Arial"/>
              </a:rPr>
              <a:t>Find</a:t>
            </a:r>
            <a:r>
              <a:rPr sz="1905" spc="8" dirty="0">
                <a:latin typeface="Arial"/>
                <a:cs typeface="Arial"/>
              </a:rPr>
              <a:t> </a:t>
            </a:r>
            <a:r>
              <a:rPr sz="1905" dirty="0">
                <a:latin typeface="Arial"/>
                <a:cs typeface="Arial"/>
              </a:rPr>
              <a:t>x</a:t>
            </a:r>
            <a:r>
              <a:rPr sz="1905" spc="10" dirty="0">
                <a:latin typeface="Arial"/>
                <a:cs typeface="Arial"/>
              </a:rPr>
              <a:t> </a:t>
            </a:r>
            <a:r>
              <a:rPr sz="1905" dirty="0">
                <a:latin typeface="Arial"/>
                <a:cs typeface="Arial"/>
              </a:rPr>
              <a:t>such</a:t>
            </a:r>
            <a:r>
              <a:rPr sz="1905" spc="8" dirty="0">
                <a:latin typeface="Arial"/>
                <a:cs typeface="Arial"/>
              </a:rPr>
              <a:t> </a:t>
            </a:r>
            <a:r>
              <a:rPr sz="1905" spc="-5" dirty="0">
                <a:latin typeface="Arial"/>
                <a:cs typeface="Arial"/>
              </a:rPr>
              <a:t>that:</a:t>
            </a:r>
            <a:r>
              <a:rPr sz="1905" dirty="0">
                <a:latin typeface="Arial"/>
                <a:cs typeface="Arial"/>
              </a:rPr>
              <a:t>	</a:t>
            </a:r>
            <a:r>
              <a:rPr sz="2444" i="1" spc="-899" baseline="5982" dirty="0">
                <a:latin typeface="Times New Roman"/>
                <a:cs typeface="Times New Roman"/>
              </a:rPr>
              <a:t>y</a:t>
            </a:r>
            <a:r>
              <a:rPr sz="2444" spc="150" baseline="8547" dirty="0">
                <a:latin typeface="Times New Roman"/>
                <a:cs typeface="Times New Roman"/>
              </a:rPr>
              <a:t>ˆ</a:t>
            </a:r>
            <a:r>
              <a:rPr sz="2444" spc="192" baseline="5982" dirty="0">
                <a:latin typeface="Times New Roman"/>
                <a:cs typeface="Times New Roman"/>
              </a:rPr>
              <a:t>(</a:t>
            </a:r>
            <a:r>
              <a:rPr sz="2444" i="1" spc="124" baseline="5982" dirty="0">
                <a:latin typeface="Times New Roman"/>
                <a:cs typeface="Times New Roman"/>
              </a:rPr>
              <a:t>x</a:t>
            </a:r>
            <a:r>
              <a:rPr sz="2444" baseline="5982" dirty="0">
                <a:latin typeface="Times New Roman"/>
                <a:cs typeface="Times New Roman"/>
              </a:rPr>
              <a:t>)</a:t>
            </a:r>
            <a:r>
              <a:rPr sz="2444" spc="-109" baseline="5982" dirty="0">
                <a:latin typeface="Times New Roman"/>
                <a:cs typeface="Times New Roman"/>
              </a:rPr>
              <a:t> </a:t>
            </a:r>
            <a:r>
              <a:rPr sz="2444" baseline="5982" dirty="0">
                <a:latin typeface="Symbol"/>
                <a:cs typeface="Symbol"/>
              </a:rPr>
              <a:t></a:t>
            </a:r>
            <a:r>
              <a:rPr sz="2444" spc="233" baseline="5982" dirty="0">
                <a:latin typeface="Times New Roman"/>
                <a:cs typeface="Times New Roman"/>
              </a:rPr>
              <a:t> </a:t>
            </a:r>
            <a:r>
              <a:rPr sz="2444" i="1" spc="-38" baseline="5982" dirty="0">
                <a:latin typeface="Times New Roman"/>
                <a:cs typeface="Times New Roman"/>
              </a:rPr>
              <a:t>y</a:t>
            </a:r>
            <a:endParaRPr sz="2444" baseline="5982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52300" y="2911009"/>
            <a:ext cx="306611" cy="25791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630" dirty="0">
                <a:latin typeface="Symbol"/>
                <a:cs typeface="Symbol"/>
              </a:rPr>
              <a:t></a:t>
            </a:r>
            <a:r>
              <a:rPr sz="1630" spc="-193" dirty="0">
                <a:latin typeface="Times New Roman"/>
                <a:cs typeface="Times New Roman"/>
              </a:rPr>
              <a:t> </a:t>
            </a:r>
            <a:r>
              <a:rPr sz="2444" spc="-26" baseline="-1709" dirty="0">
                <a:latin typeface="Times New Roman"/>
                <a:cs typeface="Times New Roman"/>
              </a:rPr>
              <a:t>0</a:t>
            </a:r>
            <a:r>
              <a:rPr sz="1630" spc="-18" dirty="0">
                <a:latin typeface="Symbol"/>
                <a:cs typeface="Symbol"/>
              </a:rPr>
              <a:t>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39564" y="3144515"/>
            <a:ext cx="332082" cy="25791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630" spc="65" dirty="0">
                <a:latin typeface="Symbol"/>
                <a:cs typeface="Symbol"/>
              </a:rPr>
              <a:t></a:t>
            </a:r>
            <a:r>
              <a:rPr sz="2444" spc="98" baseline="-23076" dirty="0">
                <a:latin typeface="Times New Roman"/>
                <a:cs typeface="Times New Roman"/>
              </a:rPr>
              <a:t>1</a:t>
            </a:r>
            <a:r>
              <a:rPr sz="1630" spc="6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52300" y="3343429"/>
            <a:ext cx="306611" cy="46873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lnSpc>
                <a:spcPts val="1760"/>
              </a:lnSpc>
              <a:spcBef>
                <a:spcPts val="55"/>
              </a:spcBef>
              <a:tabLst>
                <a:tab pos="220325" algn="l"/>
              </a:tabLst>
            </a:pPr>
            <a:r>
              <a:rPr sz="1630" spc="-25" dirty="0">
                <a:latin typeface="Symbol"/>
                <a:cs typeface="Symbol"/>
              </a:rPr>
              <a:t></a:t>
            </a:r>
            <a:r>
              <a:rPr sz="1630" dirty="0">
                <a:latin typeface="Times New Roman"/>
                <a:cs typeface="Times New Roman"/>
              </a:rPr>
              <a:t>	</a:t>
            </a:r>
            <a:r>
              <a:rPr sz="1630" spc="-2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  <a:p>
            <a:pPr marL="6368">
              <a:lnSpc>
                <a:spcPts val="1760"/>
              </a:lnSpc>
            </a:pPr>
            <a:r>
              <a:rPr sz="1630" spc="83" dirty="0">
                <a:latin typeface="Symbol"/>
                <a:cs typeface="Symbol"/>
              </a:rPr>
              <a:t></a:t>
            </a:r>
            <a:r>
              <a:rPr sz="1630" spc="83" dirty="0">
                <a:latin typeface="Arial Unicode MS"/>
                <a:cs typeface="Arial Unicode MS"/>
              </a:rPr>
              <a:t>:</a:t>
            </a:r>
            <a:r>
              <a:rPr sz="1630" spc="-18" dirty="0">
                <a:latin typeface="Arial Unicode MS"/>
                <a:cs typeface="Arial Unicode MS"/>
              </a:rPr>
              <a:t> </a:t>
            </a:r>
            <a:r>
              <a:rPr sz="1630" spc="-2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52300" y="3741254"/>
            <a:ext cx="306611" cy="25791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220325" algn="l"/>
              </a:tabLst>
            </a:pPr>
            <a:r>
              <a:rPr sz="1630" spc="-25" dirty="0">
                <a:latin typeface="Symbol"/>
                <a:cs typeface="Symbol"/>
              </a:rPr>
              <a:t></a:t>
            </a:r>
            <a:r>
              <a:rPr sz="1630" dirty="0">
                <a:latin typeface="Times New Roman"/>
                <a:cs typeface="Times New Roman"/>
              </a:rPr>
              <a:t>	</a:t>
            </a:r>
            <a:r>
              <a:rPr sz="1630" spc="-2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80109" y="3815197"/>
            <a:ext cx="491596" cy="795663"/>
          </a:xfrm>
          <a:prstGeom prst="rect">
            <a:avLst/>
          </a:prstGeom>
        </p:spPr>
        <p:txBody>
          <a:bodyPr vert="horz" wrap="square" lIns="0" tIns="44256" rIns="0" bIns="0" rtlCol="0">
            <a:spAutoFit/>
          </a:bodyPr>
          <a:lstStyle/>
          <a:p>
            <a:pPr marL="19103">
              <a:spcBef>
                <a:spcPts val="348"/>
              </a:spcBef>
            </a:pPr>
            <a:r>
              <a:rPr sz="1630" dirty="0">
                <a:latin typeface="Symbol"/>
                <a:cs typeface="Symbol"/>
              </a:rPr>
              <a:t></a:t>
            </a:r>
            <a:r>
              <a:rPr sz="1630" spc="-50" dirty="0">
                <a:latin typeface="Times New Roman"/>
                <a:cs typeface="Times New Roman"/>
              </a:rPr>
              <a:t> </a:t>
            </a:r>
            <a:r>
              <a:rPr sz="2444" baseline="-23931" dirty="0">
                <a:latin typeface="Symbol"/>
                <a:cs typeface="Symbol"/>
              </a:rPr>
              <a:t></a:t>
            </a:r>
            <a:r>
              <a:rPr sz="2444" spc="-289" baseline="-23931" dirty="0">
                <a:latin typeface="Times New Roman"/>
                <a:cs typeface="Times New Roman"/>
              </a:rPr>
              <a:t> </a:t>
            </a:r>
            <a:r>
              <a:rPr sz="1630" spc="-13" dirty="0">
                <a:latin typeface="Times New Roman"/>
                <a:cs typeface="Times New Roman"/>
              </a:rPr>
              <a:t>0</a:t>
            </a:r>
            <a:r>
              <a:rPr sz="2444" spc="-19" baseline="-23931" dirty="0">
                <a:latin typeface="Symbol"/>
                <a:cs typeface="Symbol"/>
              </a:rPr>
              <a:t></a:t>
            </a:r>
            <a:endParaRPr sz="2444" baseline="-23931">
              <a:latin typeface="Symbol"/>
              <a:cs typeface="Symbol"/>
            </a:endParaRPr>
          </a:p>
          <a:p>
            <a:pPr marL="178298">
              <a:lnSpc>
                <a:spcPts val="1760"/>
              </a:lnSpc>
              <a:spcBef>
                <a:spcPts val="301"/>
              </a:spcBef>
            </a:pPr>
            <a:r>
              <a:rPr sz="1630" dirty="0">
                <a:latin typeface="Symbol"/>
                <a:cs typeface="Symbol"/>
              </a:rPr>
              <a:t></a:t>
            </a:r>
            <a:r>
              <a:rPr sz="1630" spc="-193" dirty="0">
                <a:latin typeface="Times New Roman"/>
                <a:cs typeface="Times New Roman"/>
              </a:rPr>
              <a:t> </a:t>
            </a:r>
            <a:r>
              <a:rPr sz="2444" spc="-26" baseline="-6837" dirty="0">
                <a:latin typeface="Times New Roman"/>
                <a:cs typeface="Times New Roman"/>
              </a:rPr>
              <a:t>0</a:t>
            </a:r>
            <a:r>
              <a:rPr sz="1630" spc="-18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  <a:p>
            <a:pPr marL="178298">
              <a:lnSpc>
                <a:spcPts val="1760"/>
              </a:lnSpc>
            </a:pPr>
            <a:r>
              <a:rPr sz="1630" spc="83" dirty="0">
                <a:latin typeface="Symbol"/>
                <a:cs typeface="Symbol"/>
              </a:rPr>
              <a:t></a:t>
            </a:r>
            <a:r>
              <a:rPr sz="2444" spc="124" baseline="-36752" dirty="0">
                <a:latin typeface="Arial Unicode MS"/>
                <a:cs typeface="Arial Unicode MS"/>
              </a:rPr>
              <a:t>:</a:t>
            </a:r>
            <a:r>
              <a:rPr sz="2444" spc="-26" baseline="-36752" dirty="0">
                <a:latin typeface="Arial Unicode MS"/>
                <a:cs typeface="Arial Unicode MS"/>
              </a:rPr>
              <a:t> </a:t>
            </a:r>
            <a:r>
              <a:rPr sz="1630" spc="-2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52300" y="4536904"/>
            <a:ext cx="306611" cy="25791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220325" algn="l"/>
              </a:tabLst>
            </a:pPr>
            <a:r>
              <a:rPr sz="1630" spc="-25" dirty="0">
                <a:latin typeface="Symbol"/>
                <a:cs typeface="Symbol"/>
              </a:rPr>
              <a:t></a:t>
            </a:r>
            <a:r>
              <a:rPr sz="1630" dirty="0">
                <a:latin typeface="Times New Roman"/>
                <a:cs typeface="Times New Roman"/>
              </a:rPr>
              <a:t>	</a:t>
            </a:r>
            <a:r>
              <a:rPr sz="1630" spc="-25" dirty="0">
                <a:latin typeface="Symbol"/>
                <a:cs typeface="Symbol"/>
              </a:rPr>
              <a:t></a:t>
            </a:r>
            <a:endParaRPr sz="163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39564" y="4724466"/>
            <a:ext cx="332082" cy="25791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630" spc="-316" dirty="0">
                <a:latin typeface="Symbol"/>
                <a:cs typeface="Symbol"/>
              </a:rPr>
              <a:t></a:t>
            </a:r>
            <a:r>
              <a:rPr sz="2444" spc="-473" baseline="-23076" dirty="0">
                <a:latin typeface="Symbol"/>
                <a:cs typeface="Symbol"/>
              </a:rPr>
              <a:t></a:t>
            </a:r>
            <a:r>
              <a:rPr sz="2444" spc="-285" baseline="-23076" dirty="0">
                <a:latin typeface="Times New Roman"/>
                <a:cs typeface="Times New Roman"/>
              </a:rPr>
              <a:t> </a:t>
            </a:r>
            <a:r>
              <a:rPr sz="2444" spc="-323" baseline="-17094" dirty="0">
                <a:latin typeface="Times New Roman"/>
                <a:cs typeface="Times New Roman"/>
              </a:rPr>
              <a:t>0</a:t>
            </a:r>
            <a:r>
              <a:rPr sz="1630" spc="-216" dirty="0">
                <a:latin typeface="Symbol"/>
                <a:cs typeface="Symbol"/>
              </a:rPr>
              <a:t></a:t>
            </a:r>
            <a:r>
              <a:rPr sz="2444" spc="-323" baseline="-23076" dirty="0">
                <a:latin typeface="Symbol"/>
                <a:cs typeface="Symbol"/>
              </a:rPr>
              <a:t></a:t>
            </a:r>
            <a:endParaRPr sz="2444" baseline="-23076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06258" y="3148966"/>
            <a:ext cx="2420729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2.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Defining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the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loss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function</a:t>
            </a:r>
            <a:endParaRPr sz="1529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26934" y="3866095"/>
            <a:ext cx="627868" cy="218346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379" i="1" spc="-10" dirty="0">
                <a:latin typeface="Times New Roman"/>
                <a:cs typeface="Times New Roman"/>
              </a:rPr>
              <a:t>L</a:t>
            </a:r>
            <a:r>
              <a:rPr sz="1379" spc="-10" dirty="0">
                <a:latin typeface="Times New Roman"/>
                <a:cs typeface="Times New Roman"/>
              </a:rPr>
              <a:t>(</a:t>
            </a:r>
            <a:r>
              <a:rPr sz="1379" spc="-150" dirty="0">
                <a:latin typeface="Times New Roman"/>
                <a:cs typeface="Times New Roman"/>
              </a:rPr>
              <a:t> </a:t>
            </a:r>
            <a:r>
              <a:rPr sz="1379" i="1" spc="-514" dirty="0">
                <a:latin typeface="Times New Roman"/>
                <a:cs typeface="Times New Roman"/>
              </a:rPr>
              <a:t>y</a:t>
            </a:r>
            <a:r>
              <a:rPr sz="2068" spc="124" baseline="2020" dirty="0">
                <a:latin typeface="Times New Roman"/>
                <a:cs typeface="Times New Roman"/>
              </a:rPr>
              <a:t>ˆ</a:t>
            </a:r>
            <a:r>
              <a:rPr sz="1379" spc="-3" dirty="0">
                <a:latin typeface="Times New Roman"/>
                <a:cs typeface="Times New Roman"/>
              </a:rPr>
              <a:t>,</a:t>
            </a:r>
            <a:r>
              <a:rPr sz="1379" spc="-95" dirty="0">
                <a:latin typeface="Times New Roman"/>
                <a:cs typeface="Times New Roman"/>
              </a:rPr>
              <a:t> </a:t>
            </a:r>
            <a:r>
              <a:rPr sz="1379" i="1" spc="28" dirty="0">
                <a:latin typeface="Times New Roman"/>
                <a:cs typeface="Times New Roman"/>
              </a:rPr>
              <a:t>y</a:t>
            </a:r>
            <a:r>
              <a:rPr sz="1379" spc="28" dirty="0">
                <a:latin typeface="Times New Roman"/>
                <a:cs typeface="Times New Roman"/>
              </a:rPr>
              <a:t>)</a:t>
            </a:r>
            <a:r>
              <a:rPr sz="1379" spc="-57" dirty="0">
                <a:latin typeface="Times New Roman"/>
                <a:cs typeface="Times New Roman"/>
              </a:rPr>
              <a:t> </a:t>
            </a:r>
            <a:r>
              <a:rPr sz="1379" spc="-25" dirty="0">
                <a:latin typeface="Symbol"/>
                <a:cs typeface="Symbol"/>
              </a:rPr>
              <a:t></a:t>
            </a:r>
            <a:endParaRPr sz="1379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97647" y="3718931"/>
            <a:ext cx="100293" cy="504099"/>
          </a:xfrm>
          <a:prstGeom prst="rect">
            <a:avLst/>
          </a:prstGeom>
        </p:spPr>
        <p:txBody>
          <a:bodyPr vert="horz" wrap="square" lIns="0" tIns="40754" rIns="0" bIns="0" rtlCol="0">
            <a:spAutoFit/>
          </a:bodyPr>
          <a:lstStyle/>
          <a:p>
            <a:pPr marL="6368">
              <a:spcBef>
                <a:spcPts val="321"/>
              </a:spcBef>
            </a:pPr>
            <a:r>
              <a:rPr sz="1379" spc="-3" dirty="0">
                <a:latin typeface="Times New Roman"/>
                <a:cs typeface="Times New Roman"/>
              </a:rPr>
              <a:t>1</a:t>
            </a:r>
            <a:endParaRPr sz="1379">
              <a:latin typeface="Times New Roman"/>
              <a:cs typeface="Times New Roman"/>
            </a:endParaRPr>
          </a:p>
          <a:p>
            <a:pPr marL="6368">
              <a:spcBef>
                <a:spcPts val="271"/>
              </a:spcBef>
            </a:pPr>
            <a:r>
              <a:rPr sz="1379" spc="-3" dirty="0">
                <a:latin typeface="Times New Roman"/>
                <a:cs typeface="Times New Roman"/>
              </a:rPr>
              <a:t>2</a:t>
            </a:r>
            <a:endParaRPr sz="1379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893994" y="3861536"/>
            <a:ext cx="131814" cy="277000"/>
          </a:xfrm>
          <a:custGeom>
            <a:avLst/>
            <a:gdLst/>
            <a:ahLst/>
            <a:cxnLst/>
            <a:rect l="l" t="t" r="r" b="b"/>
            <a:pathLst>
              <a:path w="262890" h="552450">
                <a:moveTo>
                  <a:pt x="207048" y="267906"/>
                </a:moveTo>
                <a:lnTo>
                  <a:pt x="0" y="267906"/>
                </a:lnTo>
                <a:lnTo>
                  <a:pt x="0" y="285153"/>
                </a:lnTo>
                <a:lnTo>
                  <a:pt x="207048" y="285153"/>
                </a:lnTo>
                <a:lnTo>
                  <a:pt x="207048" y="267906"/>
                </a:lnTo>
                <a:close/>
              </a:path>
              <a:path w="262890" h="552450">
                <a:moveTo>
                  <a:pt x="262445" y="0"/>
                </a:moveTo>
                <a:lnTo>
                  <a:pt x="245198" y="0"/>
                </a:lnTo>
                <a:lnTo>
                  <a:pt x="245198" y="552145"/>
                </a:lnTo>
                <a:lnTo>
                  <a:pt x="262445" y="552145"/>
                </a:lnTo>
                <a:lnTo>
                  <a:pt x="2624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3" name="object 43"/>
          <p:cNvSpPr txBox="1"/>
          <p:nvPr/>
        </p:nvSpPr>
        <p:spPr>
          <a:xfrm>
            <a:off x="5085701" y="3866095"/>
            <a:ext cx="917285" cy="218346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379" i="1" spc="-516" dirty="0">
                <a:latin typeface="Times New Roman"/>
                <a:cs typeface="Times New Roman"/>
              </a:rPr>
              <a:t>y</a:t>
            </a:r>
            <a:r>
              <a:rPr sz="2068" spc="120" baseline="2020" dirty="0">
                <a:latin typeface="Times New Roman"/>
                <a:cs typeface="Times New Roman"/>
              </a:rPr>
              <a:t>ˆ</a:t>
            </a:r>
            <a:r>
              <a:rPr sz="1379" spc="-73" dirty="0">
                <a:latin typeface="Times New Roman"/>
                <a:cs typeface="Times New Roman"/>
              </a:rPr>
              <a:t>(</a:t>
            </a:r>
            <a:r>
              <a:rPr sz="1379" i="1" spc="-5" dirty="0">
                <a:latin typeface="Times New Roman"/>
                <a:cs typeface="Times New Roman"/>
              </a:rPr>
              <a:t>W</a:t>
            </a:r>
            <a:r>
              <a:rPr sz="1379" i="1" spc="-148" dirty="0">
                <a:latin typeface="Times New Roman"/>
                <a:cs typeface="Times New Roman"/>
              </a:rPr>
              <a:t> </a:t>
            </a:r>
            <a:r>
              <a:rPr sz="1379" dirty="0">
                <a:latin typeface="Times New Roman"/>
                <a:cs typeface="Times New Roman"/>
              </a:rPr>
              <a:t>,</a:t>
            </a:r>
            <a:r>
              <a:rPr sz="1379" i="1" dirty="0">
                <a:latin typeface="Times New Roman"/>
                <a:cs typeface="Times New Roman"/>
              </a:rPr>
              <a:t>b</a:t>
            </a:r>
            <a:r>
              <a:rPr sz="1379" dirty="0">
                <a:latin typeface="Times New Roman"/>
                <a:cs typeface="Times New Roman"/>
              </a:rPr>
              <a:t>,</a:t>
            </a:r>
            <a:r>
              <a:rPr sz="1379" spc="-178" dirty="0">
                <a:latin typeface="Times New Roman"/>
                <a:cs typeface="Times New Roman"/>
              </a:rPr>
              <a:t> </a:t>
            </a:r>
            <a:r>
              <a:rPr sz="1379" i="1" spc="28" dirty="0">
                <a:latin typeface="Times New Roman"/>
                <a:cs typeface="Times New Roman"/>
              </a:rPr>
              <a:t>x</a:t>
            </a:r>
            <a:r>
              <a:rPr sz="1379" spc="28" dirty="0">
                <a:latin typeface="Times New Roman"/>
                <a:cs typeface="Times New Roman"/>
              </a:rPr>
              <a:t>)</a:t>
            </a:r>
            <a:r>
              <a:rPr sz="1379" spc="-120" dirty="0">
                <a:latin typeface="Times New Roman"/>
                <a:cs typeface="Times New Roman"/>
              </a:rPr>
              <a:t> </a:t>
            </a:r>
            <a:r>
              <a:rPr sz="1379" dirty="0">
                <a:latin typeface="Symbol"/>
                <a:cs typeface="Symbol"/>
              </a:rPr>
              <a:t></a:t>
            </a:r>
            <a:r>
              <a:rPr sz="1379" spc="83" dirty="0">
                <a:latin typeface="Times New Roman"/>
                <a:cs typeface="Times New Roman"/>
              </a:rPr>
              <a:t> </a:t>
            </a:r>
            <a:r>
              <a:rPr sz="1379" i="1" spc="-25" dirty="0">
                <a:latin typeface="Times New Roman"/>
                <a:cs typeface="Times New Roman"/>
              </a:rPr>
              <a:t>y</a:t>
            </a:r>
            <a:endParaRPr sz="1379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90912" y="3996322"/>
            <a:ext cx="292920" cy="12826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777" i="1" spc="-5" dirty="0">
                <a:latin typeface="Times New Roman"/>
                <a:cs typeface="Times New Roman"/>
              </a:rPr>
              <a:t>iguana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060196" y="3861536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6" name="object 46"/>
          <p:cNvSpPr/>
          <p:nvPr/>
        </p:nvSpPr>
        <p:spPr>
          <a:xfrm>
            <a:off x="6340606" y="3861536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7" name="object 47"/>
          <p:cNvSpPr/>
          <p:nvPr/>
        </p:nvSpPr>
        <p:spPr>
          <a:xfrm>
            <a:off x="6297345" y="3861536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8" name="object 48"/>
          <p:cNvSpPr txBox="1"/>
          <p:nvPr/>
        </p:nvSpPr>
        <p:spPr>
          <a:xfrm>
            <a:off x="6346075" y="4040945"/>
            <a:ext cx="63359" cy="12826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777" spc="8" dirty="0">
                <a:latin typeface="Times New Roman"/>
                <a:cs typeface="Times New Roman"/>
              </a:rPr>
              <a:t>2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46075" y="3798706"/>
            <a:ext cx="63359" cy="12826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777" spc="8" dirty="0">
                <a:latin typeface="Times New Roman"/>
                <a:cs typeface="Times New Roman"/>
              </a:rPr>
              <a:t>2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579162" y="3877853"/>
            <a:ext cx="199631" cy="174160"/>
          </a:xfrm>
          <a:custGeom>
            <a:avLst/>
            <a:gdLst/>
            <a:ahLst/>
            <a:cxnLst/>
            <a:rect l="l" t="t" r="r" b="b"/>
            <a:pathLst>
              <a:path w="398144" h="347345">
                <a:moveTo>
                  <a:pt x="240952" y="228579"/>
                </a:moveTo>
                <a:lnTo>
                  <a:pt x="240952" y="347300"/>
                </a:lnTo>
                <a:lnTo>
                  <a:pt x="397773" y="173650"/>
                </a:lnTo>
                <a:lnTo>
                  <a:pt x="240952" y="0"/>
                </a:lnTo>
                <a:lnTo>
                  <a:pt x="240952" y="118720"/>
                </a:lnTo>
                <a:lnTo>
                  <a:pt x="0" y="118720"/>
                </a:lnTo>
                <a:lnTo>
                  <a:pt x="0" y="228579"/>
                </a:lnTo>
                <a:lnTo>
                  <a:pt x="240952" y="228579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1" name="object 51"/>
          <p:cNvSpPr/>
          <p:nvPr/>
        </p:nvSpPr>
        <p:spPr>
          <a:xfrm>
            <a:off x="7838860" y="3562676"/>
            <a:ext cx="1113415" cy="804575"/>
          </a:xfrm>
          <a:custGeom>
            <a:avLst/>
            <a:gdLst/>
            <a:ahLst/>
            <a:cxnLst/>
            <a:rect l="l" t="t" r="r" b="b"/>
            <a:pathLst>
              <a:path w="2220594" h="1604645">
                <a:moveTo>
                  <a:pt x="0" y="0"/>
                </a:moveTo>
                <a:lnTo>
                  <a:pt x="2219970" y="0"/>
                </a:lnTo>
                <a:lnTo>
                  <a:pt x="2219970" y="1604477"/>
                </a:lnTo>
                <a:lnTo>
                  <a:pt x="0" y="1604477"/>
                </a:lnTo>
                <a:lnTo>
                  <a:pt x="0" y="0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2" name="object 52"/>
          <p:cNvSpPr txBox="1"/>
          <p:nvPr/>
        </p:nvSpPr>
        <p:spPr>
          <a:xfrm>
            <a:off x="8091114" y="3773733"/>
            <a:ext cx="609719" cy="345170"/>
          </a:xfrm>
          <a:prstGeom prst="rect">
            <a:avLst/>
          </a:prstGeom>
        </p:spPr>
        <p:txBody>
          <a:bodyPr vert="horz" wrap="square" lIns="0" tIns="3821" rIns="0" bIns="0" rtlCol="0">
            <a:spAutoFit/>
          </a:bodyPr>
          <a:lstStyle/>
          <a:p>
            <a:pPr marL="6368" marR="2547" indent="-3821" algn="ctr">
              <a:lnSpc>
                <a:spcPct val="104200"/>
              </a:lnSpc>
              <a:spcBef>
                <a:spcPts val="30"/>
              </a:spcBef>
            </a:pPr>
            <a:r>
              <a:rPr sz="727" b="1" spc="-5" dirty="0">
                <a:latin typeface="Arial"/>
                <a:cs typeface="Arial"/>
              </a:rPr>
              <a:t>Network </a:t>
            </a:r>
            <a:r>
              <a:rPr sz="727" dirty="0">
                <a:latin typeface="Arial"/>
                <a:cs typeface="Arial"/>
              </a:rPr>
              <a:t>(pretrained</a:t>
            </a:r>
            <a:r>
              <a:rPr sz="727" spc="118" dirty="0">
                <a:latin typeface="Arial"/>
                <a:cs typeface="Arial"/>
              </a:rPr>
              <a:t> </a:t>
            </a:r>
            <a:r>
              <a:rPr sz="727" spc="-13" dirty="0">
                <a:latin typeface="Arial"/>
                <a:cs typeface="Arial"/>
              </a:rPr>
              <a:t>on </a:t>
            </a:r>
            <a:r>
              <a:rPr sz="727" spc="-5" dirty="0">
                <a:latin typeface="Arial"/>
                <a:cs typeface="Arial"/>
              </a:rPr>
              <a:t>ImageNet)</a:t>
            </a:r>
            <a:endParaRPr sz="727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011237" y="3877853"/>
            <a:ext cx="170021" cy="174160"/>
          </a:xfrm>
          <a:custGeom>
            <a:avLst/>
            <a:gdLst/>
            <a:ahLst/>
            <a:cxnLst/>
            <a:rect l="l" t="t" r="r" b="b"/>
            <a:pathLst>
              <a:path w="339090" h="347345">
                <a:moveTo>
                  <a:pt x="182210" y="228579"/>
                </a:moveTo>
                <a:lnTo>
                  <a:pt x="182210" y="347300"/>
                </a:lnTo>
                <a:lnTo>
                  <a:pt x="339031" y="173650"/>
                </a:lnTo>
                <a:lnTo>
                  <a:pt x="182210" y="0"/>
                </a:lnTo>
                <a:lnTo>
                  <a:pt x="182210" y="118720"/>
                </a:lnTo>
                <a:lnTo>
                  <a:pt x="0" y="118720"/>
                </a:lnTo>
                <a:lnTo>
                  <a:pt x="0" y="228579"/>
                </a:lnTo>
                <a:lnTo>
                  <a:pt x="182210" y="228579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4" name="object 54"/>
          <p:cNvSpPr txBox="1"/>
          <p:nvPr/>
        </p:nvSpPr>
        <p:spPr>
          <a:xfrm>
            <a:off x="6977773" y="3651960"/>
            <a:ext cx="502103" cy="53753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28018" rIns="0" bIns="0" rtlCol="0">
            <a:spAutoFit/>
          </a:bodyPr>
          <a:lstStyle/>
          <a:p>
            <a:pPr marL="148369">
              <a:spcBef>
                <a:spcPts val="221"/>
              </a:spcBef>
            </a:pPr>
            <a:r>
              <a:rPr sz="3309" spc="-3" dirty="0">
                <a:latin typeface="Arial"/>
                <a:cs typeface="Arial"/>
              </a:rPr>
              <a:t>x</a:t>
            </a:r>
            <a:endParaRPr sz="3309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317915" y="3782852"/>
            <a:ext cx="660025" cy="28965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30" i="1" dirty="0">
                <a:latin typeface="Times New Roman"/>
                <a:cs typeface="Times New Roman"/>
              </a:rPr>
              <a:t>L</a:t>
            </a:r>
            <a:r>
              <a:rPr sz="1830" dirty="0">
                <a:latin typeface="Times New Roman"/>
                <a:cs typeface="Times New Roman"/>
              </a:rPr>
              <a:t>(</a:t>
            </a:r>
            <a:r>
              <a:rPr sz="1830" spc="-198" dirty="0">
                <a:latin typeface="Times New Roman"/>
                <a:cs typeface="Times New Roman"/>
              </a:rPr>
              <a:t> </a:t>
            </a:r>
            <a:r>
              <a:rPr sz="1830" i="1" spc="-677" dirty="0">
                <a:latin typeface="Times New Roman"/>
                <a:cs typeface="Times New Roman"/>
              </a:rPr>
              <a:t>y</a:t>
            </a:r>
            <a:r>
              <a:rPr sz="2745" spc="173" baseline="2283" dirty="0">
                <a:latin typeface="Times New Roman"/>
                <a:cs typeface="Times New Roman"/>
              </a:rPr>
              <a:t>ˆ</a:t>
            </a:r>
            <a:r>
              <a:rPr sz="1830" dirty="0">
                <a:latin typeface="Times New Roman"/>
                <a:cs typeface="Times New Roman"/>
              </a:rPr>
              <a:t>,</a:t>
            </a:r>
            <a:r>
              <a:rPr sz="1830" spc="-127" dirty="0">
                <a:latin typeface="Times New Roman"/>
                <a:cs typeface="Times New Roman"/>
              </a:rPr>
              <a:t> </a:t>
            </a:r>
            <a:r>
              <a:rPr sz="1830" i="1" spc="33" dirty="0">
                <a:latin typeface="Times New Roman"/>
                <a:cs typeface="Times New Roman"/>
              </a:rPr>
              <a:t>y</a:t>
            </a:r>
            <a:r>
              <a:rPr sz="1830" spc="33" dirty="0">
                <a:latin typeface="Times New Roman"/>
                <a:cs typeface="Times New Roman"/>
              </a:rPr>
              <a:t>)</a:t>
            </a:r>
            <a:endParaRPr sz="183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82345" y="3148966"/>
            <a:ext cx="1923721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3.</a:t>
            </a:r>
            <a:r>
              <a:rPr sz="1529" u="sng" spc="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Optimize</a:t>
            </a:r>
            <a:r>
              <a:rPr sz="1529" u="sng" spc="8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the</a:t>
            </a:r>
            <a:r>
              <a:rPr sz="1529" u="sng" spc="10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image</a:t>
            </a:r>
            <a:endParaRPr sz="1529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534111" y="4245618"/>
            <a:ext cx="1940595" cy="451479"/>
            <a:chOff x="15022517" y="8467464"/>
            <a:chExt cx="3870325" cy="900430"/>
          </a:xfrm>
        </p:grpSpPr>
        <p:sp>
          <p:nvSpPr>
            <p:cNvPr id="58" name="object 58"/>
            <p:cNvSpPr/>
            <p:nvPr/>
          </p:nvSpPr>
          <p:spPr>
            <a:xfrm>
              <a:off x="15135856" y="8488406"/>
              <a:ext cx="3735704" cy="858519"/>
            </a:xfrm>
            <a:custGeom>
              <a:avLst/>
              <a:gdLst/>
              <a:ahLst/>
              <a:cxnLst/>
              <a:rect l="l" t="t" r="r" b="b"/>
              <a:pathLst>
                <a:path w="3735705" h="858520">
                  <a:moveTo>
                    <a:pt x="0" y="196327"/>
                  </a:moveTo>
                  <a:lnTo>
                    <a:pt x="51542" y="242247"/>
                  </a:lnTo>
                  <a:lnTo>
                    <a:pt x="87921" y="273093"/>
                  </a:lnTo>
                  <a:lnTo>
                    <a:pt x="124451" y="303147"/>
                  </a:lnTo>
                  <a:lnTo>
                    <a:pt x="161133" y="332409"/>
                  </a:lnTo>
                  <a:lnTo>
                    <a:pt x="197968" y="360879"/>
                  </a:lnTo>
                  <a:lnTo>
                    <a:pt x="234954" y="388557"/>
                  </a:lnTo>
                  <a:lnTo>
                    <a:pt x="272092" y="415442"/>
                  </a:lnTo>
                  <a:lnTo>
                    <a:pt x="309382" y="441536"/>
                  </a:lnTo>
                  <a:lnTo>
                    <a:pt x="346824" y="466838"/>
                  </a:lnTo>
                  <a:lnTo>
                    <a:pt x="384418" y="491347"/>
                  </a:lnTo>
                  <a:lnTo>
                    <a:pt x="422164" y="515064"/>
                  </a:lnTo>
                  <a:lnTo>
                    <a:pt x="460062" y="537990"/>
                  </a:lnTo>
                  <a:lnTo>
                    <a:pt x="498112" y="560123"/>
                  </a:lnTo>
                  <a:lnTo>
                    <a:pt x="536314" y="581464"/>
                  </a:lnTo>
                  <a:lnTo>
                    <a:pt x="574668" y="602013"/>
                  </a:lnTo>
                  <a:lnTo>
                    <a:pt x="613173" y="621770"/>
                  </a:lnTo>
                  <a:lnTo>
                    <a:pt x="651831" y="640735"/>
                  </a:lnTo>
                  <a:lnTo>
                    <a:pt x="690641" y="658908"/>
                  </a:lnTo>
                  <a:lnTo>
                    <a:pt x="729602" y="676289"/>
                  </a:lnTo>
                  <a:lnTo>
                    <a:pt x="768716" y="692877"/>
                  </a:lnTo>
                  <a:lnTo>
                    <a:pt x="807981" y="708674"/>
                  </a:lnTo>
                  <a:lnTo>
                    <a:pt x="847399" y="723679"/>
                  </a:lnTo>
                  <a:lnTo>
                    <a:pt x="886968" y="737891"/>
                  </a:lnTo>
                  <a:lnTo>
                    <a:pt x="926690" y="751311"/>
                  </a:lnTo>
                  <a:lnTo>
                    <a:pt x="966563" y="763940"/>
                  </a:lnTo>
                  <a:lnTo>
                    <a:pt x="1006588" y="775776"/>
                  </a:lnTo>
                  <a:lnTo>
                    <a:pt x="1046766" y="786820"/>
                  </a:lnTo>
                  <a:lnTo>
                    <a:pt x="1087095" y="797072"/>
                  </a:lnTo>
                  <a:lnTo>
                    <a:pt x="1127576" y="806532"/>
                  </a:lnTo>
                  <a:lnTo>
                    <a:pt x="1168209" y="815200"/>
                  </a:lnTo>
                  <a:lnTo>
                    <a:pt x="1208994" y="823076"/>
                  </a:lnTo>
                  <a:lnTo>
                    <a:pt x="1249931" y="830160"/>
                  </a:lnTo>
                  <a:lnTo>
                    <a:pt x="1291020" y="836452"/>
                  </a:lnTo>
                  <a:lnTo>
                    <a:pt x="1332261" y="841952"/>
                  </a:lnTo>
                  <a:lnTo>
                    <a:pt x="1373654" y="846659"/>
                  </a:lnTo>
                  <a:lnTo>
                    <a:pt x="1415199" y="850575"/>
                  </a:lnTo>
                  <a:lnTo>
                    <a:pt x="1456896" y="853698"/>
                  </a:lnTo>
                  <a:lnTo>
                    <a:pt x="1498745" y="856030"/>
                  </a:lnTo>
                  <a:lnTo>
                    <a:pt x="1540746" y="857569"/>
                  </a:lnTo>
                  <a:lnTo>
                    <a:pt x="1582899" y="858316"/>
                  </a:lnTo>
                  <a:lnTo>
                    <a:pt x="1625204" y="858271"/>
                  </a:lnTo>
                  <a:lnTo>
                    <a:pt x="1667660" y="857435"/>
                  </a:lnTo>
                  <a:lnTo>
                    <a:pt x="1710269" y="855806"/>
                  </a:lnTo>
                  <a:lnTo>
                    <a:pt x="1753030" y="853385"/>
                  </a:lnTo>
                  <a:lnTo>
                    <a:pt x="1795942" y="850172"/>
                  </a:lnTo>
                  <a:lnTo>
                    <a:pt x="1839007" y="846167"/>
                  </a:lnTo>
                  <a:lnTo>
                    <a:pt x="1882224" y="841369"/>
                  </a:lnTo>
                  <a:lnTo>
                    <a:pt x="1925592" y="835780"/>
                  </a:lnTo>
                  <a:lnTo>
                    <a:pt x="1969113" y="829399"/>
                  </a:lnTo>
                  <a:lnTo>
                    <a:pt x="2012785" y="822226"/>
                  </a:lnTo>
                  <a:lnTo>
                    <a:pt x="2056610" y="814260"/>
                  </a:lnTo>
                  <a:lnTo>
                    <a:pt x="2100586" y="805503"/>
                  </a:lnTo>
                  <a:lnTo>
                    <a:pt x="2144715" y="795953"/>
                  </a:lnTo>
                  <a:lnTo>
                    <a:pt x="2188995" y="785612"/>
                  </a:lnTo>
                  <a:lnTo>
                    <a:pt x="2233427" y="774478"/>
                  </a:lnTo>
                  <a:lnTo>
                    <a:pt x="2278012" y="762552"/>
                  </a:lnTo>
                  <a:lnTo>
                    <a:pt x="2322748" y="749835"/>
                  </a:lnTo>
                  <a:lnTo>
                    <a:pt x="2367637" y="736325"/>
                  </a:lnTo>
                  <a:lnTo>
                    <a:pt x="2412677" y="722023"/>
                  </a:lnTo>
                  <a:lnTo>
                    <a:pt x="2457869" y="706929"/>
                  </a:lnTo>
                  <a:lnTo>
                    <a:pt x="2503213" y="691043"/>
                  </a:lnTo>
                  <a:lnTo>
                    <a:pt x="2548710" y="674365"/>
                  </a:lnTo>
                  <a:lnTo>
                    <a:pt x="2594358" y="656895"/>
                  </a:lnTo>
                  <a:lnTo>
                    <a:pt x="2640158" y="638633"/>
                  </a:lnTo>
                  <a:lnTo>
                    <a:pt x="2686110" y="619579"/>
                  </a:lnTo>
                  <a:lnTo>
                    <a:pt x="2732215" y="599733"/>
                  </a:lnTo>
                  <a:lnTo>
                    <a:pt x="2778471" y="579094"/>
                  </a:lnTo>
                  <a:lnTo>
                    <a:pt x="2824879" y="557664"/>
                  </a:lnTo>
                  <a:lnTo>
                    <a:pt x="2871439" y="535442"/>
                  </a:lnTo>
                  <a:lnTo>
                    <a:pt x="2918151" y="512427"/>
                  </a:lnTo>
                  <a:lnTo>
                    <a:pt x="2965015" y="488621"/>
                  </a:lnTo>
                  <a:lnTo>
                    <a:pt x="3012031" y="464022"/>
                  </a:lnTo>
                  <a:lnTo>
                    <a:pt x="3059199" y="438632"/>
                  </a:lnTo>
                  <a:lnTo>
                    <a:pt x="3106519" y="412449"/>
                  </a:lnTo>
                  <a:lnTo>
                    <a:pt x="3153991" y="385475"/>
                  </a:lnTo>
                  <a:lnTo>
                    <a:pt x="3201616" y="357708"/>
                  </a:lnTo>
                  <a:lnTo>
                    <a:pt x="3249392" y="329149"/>
                  </a:lnTo>
                  <a:lnTo>
                    <a:pt x="3297320" y="299798"/>
                  </a:lnTo>
                  <a:lnTo>
                    <a:pt x="3345400" y="269656"/>
                  </a:lnTo>
                  <a:lnTo>
                    <a:pt x="3393632" y="238721"/>
                  </a:lnTo>
                  <a:lnTo>
                    <a:pt x="3442016" y="206994"/>
                  </a:lnTo>
                  <a:lnTo>
                    <a:pt x="3490552" y="174475"/>
                  </a:lnTo>
                  <a:lnTo>
                    <a:pt x="3539240" y="141164"/>
                  </a:lnTo>
                  <a:lnTo>
                    <a:pt x="3588080" y="107061"/>
                  </a:lnTo>
                  <a:lnTo>
                    <a:pt x="3637071" y="72166"/>
                  </a:lnTo>
                  <a:lnTo>
                    <a:pt x="3686215" y="36479"/>
                  </a:lnTo>
                  <a:lnTo>
                    <a:pt x="3735511" y="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9" name="object 59"/>
            <p:cNvSpPr/>
            <p:nvPr/>
          </p:nvSpPr>
          <p:spPr>
            <a:xfrm>
              <a:off x="15022517" y="8579046"/>
              <a:ext cx="189230" cy="184785"/>
            </a:xfrm>
            <a:custGeom>
              <a:avLst/>
              <a:gdLst/>
              <a:ahLst/>
              <a:cxnLst/>
              <a:rect l="l" t="t" r="r" b="b"/>
              <a:pathLst>
                <a:path w="189230" h="184784">
                  <a:moveTo>
                    <a:pt x="0" y="0"/>
                  </a:moveTo>
                  <a:lnTo>
                    <a:pt x="68668" y="184295"/>
                  </a:lnTo>
                  <a:lnTo>
                    <a:pt x="188632" y="55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270884" y="4767745"/>
            <a:ext cx="218735" cy="520775"/>
          </a:xfrm>
          <a:prstGeom prst="rect">
            <a:avLst/>
          </a:prstGeom>
        </p:spPr>
        <p:txBody>
          <a:bodyPr vert="horz" wrap="square" lIns="0" tIns="42028" rIns="0" bIns="0" rtlCol="0">
            <a:spAutoFit/>
          </a:bodyPr>
          <a:lstStyle/>
          <a:p>
            <a:pPr marL="6368">
              <a:spcBef>
                <a:spcPts val="331"/>
              </a:spcBef>
            </a:pPr>
            <a:r>
              <a:rPr sz="1429" u="heavy" spc="38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429" i="1" u="heavy" spc="3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429">
              <a:latin typeface="Times New Roman"/>
              <a:cs typeface="Times New Roman"/>
            </a:endParaRPr>
          </a:p>
          <a:p>
            <a:pPr marL="15601">
              <a:spcBef>
                <a:spcPts val="283"/>
              </a:spcBef>
            </a:pPr>
            <a:r>
              <a:rPr sz="1429" spc="23" dirty="0">
                <a:latin typeface="Symbol"/>
                <a:cs typeface="Symbol"/>
              </a:rPr>
              <a:t></a:t>
            </a:r>
            <a:r>
              <a:rPr sz="1429" i="1" spc="23" dirty="0">
                <a:latin typeface="Times New Roman"/>
                <a:cs typeface="Times New Roman"/>
              </a:rPr>
              <a:t>x</a:t>
            </a:r>
            <a:endParaRPr sz="1429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184614" y="4292590"/>
            <a:ext cx="88513" cy="424097"/>
            <a:chOff x="14325480" y="8561145"/>
            <a:chExt cx="176530" cy="845819"/>
          </a:xfrm>
        </p:grpSpPr>
        <p:sp>
          <p:nvSpPr>
            <p:cNvPr id="62" name="object 62"/>
            <p:cNvSpPr/>
            <p:nvPr/>
          </p:nvSpPr>
          <p:spPr>
            <a:xfrm>
              <a:off x="14413436" y="8561145"/>
              <a:ext cx="0" cy="690880"/>
            </a:xfrm>
            <a:custGeom>
              <a:avLst/>
              <a:gdLst/>
              <a:ahLst/>
              <a:cxnLst/>
              <a:rect l="l" t="t" r="r" b="b"/>
              <a:pathLst>
                <a:path h="690879">
                  <a:moveTo>
                    <a:pt x="0" y="0"/>
                  </a:moveTo>
                  <a:lnTo>
                    <a:pt x="0" y="669311"/>
                  </a:lnTo>
                  <a:lnTo>
                    <a:pt x="0" y="690253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3" name="object 63"/>
            <p:cNvSpPr/>
            <p:nvPr/>
          </p:nvSpPr>
          <p:spPr>
            <a:xfrm>
              <a:off x="14325480" y="923045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0"/>
                  </a:lnTo>
                  <a:lnTo>
                    <a:pt x="87955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138062" y="4430000"/>
            <a:ext cx="975869" cy="133387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827" dirty="0">
                <a:latin typeface="Arial"/>
                <a:cs typeface="Arial"/>
              </a:rPr>
              <a:t>After</a:t>
            </a:r>
            <a:r>
              <a:rPr sz="827" spc="-20" dirty="0">
                <a:latin typeface="Arial"/>
                <a:cs typeface="Arial"/>
              </a:rPr>
              <a:t> </a:t>
            </a:r>
            <a:r>
              <a:rPr sz="827" dirty="0">
                <a:latin typeface="Arial"/>
                <a:cs typeface="Arial"/>
              </a:rPr>
              <a:t>many</a:t>
            </a:r>
            <a:r>
              <a:rPr sz="827" spc="-20" dirty="0">
                <a:latin typeface="Arial"/>
                <a:cs typeface="Arial"/>
              </a:rPr>
              <a:t> </a:t>
            </a:r>
            <a:r>
              <a:rPr sz="827" spc="-5" dirty="0">
                <a:latin typeface="Arial"/>
                <a:cs typeface="Arial"/>
              </a:rPr>
              <a:t>iterations</a:t>
            </a:r>
            <a:endParaRPr sz="827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899" y="5489637"/>
            <a:ext cx="5657814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59994" y="4923957"/>
            <a:ext cx="856473" cy="215464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304" i="1" dirty="0">
                <a:latin typeface="Times New Roman"/>
                <a:cs typeface="Times New Roman"/>
              </a:rPr>
              <a:t>x</a:t>
            </a:r>
            <a:r>
              <a:rPr sz="1304" i="1" spc="-10" dirty="0">
                <a:latin typeface="Times New Roman"/>
                <a:cs typeface="Times New Roman"/>
              </a:rPr>
              <a:t> </a:t>
            </a:r>
            <a:r>
              <a:rPr sz="1304" dirty="0">
                <a:latin typeface="Symbol"/>
                <a:cs typeface="Symbol"/>
              </a:rPr>
              <a:t></a:t>
            </a:r>
            <a:r>
              <a:rPr sz="1304" spc="45" dirty="0">
                <a:latin typeface="Times New Roman"/>
                <a:cs typeface="Times New Roman"/>
              </a:rPr>
              <a:t> </a:t>
            </a:r>
            <a:r>
              <a:rPr sz="1304" i="1" dirty="0">
                <a:latin typeface="Times New Roman"/>
                <a:cs typeface="Times New Roman"/>
              </a:rPr>
              <a:t>x</a:t>
            </a:r>
            <a:r>
              <a:rPr sz="1304" i="1" spc="-75" dirty="0">
                <a:latin typeface="Times New Roman"/>
                <a:cs typeface="Times New Roman"/>
              </a:rPr>
              <a:t> </a:t>
            </a:r>
            <a:r>
              <a:rPr sz="1304" dirty="0">
                <a:latin typeface="Symbol"/>
                <a:cs typeface="Symbol"/>
              </a:rPr>
              <a:t></a:t>
            </a:r>
            <a:r>
              <a:rPr sz="1304" spc="-158" dirty="0">
                <a:latin typeface="Times New Roman"/>
                <a:cs typeface="Times New Roman"/>
              </a:rPr>
              <a:t> </a:t>
            </a:r>
            <a:r>
              <a:rPr sz="1354" i="1" dirty="0">
                <a:latin typeface="Symbol"/>
                <a:cs typeface="Symbol"/>
              </a:rPr>
              <a:t></a:t>
            </a:r>
            <a:r>
              <a:rPr sz="1354" spc="48" dirty="0">
                <a:latin typeface="Times New Roman"/>
                <a:cs typeface="Times New Roman"/>
              </a:rPr>
              <a:t> </a:t>
            </a:r>
            <a:r>
              <a:rPr sz="1955" u="heavy" spc="64" baseline="3632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955" i="1" u="heavy" spc="64" baseline="3632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955" baseline="36324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609596" y="5055522"/>
            <a:ext cx="180528" cy="208734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304" spc="33" dirty="0">
                <a:latin typeface="Symbol"/>
                <a:cs typeface="Symbol"/>
              </a:rPr>
              <a:t></a:t>
            </a:r>
            <a:r>
              <a:rPr sz="1304" i="1" spc="33" dirty="0">
                <a:latin typeface="Times New Roman"/>
                <a:cs typeface="Times New Roman"/>
              </a:rPr>
              <a:t>x</a:t>
            </a:r>
            <a:endParaRPr sz="1304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17544" y="4768998"/>
            <a:ext cx="502103" cy="538820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29292" rIns="0" bIns="0" rtlCol="0">
            <a:spAutoFit/>
          </a:bodyPr>
          <a:lstStyle/>
          <a:p>
            <a:pPr marL="145185">
              <a:spcBef>
                <a:spcPts val="230"/>
              </a:spcBef>
            </a:pPr>
            <a:r>
              <a:rPr sz="3309" spc="-188" dirty="0">
                <a:latin typeface="Arial"/>
                <a:cs typeface="Arial"/>
              </a:rPr>
              <a:t>?</a:t>
            </a:r>
            <a:endParaRPr sz="330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71429" y="172557"/>
            <a:ext cx="6859423" cy="983495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888305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I.</a:t>
            </a:r>
            <a:r>
              <a:rPr sz="1930" b="1" spc="-8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A.</a:t>
            </a:r>
            <a:r>
              <a:rPr sz="1930" b="1" spc="-7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Attacking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 network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with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examples</a:t>
            </a:r>
            <a:endParaRPr sz="1930">
              <a:latin typeface="Arial"/>
              <a:cs typeface="Arial"/>
            </a:endParaRPr>
          </a:p>
          <a:p>
            <a:pPr>
              <a:spcBef>
                <a:spcPts val="8"/>
              </a:spcBef>
            </a:pPr>
            <a:endParaRPr sz="2407">
              <a:latin typeface="Arial"/>
              <a:cs typeface="Arial"/>
            </a:endParaRPr>
          </a:p>
          <a:p>
            <a:pPr marL="6368">
              <a:spcBef>
                <a:spcPts val="3"/>
              </a:spcBef>
            </a:pPr>
            <a:r>
              <a:rPr sz="2006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Question:</a:t>
            </a:r>
            <a:r>
              <a:rPr sz="2006" spc="-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dirty="0">
                <a:solidFill>
                  <a:srgbClr val="00882B"/>
                </a:solidFill>
                <a:latin typeface="Arial"/>
                <a:cs typeface="Arial"/>
              </a:rPr>
              <a:t>Will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dirty="0">
                <a:solidFill>
                  <a:srgbClr val="00882B"/>
                </a:solidFill>
                <a:latin typeface="Arial"/>
                <a:cs typeface="Arial"/>
              </a:rPr>
              <a:t>the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spc="38" dirty="0">
                <a:solidFill>
                  <a:srgbClr val="00882B"/>
                </a:solidFill>
                <a:latin typeface="Arial"/>
                <a:cs typeface="Arial"/>
              </a:rPr>
              <a:t>forged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spc="33" dirty="0">
                <a:solidFill>
                  <a:srgbClr val="00882B"/>
                </a:solidFill>
                <a:latin typeface="Arial"/>
                <a:cs typeface="Arial"/>
              </a:rPr>
              <a:t>image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b="1" dirty="0">
                <a:solidFill>
                  <a:srgbClr val="00882B"/>
                </a:solidFill>
                <a:latin typeface="Arial"/>
                <a:cs typeface="Arial"/>
              </a:rPr>
              <a:t>x</a:t>
            </a:r>
            <a:r>
              <a:rPr sz="2006" b="1" spc="-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dirty="0">
                <a:solidFill>
                  <a:srgbClr val="00882B"/>
                </a:solidFill>
                <a:latin typeface="Arial"/>
                <a:cs typeface="Arial"/>
              </a:rPr>
              <a:t>look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dirty="0">
                <a:solidFill>
                  <a:srgbClr val="00882B"/>
                </a:solidFill>
                <a:latin typeface="Arial"/>
                <a:cs typeface="Arial"/>
              </a:rPr>
              <a:t>like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dirty="0">
                <a:solidFill>
                  <a:srgbClr val="00882B"/>
                </a:solidFill>
                <a:latin typeface="Arial"/>
                <a:cs typeface="Arial"/>
              </a:rPr>
              <a:t>an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06" b="1" spc="-5" dirty="0">
                <a:solidFill>
                  <a:srgbClr val="00882B"/>
                </a:solidFill>
                <a:latin typeface="Arial"/>
                <a:cs typeface="Arial"/>
              </a:rPr>
              <a:t>iguana</a:t>
            </a:r>
            <a:r>
              <a:rPr sz="2006" spc="-5" dirty="0">
                <a:solidFill>
                  <a:srgbClr val="00882B"/>
                </a:solidFill>
                <a:latin typeface="Arial"/>
                <a:cs typeface="Arial"/>
              </a:rPr>
              <a:t>?</a:t>
            </a:r>
            <a:endParaRPr sz="2006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4299" y="2550888"/>
            <a:ext cx="3615334" cy="2705371"/>
            <a:chOff x="6446968" y="5087493"/>
            <a:chExt cx="7210425" cy="53955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6968" y="5087493"/>
              <a:ext cx="7210164" cy="53949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8380" y="5108754"/>
              <a:ext cx="7147340" cy="53213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21513" y="3679231"/>
            <a:ext cx="1441358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00585" marR="2547" indent="-194536">
              <a:lnSpc>
                <a:spcPct val="100400"/>
              </a:lnSpc>
              <a:spcBef>
                <a:spcPts val="63"/>
              </a:spcBef>
            </a:pP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04" b="1" spc="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4" b="1" spc="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possible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r>
              <a:rPr sz="1304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images</a:t>
            </a:r>
            <a:endParaRPr sz="130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304" y="3633916"/>
            <a:ext cx="1839347" cy="32883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  <a:tabLst>
                <a:tab pos="1059280" algn="l"/>
              </a:tabLst>
            </a:pPr>
            <a:r>
              <a:rPr sz="3121" spc="-8" baseline="-24765" dirty="0">
                <a:latin typeface="Times New Roman"/>
                <a:cs typeface="Times New Roman"/>
              </a:rPr>
              <a:t>256</a:t>
            </a:r>
            <a:r>
              <a:rPr sz="1203" spc="-5" dirty="0">
                <a:latin typeface="Times New Roman"/>
                <a:cs typeface="Times New Roman"/>
              </a:rPr>
              <a:t>32</a:t>
            </a:r>
            <a:r>
              <a:rPr sz="1203" spc="-5" dirty="0">
                <a:latin typeface="Symbol"/>
                <a:cs typeface="Symbol"/>
              </a:rPr>
              <a:t></a:t>
            </a:r>
            <a:r>
              <a:rPr sz="1203" spc="-5" dirty="0">
                <a:latin typeface="Times New Roman"/>
                <a:cs typeface="Times New Roman"/>
              </a:rPr>
              <a:t>32</a:t>
            </a:r>
            <a:r>
              <a:rPr sz="1203" spc="-5" dirty="0">
                <a:latin typeface="Symbol"/>
                <a:cs typeface="Symbol"/>
              </a:rPr>
              <a:t></a:t>
            </a:r>
            <a:r>
              <a:rPr sz="1203" spc="-5" dirty="0">
                <a:latin typeface="Times New Roman"/>
                <a:cs typeface="Times New Roman"/>
              </a:rPr>
              <a:t>3</a:t>
            </a:r>
            <a:r>
              <a:rPr sz="1203" dirty="0">
                <a:latin typeface="Times New Roman"/>
                <a:cs typeface="Times New Roman"/>
              </a:rPr>
              <a:t>	</a:t>
            </a:r>
            <a:r>
              <a:rPr sz="3121" baseline="-24765" dirty="0">
                <a:latin typeface="Symbol"/>
                <a:cs typeface="Symbol"/>
              </a:rPr>
              <a:t></a:t>
            </a:r>
            <a:r>
              <a:rPr sz="3121" spc="-353" baseline="-24765" dirty="0">
                <a:latin typeface="Times New Roman"/>
                <a:cs typeface="Times New Roman"/>
              </a:rPr>
              <a:t> </a:t>
            </a:r>
            <a:r>
              <a:rPr sz="3121" spc="-8" baseline="-24765" dirty="0">
                <a:latin typeface="Times New Roman"/>
                <a:cs typeface="Times New Roman"/>
              </a:rPr>
              <a:t>10</a:t>
            </a:r>
            <a:r>
              <a:rPr sz="1203" spc="-5" dirty="0">
                <a:latin typeface="Times New Roman"/>
                <a:cs typeface="Times New Roman"/>
              </a:rPr>
              <a:t>7400</a:t>
            </a:r>
            <a:endParaRPr sz="1203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893" y="4140334"/>
            <a:ext cx="676900" cy="764458"/>
            <a:chOff x="11547836" y="8257486"/>
            <a:chExt cx="1350010" cy="15246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47836" y="8257486"/>
              <a:ext cx="1349753" cy="15240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79249" y="8268361"/>
              <a:ext cx="1286926" cy="146038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703213" y="4913014"/>
            <a:ext cx="3326214" cy="2286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478857">
              <a:spcBef>
                <a:spcPts val="68"/>
              </a:spcBef>
            </a:pP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Space</a:t>
            </a:r>
            <a:r>
              <a:rPr sz="1429" b="1" spc="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429" b="1" spc="2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real</a:t>
            </a:r>
            <a:r>
              <a:rPr sz="1429" b="1" spc="2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C82506"/>
                </a:solidFill>
                <a:latin typeface="Arial"/>
                <a:cs typeface="Arial"/>
              </a:rPr>
              <a:t>images</a:t>
            </a:r>
            <a:endParaRPr sz="1429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41148" y="1418887"/>
            <a:ext cx="5063378" cy="3584768"/>
            <a:chOff x="4466227" y="2829829"/>
            <a:chExt cx="10098405" cy="7149465"/>
          </a:xfrm>
        </p:grpSpPr>
        <p:sp>
          <p:nvSpPr>
            <p:cNvPr id="14" name="object 14"/>
            <p:cNvSpPr/>
            <p:nvPr/>
          </p:nvSpPr>
          <p:spPr>
            <a:xfrm>
              <a:off x="12948919" y="9636877"/>
              <a:ext cx="996950" cy="316230"/>
            </a:xfrm>
            <a:custGeom>
              <a:avLst/>
              <a:gdLst/>
              <a:ahLst/>
              <a:cxnLst/>
              <a:rect l="l" t="t" r="r" b="b"/>
              <a:pathLst>
                <a:path w="996950" h="316229">
                  <a:moveTo>
                    <a:pt x="996425" y="315819"/>
                  </a:moveTo>
                  <a:lnTo>
                    <a:pt x="24953" y="7909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70249" y="9542974"/>
              <a:ext cx="236220" cy="203835"/>
            </a:xfrm>
            <a:custGeom>
              <a:avLst/>
              <a:gdLst/>
              <a:ahLst/>
              <a:cxnLst/>
              <a:rect l="l" t="t" r="r" b="b"/>
              <a:pathLst>
                <a:path w="236219" h="203834">
                  <a:moveTo>
                    <a:pt x="235888" y="0"/>
                  </a:moveTo>
                  <a:lnTo>
                    <a:pt x="0" y="37273"/>
                  </a:lnTo>
                  <a:lnTo>
                    <a:pt x="171356" y="203623"/>
                  </a:lnTo>
                  <a:lnTo>
                    <a:pt x="235888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20205" y="6123494"/>
              <a:ext cx="1476699" cy="25461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851764" y="6165377"/>
              <a:ext cx="1393190" cy="2462530"/>
            </a:xfrm>
            <a:custGeom>
              <a:avLst/>
              <a:gdLst/>
              <a:ahLst/>
              <a:cxnLst/>
              <a:rect l="l" t="t" r="r" b="b"/>
              <a:pathLst>
                <a:path w="1393190" h="2462529">
                  <a:moveTo>
                    <a:pt x="696318" y="0"/>
                  </a:moveTo>
                  <a:lnTo>
                    <a:pt x="625121" y="6410"/>
                  </a:lnTo>
                  <a:lnTo>
                    <a:pt x="554525" y="25642"/>
                  </a:lnTo>
                  <a:lnTo>
                    <a:pt x="485130" y="57696"/>
                  </a:lnTo>
                  <a:lnTo>
                    <a:pt x="451072" y="78531"/>
                  </a:lnTo>
                  <a:lnTo>
                    <a:pt x="417539" y="102571"/>
                  </a:lnTo>
                  <a:lnTo>
                    <a:pt x="384606" y="129817"/>
                  </a:lnTo>
                  <a:lnTo>
                    <a:pt x="352350" y="160268"/>
                  </a:lnTo>
                  <a:lnTo>
                    <a:pt x="320845" y="193924"/>
                  </a:lnTo>
                  <a:lnTo>
                    <a:pt x="290166" y="230786"/>
                  </a:lnTo>
                  <a:lnTo>
                    <a:pt x="260388" y="270853"/>
                  </a:lnTo>
                  <a:lnTo>
                    <a:pt x="231586" y="314126"/>
                  </a:lnTo>
                  <a:lnTo>
                    <a:pt x="203836" y="360603"/>
                  </a:lnTo>
                  <a:lnTo>
                    <a:pt x="182380" y="400230"/>
                  </a:lnTo>
                  <a:lnTo>
                    <a:pt x="162115" y="441096"/>
                  </a:lnTo>
                  <a:lnTo>
                    <a:pt x="143043" y="483129"/>
                  </a:lnTo>
                  <a:lnTo>
                    <a:pt x="125163" y="526260"/>
                  </a:lnTo>
                  <a:lnTo>
                    <a:pt x="108474" y="570416"/>
                  </a:lnTo>
                  <a:lnTo>
                    <a:pt x="92978" y="615528"/>
                  </a:lnTo>
                  <a:lnTo>
                    <a:pt x="78673" y="661525"/>
                  </a:lnTo>
                  <a:lnTo>
                    <a:pt x="65561" y="708335"/>
                  </a:lnTo>
                  <a:lnTo>
                    <a:pt x="53641" y="755888"/>
                  </a:lnTo>
                  <a:lnTo>
                    <a:pt x="42913" y="804114"/>
                  </a:lnTo>
                  <a:lnTo>
                    <a:pt x="33376" y="852942"/>
                  </a:lnTo>
                  <a:lnTo>
                    <a:pt x="25032" y="902300"/>
                  </a:lnTo>
                  <a:lnTo>
                    <a:pt x="17880" y="952118"/>
                  </a:lnTo>
                  <a:lnTo>
                    <a:pt x="11920" y="1002326"/>
                  </a:lnTo>
                  <a:lnTo>
                    <a:pt x="7152" y="1052852"/>
                  </a:lnTo>
                  <a:lnTo>
                    <a:pt x="3576" y="1103625"/>
                  </a:lnTo>
                  <a:lnTo>
                    <a:pt x="1192" y="1154576"/>
                  </a:lnTo>
                  <a:lnTo>
                    <a:pt x="0" y="1205632"/>
                  </a:lnTo>
                  <a:lnTo>
                    <a:pt x="0" y="1256725"/>
                  </a:lnTo>
                  <a:lnTo>
                    <a:pt x="1192" y="1307781"/>
                  </a:lnTo>
                  <a:lnTo>
                    <a:pt x="3576" y="1358732"/>
                  </a:lnTo>
                  <a:lnTo>
                    <a:pt x="7152" y="1409505"/>
                  </a:lnTo>
                  <a:lnTo>
                    <a:pt x="11920" y="1460031"/>
                  </a:lnTo>
                  <a:lnTo>
                    <a:pt x="17880" y="1510239"/>
                  </a:lnTo>
                  <a:lnTo>
                    <a:pt x="25032" y="1560057"/>
                  </a:lnTo>
                  <a:lnTo>
                    <a:pt x="33376" y="1609415"/>
                  </a:lnTo>
                  <a:lnTo>
                    <a:pt x="42913" y="1658243"/>
                  </a:lnTo>
                  <a:lnTo>
                    <a:pt x="53641" y="1706469"/>
                  </a:lnTo>
                  <a:lnTo>
                    <a:pt x="65561" y="1754022"/>
                  </a:lnTo>
                  <a:lnTo>
                    <a:pt x="78673" y="1800833"/>
                  </a:lnTo>
                  <a:lnTo>
                    <a:pt x="92978" y="1846829"/>
                  </a:lnTo>
                  <a:lnTo>
                    <a:pt x="108474" y="1891941"/>
                  </a:lnTo>
                  <a:lnTo>
                    <a:pt x="125163" y="1936097"/>
                  </a:lnTo>
                  <a:lnTo>
                    <a:pt x="143043" y="1979228"/>
                  </a:lnTo>
                  <a:lnTo>
                    <a:pt x="162115" y="2021261"/>
                  </a:lnTo>
                  <a:lnTo>
                    <a:pt x="182380" y="2062127"/>
                  </a:lnTo>
                  <a:lnTo>
                    <a:pt x="203836" y="2101754"/>
                  </a:lnTo>
                  <a:lnTo>
                    <a:pt x="231586" y="2148231"/>
                  </a:lnTo>
                  <a:lnTo>
                    <a:pt x="260388" y="2191504"/>
                  </a:lnTo>
                  <a:lnTo>
                    <a:pt x="290166" y="2231571"/>
                  </a:lnTo>
                  <a:lnTo>
                    <a:pt x="320845" y="2268433"/>
                  </a:lnTo>
                  <a:lnTo>
                    <a:pt x="352350" y="2302089"/>
                  </a:lnTo>
                  <a:lnTo>
                    <a:pt x="384606" y="2332540"/>
                  </a:lnTo>
                  <a:lnTo>
                    <a:pt x="417539" y="2359786"/>
                  </a:lnTo>
                  <a:lnTo>
                    <a:pt x="451072" y="2383826"/>
                  </a:lnTo>
                  <a:lnTo>
                    <a:pt x="485130" y="2404661"/>
                  </a:lnTo>
                  <a:lnTo>
                    <a:pt x="519640" y="2422290"/>
                  </a:lnTo>
                  <a:lnTo>
                    <a:pt x="589710" y="2447933"/>
                  </a:lnTo>
                  <a:lnTo>
                    <a:pt x="660682" y="2460755"/>
                  </a:lnTo>
                  <a:lnTo>
                    <a:pt x="696318" y="2462358"/>
                  </a:lnTo>
                  <a:lnTo>
                    <a:pt x="731953" y="2460755"/>
                  </a:lnTo>
                  <a:lnTo>
                    <a:pt x="802925" y="2447933"/>
                  </a:lnTo>
                  <a:lnTo>
                    <a:pt x="872994" y="2422290"/>
                  </a:lnTo>
                  <a:lnTo>
                    <a:pt x="907503" y="2404661"/>
                  </a:lnTo>
                  <a:lnTo>
                    <a:pt x="941562" y="2383826"/>
                  </a:lnTo>
                  <a:lnTo>
                    <a:pt x="975094" y="2359786"/>
                  </a:lnTo>
                  <a:lnTo>
                    <a:pt x="1008026" y="2332540"/>
                  </a:lnTo>
                  <a:lnTo>
                    <a:pt x="1040282" y="2302089"/>
                  </a:lnTo>
                  <a:lnTo>
                    <a:pt x="1071786" y="2268433"/>
                  </a:lnTo>
                  <a:lnTo>
                    <a:pt x="1102464" y="2231571"/>
                  </a:lnTo>
                  <a:lnTo>
                    <a:pt x="1132241" y="2191504"/>
                  </a:lnTo>
                  <a:lnTo>
                    <a:pt x="1161042" y="2148231"/>
                  </a:lnTo>
                  <a:lnTo>
                    <a:pt x="1188791" y="2101754"/>
                  </a:lnTo>
                  <a:lnTo>
                    <a:pt x="1210248" y="2062127"/>
                  </a:lnTo>
                  <a:lnTo>
                    <a:pt x="1230513" y="2021261"/>
                  </a:lnTo>
                  <a:lnTo>
                    <a:pt x="1249587" y="1979228"/>
                  </a:lnTo>
                  <a:lnTo>
                    <a:pt x="1267468" y="1936097"/>
                  </a:lnTo>
                  <a:lnTo>
                    <a:pt x="1284157" y="1891941"/>
                  </a:lnTo>
                  <a:lnTo>
                    <a:pt x="1299654" y="1846829"/>
                  </a:lnTo>
                  <a:lnTo>
                    <a:pt x="1313959" y="1800833"/>
                  </a:lnTo>
                  <a:lnTo>
                    <a:pt x="1327071" y="1754022"/>
                  </a:lnTo>
                  <a:lnTo>
                    <a:pt x="1338992" y="1706469"/>
                  </a:lnTo>
                  <a:lnTo>
                    <a:pt x="1349721" y="1658243"/>
                  </a:lnTo>
                  <a:lnTo>
                    <a:pt x="1359257" y="1609415"/>
                  </a:lnTo>
                  <a:lnTo>
                    <a:pt x="1367602" y="1560057"/>
                  </a:lnTo>
                  <a:lnTo>
                    <a:pt x="1374754" y="1510239"/>
                  </a:lnTo>
                  <a:lnTo>
                    <a:pt x="1380715" y="1460031"/>
                  </a:lnTo>
                  <a:lnTo>
                    <a:pt x="1385483" y="1409505"/>
                  </a:lnTo>
                  <a:lnTo>
                    <a:pt x="1389059" y="1358732"/>
                  </a:lnTo>
                  <a:lnTo>
                    <a:pt x="1391443" y="1307781"/>
                  </a:lnTo>
                  <a:lnTo>
                    <a:pt x="1392636" y="1256725"/>
                  </a:lnTo>
                  <a:lnTo>
                    <a:pt x="1392636" y="1205632"/>
                  </a:lnTo>
                  <a:lnTo>
                    <a:pt x="1391443" y="1154576"/>
                  </a:lnTo>
                  <a:lnTo>
                    <a:pt x="1389059" y="1103625"/>
                  </a:lnTo>
                  <a:lnTo>
                    <a:pt x="1385483" y="1052852"/>
                  </a:lnTo>
                  <a:lnTo>
                    <a:pt x="1380715" y="1002326"/>
                  </a:lnTo>
                  <a:lnTo>
                    <a:pt x="1374754" y="952118"/>
                  </a:lnTo>
                  <a:lnTo>
                    <a:pt x="1367602" y="902300"/>
                  </a:lnTo>
                  <a:lnTo>
                    <a:pt x="1359257" y="852942"/>
                  </a:lnTo>
                  <a:lnTo>
                    <a:pt x="1349721" y="804114"/>
                  </a:lnTo>
                  <a:lnTo>
                    <a:pt x="1338992" y="755888"/>
                  </a:lnTo>
                  <a:lnTo>
                    <a:pt x="1327071" y="708335"/>
                  </a:lnTo>
                  <a:lnTo>
                    <a:pt x="1313959" y="661525"/>
                  </a:lnTo>
                  <a:lnTo>
                    <a:pt x="1299654" y="615528"/>
                  </a:lnTo>
                  <a:lnTo>
                    <a:pt x="1284157" y="570416"/>
                  </a:lnTo>
                  <a:lnTo>
                    <a:pt x="1267468" y="526260"/>
                  </a:lnTo>
                  <a:lnTo>
                    <a:pt x="1249587" y="483129"/>
                  </a:lnTo>
                  <a:lnTo>
                    <a:pt x="1230513" y="441096"/>
                  </a:lnTo>
                  <a:lnTo>
                    <a:pt x="1210248" y="400230"/>
                  </a:lnTo>
                  <a:lnTo>
                    <a:pt x="1188791" y="360603"/>
                  </a:lnTo>
                  <a:lnTo>
                    <a:pt x="1161042" y="314126"/>
                  </a:lnTo>
                  <a:lnTo>
                    <a:pt x="1132241" y="270853"/>
                  </a:lnTo>
                  <a:lnTo>
                    <a:pt x="1102464" y="230786"/>
                  </a:lnTo>
                  <a:lnTo>
                    <a:pt x="1071786" y="193924"/>
                  </a:lnTo>
                  <a:lnTo>
                    <a:pt x="1040282" y="160268"/>
                  </a:lnTo>
                  <a:lnTo>
                    <a:pt x="1008026" y="129817"/>
                  </a:lnTo>
                  <a:lnTo>
                    <a:pt x="975094" y="102571"/>
                  </a:lnTo>
                  <a:lnTo>
                    <a:pt x="941562" y="78531"/>
                  </a:lnTo>
                  <a:lnTo>
                    <a:pt x="907503" y="57696"/>
                  </a:lnTo>
                  <a:lnTo>
                    <a:pt x="872994" y="40067"/>
                  </a:lnTo>
                  <a:lnTo>
                    <a:pt x="802925" y="14424"/>
                  </a:lnTo>
                  <a:lnTo>
                    <a:pt x="731953" y="1602"/>
                  </a:lnTo>
                  <a:lnTo>
                    <a:pt x="696318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8" name="object 18"/>
            <p:cNvSpPr/>
            <p:nvPr/>
          </p:nvSpPr>
          <p:spPr>
            <a:xfrm>
              <a:off x="13546477" y="7300013"/>
              <a:ext cx="991869" cy="264795"/>
            </a:xfrm>
            <a:custGeom>
              <a:avLst/>
              <a:gdLst/>
              <a:ahLst/>
              <a:cxnLst/>
              <a:rect l="l" t="t" r="r" b="b"/>
              <a:pathLst>
                <a:path w="991869" h="264795">
                  <a:moveTo>
                    <a:pt x="991551" y="264252"/>
                  </a:moveTo>
                  <a:lnTo>
                    <a:pt x="25294" y="6741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70BF41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3365373" y="7203553"/>
              <a:ext cx="234315" cy="207010"/>
            </a:xfrm>
            <a:custGeom>
              <a:avLst/>
              <a:gdLst/>
              <a:ahLst/>
              <a:cxnLst/>
              <a:rect l="l" t="t" r="r" b="b"/>
              <a:pathLst>
                <a:path w="234315" h="207009">
                  <a:moveTo>
                    <a:pt x="233909" y="0"/>
                  </a:moveTo>
                  <a:lnTo>
                    <a:pt x="0" y="48194"/>
                  </a:lnTo>
                  <a:lnTo>
                    <a:pt x="178895" y="206402"/>
                  </a:lnTo>
                  <a:lnTo>
                    <a:pt x="233909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66227" y="2829829"/>
              <a:ext cx="2462361" cy="2462361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7102789" y="1177958"/>
            <a:ext cx="308203" cy="200587"/>
            <a:chOff x="14162290" y="2349321"/>
            <a:chExt cx="614680" cy="400050"/>
          </a:xfrm>
        </p:grpSpPr>
        <p:sp>
          <p:nvSpPr>
            <p:cNvPr id="22" name="object 22"/>
            <p:cNvSpPr/>
            <p:nvPr/>
          </p:nvSpPr>
          <p:spPr>
            <a:xfrm>
              <a:off x="14172761" y="2359792"/>
              <a:ext cx="528320" cy="340995"/>
            </a:xfrm>
            <a:custGeom>
              <a:avLst/>
              <a:gdLst/>
              <a:ahLst/>
              <a:cxnLst/>
              <a:rect l="l" t="t" r="r" b="b"/>
              <a:pathLst>
                <a:path w="528319" h="340994">
                  <a:moveTo>
                    <a:pt x="0" y="0"/>
                  </a:moveTo>
                  <a:lnTo>
                    <a:pt x="519196" y="334800"/>
                  </a:lnTo>
                  <a:lnTo>
                    <a:pt x="527996" y="34047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3" name="object 23"/>
            <p:cNvSpPr/>
            <p:nvPr/>
          </p:nvSpPr>
          <p:spPr>
            <a:xfrm>
              <a:off x="14664715" y="2652352"/>
              <a:ext cx="111760" cy="97155"/>
            </a:xfrm>
            <a:custGeom>
              <a:avLst/>
              <a:gdLst/>
              <a:ahLst/>
              <a:cxnLst/>
              <a:rect l="l" t="t" r="r" b="b"/>
              <a:pathLst>
                <a:path w="111759" h="97155">
                  <a:moveTo>
                    <a:pt x="54480" y="0"/>
                  </a:moveTo>
                  <a:lnTo>
                    <a:pt x="0" y="84479"/>
                  </a:lnTo>
                  <a:lnTo>
                    <a:pt x="111713" y="96715"/>
                  </a:lnTo>
                  <a:lnTo>
                    <a:pt x="54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574363" y="1395637"/>
            <a:ext cx="2064131" cy="1379590"/>
            <a:chOff x="15102797" y="2783460"/>
            <a:chExt cx="4116704" cy="275145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13268" y="2793931"/>
              <a:ext cx="4095514" cy="273034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113268" y="2793931"/>
              <a:ext cx="4095750" cy="2730500"/>
            </a:xfrm>
            <a:custGeom>
              <a:avLst/>
              <a:gdLst/>
              <a:ahLst/>
              <a:cxnLst/>
              <a:rect l="l" t="t" r="r" b="b"/>
              <a:pathLst>
                <a:path w="4095750" h="2730500">
                  <a:moveTo>
                    <a:pt x="0" y="0"/>
                  </a:moveTo>
                  <a:lnTo>
                    <a:pt x="4095514" y="0"/>
                  </a:lnTo>
                  <a:lnTo>
                    <a:pt x="4095514" y="2730341"/>
                  </a:lnTo>
                  <a:lnTo>
                    <a:pt x="0" y="273034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564462" y="1197985"/>
            <a:ext cx="340997" cy="197721"/>
            <a:chOff x="9099846" y="2389262"/>
            <a:chExt cx="680085" cy="394335"/>
          </a:xfrm>
        </p:grpSpPr>
        <p:sp>
          <p:nvSpPr>
            <p:cNvPr id="28" name="object 28"/>
            <p:cNvSpPr/>
            <p:nvPr/>
          </p:nvSpPr>
          <p:spPr>
            <a:xfrm>
              <a:off x="9177982" y="2399733"/>
              <a:ext cx="591185" cy="339090"/>
            </a:xfrm>
            <a:custGeom>
              <a:avLst/>
              <a:gdLst/>
              <a:ahLst/>
              <a:cxnLst/>
              <a:rect l="l" t="t" r="r" b="b"/>
              <a:pathLst>
                <a:path w="591184" h="339089">
                  <a:moveTo>
                    <a:pt x="591007" y="0"/>
                  </a:moveTo>
                  <a:lnTo>
                    <a:pt x="9085" y="333364"/>
                  </a:lnTo>
                  <a:lnTo>
                    <a:pt x="0" y="338569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9" name="object 29"/>
            <p:cNvSpPr/>
            <p:nvPr/>
          </p:nvSpPr>
          <p:spPr>
            <a:xfrm>
              <a:off x="9099846" y="2689486"/>
              <a:ext cx="112395" cy="93980"/>
            </a:xfrm>
            <a:custGeom>
              <a:avLst/>
              <a:gdLst/>
              <a:ahLst/>
              <a:cxnLst/>
              <a:rect l="l" t="t" r="r" b="b"/>
              <a:pathLst>
                <a:path w="112395" h="93980">
                  <a:moveTo>
                    <a:pt x="62237" y="0"/>
                  </a:moveTo>
                  <a:lnTo>
                    <a:pt x="0" y="93578"/>
                  </a:lnTo>
                  <a:lnTo>
                    <a:pt x="112204" y="87222"/>
                  </a:lnTo>
                  <a:lnTo>
                    <a:pt x="622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850731" y="1433341"/>
            <a:ext cx="630733" cy="572578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62723" rIns="0" bIns="0" rtlCol="0">
            <a:spAutoFit/>
          </a:bodyPr>
          <a:lstStyle/>
          <a:p>
            <a:pPr marL="209182">
              <a:spcBef>
                <a:spcPts val="494"/>
              </a:spcBef>
            </a:pPr>
            <a:r>
              <a:rPr sz="3309" spc="-188" dirty="0">
                <a:latin typeface="Arial"/>
                <a:cs typeface="Arial"/>
              </a:rPr>
              <a:t>?</a:t>
            </a:r>
            <a:endParaRPr sz="3309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40096" y="3658230"/>
            <a:ext cx="2351639" cy="43622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704595" marR="2547" indent="-698545">
              <a:lnSpc>
                <a:spcPct val="101299"/>
              </a:lnSpc>
              <a:spcBef>
                <a:spcPts val="45"/>
              </a:spcBef>
            </a:pP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Space</a:t>
            </a:r>
            <a:r>
              <a:rPr sz="1429" b="1" spc="33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of</a:t>
            </a:r>
            <a:r>
              <a:rPr sz="1429" b="1" spc="33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images</a:t>
            </a:r>
            <a:r>
              <a:rPr sz="1429" b="1" spc="38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70BF41"/>
                </a:solidFill>
                <a:latin typeface="Arial"/>
                <a:cs typeface="Arial"/>
              </a:rPr>
              <a:t>classified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as</a:t>
            </a:r>
            <a:r>
              <a:rPr sz="1429" b="1" spc="18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70BF41"/>
                </a:solidFill>
                <a:latin typeface="Arial"/>
                <a:cs typeface="Arial"/>
              </a:rPr>
              <a:t>iguanas</a:t>
            </a:r>
            <a:endParaRPr sz="142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017544" y="4897958"/>
            <a:ext cx="502103" cy="459120"/>
          </a:xfrm>
          <a:custGeom>
            <a:avLst/>
            <a:gdLst/>
            <a:ahLst/>
            <a:cxnLst/>
            <a:rect l="l" t="t" r="r" b="b"/>
            <a:pathLst>
              <a:path w="1001394" h="915670">
                <a:moveTo>
                  <a:pt x="0" y="0"/>
                </a:moveTo>
                <a:lnTo>
                  <a:pt x="1000950" y="0"/>
                </a:lnTo>
                <a:lnTo>
                  <a:pt x="1000950" y="915548"/>
                </a:lnTo>
                <a:lnTo>
                  <a:pt x="0" y="915548"/>
                </a:lnTo>
                <a:lnTo>
                  <a:pt x="0" y="0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" name="object 4"/>
          <p:cNvSpPr txBox="1"/>
          <p:nvPr/>
        </p:nvSpPr>
        <p:spPr>
          <a:xfrm>
            <a:off x="7162957" y="5010734"/>
            <a:ext cx="21013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9"/>
              </a:lnSpc>
            </a:pPr>
            <a:r>
              <a:rPr sz="3309" spc="-188" dirty="0">
                <a:latin typeface="Arial"/>
                <a:cs typeface="Arial"/>
              </a:rPr>
              <a:t>?</a:t>
            </a:r>
            <a:endParaRPr sz="330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9843" y="1783930"/>
            <a:ext cx="355325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“tomato”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5094" y="2209192"/>
            <a:ext cx="227331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b="1" spc="-183" dirty="0">
                <a:solidFill>
                  <a:srgbClr val="00882B"/>
                </a:solidFill>
                <a:latin typeface="Arial"/>
                <a:cs typeface="Arial"/>
              </a:rPr>
              <a:t>“</a:t>
            </a:r>
            <a:r>
              <a:rPr sz="702" spc="-73" dirty="0">
                <a:latin typeface="Arial"/>
                <a:cs typeface="Arial"/>
              </a:rPr>
              <a:t>“</a:t>
            </a:r>
            <a:r>
              <a:rPr sz="702" b="1" spc="-301" dirty="0">
                <a:solidFill>
                  <a:srgbClr val="00882B"/>
                </a:solidFill>
                <a:latin typeface="Arial"/>
                <a:cs typeface="Arial"/>
              </a:rPr>
              <a:t>c</a:t>
            </a:r>
            <a:r>
              <a:rPr sz="702" spc="-75" dirty="0">
                <a:latin typeface="Arial"/>
                <a:cs typeface="Arial"/>
              </a:rPr>
              <a:t>c</a:t>
            </a:r>
            <a:r>
              <a:rPr sz="702" b="1" spc="-301" dirty="0">
                <a:solidFill>
                  <a:srgbClr val="00882B"/>
                </a:solidFill>
                <a:latin typeface="Arial"/>
                <a:cs typeface="Arial"/>
              </a:rPr>
              <a:t>a</a:t>
            </a:r>
            <a:r>
              <a:rPr sz="702" spc="-83" dirty="0">
                <a:latin typeface="Arial"/>
                <a:cs typeface="Arial"/>
              </a:rPr>
              <a:t>a</a:t>
            </a:r>
            <a:r>
              <a:rPr sz="702" b="1" spc="-143" dirty="0">
                <a:solidFill>
                  <a:srgbClr val="00882B"/>
                </a:solidFill>
                <a:latin typeface="Arial"/>
                <a:cs typeface="Arial"/>
              </a:rPr>
              <a:t>t</a:t>
            </a:r>
            <a:r>
              <a:rPr sz="702" spc="-45" dirty="0">
                <a:latin typeface="Arial"/>
                <a:cs typeface="Arial"/>
              </a:rPr>
              <a:t>t</a:t>
            </a:r>
            <a:r>
              <a:rPr sz="702" b="1" spc="-298" dirty="0">
                <a:solidFill>
                  <a:srgbClr val="00882B"/>
                </a:solidFill>
                <a:latin typeface="Arial"/>
                <a:cs typeface="Arial"/>
              </a:rPr>
              <a:t>”</a:t>
            </a:r>
            <a:r>
              <a:rPr sz="702" spc="5" dirty="0">
                <a:latin typeface="Arial"/>
                <a:cs typeface="Arial"/>
              </a:rPr>
              <a:t>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23310" y="1901401"/>
            <a:ext cx="373155" cy="325714"/>
          </a:xfrm>
          <a:custGeom>
            <a:avLst/>
            <a:gdLst/>
            <a:ahLst/>
            <a:cxnLst/>
            <a:rect l="l" t="t" r="r" b="b"/>
            <a:pathLst>
              <a:path w="744220" h="649604">
                <a:moveTo>
                  <a:pt x="450645" y="427503"/>
                </a:moveTo>
                <a:lnTo>
                  <a:pt x="450645" y="649542"/>
                </a:lnTo>
                <a:lnTo>
                  <a:pt x="743940" y="324771"/>
                </a:lnTo>
                <a:lnTo>
                  <a:pt x="450645" y="0"/>
                </a:lnTo>
                <a:lnTo>
                  <a:pt x="450645" y="222039"/>
                </a:lnTo>
                <a:lnTo>
                  <a:pt x="0" y="222039"/>
                </a:lnTo>
                <a:lnTo>
                  <a:pt x="0" y="427503"/>
                </a:lnTo>
                <a:lnTo>
                  <a:pt x="450645" y="427503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8" name="object 8"/>
          <p:cNvSpPr txBox="1"/>
          <p:nvPr/>
        </p:nvSpPr>
        <p:spPr>
          <a:xfrm>
            <a:off x="4109014" y="1311938"/>
            <a:ext cx="2081961" cy="117180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2866" rIns="0" bIns="0" rtlCol="0">
            <a:spAutoFit/>
          </a:bodyPr>
          <a:lstStyle/>
          <a:p>
            <a:pPr>
              <a:spcBef>
                <a:spcPts val="23"/>
              </a:spcBef>
            </a:pPr>
            <a:endParaRPr sz="2031">
              <a:latin typeface="Times New Roman"/>
              <a:cs typeface="Times New Roman"/>
            </a:endParaRPr>
          </a:p>
          <a:p>
            <a:pPr marL="187213" marR="183710" algn="ctr">
              <a:lnSpc>
                <a:spcPct val="100299"/>
              </a:lnSpc>
            </a:pPr>
            <a:r>
              <a:rPr sz="1855" b="1" dirty="0">
                <a:latin typeface="Arial"/>
                <a:cs typeface="Arial"/>
              </a:rPr>
              <a:t>Neural</a:t>
            </a:r>
            <a:r>
              <a:rPr sz="1855" b="1" spc="-3" dirty="0">
                <a:latin typeface="Arial"/>
                <a:cs typeface="Arial"/>
              </a:rPr>
              <a:t> </a:t>
            </a:r>
            <a:r>
              <a:rPr sz="1855" b="1" spc="-5" dirty="0">
                <a:latin typeface="Arial"/>
                <a:cs typeface="Arial"/>
              </a:rPr>
              <a:t>network </a:t>
            </a:r>
            <a:r>
              <a:rPr sz="1855" dirty="0">
                <a:latin typeface="Arial"/>
                <a:cs typeface="Arial"/>
              </a:rPr>
              <a:t>(pretrained</a:t>
            </a:r>
            <a:r>
              <a:rPr sz="1855" spc="120" dirty="0">
                <a:latin typeface="Arial"/>
                <a:cs typeface="Arial"/>
              </a:rPr>
              <a:t> </a:t>
            </a:r>
            <a:r>
              <a:rPr sz="1855" spc="-13" dirty="0">
                <a:latin typeface="Arial"/>
                <a:cs typeface="Arial"/>
              </a:rPr>
              <a:t>on </a:t>
            </a:r>
            <a:r>
              <a:rPr sz="1855" spc="-5" dirty="0">
                <a:latin typeface="Arial"/>
                <a:cs typeface="Arial"/>
              </a:rPr>
              <a:t>ImageNet)</a:t>
            </a:r>
            <a:endParaRPr sz="1855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1666" y="1901401"/>
            <a:ext cx="318073" cy="325714"/>
          </a:xfrm>
          <a:custGeom>
            <a:avLst/>
            <a:gdLst/>
            <a:ahLst/>
            <a:cxnLst/>
            <a:rect l="l" t="t" r="r" b="b"/>
            <a:pathLst>
              <a:path w="634365" h="649604">
                <a:moveTo>
                  <a:pt x="340781" y="427503"/>
                </a:moveTo>
                <a:lnTo>
                  <a:pt x="340781" y="649542"/>
                </a:lnTo>
                <a:lnTo>
                  <a:pt x="634077" y="324771"/>
                </a:lnTo>
                <a:lnTo>
                  <a:pt x="340781" y="0"/>
                </a:lnTo>
                <a:lnTo>
                  <a:pt x="340781" y="222039"/>
                </a:lnTo>
                <a:lnTo>
                  <a:pt x="0" y="222039"/>
                </a:lnTo>
                <a:lnTo>
                  <a:pt x="0" y="427503"/>
                </a:lnTo>
                <a:lnTo>
                  <a:pt x="340781" y="427503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0" name="object 10"/>
          <p:cNvSpPr txBox="1"/>
          <p:nvPr/>
        </p:nvSpPr>
        <p:spPr>
          <a:xfrm>
            <a:off x="68899" y="5464279"/>
            <a:ext cx="5657814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5289" y="289033"/>
            <a:ext cx="9008565" cy="548498"/>
          </a:xfrm>
          <a:prstGeom prst="rect">
            <a:avLst/>
          </a:prstGeom>
        </p:spPr>
        <p:txBody>
          <a:bodyPr vert="horz" wrap="square" lIns="0" tIns="4776" rIns="0" bIns="0" rtlCol="0">
            <a:spAutoFit/>
          </a:bodyPr>
          <a:lstStyle/>
          <a:p>
            <a:pPr marL="6368" marR="2547">
              <a:lnSpc>
                <a:spcPct val="101200"/>
              </a:lnSpc>
              <a:spcBef>
                <a:spcPts val="38"/>
              </a:spcBef>
            </a:pPr>
            <a:r>
              <a:rPr sz="1805" b="1" dirty="0">
                <a:latin typeface="Arial"/>
                <a:cs typeface="Arial"/>
              </a:rPr>
              <a:t>Goal</a:t>
            </a:r>
            <a:r>
              <a:rPr sz="1805" dirty="0">
                <a:latin typeface="Arial"/>
                <a:cs typeface="Arial"/>
              </a:rPr>
              <a:t>: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Given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network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pretrained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on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ImageNet,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spc="28" dirty="0">
                <a:latin typeface="Arial"/>
                <a:cs typeface="Arial"/>
              </a:rPr>
              <a:t>find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an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input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image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that</a:t>
            </a:r>
            <a:endParaRPr lang="en-US" sz="1805" dirty="0">
              <a:latin typeface="Arial"/>
              <a:cs typeface="Arial"/>
            </a:endParaRPr>
          </a:p>
          <a:p>
            <a:pPr marL="6368" marR="2547">
              <a:lnSpc>
                <a:spcPct val="101200"/>
              </a:lnSpc>
              <a:spcBef>
                <a:spcPts val="38"/>
              </a:spcBef>
            </a:pPr>
            <a:r>
              <a:rPr sz="1805" spc="35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is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spc="40" dirty="0">
                <a:latin typeface="Arial"/>
                <a:cs typeface="Arial"/>
              </a:rPr>
              <a:t>cat</a:t>
            </a:r>
            <a:r>
              <a:rPr sz="1805" spc="33" dirty="0">
                <a:latin typeface="Arial"/>
                <a:cs typeface="Arial"/>
              </a:rPr>
              <a:t> but</a:t>
            </a:r>
            <a:r>
              <a:rPr sz="1805" spc="35" dirty="0">
                <a:latin typeface="Arial"/>
                <a:cs typeface="Arial"/>
              </a:rPr>
              <a:t> </a:t>
            </a:r>
            <a:r>
              <a:rPr sz="1805" spc="-10" dirty="0">
                <a:latin typeface="Arial"/>
                <a:cs typeface="Arial"/>
              </a:rPr>
              <a:t>will </a:t>
            </a:r>
            <a:r>
              <a:rPr sz="1805" spc="50" dirty="0">
                <a:latin typeface="Arial"/>
                <a:cs typeface="Arial"/>
              </a:rPr>
              <a:t>be</a:t>
            </a:r>
            <a:r>
              <a:rPr sz="1805" spc="3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classify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as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an</a:t>
            </a:r>
            <a:r>
              <a:rPr sz="1805" spc="33" dirty="0">
                <a:latin typeface="Arial"/>
                <a:cs typeface="Arial"/>
              </a:rPr>
              <a:t> </a:t>
            </a:r>
            <a:r>
              <a:rPr sz="1805" spc="-5" dirty="0">
                <a:latin typeface="Arial"/>
                <a:cs typeface="Arial"/>
              </a:rPr>
              <a:t>iguana.</a:t>
            </a:r>
            <a:endParaRPr sz="1805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47950" y="1521004"/>
            <a:ext cx="1104500" cy="1104818"/>
            <a:chOff x="4679234" y="3033492"/>
            <a:chExt cx="2202815" cy="22034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9234" y="3033492"/>
              <a:ext cx="2202485" cy="22031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1588" y="3078181"/>
              <a:ext cx="2076991" cy="20773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31588" y="3078181"/>
              <a:ext cx="2077085" cy="2077720"/>
            </a:xfrm>
            <a:custGeom>
              <a:avLst/>
              <a:gdLst/>
              <a:ahLst/>
              <a:cxnLst/>
              <a:rect l="l" t="t" r="r" b="b"/>
              <a:pathLst>
                <a:path w="2077084" h="2077720">
                  <a:moveTo>
                    <a:pt x="0" y="0"/>
                  </a:moveTo>
                  <a:lnTo>
                    <a:pt x="0" y="2077488"/>
                  </a:lnTo>
                  <a:lnTo>
                    <a:pt x="2076835" y="2077488"/>
                  </a:lnTo>
                  <a:lnTo>
                    <a:pt x="2076835" y="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843461" y="1328898"/>
            <a:ext cx="388756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655" b="1" spc="-8" baseline="2525" dirty="0">
                <a:latin typeface="Symbol"/>
                <a:cs typeface="Symbol"/>
              </a:rPr>
              <a:t></a:t>
            </a:r>
            <a:r>
              <a:rPr sz="1655" spc="-199" baseline="2525" dirty="0">
                <a:latin typeface="Times New Roman"/>
                <a:cs typeface="Times New Roman"/>
              </a:rPr>
              <a:t> </a:t>
            </a:r>
            <a:r>
              <a:rPr sz="1103" b="1" spc="-5" dirty="0">
                <a:latin typeface="Times New Roman"/>
                <a:cs typeface="Times New Roman"/>
              </a:rPr>
              <a:t>0.04</a:t>
            </a:r>
            <a:r>
              <a:rPr sz="1655" b="1" spc="-8" baseline="2525" dirty="0">
                <a:latin typeface="Symbol"/>
                <a:cs typeface="Symbol"/>
              </a:rPr>
              <a:t></a:t>
            </a:r>
            <a:endParaRPr sz="1655" baseline="2525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30725" y="2378624"/>
            <a:ext cx="145505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75" baseline="-16414" dirty="0">
                <a:latin typeface="Symbol"/>
                <a:cs typeface="Symbol"/>
              </a:rPr>
              <a:t></a:t>
            </a:r>
            <a:r>
              <a:rPr sz="1103" b="1" spc="50" dirty="0">
                <a:latin typeface="Malgun Gothic"/>
                <a:cs typeface="Malgun Gothic"/>
              </a:rPr>
              <a:t>:</a:t>
            </a:r>
            <a:endParaRPr sz="1103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30725" y="1538843"/>
            <a:ext cx="414227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-8" baseline="22727" dirty="0">
                <a:latin typeface="Symbol"/>
                <a:cs typeface="Symbol"/>
              </a:rPr>
              <a:t></a:t>
            </a:r>
            <a:r>
              <a:rPr sz="1103" spc="-5" dirty="0">
                <a:latin typeface="Arial Unicode MS"/>
                <a:cs typeface="Arial Unicode MS"/>
              </a:rPr>
              <a:t>:</a:t>
            </a:r>
            <a:r>
              <a:rPr sz="1103" spc="-5" dirty="0">
                <a:latin typeface="Times New Roman"/>
                <a:cs typeface="Times New Roman"/>
              </a:rPr>
              <a:t>0.85</a:t>
            </a:r>
            <a:r>
              <a:rPr sz="1655" b="1" spc="-8" baseline="22727" dirty="0">
                <a:latin typeface="Symbol"/>
                <a:cs typeface="Symbol"/>
              </a:rPr>
              <a:t></a:t>
            </a:r>
            <a:endParaRPr sz="1655" baseline="22727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43461" y="1615385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30725" y="1708256"/>
            <a:ext cx="414227" cy="425892"/>
          </a:xfrm>
          <a:prstGeom prst="rect">
            <a:avLst/>
          </a:prstGeom>
        </p:spPr>
        <p:txBody>
          <a:bodyPr vert="horz" wrap="square" lIns="0" tIns="47440" rIns="0" bIns="0" rtlCol="0">
            <a:spAutoFit/>
          </a:bodyPr>
          <a:lstStyle/>
          <a:p>
            <a:pPr marL="19103">
              <a:spcBef>
                <a:spcPts val="374"/>
              </a:spcBef>
            </a:pPr>
            <a:r>
              <a:rPr sz="1103" b="1" spc="-48" dirty="0">
                <a:latin typeface="Symbol"/>
                <a:cs typeface="Symbol"/>
              </a:rPr>
              <a:t></a:t>
            </a:r>
            <a:r>
              <a:rPr sz="1103" spc="-48" dirty="0">
                <a:latin typeface="Arial Unicode MS"/>
                <a:cs typeface="Arial Unicode MS"/>
              </a:rPr>
              <a:t>:</a:t>
            </a:r>
            <a:r>
              <a:rPr sz="1103" spc="-48" dirty="0">
                <a:latin typeface="Times New Roman"/>
                <a:cs typeface="Times New Roman"/>
              </a:rPr>
              <a:t>0.02</a:t>
            </a:r>
            <a:r>
              <a:rPr sz="1103" spc="-140" dirty="0">
                <a:latin typeface="Times New Roman"/>
                <a:cs typeface="Times New Roman"/>
              </a:rPr>
              <a:t> 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  <a:p>
            <a:pPr marL="19103">
              <a:spcBef>
                <a:spcPts val="323"/>
              </a:spcBef>
            </a:pPr>
            <a:r>
              <a:rPr sz="1655" b="1" spc="-8" baseline="30303" dirty="0">
                <a:latin typeface="Symbol"/>
                <a:cs typeface="Symbol"/>
              </a:rPr>
              <a:t></a:t>
            </a:r>
            <a:r>
              <a:rPr sz="1655" spc="-199" baseline="30303" dirty="0">
                <a:latin typeface="Times New Roman"/>
                <a:cs typeface="Times New Roman"/>
              </a:rPr>
              <a:t> </a:t>
            </a:r>
            <a:r>
              <a:rPr sz="1103" b="1" spc="-5" dirty="0">
                <a:latin typeface="Times New Roman"/>
                <a:cs typeface="Times New Roman"/>
              </a:rPr>
              <a:t>0.07</a:t>
            </a:r>
            <a:r>
              <a:rPr sz="1655" b="1" spc="-8" baseline="30303" dirty="0">
                <a:latin typeface="Symbol"/>
                <a:cs typeface="Symbol"/>
              </a:rPr>
              <a:t></a:t>
            </a:r>
            <a:endParaRPr sz="1655" baseline="30303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3461" y="2017781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30725" y="2168679"/>
            <a:ext cx="414227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b="1" spc="-8" baseline="6313" dirty="0">
                <a:latin typeface="Symbol"/>
                <a:cs typeface="Symbol"/>
              </a:rPr>
              <a:t></a:t>
            </a:r>
            <a:r>
              <a:rPr sz="1655" spc="-199" baseline="6313" dirty="0">
                <a:latin typeface="Times New Roman"/>
                <a:cs typeface="Times New Roman"/>
              </a:rPr>
              <a:t> </a:t>
            </a:r>
            <a:r>
              <a:rPr sz="1103" b="1" spc="-68" dirty="0">
                <a:latin typeface="Times New Roman"/>
                <a:cs typeface="Times New Roman"/>
              </a:rPr>
              <a:t>0.</a:t>
            </a:r>
            <a:r>
              <a:rPr sz="1103" spc="-68" dirty="0">
                <a:latin typeface="Times New Roman"/>
                <a:cs typeface="Times New Roman"/>
              </a:rPr>
              <a:t>80</a:t>
            </a:r>
            <a:r>
              <a:rPr sz="1103" b="1" spc="-68" dirty="0">
                <a:latin typeface="Times New Roman"/>
                <a:cs typeface="Times New Roman"/>
              </a:rPr>
              <a:t>1</a:t>
            </a:r>
            <a:r>
              <a:rPr sz="1655" b="1" spc="-101" baseline="6313" dirty="0">
                <a:latin typeface="Symbol"/>
                <a:cs typeface="Symbol"/>
              </a:rPr>
              <a:t></a:t>
            </a:r>
            <a:endParaRPr sz="1655" baseline="6313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43461" y="2286044"/>
            <a:ext cx="388756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  <a:tabLst>
                <a:tab pos="328259" algn="l"/>
              </a:tabLst>
            </a:pPr>
            <a:r>
              <a:rPr sz="1103" b="1" spc="-25" dirty="0">
                <a:latin typeface="Symbol"/>
                <a:cs typeface="Symbol"/>
              </a:rPr>
              <a:t></a:t>
            </a:r>
            <a:r>
              <a:rPr sz="1103" dirty="0">
                <a:latin typeface="Times New Roman"/>
                <a:cs typeface="Times New Roman"/>
              </a:rPr>
              <a:t>	</a:t>
            </a:r>
            <a:r>
              <a:rPr sz="1103" b="1" spc="-25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65669" y="2420176"/>
            <a:ext cx="66544" cy="17583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103" b="1" spc="-3" dirty="0">
                <a:latin typeface="Symbol"/>
                <a:cs typeface="Symbol"/>
              </a:rPr>
              <a:t></a:t>
            </a:r>
            <a:endParaRPr sz="1103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20513" y="2588570"/>
            <a:ext cx="424416" cy="17589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655" spc="-451" baseline="16414" dirty="0">
                <a:latin typeface="Symbol"/>
                <a:cs typeface="Symbol"/>
              </a:rPr>
              <a:t></a:t>
            </a:r>
            <a:r>
              <a:rPr sz="1655" spc="-451" baseline="-6313" dirty="0">
                <a:latin typeface="Symbol"/>
                <a:cs typeface="Symbol"/>
              </a:rPr>
              <a:t></a:t>
            </a:r>
            <a:r>
              <a:rPr sz="1655" spc="-451" baseline="16414" dirty="0">
                <a:latin typeface="Symbol"/>
                <a:cs typeface="Symbol"/>
              </a:rPr>
              <a:t></a:t>
            </a:r>
            <a:r>
              <a:rPr sz="1655" spc="-451" baseline="-6313" dirty="0">
                <a:latin typeface="Symbol"/>
                <a:cs typeface="Symbol"/>
              </a:rPr>
              <a:t></a:t>
            </a:r>
            <a:r>
              <a:rPr sz="1655" spc="-196" baseline="-6313" dirty="0">
                <a:latin typeface="Times New Roman"/>
                <a:cs typeface="Times New Roman"/>
              </a:rPr>
              <a:t> </a:t>
            </a:r>
            <a:r>
              <a:rPr sz="1103" b="1" spc="-208" dirty="0">
                <a:latin typeface="Times New Roman"/>
                <a:cs typeface="Times New Roman"/>
              </a:rPr>
              <a:t>0.0</a:t>
            </a:r>
            <a:r>
              <a:rPr sz="1103" spc="-208" dirty="0">
                <a:latin typeface="Times New Roman"/>
                <a:cs typeface="Times New Roman"/>
              </a:rPr>
              <a:t>72</a:t>
            </a:r>
            <a:r>
              <a:rPr sz="1655" spc="-312" baseline="16414" dirty="0">
                <a:latin typeface="Symbol"/>
                <a:cs typeface="Symbol"/>
              </a:rPr>
              <a:t></a:t>
            </a:r>
            <a:r>
              <a:rPr sz="1655" spc="-312" baseline="-6313" dirty="0">
                <a:latin typeface="Symbol"/>
                <a:cs typeface="Symbol"/>
              </a:rPr>
              <a:t></a:t>
            </a:r>
            <a:r>
              <a:rPr sz="1655" spc="-312" baseline="16414" dirty="0">
                <a:latin typeface="Symbol"/>
                <a:cs typeface="Symbol"/>
              </a:rPr>
              <a:t></a:t>
            </a:r>
            <a:r>
              <a:rPr sz="1655" spc="-312" baseline="-6313" dirty="0">
                <a:latin typeface="Symbol"/>
                <a:cs typeface="Symbol"/>
              </a:rPr>
              <a:t></a:t>
            </a:r>
            <a:endParaRPr sz="1655" baseline="-6313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35094" y="1988686"/>
            <a:ext cx="250892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“bike”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24593" y="1579175"/>
            <a:ext cx="345136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b="1" spc="-5" dirty="0">
                <a:solidFill>
                  <a:srgbClr val="00882B"/>
                </a:solidFill>
                <a:latin typeface="Arial"/>
                <a:cs typeface="Arial"/>
              </a:rPr>
              <a:t>“iguana</a:t>
            </a:r>
            <a:endParaRPr sz="702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29843" y="1358669"/>
            <a:ext cx="211412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“car”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5094" y="2629203"/>
            <a:ext cx="265857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spc="-5" dirty="0">
                <a:latin typeface="Arial"/>
                <a:cs typeface="Arial"/>
              </a:rPr>
              <a:t>“crab”</a:t>
            </a:r>
            <a:endParaRPr sz="702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1154" y="3148966"/>
            <a:ext cx="2517520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1.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Rephrasing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what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we</a:t>
            </a:r>
            <a:r>
              <a:rPr sz="1529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want:</a:t>
            </a:r>
            <a:endParaRPr sz="1529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23842" y="3804241"/>
            <a:ext cx="455936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053" i="1" spc="-391" dirty="0">
                <a:latin typeface="Times New Roman"/>
                <a:cs typeface="Times New Roman"/>
              </a:rPr>
              <a:t>y</a:t>
            </a:r>
            <a:r>
              <a:rPr sz="1579" spc="98" baseline="2645" dirty="0">
                <a:latin typeface="Times New Roman"/>
                <a:cs typeface="Times New Roman"/>
              </a:rPr>
              <a:t>ˆ</a:t>
            </a:r>
            <a:r>
              <a:rPr sz="1053" spc="83" dirty="0">
                <a:latin typeface="Times New Roman"/>
                <a:cs typeface="Times New Roman"/>
              </a:rPr>
              <a:t>(</a:t>
            </a:r>
            <a:r>
              <a:rPr sz="1053" i="1" spc="53" dirty="0">
                <a:latin typeface="Times New Roman"/>
                <a:cs typeface="Times New Roman"/>
              </a:rPr>
              <a:t>x</a:t>
            </a:r>
            <a:r>
              <a:rPr sz="1053" dirty="0">
                <a:latin typeface="Times New Roman"/>
                <a:cs typeface="Times New Roman"/>
              </a:rPr>
              <a:t>)</a:t>
            </a:r>
            <a:r>
              <a:rPr sz="1053" spc="-35" dirty="0">
                <a:latin typeface="Times New Roman"/>
                <a:cs typeface="Times New Roman"/>
              </a:rPr>
              <a:t> </a:t>
            </a:r>
            <a:r>
              <a:rPr sz="1053" dirty="0">
                <a:latin typeface="Symbol"/>
                <a:cs typeface="Symbol"/>
              </a:rPr>
              <a:t></a:t>
            </a:r>
            <a:r>
              <a:rPr sz="1053" spc="120" dirty="0">
                <a:latin typeface="Times New Roman"/>
                <a:cs typeface="Times New Roman"/>
              </a:rPr>
              <a:t> </a:t>
            </a:r>
            <a:r>
              <a:rPr sz="1053" i="1" spc="-25" dirty="0">
                <a:latin typeface="Times New Roman"/>
                <a:cs typeface="Times New Roman"/>
              </a:rPr>
              <a:t>y</a:t>
            </a:r>
            <a:endParaRPr sz="105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7329" y="3905548"/>
            <a:ext cx="230834" cy="10133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602" i="1" spc="-5" dirty="0">
                <a:latin typeface="Times New Roman"/>
                <a:cs typeface="Times New Roman"/>
              </a:rPr>
              <a:t>iguana</a:t>
            </a:r>
            <a:endParaRPr sz="602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32178" y="3192143"/>
            <a:ext cx="205362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579" baseline="2645" dirty="0">
                <a:latin typeface="Symbol"/>
                <a:cs typeface="Symbol"/>
              </a:rPr>
              <a:t></a:t>
            </a:r>
            <a:r>
              <a:rPr sz="1579" spc="-180" baseline="2645" dirty="0">
                <a:latin typeface="Times New Roman"/>
                <a:cs typeface="Times New Roman"/>
              </a:rPr>
              <a:t> </a:t>
            </a:r>
            <a:r>
              <a:rPr sz="1053" spc="-13" dirty="0">
                <a:latin typeface="Times New Roman"/>
                <a:cs typeface="Times New Roman"/>
              </a:rPr>
              <a:t>0</a:t>
            </a:r>
            <a:r>
              <a:rPr sz="1579" spc="-19" baseline="2645" dirty="0">
                <a:latin typeface="Symbol"/>
                <a:cs typeface="Symbol"/>
              </a:rPr>
              <a:t></a:t>
            </a:r>
            <a:endParaRPr sz="1579" baseline="2645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19442" y="3340208"/>
            <a:ext cx="230834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053" spc="43" dirty="0">
                <a:latin typeface="Symbol"/>
                <a:cs typeface="Symbol"/>
              </a:rPr>
              <a:t></a:t>
            </a:r>
            <a:r>
              <a:rPr sz="1579" spc="64" baseline="-23809" dirty="0">
                <a:latin typeface="Times New Roman"/>
                <a:cs typeface="Times New Roman"/>
              </a:rPr>
              <a:t>1</a:t>
            </a:r>
            <a:r>
              <a:rPr sz="1053" spc="43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32178" y="3470563"/>
            <a:ext cx="205362" cy="290809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lnSpc>
                <a:spcPts val="1146"/>
              </a:lnSpc>
              <a:spcBef>
                <a:spcPts val="68"/>
              </a:spcBef>
              <a:tabLst>
                <a:tab pos="146459" algn="l"/>
              </a:tabLst>
            </a:pPr>
            <a:r>
              <a:rPr sz="1053" spc="-25" dirty="0">
                <a:latin typeface="Symbol"/>
                <a:cs typeface="Symbol"/>
              </a:rPr>
              <a:t></a:t>
            </a:r>
            <a:r>
              <a:rPr sz="1053" dirty="0">
                <a:latin typeface="Times New Roman"/>
                <a:cs typeface="Times New Roman"/>
              </a:rPr>
              <a:t>	</a:t>
            </a:r>
            <a:r>
              <a:rPr sz="1053" spc="-25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  <a:p>
            <a:pPr marL="6368">
              <a:lnSpc>
                <a:spcPts val="1146"/>
              </a:lnSpc>
            </a:pPr>
            <a:r>
              <a:rPr sz="1053" spc="57" dirty="0">
                <a:latin typeface="Symbol"/>
                <a:cs typeface="Symbol"/>
              </a:rPr>
              <a:t></a:t>
            </a:r>
            <a:r>
              <a:rPr sz="1053" spc="57" dirty="0">
                <a:latin typeface="Arial Unicode MS"/>
                <a:cs typeface="Arial Unicode MS"/>
              </a:rPr>
              <a:t>:</a:t>
            </a:r>
            <a:r>
              <a:rPr sz="1053" spc="-10" dirty="0">
                <a:latin typeface="Arial Unicode MS"/>
                <a:cs typeface="Arial Unicode MS"/>
              </a:rPr>
              <a:t> </a:t>
            </a:r>
            <a:r>
              <a:rPr sz="1053" spc="-25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14947" y="3731271"/>
            <a:ext cx="335266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579" baseline="-30423" dirty="0">
                <a:latin typeface="Symbol"/>
                <a:cs typeface="Symbol"/>
              </a:rPr>
              <a:t></a:t>
            </a:r>
            <a:r>
              <a:rPr sz="1579" spc="-38" baseline="-30423" dirty="0">
                <a:latin typeface="Times New Roman"/>
                <a:cs typeface="Times New Roman"/>
              </a:rPr>
              <a:t> </a:t>
            </a:r>
            <a:r>
              <a:rPr sz="1053" dirty="0">
                <a:latin typeface="Symbol"/>
                <a:cs typeface="Symbol"/>
              </a:rPr>
              <a:t></a:t>
            </a:r>
            <a:r>
              <a:rPr sz="1053" spc="-120" dirty="0">
                <a:latin typeface="Times New Roman"/>
                <a:cs typeface="Times New Roman"/>
              </a:rPr>
              <a:t> </a:t>
            </a:r>
            <a:r>
              <a:rPr sz="1579" spc="-19" baseline="-30423" dirty="0">
                <a:latin typeface="Times New Roman"/>
                <a:cs typeface="Times New Roman"/>
              </a:rPr>
              <a:t>0</a:t>
            </a:r>
            <a:r>
              <a:rPr sz="1053" spc="-13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19442" y="3861624"/>
            <a:ext cx="230834" cy="290809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lnSpc>
                <a:spcPts val="1146"/>
              </a:lnSpc>
              <a:spcBef>
                <a:spcPts val="68"/>
              </a:spcBef>
              <a:tabLst>
                <a:tab pos="159195" algn="l"/>
              </a:tabLst>
            </a:pPr>
            <a:r>
              <a:rPr sz="1053" spc="-25" dirty="0">
                <a:latin typeface="Symbol"/>
                <a:cs typeface="Symbol"/>
              </a:rPr>
              <a:t></a:t>
            </a:r>
            <a:r>
              <a:rPr sz="1053" dirty="0">
                <a:latin typeface="Times New Roman"/>
                <a:cs typeface="Times New Roman"/>
              </a:rPr>
              <a:t>	</a:t>
            </a:r>
            <a:r>
              <a:rPr sz="1053" spc="-25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  <a:p>
            <a:pPr marL="19103">
              <a:lnSpc>
                <a:spcPts val="1146"/>
              </a:lnSpc>
            </a:pPr>
            <a:r>
              <a:rPr sz="1053" dirty="0">
                <a:latin typeface="Symbol"/>
                <a:cs typeface="Symbol"/>
              </a:rPr>
              <a:t></a:t>
            </a:r>
            <a:r>
              <a:rPr sz="1053" spc="-120" dirty="0">
                <a:latin typeface="Times New Roman"/>
                <a:cs typeface="Times New Roman"/>
              </a:rPr>
              <a:t> </a:t>
            </a:r>
            <a:r>
              <a:rPr sz="1579" spc="-19" baseline="-6613" dirty="0">
                <a:latin typeface="Times New Roman"/>
                <a:cs typeface="Times New Roman"/>
              </a:rPr>
              <a:t>0</a:t>
            </a:r>
            <a:r>
              <a:rPr sz="1053" spc="-13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19442" y="4122333"/>
            <a:ext cx="230834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053" spc="57" dirty="0">
                <a:latin typeface="Symbol"/>
                <a:cs typeface="Symbol"/>
              </a:rPr>
              <a:t></a:t>
            </a:r>
            <a:r>
              <a:rPr sz="1579" spc="86" baseline="-37037" dirty="0">
                <a:latin typeface="Arial Unicode MS"/>
                <a:cs typeface="Arial Unicode MS"/>
              </a:rPr>
              <a:t>:</a:t>
            </a:r>
            <a:r>
              <a:rPr sz="1579" spc="-15" baseline="-37037" dirty="0">
                <a:latin typeface="Arial Unicode MS"/>
                <a:cs typeface="Arial Unicode MS"/>
              </a:rPr>
              <a:t> </a:t>
            </a:r>
            <a:r>
              <a:rPr sz="1053" spc="-25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32178" y="4252686"/>
            <a:ext cx="205362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  <a:tabLst>
                <a:tab pos="146459" algn="l"/>
              </a:tabLst>
            </a:pPr>
            <a:r>
              <a:rPr sz="1053" spc="-25" dirty="0">
                <a:latin typeface="Symbol"/>
                <a:cs typeface="Symbol"/>
              </a:rPr>
              <a:t></a:t>
            </a:r>
            <a:r>
              <a:rPr sz="1053" dirty="0">
                <a:latin typeface="Times New Roman"/>
                <a:cs typeface="Times New Roman"/>
              </a:rPr>
              <a:t>	</a:t>
            </a:r>
            <a:r>
              <a:rPr sz="1053" spc="-25" dirty="0">
                <a:latin typeface="Symbol"/>
                <a:cs typeface="Symbol"/>
              </a:rPr>
              <a:t></a:t>
            </a:r>
            <a:endParaRPr sz="1053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19442" y="4375602"/>
            <a:ext cx="230834" cy="17071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053" spc="-201" dirty="0">
                <a:latin typeface="Symbol"/>
                <a:cs typeface="Symbol"/>
              </a:rPr>
              <a:t></a:t>
            </a:r>
            <a:r>
              <a:rPr sz="1579" spc="-301" baseline="-23809" dirty="0">
                <a:latin typeface="Symbol"/>
                <a:cs typeface="Symbol"/>
              </a:rPr>
              <a:t></a:t>
            </a:r>
            <a:r>
              <a:rPr sz="1579" spc="-184" baseline="-23809" dirty="0">
                <a:latin typeface="Times New Roman"/>
                <a:cs typeface="Times New Roman"/>
              </a:rPr>
              <a:t> </a:t>
            </a:r>
            <a:r>
              <a:rPr sz="1579" spc="-210" baseline="-17195" dirty="0">
                <a:latin typeface="Times New Roman"/>
                <a:cs typeface="Times New Roman"/>
              </a:rPr>
              <a:t>0</a:t>
            </a:r>
            <a:r>
              <a:rPr sz="1053" spc="-140" dirty="0">
                <a:latin typeface="Symbol"/>
                <a:cs typeface="Symbol"/>
              </a:rPr>
              <a:t></a:t>
            </a:r>
            <a:r>
              <a:rPr sz="1579" spc="-210" baseline="-23809" dirty="0">
                <a:latin typeface="Symbol"/>
                <a:cs typeface="Symbol"/>
              </a:rPr>
              <a:t></a:t>
            </a:r>
            <a:endParaRPr sz="1579" baseline="-23809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0406" y="3747483"/>
            <a:ext cx="1798274" cy="298944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905" dirty="0">
                <a:latin typeface="Arial"/>
                <a:cs typeface="Arial"/>
              </a:rPr>
              <a:t>Find</a:t>
            </a:r>
            <a:r>
              <a:rPr sz="1905" spc="8" dirty="0">
                <a:latin typeface="Arial"/>
                <a:cs typeface="Arial"/>
              </a:rPr>
              <a:t> </a:t>
            </a:r>
            <a:r>
              <a:rPr sz="1905" dirty="0">
                <a:latin typeface="Arial"/>
                <a:cs typeface="Arial"/>
              </a:rPr>
              <a:t>x</a:t>
            </a:r>
            <a:r>
              <a:rPr sz="1905" spc="10" dirty="0">
                <a:latin typeface="Arial"/>
                <a:cs typeface="Arial"/>
              </a:rPr>
              <a:t> </a:t>
            </a:r>
            <a:r>
              <a:rPr sz="1905" dirty="0">
                <a:latin typeface="Arial"/>
                <a:cs typeface="Arial"/>
              </a:rPr>
              <a:t>such</a:t>
            </a:r>
            <a:r>
              <a:rPr sz="1905" spc="8" dirty="0">
                <a:latin typeface="Arial"/>
                <a:cs typeface="Arial"/>
              </a:rPr>
              <a:t> </a:t>
            </a:r>
            <a:r>
              <a:rPr sz="1905" spc="-5" dirty="0">
                <a:latin typeface="Arial"/>
                <a:cs typeface="Arial"/>
              </a:rPr>
              <a:t>that:</a:t>
            </a:r>
            <a:endParaRPr sz="190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06258" y="3148966"/>
            <a:ext cx="2420729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2.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Defining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the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loss</a:t>
            </a:r>
            <a:r>
              <a:rPr sz="1529" u="sng" spc="-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function</a:t>
            </a:r>
            <a:endParaRPr sz="152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26934" y="3830299"/>
            <a:ext cx="627868" cy="218346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379" i="1" spc="-10" dirty="0">
                <a:latin typeface="Times New Roman"/>
                <a:cs typeface="Times New Roman"/>
              </a:rPr>
              <a:t>L</a:t>
            </a:r>
            <a:r>
              <a:rPr sz="1379" spc="-10" dirty="0">
                <a:latin typeface="Times New Roman"/>
                <a:cs typeface="Times New Roman"/>
              </a:rPr>
              <a:t>(</a:t>
            </a:r>
            <a:r>
              <a:rPr sz="1379" spc="-150" dirty="0">
                <a:latin typeface="Times New Roman"/>
                <a:cs typeface="Times New Roman"/>
              </a:rPr>
              <a:t> </a:t>
            </a:r>
            <a:r>
              <a:rPr sz="1379" i="1" spc="-514" dirty="0">
                <a:latin typeface="Times New Roman"/>
                <a:cs typeface="Times New Roman"/>
              </a:rPr>
              <a:t>y</a:t>
            </a:r>
            <a:r>
              <a:rPr sz="2068" spc="124" baseline="2020" dirty="0">
                <a:latin typeface="Times New Roman"/>
                <a:cs typeface="Times New Roman"/>
              </a:rPr>
              <a:t>ˆ</a:t>
            </a:r>
            <a:r>
              <a:rPr sz="1379" spc="-3" dirty="0">
                <a:latin typeface="Times New Roman"/>
                <a:cs typeface="Times New Roman"/>
              </a:rPr>
              <a:t>,</a:t>
            </a:r>
            <a:r>
              <a:rPr sz="1379" spc="-95" dirty="0">
                <a:latin typeface="Times New Roman"/>
                <a:cs typeface="Times New Roman"/>
              </a:rPr>
              <a:t> </a:t>
            </a:r>
            <a:r>
              <a:rPr sz="1379" i="1" spc="28" dirty="0">
                <a:latin typeface="Times New Roman"/>
                <a:cs typeface="Times New Roman"/>
              </a:rPr>
              <a:t>y</a:t>
            </a:r>
            <a:r>
              <a:rPr sz="1379" spc="28" dirty="0">
                <a:latin typeface="Times New Roman"/>
                <a:cs typeface="Times New Roman"/>
              </a:rPr>
              <a:t>)</a:t>
            </a:r>
            <a:r>
              <a:rPr sz="1379" spc="-57" dirty="0">
                <a:latin typeface="Times New Roman"/>
                <a:cs typeface="Times New Roman"/>
              </a:rPr>
              <a:t> </a:t>
            </a:r>
            <a:r>
              <a:rPr sz="1379" spc="-25" dirty="0">
                <a:latin typeface="Symbol"/>
                <a:cs typeface="Symbol"/>
              </a:rPr>
              <a:t></a:t>
            </a:r>
            <a:endParaRPr sz="1379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97647" y="3683134"/>
            <a:ext cx="100293" cy="504099"/>
          </a:xfrm>
          <a:prstGeom prst="rect">
            <a:avLst/>
          </a:prstGeom>
        </p:spPr>
        <p:txBody>
          <a:bodyPr vert="horz" wrap="square" lIns="0" tIns="40754" rIns="0" bIns="0" rtlCol="0">
            <a:spAutoFit/>
          </a:bodyPr>
          <a:lstStyle/>
          <a:p>
            <a:pPr marL="6368">
              <a:spcBef>
                <a:spcPts val="321"/>
              </a:spcBef>
            </a:pPr>
            <a:r>
              <a:rPr sz="1379" spc="-3" dirty="0">
                <a:latin typeface="Times New Roman"/>
                <a:cs typeface="Times New Roman"/>
              </a:rPr>
              <a:t>1</a:t>
            </a:r>
            <a:endParaRPr sz="1379">
              <a:latin typeface="Times New Roman"/>
              <a:cs typeface="Times New Roman"/>
            </a:endParaRPr>
          </a:p>
          <a:p>
            <a:pPr marL="6368">
              <a:spcBef>
                <a:spcPts val="271"/>
              </a:spcBef>
            </a:pPr>
            <a:r>
              <a:rPr sz="1379" spc="-3" dirty="0">
                <a:latin typeface="Times New Roman"/>
                <a:cs typeface="Times New Roman"/>
              </a:rPr>
              <a:t>2</a:t>
            </a:r>
            <a:endParaRPr sz="1379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893994" y="3825743"/>
            <a:ext cx="131814" cy="277000"/>
          </a:xfrm>
          <a:custGeom>
            <a:avLst/>
            <a:gdLst/>
            <a:ahLst/>
            <a:cxnLst/>
            <a:rect l="l" t="t" r="r" b="b"/>
            <a:pathLst>
              <a:path w="262890" h="552450">
                <a:moveTo>
                  <a:pt x="207048" y="267893"/>
                </a:moveTo>
                <a:lnTo>
                  <a:pt x="0" y="267893"/>
                </a:lnTo>
                <a:lnTo>
                  <a:pt x="0" y="285153"/>
                </a:lnTo>
                <a:lnTo>
                  <a:pt x="207048" y="285153"/>
                </a:lnTo>
                <a:lnTo>
                  <a:pt x="207048" y="267893"/>
                </a:lnTo>
                <a:close/>
              </a:path>
              <a:path w="262890" h="552450">
                <a:moveTo>
                  <a:pt x="262445" y="0"/>
                </a:moveTo>
                <a:lnTo>
                  <a:pt x="245198" y="0"/>
                </a:lnTo>
                <a:lnTo>
                  <a:pt x="245198" y="552132"/>
                </a:lnTo>
                <a:lnTo>
                  <a:pt x="262445" y="552132"/>
                </a:lnTo>
                <a:lnTo>
                  <a:pt x="2624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6" name="object 46"/>
          <p:cNvSpPr txBox="1"/>
          <p:nvPr/>
        </p:nvSpPr>
        <p:spPr>
          <a:xfrm>
            <a:off x="5072965" y="3830299"/>
            <a:ext cx="1223578" cy="218346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</a:pPr>
            <a:r>
              <a:rPr sz="1379" i="1" spc="-516" dirty="0">
                <a:latin typeface="Times New Roman"/>
                <a:cs typeface="Times New Roman"/>
              </a:rPr>
              <a:t>y</a:t>
            </a:r>
            <a:r>
              <a:rPr sz="2068" spc="120" baseline="2020" dirty="0">
                <a:latin typeface="Times New Roman"/>
                <a:cs typeface="Times New Roman"/>
              </a:rPr>
              <a:t>ˆ</a:t>
            </a:r>
            <a:r>
              <a:rPr sz="1379" spc="-73" dirty="0">
                <a:latin typeface="Times New Roman"/>
                <a:cs typeface="Times New Roman"/>
              </a:rPr>
              <a:t>(</a:t>
            </a:r>
            <a:r>
              <a:rPr sz="1379" i="1" spc="-5" dirty="0">
                <a:latin typeface="Times New Roman"/>
                <a:cs typeface="Times New Roman"/>
              </a:rPr>
              <a:t>W</a:t>
            </a:r>
            <a:r>
              <a:rPr sz="1379" i="1" spc="-148" dirty="0">
                <a:latin typeface="Times New Roman"/>
                <a:cs typeface="Times New Roman"/>
              </a:rPr>
              <a:t> </a:t>
            </a:r>
            <a:r>
              <a:rPr sz="1379" dirty="0">
                <a:latin typeface="Times New Roman"/>
                <a:cs typeface="Times New Roman"/>
              </a:rPr>
              <a:t>,</a:t>
            </a:r>
            <a:r>
              <a:rPr sz="1379" i="1" dirty="0">
                <a:latin typeface="Times New Roman"/>
                <a:cs typeface="Times New Roman"/>
              </a:rPr>
              <a:t>b</a:t>
            </a:r>
            <a:r>
              <a:rPr sz="1379" dirty="0">
                <a:latin typeface="Times New Roman"/>
                <a:cs typeface="Times New Roman"/>
              </a:rPr>
              <a:t>,</a:t>
            </a:r>
            <a:r>
              <a:rPr sz="1379" spc="-178" dirty="0">
                <a:latin typeface="Times New Roman"/>
                <a:cs typeface="Times New Roman"/>
              </a:rPr>
              <a:t> </a:t>
            </a:r>
            <a:r>
              <a:rPr sz="1379" i="1" spc="28" dirty="0">
                <a:latin typeface="Times New Roman"/>
                <a:cs typeface="Times New Roman"/>
              </a:rPr>
              <a:t>x</a:t>
            </a:r>
            <a:r>
              <a:rPr sz="1379" spc="28" dirty="0">
                <a:latin typeface="Times New Roman"/>
                <a:cs typeface="Times New Roman"/>
              </a:rPr>
              <a:t>)</a:t>
            </a:r>
            <a:r>
              <a:rPr sz="1379" spc="-120" dirty="0">
                <a:latin typeface="Times New Roman"/>
                <a:cs typeface="Times New Roman"/>
              </a:rPr>
              <a:t> </a:t>
            </a:r>
            <a:r>
              <a:rPr sz="1379" dirty="0">
                <a:latin typeface="Symbol"/>
                <a:cs typeface="Symbol"/>
              </a:rPr>
              <a:t></a:t>
            </a:r>
            <a:r>
              <a:rPr sz="1379" spc="83" dirty="0">
                <a:latin typeface="Times New Roman"/>
                <a:cs typeface="Times New Roman"/>
              </a:rPr>
              <a:t> </a:t>
            </a:r>
            <a:r>
              <a:rPr sz="1379" i="1" spc="-5" dirty="0">
                <a:latin typeface="Times New Roman"/>
                <a:cs typeface="Times New Roman"/>
              </a:rPr>
              <a:t>y</a:t>
            </a:r>
            <a:r>
              <a:rPr sz="1166" i="1" spc="-8" baseline="-32258" dirty="0">
                <a:latin typeface="Times New Roman"/>
                <a:cs typeface="Times New Roman"/>
              </a:rPr>
              <a:t>iguana</a:t>
            </a:r>
            <a:endParaRPr sz="1166" baseline="-32258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060196" y="3825739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8" name="object 48"/>
          <p:cNvSpPr/>
          <p:nvPr/>
        </p:nvSpPr>
        <p:spPr>
          <a:xfrm>
            <a:off x="6340606" y="3825739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9" name="object 49"/>
          <p:cNvSpPr/>
          <p:nvPr/>
        </p:nvSpPr>
        <p:spPr>
          <a:xfrm>
            <a:off x="6297345" y="3825739"/>
            <a:ext cx="8915" cy="277000"/>
          </a:xfrm>
          <a:custGeom>
            <a:avLst/>
            <a:gdLst/>
            <a:ahLst/>
            <a:cxnLst/>
            <a:rect l="l" t="t" r="r" b="b"/>
            <a:pathLst>
              <a:path w="17779" h="552450">
                <a:moveTo>
                  <a:pt x="17254" y="0"/>
                </a:moveTo>
                <a:lnTo>
                  <a:pt x="0" y="0"/>
                </a:lnTo>
                <a:lnTo>
                  <a:pt x="0" y="552140"/>
                </a:lnTo>
                <a:lnTo>
                  <a:pt x="17254" y="552140"/>
                </a:lnTo>
                <a:lnTo>
                  <a:pt x="17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0" name="object 50"/>
          <p:cNvSpPr txBox="1"/>
          <p:nvPr/>
        </p:nvSpPr>
        <p:spPr>
          <a:xfrm>
            <a:off x="6346075" y="4005148"/>
            <a:ext cx="63359" cy="12826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777" spc="8" dirty="0">
                <a:latin typeface="Times New Roman"/>
                <a:cs typeface="Times New Roman"/>
              </a:rPr>
              <a:t>2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46075" y="3762909"/>
            <a:ext cx="63359" cy="12826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777" spc="8" dirty="0">
                <a:latin typeface="Times New Roman"/>
                <a:cs typeface="Times New Roman"/>
              </a:rPr>
              <a:t>2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579162" y="3877853"/>
            <a:ext cx="199631" cy="174160"/>
          </a:xfrm>
          <a:custGeom>
            <a:avLst/>
            <a:gdLst/>
            <a:ahLst/>
            <a:cxnLst/>
            <a:rect l="l" t="t" r="r" b="b"/>
            <a:pathLst>
              <a:path w="398144" h="347345">
                <a:moveTo>
                  <a:pt x="240952" y="228579"/>
                </a:moveTo>
                <a:lnTo>
                  <a:pt x="240952" y="347300"/>
                </a:lnTo>
                <a:lnTo>
                  <a:pt x="397773" y="173650"/>
                </a:lnTo>
                <a:lnTo>
                  <a:pt x="240952" y="0"/>
                </a:lnTo>
                <a:lnTo>
                  <a:pt x="240952" y="118720"/>
                </a:lnTo>
                <a:lnTo>
                  <a:pt x="0" y="118720"/>
                </a:lnTo>
                <a:lnTo>
                  <a:pt x="0" y="228579"/>
                </a:lnTo>
                <a:lnTo>
                  <a:pt x="240952" y="228579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3" name="object 53"/>
          <p:cNvSpPr/>
          <p:nvPr/>
        </p:nvSpPr>
        <p:spPr>
          <a:xfrm>
            <a:off x="7838860" y="3562676"/>
            <a:ext cx="1113415" cy="804575"/>
          </a:xfrm>
          <a:custGeom>
            <a:avLst/>
            <a:gdLst/>
            <a:ahLst/>
            <a:cxnLst/>
            <a:rect l="l" t="t" r="r" b="b"/>
            <a:pathLst>
              <a:path w="2220594" h="1604645">
                <a:moveTo>
                  <a:pt x="0" y="0"/>
                </a:moveTo>
                <a:lnTo>
                  <a:pt x="2219970" y="0"/>
                </a:lnTo>
                <a:lnTo>
                  <a:pt x="2219970" y="1604477"/>
                </a:lnTo>
                <a:lnTo>
                  <a:pt x="0" y="1604477"/>
                </a:lnTo>
                <a:lnTo>
                  <a:pt x="0" y="0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4" name="object 54"/>
          <p:cNvSpPr txBox="1"/>
          <p:nvPr/>
        </p:nvSpPr>
        <p:spPr>
          <a:xfrm>
            <a:off x="8091114" y="3773733"/>
            <a:ext cx="609719" cy="345170"/>
          </a:xfrm>
          <a:prstGeom prst="rect">
            <a:avLst/>
          </a:prstGeom>
        </p:spPr>
        <p:txBody>
          <a:bodyPr vert="horz" wrap="square" lIns="0" tIns="3821" rIns="0" bIns="0" rtlCol="0">
            <a:spAutoFit/>
          </a:bodyPr>
          <a:lstStyle/>
          <a:p>
            <a:pPr marL="6368" marR="2547" indent="-3821" algn="ctr">
              <a:lnSpc>
                <a:spcPct val="104200"/>
              </a:lnSpc>
              <a:spcBef>
                <a:spcPts val="30"/>
              </a:spcBef>
            </a:pPr>
            <a:r>
              <a:rPr sz="727" b="1" spc="-5" dirty="0">
                <a:latin typeface="Arial"/>
                <a:cs typeface="Arial"/>
              </a:rPr>
              <a:t>Network </a:t>
            </a:r>
            <a:r>
              <a:rPr sz="727" dirty="0">
                <a:latin typeface="Arial"/>
                <a:cs typeface="Arial"/>
              </a:rPr>
              <a:t>(pretrained</a:t>
            </a:r>
            <a:r>
              <a:rPr sz="727" spc="118" dirty="0">
                <a:latin typeface="Arial"/>
                <a:cs typeface="Arial"/>
              </a:rPr>
              <a:t> </a:t>
            </a:r>
            <a:r>
              <a:rPr sz="727" spc="-13" dirty="0">
                <a:latin typeface="Arial"/>
                <a:cs typeface="Arial"/>
              </a:rPr>
              <a:t>on </a:t>
            </a:r>
            <a:r>
              <a:rPr sz="727" spc="-5" dirty="0">
                <a:latin typeface="Arial"/>
                <a:cs typeface="Arial"/>
              </a:rPr>
              <a:t>ImageNet)</a:t>
            </a:r>
            <a:endParaRPr sz="727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011237" y="3877853"/>
            <a:ext cx="170021" cy="174160"/>
          </a:xfrm>
          <a:custGeom>
            <a:avLst/>
            <a:gdLst/>
            <a:ahLst/>
            <a:cxnLst/>
            <a:rect l="l" t="t" r="r" b="b"/>
            <a:pathLst>
              <a:path w="339090" h="347345">
                <a:moveTo>
                  <a:pt x="182210" y="228579"/>
                </a:moveTo>
                <a:lnTo>
                  <a:pt x="182210" y="347300"/>
                </a:lnTo>
                <a:lnTo>
                  <a:pt x="339031" y="173650"/>
                </a:lnTo>
                <a:lnTo>
                  <a:pt x="182210" y="0"/>
                </a:lnTo>
                <a:lnTo>
                  <a:pt x="182210" y="118720"/>
                </a:lnTo>
                <a:lnTo>
                  <a:pt x="0" y="118720"/>
                </a:lnTo>
                <a:lnTo>
                  <a:pt x="0" y="228579"/>
                </a:lnTo>
                <a:lnTo>
                  <a:pt x="182210" y="228579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6" name="object 56"/>
          <p:cNvSpPr txBox="1"/>
          <p:nvPr/>
        </p:nvSpPr>
        <p:spPr>
          <a:xfrm>
            <a:off x="9317915" y="3782852"/>
            <a:ext cx="660025" cy="28965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30" i="1" dirty="0">
                <a:latin typeface="Times New Roman"/>
                <a:cs typeface="Times New Roman"/>
              </a:rPr>
              <a:t>L</a:t>
            </a:r>
            <a:r>
              <a:rPr sz="1830" dirty="0">
                <a:latin typeface="Times New Roman"/>
                <a:cs typeface="Times New Roman"/>
              </a:rPr>
              <a:t>(</a:t>
            </a:r>
            <a:r>
              <a:rPr sz="1830" spc="-198" dirty="0">
                <a:latin typeface="Times New Roman"/>
                <a:cs typeface="Times New Roman"/>
              </a:rPr>
              <a:t> </a:t>
            </a:r>
            <a:r>
              <a:rPr sz="1830" i="1" spc="-677" dirty="0">
                <a:latin typeface="Times New Roman"/>
                <a:cs typeface="Times New Roman"/>
              </a:rPr>
              <a:t>y</a:t>
            </a:r>
            <a:r>
              <a:rPr sz="2745" spc="173" baseline="2283" dirty="0">
                <a:latin typeface="Times New Roman"/>
                <a:cs typeface="Times New Roman"/>
              </a:rPr>
              <a:t>ˆ</a:t>
            </a:r>
            <a:r>
              <a:rPr sz="1830" dirty="0">
                <a:latin typeface="Times New Roman"/>
                <a:cs typeface="Times New Roman"/>
              </a:rPr>
              <a:t>,</a:t>
            </a:r>
            <a:r>
              <a:rPr sz="1830" spc="-127" dirty="0">
                <a:latin typeface="Times New Roman"/>
                <a:cs typeface="Times New Roman"/>
              </a:rPr>
              <a:t> </a:t>
            </a:r>
            <a:r>
              <a:rPr sz="1830" i="1" spc="33" dirty="0">
                <a:latin typeface="Times New Roman"/>
                <a:cs typeface="Times New Roman"/>
              </a:rPr>
              <a:t>y</a:t>
            </a:r>
            <a:r>
              <a:rPr sz="1830" spc="33" dirty="0">
                <a:latin typeface="Times New Roman"/>
                <a:cs typeface="Times New Roman"/>
              </a:rPr>
              <a:t>)</a:t>
            </a:r>
            <a:endParaRPr sz="183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82345" y="3148966"/>
            <a:ext cx="1923721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3.</a:t>
            </a:r>
            <a:r>
              <a:rPr sz="1529" u="sng" spc="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Optimize</a:t>
            </a:r>
            <a:r>
              <a:rPr sz="1529" u="sng" spc="8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the</a:t>
            </a:r>
            <a:r>
              <a:rPr sz="1529" u="sng" spc="10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image</a:t>
            </a:r>
            <a:endParaRPr sz="1529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270884" y="4767745"/>
            <a:ext cx="218735" cy="520775"/>
          </a:xfrm>
          <a:prstGeom prst="rect">
            <a:avLst/>
          </a:prstGeom>
        </p:spPr>
        <p:txBody>
          <a:bodyPr vert="horz" wrap="square" lIns="0" tIns="42028" rIns="0" bIns="0" rtlCol="0">
            <a:spAutoFit/>
          </a:bodyPr>
          <a:lstStyle/>
          <a:p>
            <a:pPr marL="6368">
              <a:spcBef>
                <a:spcPts val="331"/>
              </a:spcBef>
            </a:pPr>
            <a:r>
              <a:rPr sz="1429" u="heavy" spc="38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429" i="1" u="heavy" spc="38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429">
              <a:latin typeface="Times New Roman"/>
              <a:cs typeface="Times New Roman"/>
            </a:endParaRPr>
          </a:p>
          <a:p>
            <a:pPr marL="15601">
              <a:spcBef>
                <a:spcPts val="283"/>
              </a:spcBef>
            </a:pPr>
            <a:r>
              <a:rPr sz="1429" spc="23" dirty="0">
                <a:latin typeface="Symbol"/>
                <a:cs typeface="Symbol"/>
              </a:rPr>
              <a:t></a:t>
            </a:r>
            <a:r>
              <a:rPr sz="1429" i="1" spc="23" dirty="0">
                <a:latin typeface="Times New Roman"/>
                <a:cs typeface="Times New Roman"/>
              </a:rPr>
              <a:t>x</a:t>
            </a:r>
            <a:endParaRPr sz="1429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184614" y="4292590"/>
            <a:ext cx="88513" cy="424097"/>
            <a:chOff x="14325480" y="8561145"/>
            <a:chExt cx="176530" cy="845819"/>
          </a:xfrm>
        </p:grpSpPr>
        <p:sp>
          <p:nvSpPr>
            <p:cNvPr id="60" name="object 60"/>
            <p:cNvSpPr/>
            <p:nvPr/>
          </p:nvSpPr>
          <p:spPr>
            <a:xfrm>
              <a:off x="14413436" y="8561145"/>
              <a:ext cx="0" cy="690880"/>
            </a:xfrm>
            <a:custGeom>
              <a:avLst/>
              <a:gdLst/>
              <a:ahLst/>
              <a:cxnLst/>
              <a:rect l="l" t="t" r="r" b="b"/>
              <a:pathLst>
                <a:path h="690879">
                  <a:moveTo>
                    <a:pt x="0" y="0"/>
                  </a:moveTo>
                  <a:lnTo>
                    <a:pt x="0" y="669311"/>
                  </a:lnTo>
                  <a:lnTo>
                    <a:pt x="0" y="690253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1" name="object 61"/>
            <p:cNvSpPr/>
            <p:nvPr/>
          </p:nvSpPr>
          <p:spPr>
            <a:xfrm>
              <a:off x="14325480" y="923045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0"/>
                  </a:lnTo>
                  <a:lnTo>
                    <a:pt x="87955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972520" y="3646706"/>
            <a:ext cx="2502238" cy="1050373"/>
            <a:chOff x="13902481" y="7272994"/>
            <a:chExt cx="4990465" cy="2094864"/>
          </a:xfrm>
        </p:grpSpPr>
        <p:sp>
          <p:nvSpPr>
            <p:cNvPr id="63" name="object 63"/>
            <p:cNvSpPr/>
            <p:nvPr/>
          </p:nvSpPr>
          <p:spPr>
            <a:xfrm>
              <a:off x="15135856" y="8488406"/>
              <a:ext cx="3735704" cy="858519"/>
            </a:xfrm>
            <a:custGeom>
              <a:avLst/>
              <a:gdLst/>
              <a:ahLst/>
              <a:cxnLst/>
              <a:rect l="l" t="t" r="r" b="b"/>
              <a:pathLst>
                <a:path w="3735705" h="858520">
                  <a:moveTo>
                    <a:pt x="0" y="196327"/>
                  </a:moveTo>
                  <a:lnTo>
                    <a:pt x="51542" y="242247"/>
                  </a:lnTo>
                  <a:lnTo>
                    <a:pt x="87921" y="273093"/>
                  </a:lnTo>
                  <a:lnTo>
                    <a:pt x="124451" y="303147"/>
                  </a:lnTo>
                  <a:lnTo>
                    <a:pt x="161133" y="332409"/>
                  </a:lnTo>
                  <a:lnTo>
                    <a:pt x="197968" y="360879"/>
                  </a:lnTo>
                  <a:lnTo>
                    <a:pt x="234954" y="388557"/>
                  </a:lnTo>
                  <a:lnTo>
                    <a:pt x="272092" y="415442"/>
                  </a:lnTo>
                  <a:lnTo>
                    <a:pt x="309382" y="441536"/>
                  </a:lnTo>
                  <a:lnTo>
                    <a:pt x="346824" y="466838"/>
                  </a:lnTo>
                  <a:lnTo>
                    <a:pt x="384418" y="491347"/>
                  </a:lnTo>
                  <a:lnTo>
                    <a:pt x="422164" y="515064"/>
                  </a:lnTo>
                  <a:lnTo>
                    <a:pt x="460062" y="537990"/>
                  </a:lnTo>
                  <a:lnTo>
                    <a:pt x="498112" y="560123"/>
                  </a:lnTo>
                  <a:lnTo>
                    <a:pt x="536314" y="581464"/>
                  </a:lnTo>
                  <a:lnTo>
                    <a:pt x="574668" y="602013"/>
                  </a:lnTo>
                  <a:lnTo>
                    <a:pt x="613173" y="621770"/>
                  </a:lnTo>
                  <a:lnTo>
                    <a:pt x="651831" y="640735"/>
                  </a:lnTo>
                  <a:lnTo>
                    <a:pt x="690641" y="658908"/>
                  </a:lnTo>
                  <a:lnTo>
                    <a:pt x="729602" y="676289"/>
                  </a:lnTo>
                  <a:lnTo>
                    <a:pt x="768716" y="692877"/>
                  </a:lnTo>
                  <a:lnTo>
                    <a:pt x="807981" y="708674"/>
                  </a:lnTo>
                  <a:lnTo>
                    <a:pt x="847399" y="723679"/>
                  </a:lnTo>
                  <a:lnTo>
                    <a:pt x="886968" y="737891"/>
                  </a:lnTo>
                  <a:lnTo>
                    <a:pt x="926690" y="751311"/>
                  </a:lnTo>
                  <a:lnTo>
                    <a:pt x="966563" y="763940"/>
                  </a:lnTo>
                  <a:lnTo>
                    <a:pt x="1006588" y="775776"/>
                  </a:lnTo>
                  <a:lnTo>
                    <a:pt x="1046766" y="786820"/>
                  </a:lnTo>
                  <a:lnTo>
                    <a:pt x="1087095" y="797072"/>
                  </a:lnTo>
                  <a:lnTo>
                    <a:pt x="1127576" y="806532"/>
                  </a:lnTo>
                  <a:lnTo>
                    <a:pt x="1168209" y="815200"/>
                  </a:lnTo>
                  <a:lnTo>
                    <a:pt x="1208994" y="823076"/>
                  </a:lnTo>
                  <a:lnTo>
                    <a:pt x="1249931" y="830160"/>
                  </a:lnTo>
                  <a:lnTo>
                    <a:pt x="1291020" y="836452"/>
                  </a:lnTo>
                  <a:lnTo>
                    <a:pt x="1332261" y="841952"/>
                  </a:lnTo>
                  <a:lnTo>
                    <a:pt x="1373654" y="846659"/>
                  </a:lnTo>
                  <a:lnTo>
                    <a:pt x="1415199" y="850575"/>
                  </a:lnTo>
                  <a:lnTo>
                    <a:pt x="1456896" y="853698"/>
                  </a:lnTo>
                  <a:lnTo>
                    <a:pt x="1498745" y="856030"/>
                  </a:lnTo>
                  <a:lnTo>
                    <a:pt x="1540746" y="857569"/>
                  </a:lnTo>
                  <a:lnTo>
                    <a:pt x="1582899" y="858316"/>
                  </a:lnTo>
                  <a:lnTo>
                    <a:pt x="1625204" y="858271"/>
                  </a:lnTo>
                  <a:lnTo>
                    <a:pt x="1667660" y="857435"/>
                  </a:lnTo>
                  <a:lnTo>
                    <a:pt x="1710269" y="855806"/>
                  </a:lnTo>
                  <a:lnTo>
                    <a:pt x="1753030" y="853385"/>
                  </a:lnTo>
                  <a:lnTo>
                    <a:pt x="1795942" y="850172"/>
                  </a:lnTo>
                  <a:lnTo>
                    <a:pt x="1839007" y="846167"/>
                  </a:lnTo>
                  <a:lnTo>
                    <a:pt x="1882224" y="841369"/>
                  </a:lnTo>
                  <a:lnTo>
                    <a:pt x="1925592" y="835780"/>
                  </a:lnTo>
                  <a:lnTo>
                    <a:pt x="1969113" y="829399"/>
                  </a:lnTo>
                  <a:lnTo>
                    <a:pt x="2012785" y="822226"/>
                  </a:lnTo>
                  <a:lnTo>
                    <a:pt x="2056610" y="814260"/>
                  </a:lnTo>
                  <a:lnTo>
                    <a:pt x="2100586" y="805503"/>
                  </a:lnTo>
                  <a:lnTo>
                    <a:pt x="2144715" y="795953"/>
                  </a:lnTo>
                  <a:lnTo>
                    <a:pt x="2188995" y="785612"/>
                  </a:lnTo>
                  <a:lnTo>
                    <a:pt x="2233427" y="774478"/>
                  </a:lnTo>
                  <a:lnTo>
                    <a:pt x="2278012" y="762552"/>
                  </a:lnTo>
                  <a:lnTo>
                    <a:pt x="2322748" y="749835"/>
                  </a:lnTo>
                  <a:lnTo>
                    <a:pt x="2367637" y="736325"/>
                  </a:lnTo>
                  <a:lnTo>
                    <a:pt x="2412677" y="722023"/>
                  </a:lnTo>
                  <a:lnTo>
                    <a:pt x="2457869" y="706929"/>
                  </a:lnTo>
                  <a:lnTo>
                    <a:pt x="2503213" y="691043"/>
                  </a:lnTo>
                  <a:lnTo>
                    <a:pt x="2548710" y="674365"/>
                  </a:lnTo>
                  <a:lnTo>
                    <a:pt x="2594358" y="656895"/>
                  </a:lnTo>
                  <a:lnTo>
                    <a:pt x="2640158" y="638633"/>
                  </a:lnTo>
                  <a:lnTo>
                    <a:pt x="2686110" y="619579"/>
                  </a:lnTo>
                  <a:lnTo>
                    <a:pt x="2732215" y="599733"/>
                  </a:lnTo>
                  <a:lnTo>
                    <a:pt x="2778471" y="579094"/>
                  </a:lnTo>
                  <a:lnTo>
                    <a:pt x="2824879" y="557664"/>
                  </a:lnTo>
                  <a:lnTo>
                    <a:pt x="2871439" y="535442"/>
                  </a:lnTo>
                  <a:lnTo>
                    <a:pt x="2918151" y="512427"/>
                  </a:lnTo>
                  <a:lnTo>
                    <a:pt x="2965015" y="488621"/>
                  </a:lnTo>
                  <a:lnTo>
                    <a:pt x="3012031" y="464022"/>
                  </a:lnTo>
                  <a:lnTo>
                    <a:pt x="3059199" y="438632"/>
                  </a:lnTo>
                  <a:lnTo>
                    <a:pt x="3106519" y="412449"/>
                  </a:lnTo>
                  <a:lnTo>
                    <a:pt x="3153991" y="385475"/>
                  </a:lnTo>
                  <a:lnTo>
                    <a:pt x="3201616" y="357708"/>
                  </a:lnTo>
                  <a:lnTo>
                    <a:pt x="3249392" y="329149"/>
                  </a:lnTo>
                  <a:lnTo>
                    <a:pt x="3297320" y="299798"/>
                  </a:lnTo>
                  <a:lnTo>
                    <a:pt x="3345400" y="269656"/>
                  </a:lnTo>
                  <a:lnTo>
                    <a:pt x="3393632" y="238721"/>
                  </a:lnTo>
                  <a:lnTo>
                    <a:pt x="3442016" y="206994"/>
                  </a:lnTo>
                  <a:lnTo>
                    <a:pt x="3490552" y="174475"/>
                  </a:lnTo>
                  <a:lnTo>
                    <a:pt x="3539240" y="141164"/>
                  </a:lnTo>
                  <a:lnTo>
                    <a:pt x="3588080" y="107061"/>
                  </a:lnTo>
                  <a:lnTo>
                    <a:pt x="3637071" y="72166"/>
                  </a:lnTo>
                  <a:lnTo>
                    <a:pt x="3686215" y="36479"/>
                  </a:lnTo>
                  <a:lnTo>
                    <a:pt x="3735511" y="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4" name="object 64"/>
            <p:cNvSpPr/>
            <p:nvPr/>
          </p:nvSpPr>
          <p:spPr>
            <a:xfrm>
              <a:off x="15022516" y="8579046"/>
              <a:ext cx="189230" cy="184785"/>
            </a:xfrm>
            <a:custGeom>
              <a:avLst/>
              <a:gdLst/>
              <a:ahLst/>
              <a:cxnLst/>
              <a:rect l="l" t="t" r="r" b="b"/>
              <a:pathLst>
                <a:path w="189230" h="184784">
                  <a:moveTo>
                    <a:pt x="0" y="0"/>
                  </a:moveTo>
                  <a:lnTo>
                    <a:pt x="68668" y="184295"/>
                  </a:lnTo>
                  <a:lnTo>
                    <a:pt x="188632" y="55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5" name="object 65"/>
            <p:cNvSpPr/>
            <p:nvPr/>
          </p:nvSpPr>
          <p:spPr>
            <a:xfrm>
              <a:off x="13912959" y="7283472"/>
              <a:ext cx="1001394" cy="1172845"/>
            </a:xfrm>
            <a:custGeom>
              <a:avLst/>
              <a:gdLst/>
              <a:ahLst/>
              <a:cxnLst/>
              <a:rect l="l" t="t" r="r" b="b"/>
              <a:pathLst>
                <a:path w="1001394" h="1172845">
                  <a:moveTo>
                    <a:pt x="0" y="0"/>
                  </a:moveTo>
                  <a:lnTo>
                    <a:pt x="1000950" y="0"/>
                  </a:lnTo>
                  <a:lnTo>
                    <a:pt x="1000950" y="1172746"/>
                  </a:lnTo>
                  <a:lnTo>
                    <a:pt x="0" y="1172746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138062" y="4430000"/>
            <a:ext cx="975869" cy="133387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827" dirty="0">
                <a:latin typeface="Arial"/>
                <a:cs typeface="Arial"/>
              </a:rPr>
              <a:t>After</a:t>
            </a:r>
            <a:r>
              <a:rPr sz="827" spc="-20" dirty="0">
                <a:latin typeface="Arial"/>
                <a:cs typeface="Arial"/>
              </a:rPr>
              <a:t> </a:t>
            </a:r>
            <a:r>
              <a:rPr sz="827" dirty="0">
                <a:latin typeface="Arial"/>
                <a:cs typeface="Arial"/>
              </a:rPr>
              <a:t>many</a:t>
            </a:r>
            <a:r>
              <a:rPr sz="827" spc="-20" dirty="0">
                <a:latin typeface="Arial"/>
                <a:cs typeface="Arial"/>
              </a:rPr>
              <a:t> </a:t>
            </a:r>
            <a:r>
              <a:rPr sz="827" spc="-5" dirty="0">
                <a:latin typeface="Arial"/>
                <a:cs typeface="Arial"/>
              </a:rPr>
              <a:t>iterations</a:t>
            </a:r>
            <a:endParaRPr sz="827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959994" y="4923957"/>
            <a:ext cx="856473" cy="215464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304" i="1" dirty="0">
                <a:latin typeface="Times New Roman"/>
                <a:cs typeface="Times New Roman"/>
              </a:rPr>
              <a:t>x</a:t>
            </a:r>
            <a:r>
              <a:rPr sz="1304" i="1" spc="-10" dirty="0">
                <a:latin typeface="Times New Roman"/>
                <a:cs typeface="Times New Roman"/>
              </a:rPr>
              <a:t> </a:t>
            </a:r>
            <a:r>
              <a:rPr sz="1304" dirty="0">
                <a:latin typeface="Symbol"/>
                <a:cs typeface="Symbol"/>
              </a:rPr>
              <a:t></a:t>
            </a:r>
            <a:r>
              <a:rPr sz="1304" spc="45" dirty="0">
                <a:latin typeface="Times New Roman"/>
                <a:cs typeface="Times New Roman"/>
              </a:rPr>
              <a:t> </a:t>
            </a:r>
            <a:r>
              <a:rPr sz="1304" i="1" dirty="0">
                <a:latin typeface="Times New Roman"/>
                <a:cs typeface="Times New Roman"/>
              </a:rPr>
              <a:t>x</a:t>
            </a:r>
            <a:r>
              <a:rPr sz="1304" i="1" spc="-75" dirty="0">
                <a:latin typeface="Times New Roman"/>
                <a:cs typeface="Times New Roman"/>
              </a:rPr>
              <a:t> </a:t>
            </a:r>
            <a:r>
              <a:rPr sz="1304" dirty="0">
                <a:latin typeface="Symbol"/>
                <a:cs typeface="Symbol"/>
              </a:rPr>
              <a:t></a:t>
            </a:r>
            <a:r>
              <a:rPr sz="1304" spc="-158" dirty="0">
                <a:latin typeface="Times New Roman"/>
                <a:cs typeface="Times New Roman"/>
              </a:rPr>
              <a:t> </a:t>
            </a:r>
            <a:r>
              <a:rPr sz="1354" i="1" dirty="0">
                <a:latin typeface="Symbol"/>
                <a:cs typeface="Symbol"/>
              </a:rPr>
              <a:t></a:t>
            </a:r>
            <a:r>
              <a:rPr sz="1354" spc="48" dirty="0">
                <a:latin typeface="Times New Roman"/>
                <a:cs typeface="Times New Roman"/>
              </a:rPr>
              <a:t> </a:t>
            </a:r>
            <a:r>
              <a:rPr sz="1955" u="heavy" spc="64" baseline="3632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955" i="1" u="heavy" spc="64" baseline="3632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endParaRPr sz="1955" baseline="36324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609596" y="5055522"/>
            <a:ext cx="180528" cy="208734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304" spc="33" dirty="0">
                <a:latin typeface="Symbol"/>
                <a:cs typeface="Symbol"/>
              </a:rPr>
              <a:t></a:t>
            </a:r>
            <a:r>
              <a:rPr sz="1304" i="1" spc="33" dirty="0">
                <a:latin typeface="Times New Roman"/>
                <a:cs typeface="Times New Roman"/>
              </a:rPr>
              <a:t>x</a:t>
            </a:r>
            <a:endParaRPr sz="1304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126206" y="3776951"/>
            <a:ext cx="210138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09"/>
              </a:lnSpc>
            </a:pPr>
            <a:r>
              <a:rPr sz="3309" spc="-3" dirty="0">
                <a:latin typeface="Arial"/>
                <a:cs typeface="Arial"/>
              </a:rPr>
              <a:t>x</a:t>
            </a:r>
            <a:endParaRPr sz="3309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70733" y="4519361"/>
            <a:ext cx="459439" cy="282280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1780" i="1" dirty="0">
                <a:latin typeface="Times New Roman"/>
                <a:cs typeface="Times New Roman"/>
              </a:rPr>
              <a:t>x</a:t>
            </a:r>
            <a:r>
              <a:rPr sz="1780" i="1" spc="-13" dirty="0">
                <a:latin typeface="Times New Roman"/>
                <a:cs typeface="Times New Roman"/>
              </a:rPr>
              <a:t> </a:t>
            </a:r>
            <a:r>
              <a:rPr sz="1780" dirty="0">
                <a:latin typeface="Symbol"/>
                <a:cs typeface="Symbol"/>
              </a:rPr>
              <a:t></a:t>
            </a:r>
            <a:r>
              <a:rPr sz="1780" spc="60" dirty="0">
                <a:latin typeface="Times New Roman"/>
                <a:cs typeface="Times New Roman"/>
              </a:rPr>
              <a:t> </a:t>
            </a:r>
            <a:r>
              <a:rPr sz="1780" i="1" spc="-25" dirty="0">
                <a:latin typeface="Times New Roman"/>
                <a:cs typeface="Times New Roman"/>
              </a:rPr>
              <a:t>x</a:t>
            </a:r>
            <a:endParaRPr sz="178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118297" y="4689127"/>
            <a:ext cx="172887" cy="1659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028" i="1" spc="-13" dirty="0">
                <a:latin typeface="Times New Roman"/>
                <a:cs typeface="Times New Roman"/>
              </a:rPr>
              <a:t>cat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56173" y="4529754"/>
            <a:ext cx="522798" cy="298944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905" spc="-10" dirty="0">
                <a:latin typeface="Arial"/>
                <a:cs typeface="Arial"/>
              </a:rPr>
              <a:t>And:</a:t>
            </a:r>
            <a:endParaRPr sz="1905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891426" y="4280159"/>
            <a:ext cx="990834" cy="287724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  <a:tabLst>
                <a:tab pos="392892" algn="l"/>
              </a:tabLst>
            </a:pPr>
            <a:r>
              <a:rPr sz="1755" spc="15" dirty="0">
                <a:latin typeface="Symbol"/>
                <a:cs typeface="Symbol"/>
              </a:rPr>
              <a:t></a:t>
            </a:r>
            <a:r>
              <a:rPr sz="1830" i="1" spc="15" dirty="0">
                <a:latin typeface="Symbol"/>
                <a:cs typeface="Symbol"/>
              </a:rPr>
              <a:t></a:t>
            </a:r>
            <a:r>
              <a:rPr sz="1830" dirty="0">
                <a:latin typeface="Times New Roman"/>
                <a:cs typeface="Times New Roman"/>
              </a:rPr>
              <a:t>	</a:t>
            </a:r>
            <a:r>
              <a:rPr sz="1755" i="1" dirty="0">
                <a:latin typeface="Times New Roman"/>
                <a:cs typeface="Times New Roman"/>
              </a:rPr>
              <a:t>x</a:t>
            </a:r>
            <a:r>
              <a:rPr sz="1755" i="1" spc="-93" dirty="0">
                <a:latin typeface="Times New Roman"/>
                <a:cs typeface="Times New Roman"/>
              </a:rPr>
              <a:t> </a:t>
            </a:r>
            <a:r>
              <a:rPr sz="1755" dirty="0">
                <a:latin typeface="Symbol"/>
                <a:cs typeface="Symbol"/>
              </a:rPr>
              <a:t></a:t>
            </a:r>
            <a:r>
              <a:rPr sz="1755" spc="-20" dirty="0">
                <a:latin typeface="Times New Roman"/>
                <a:cs typeface="Times New Roman"/>
              </a:rPr>
              <a:t> </a:t>
            </a:r>
            <a:r>
              <a:rPr sz="1755" i="1" spc="-10" dirty="0">
                <a:latin typeface="Times New Roman"/>
                <a:cs typeface="Times New Roman"/>
              </a:rPr>
              <a:t>x</a:t>
            </a:r>
            <a:r>
              <a:rPr sz="1542" i="1" spc="-15" baseline="-31165" dirty="0">
                <a:latin typeface="Times New Roman"/>
                <a:cs typeface="Times New Roman"/>
              </a:rPr>
              <a:t>cat</a:t>
            </a:r>
            <a:endParaRPr sz="1542" baseline="-31165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257439" y="4304029"/>
            <a:ext cx="11462" cy="307884"/>
          </a:xfrm>
          <a:custGeom>
            <a:avLst/>
            <a:gdLst/>
            <a:ahLst/>
            <a:cxnLst/>
            <a:rect l="l" t="t" r="r" b="b"/>
            <a:pathLst>
              <a:path w="22859" h="614045">
                <a:moveTo>
                  <a:pt x="22243" y="0"/>
                </a:moveTo>
                <a:lnTo>
                  <a:pt x="0" y="0"/>
                </a:lnTo>
                <a:lnTo>
                  <a:pt x="0" y="613442"/>
                </a:lnTo>
                <a:lnTo>
                  <a:pt x="22243" y="613442"/>
                </a:lnTo>
                <a:lnTo>
                  <a:pt x="22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5" name="object 75"/>
          <p:cNvSpPr/>
          <p:nvPr/>
        </p:nvSpPr>
        <p:spPr>
          <a:xfrm>
            <a:off x="5201677" y="4304029"/>
            <a:ext cx="11462" cy="307884"/>
          </a:xfrm>
          <a:custGeom>
            <a:avLst/>
            <a:gdLst/>
            <a:ahLst/>
            <a:cxnLst/>
            <a:rect l="l" t="t" r="r" b="b"/>
            <a:pathLst>
              <a:path w="22859" h="614045">
                <a:moveTo>
                  <a:pt x="22243" y="0"/>
                </a:moveTo>
                <a:lnTo>
                  <a:pt x="0" y="0"/>
                </a:lnTo>
                <a:lnTo>
                  <a:pt x="0" y="613442"/>
                </a:lnTo>
                <a:lnTo>
                  <a:pt x="22243" y="613442"/>
                </a:lnTo>
                <a:lnTo>
                  <a:pt x="22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6" name="object 76"/>
          <p:cNvSpPr/>
          <p:nvPr/>
        </p:nvSpPr>
        <p:spPr>
          <a:xfrm>
            <a:off x="5948914" y="4304029"/>
            <a:ext cx="11462" cy="307884"/>
          </a:xfrm>
          <a:custGeom>
            <a:avLst/>
            <a:gdLst/>
            <a:ahLst/>
            <a:cxnLst/>
            <a:rect l="l" t="t" r="r" b="b"/>
            <a:pathLst>
              <a:path w="22859" h="614045">
                <a:moveTo>
                  <a:pt x="22243" y="0"/>
                </a:moveTo>
                <a:lnTo>
                  <a:pt x="0" y="0"/>
                </a:lnTo>
                <a:lnTo>
                  <a:pt x="0" y="613442"/>
                </a:lnTo>
                <a:lnTo>
                  <a:pt x="22243" y="613442"/>
                </a:lnTo>
                <a:lnTo>
                  <a:pt x="22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7" name="object 77"/>
          <p:cNvSpPr/>
          <p:nvPr/>
        </p:nvSpPr>
        <p:spPr>
          <a:xfrm>
            <a:off x="5893153" y="4304029"/>
            <a:ext cx="11462" cy="307884"/>
          </a:xfrm>
          <a:custGeom>
            <a:avLst/>
            <a:gdLst/>
            <a:ahLst/>
            <a:cxnLst/>
            <a:rect l="l" t="t" r="r" b="b"/>
            <a:pathLst>
              <a:path w="22859" h="614045">
                <a:moveTo>
                  <a:pt x="22243" y="0"/>
                </a:moveTo>
                <a:lnTo>
                  <a:pt x="0" y="0"/>
                </a:lnTo>
                <a:lnTo>
                  <a:pt x="0" y="613442"/>
                </a:lnTo>
                <a:lnTo>
                  <a:pt x="22243" y="613442"/>
                </a:lnTo>
                <a:lnTo>
                  <a:pt x="22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8" name="object 78"/>
          <p:cNvSpPr txBox="1"/>
          <p:nvPr/>
        </p:nvSpPr>
        <p:spPr>
          <a:xfrm>
            <a:off x="5957808" y="4224875"/>
            <a:ext cx="78006" cy="425069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028" spc="-3" dirty="0">
                <a:latin typeface="Times New Roman"/>
                <a:cs typeface="Times New Roman"/>
              </a:rPr>
              <a:t>2</a:t>
            </a:r>
            <a:endParaRPr sz="1028">
              <a:latin typeface="Times New Roman"/>
              <a:cs typeface="Times New Roman"/>
            </a:endParaRPr>
          </a:p>
          <a:p>
            <a:pPr marL="6368">
              <a:spcBef>
                <a:spcPts val="837"/>
              </a:spcBef>
            </a:pPr>
            <a:r>
              <a:rPr sz="1028" spc="-3" dirty="0">
                <a:latin typeface="Times New Roman"/>
                <a:cs typeface="Times New Roman"/>
              </a:rPr>
              <a:t>2</a:t>
            </a:r>
            <a:endParaRPr sz="1028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951523" y="3672540"/>
            <a:ext cx="565145" cy="565145"/>
            <a:chOff x="13860603" y="7324517"/>
            <a:chExt cx="1127125" cy="1127125"/>
          </a:xfrm>
        </p:grpSpPr>
        <p:pic>
          <p:nvPicPr>
            <p:cNvPr id="80" name="object 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0603" y="7324517"/>
              <a:ext cx="1126602" cy="112692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12957" y="7369206"/>
              <a:ext cx="1001089" cy="100127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3912958" y="7369205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5">
                  <a:moveTo>
                    <a:pt x="0" y="0"/>
                  </a:moveTo>
                  <a:lnTo>
                    <a:pt x="0" y="1001278"/>
                  </a:lnTo>
                  <a:lnTo>
                    <a:pt x="1000951" y="1001278"/>
                  </a:lnTo>
                  <a:lnTo>
                    <a:pt x="1000951" y="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6991214" y="4806427"/>
            <a:ext cx="565145" cy="565145"/>
            <a:chOff x="13939764" y="9585943"/>
            <a:chExt cx="1127125" cy="1127125"/>
          </a:xfrm>
        </p:grpSpPr>
        <p:pic>
          <p:nvPicPr>
            <p:cNvPr id="84" name="object 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39764" y="9585943"/>
              <a:ext cx="1126929" cy="112692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2118" y="9630632"/>
              <a:ext cx="1001205" cy="100139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81648" y="9620161"/>
              <a:ext cx="1022220" cy="1022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7093" y="1343232"/>
            <a:ext cx="2701869" cy="2702187"/>
            <a:chOff x="3101948" y="2678942"/>
            <a:chExt cx="5388610" cy="53892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1948" y="2678942"/>
              <a:ext cx="5388252" cy="538923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4302" y="2723632"/>
              <a:ext cx="5262710" cy="52637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4302" y="2723632"/>
              <a:ext cx="5262880" cy="5264150"/>
            </a:xfrm>
            <a:custGeom>
              <a:avLst/>
              <a:gdLst/>
              <a:ahLst/>
              <a:cxnLst/>
              <a:rect l="l" t="t" r="r" b="b"/>
              <a:pathLst>
                <a:path w="5262880" h="5264150">
                  <a:moveTo>
                    <a:pt x="0" y="0"/>
                  </a:moveTo>
                  <a:lnTo>
                    <a:pt x="0" y="5263583"/>
                  </a:lnTo>
                  <a:lnTo>
                    <a:pt x="5262602" y="5263583"/>
                  </a:lnTo>
                  <a:lnTo>
                    <a:pt x="5262602" y="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65464" y="1355932"/>
            <a:ext cx="2701869" cy="2702187"/>
            <a:chOff x="11295687" y="2704272"/>
            <a:chExt cx="5388610" cy="53892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5687" y="2704272"/>
              <a:ext cx="5388252" cy="53892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8041" y="2748962"/>
              <a:ext cx="5262729" cy="5263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7570" y="2738490"/>
              <a:ext cx="5283543" cy="52845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94711" y="4135993"/>
            <a:ext cx="101948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92%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spc="-13" dirty="0">
                <a:latin typeface="Arial"/>
                <a:cs typeface="Arial"/>
              </a:rPr>
              <a:t>Cat</a:t>
            </a:r>
            <a:endParaRPr sz="2056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95566" y="4135993"/>
            <a:ext cx="1428304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94%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Iguana</a:t>
            </a:r>
            <a:endParaRPr sz="2056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-85044" y="227377"/>
            <a:ext cx="8578731" cy="1127059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898812">
              <a:lnSpc>
                <a:spcPct val="100000"/>
              </a:lnSpc>
              <a:spcBef>
                <a:spcPts val="57"/>
              </a:spcBef>
            </a:pPr>
            <a:r>
              <a:rPr dirty="0"/>
              <a:t>I.</a:t>
            </a:r>
            <a:r>
              <a:rPr spc="-80" dirty="0"/>
              <a:t> </a:t>
            </a:r>
            <a:r>
              <a:rPr dirty="0"/>
              <a:t>A.</a:t>
            </a:r>
            <a:r>
              <a:rPr spc="-73" dirty="0"/>
              <a:t> </a:t>
            </a:r>
            <a:r>
              <a:rPr dirty="0"/>
              <a:t>Attacking</a:t>
            </a:r>
            <a:r>
              <a:rPr spc="-5" dirty="0"/>
              <a:t> </a:t>
            </a:r>
            <a:r>
              <a:rPr dirty="0"/>
              <a:t>a network</a:t>
            </a:r>
            <a:r>
              <a:rPr spc="-3" dirty="0"/>
              <a:t> </a:t>
            </a:r>
            <a:r>
              <a:rPr dirty="0"/>
              <a:t>with</a:t>
            </a:r>
            <a:r>
              <a:rPr spc="-3" dirty="0"/>
              <a:t> </a:t>
            </a:r>
            <a:r>
              <a:rPr dirty="0"/>
              <a:t>adversarial</a:t>
            </a:r>
            <a:r>
              <a:rPr spc="-3" dirty="0"/>
              <a:t> </a:t>
            </a:r>
            <a:r>
              <a:rPr spc="-5" dirty="0"/>
              <a:t>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900" y="280830"/>
            <a:ext cx="8273931" cy="1127059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898812">
              <a:lnSpc>
                <a:spcPct val="100000"/>
              </a:lnSpc>
              <a:spcBef>
                <a:spcPts val="57"/>
              </a:spcBef>
            </a:pPr>
            <a:r>
              <a:rPr dirty="0"/>
              <a:t>I.</a:t>
            </a:r>
            <a:r>
              <a:rPr spc="-80" dirty="0"/>
              <a:t> </a:t>
            </a:r>
            <a:r>
              <a:rPr dirty="0"/>
              <a:t>A.</a:t>
            </a:r>
            <a:r>
              <a:rPr spc="-73" dirty="0"/>
              <a:t> </a:t>
            </a:r>
            <a:r>
              <a:rPr dirty="0"/>
              <a:t>Attacking</a:t>
            </a:r>
            <a:r>
              <a:rPr spc="-5" dirty="0"/>
              <a:t> </a:t>
            </a:r>
            <a:r>
              <a:rPr dirty="0"/>
              <a:t>a network</a:t>
            </a:r>
            <a:r>
              <a:rPr spc="-3" dirty="0"/>
              <a:t> </a:t>
            </a:r>
            <a:r>
              <a:rPr dirty="0"/>
              <a:t>with</a:t>
            </a:r>
            <a:r>
              <a:rPr spc="-3" dirty="0"/>
              <a:t> </a:t>
            </a:r>
            <a:r>
              <a:rPr dirty="0"/>
              <a:t>adversarial</a:t>
            </a:r>
            <a:r>
              <a:rPr spc="-3" dirty="0"/>
              <a:t> </a:t>
            </a:r>
            <a:r>
              <a:rPr spc="-5" dirty="0"/>
              <a:t>examples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245727" y="1606087"/>
            <a:ext cx="3615334" cy="2705371"/>
            <a:chOff x="6469761" y="3203181"/>
            <a:chExt cx="7210425" cy="53955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9761" y="3203181"/>
              <a:ext cx="7210164" cy="53949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1174" y="3224441"/>
              <a:ext cx="7147339" cy="53213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32013" y="2734206"/>
            <a:ext cx="1441358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00585" marR="2547" indent="-194536">
              <a:lnSpc>
                <a:spcPct val="100400"/>
              </a:lnSpc>
              <a:spcBef>
                <a:spcPts val="63"/>
              </a:spcBef>
            </a:pP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304" b="1" spc="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304" b="1" spc="2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possible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r>
              <a:rPr sz="1304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images</a:t>
            </a:r>
            <a:endParaRPr sz="130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8733" y="2689115"/>
            <a:ext cx="1839347" cy="32883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  <a:tabLst>
                <a:tab pos="1059280" algn="l"/>
              </a:tabLst>
            </a:pPr>
            <a:r>
              <a:rPr sz="3121" spc="-8" baseline="-24765" dirty="0">
                <a:latin typeface="Times New Roman"/>
                <a:cs typeface="Times New Roman"/>
              </a:rPr>
              <a:t>256</a:t>
            </a:r>
            <a:r>
              <a:rPr sz="1203" spc="-5" dirty="0">
                <a:latin typeface="Times New Roman"/>
                <a:cs typeface="Times New Roman"/>
              </a:rPr>
              <a:t>32</a:t>
            </a:r>
            <a:r>
              <a:rPr sz="1203" spc="-5" dirty="0">
                <a:latin typeface="Symbol"/>
                <a:cs typeface="Symbol"/>
              </a:rPr>
              <a:t></a:t>
            </a:r>
            <a:r>
              <a:rPr sz="1203" spc="-5" dirty="0">
                <a:latin typeface="Times New Roman"/>
                <a:cs typeface="Times New Roman"/>
              </a:rPr>
              <a:t>32</a:t>
            </a:r>
            <a:r>
              <a:rPr sz="1203" spc="-5" dirty="0">
                <a:latin typeface="Symbol"/>
                <a:cs typeface="Symbol"/>
              </a:rPr>
              <a:t></a:t>
            </a:r>
            <a:r>
              <a:rPr sz="1203" spc="-5" dirty="0">
                <a:latin typeface="Times New Roman"/>
                <a:cs typeface="Times New Roman"/>
              </a:rPr>
              <a:t>3</a:t>
            </a:r>
            <a:r>
              <a:rPr sz="1203" dirty="0">
                <a:latin typeface="Times New Roman"/>
                <a:cs typeface="Times New Roman"/>
              </a:rPr>
              <a:t>	</a:t>
            </a:r>
            <a:r>
              <a:rPr sz="3121" baseline="-24765" dirty="0">
                <a:latin typeface="Symbol"/>
                <a:cs typeface="Symbol"/>
              </a:rPr>
              <a:t></a:t>
            </a:r>
            <a:r>
              <a:rPr sz="3121" spc="-353" baseline="-24765" dirty="0">
                <a:latin typeface="Times New Roman"/>
                <a:cs typeface="Times New Roman"/>
              </a:rPr>
              <a:t> </a:t>
            </a:r>
            <a:r>
              <a:rPr sz="3121" spc="-8" baseline="-24765" dirty="0">
                <a:latin typeface="Times New Roman"/>
                <a:cs typeface="Times New Roman"/>
              </a:rPr>
              <a:t>10</a:t>
            </a:r>
            <a:r>
              <a:rPr sz="1203" spc="-5" dirty="0">
                <a:latin typeface="Times New Roman"/>
                <a:cs typeface="Times New Roman"/>
              </a:rPr>
              <a:t>7400</a:t>
            </a:r>
            <a:endParaRPr sz="1203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08838" y="3084454"/>
            <a:ext cx="1269745" cy="1451865"/>
            <a:chOff x="10584431" y="6151638"/>
            <a:chExt cx="2532380" cy="28956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84431" y="6151638"/>
              <a:ext cx="2532244" cy="18375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15844" y="6162280"/>
              <a:ext cx="2469416" cy="1774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972306" y="8186489"/>
              <a:ext cx="834390" cy="834390"/>
            </a:xfrm>
            <a:custGeom>
              <a:avLst/>
              <a:gdLst/>
              <a:ahLst/>
              <a:cxnLst/>
              <a:rect l="l" t="t" r="r" b="b"/>
              <a:pathLst>
                <a:path w="834390" h="834390">
                  <a:moveTo>
                    <a:pt x="833984" y="833984"/>
                  </a:moveTo>
                  <a:lnTo>
                    <a:pt x="18510" y="18510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773F9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839775" y="8053958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0" y="0"/>
                  </a:moveTo>
                  <a:lnTo>
                    <a:pt x="75526" y="226562"/>
                  </a:lnTo>
                  <a:lnTo>
                    <a:pt x="226569" y="75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3F9B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70631" y="6373173"/>
              <a:ext cx="1349753" cy="15240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02044" y="6384049"/>
              <a:ext cx="1286926" cy="14603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400569" y="3967989"/>
            <a:ext cx="3637621" cy="880715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R="301514" algn="ctr">
              <a:spcBef>
                <a:spcPts val="68"/>
              </a:spcBef>
            </a:pP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Space</a:t>
            </a:r>
            <a:r>
              <a:rPr sz="1429" b="1" spc="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429" b="1" spc="2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C82506"/>
                </a:solidFill>
                <a:latin typeface="Arial"/>
                <a:cs typeface="Arial"/>
              </a:rPr>
              <a:t>real</a:t>
            </a:r>
            <a:r>
              <a:rPr sz="1429" b="1" spc="2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C82506"/>
                </a:solidFill>
                <a:latin typeface="Arial"/>
                <a:cs typeface="Arial"/>
              </a:rPr>
              <a:t>images</a:t>
            </a:r>
            <a:endParaRPr sz="142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4">
              <a:latin typeface="Arial"/>
              <a:cs typeface="Arial"/>
            </a:endParaRPr>
          </a:p>
          <a:p>
            <a:pPr>
              <a:spcBef>
                <a:spcPts val="18"/>
              </a:spcBef>
            </a:pPr>
            <a:endParaRPr sz="1354">
              <a:latin typeface="Arial"/>
              <a:cs typeface="Arial"/>
            </a:endParaRPr>
          </a:p>
          <a:p>
            <a:pPr marL="6368"/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Space</a:t>
            </a:r>
            <a:r>
              <a:rPr sz="1429" b="1" spc="25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of</a:t>
            </a:r>
            <a:r>
              <a:rPr sz="1429" b="1" spc="28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images</a:t>
            </a:r>
            <a:r>
              <a:rPr sz="1429" b="1" spc="33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that</a:t>
            </a:r>
            <a:r>
              <a:rPr sz="1429" b="1" spc="28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look</a:t>
            </a:r>
            <a:r>
              <a:rPr sz="1429" b="1" spc="30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real</a:t>
            </a:r>
            <a:r>
              <a:rPr sz="1429" b="1" spc="28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73F9B"/>
                </a:solidFill>
                <a:latin typeface="Arial"/>
                <a:cs typeface="Arial"/>
              </a:rPr>
              <a:t>to</a:t>
            </a:r>
            <a:r>
              <a:rPr sz="1429" b="1" spc="30" dirty="0">
                <a:solidFill>
                  <a:srgbClr val="773F9B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773F9B"/>
                </a:solidFill>
                <a:latin typeface="Arial"/>
                <a:cs typeface="Arial"/>
              </a:rPr>
              <a:t>humans</a:t>
            </a:r>
            <a:endParaRPr sz="1429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39889" y="2125541"/>
            <a:ext cx="1376087" cy="1933272"/>
            <a:chOff x="11843000" y="4239181"/>
            <a:chExt cx="2744470" cy="3855720"/>
          </a:xfrm>
        </p:grpSpPr>
        <p:sp>
          <p:nvSpPr>
            <p:cNvPr id="18" name="object 18"/>
            <p:cNvSpPr/>
            <p:nvPr/>
          </p:nvSpPr>
          <p:spPr>
            <a:xfrm>
              <a:off x="12971714" y="7752564"/>
              <a:ext cx="996950" cy="316230"/>
            </a:xfrm>
            <a:custGeom>
              <a:avLst/>
              <a:gdLst/>
              <a:ahLst/>
              <a:cxnLst/>
              <a:rect l="l" t="t" r="r" b="b"/>
              <a:pathLst>
                <a:path w="996950" h="316229">
                  <a:moveTo>
                    <a:pt x="996425" y="315819"/>
                  </a:moveTo>
                  <a:lnTo>
                    <a:pt x="24953" y="7909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93044" y="7658661"/>
              <a:ext cx="236220" cy="203835"/>
            </a:xfrm>
            <a:custGeom>
              <a:avLst/>
              <a:gdLst/>
              <a:ahLst/>
              <a:cxnLst/>
              <a:rect l="l" t="t" r="r" b="b"/>
              <a:pathLst>
                <a:path w="236219" h="203834">
                  <a:moveTo>
                    <a:pt x="235888" y="0"/>
                  </a:moveTo>
                  <a:lnTo>
                    <a:pt x="0" y="37273"/>
                  </a:lnTo>
                  <a:lnTo>
                    <a:pt x="171356" y="203623"/>
                  </a:lnTo>
                  <a:lnTo>
                    <a:pt x="235888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43000" y="4239181"/>
              <a:ext cx="1476699" cy="254612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874559" y="4281065"/>
              <a:ext cx="1393190" cy="2462530"/>
            </a:xfrm>
            <a:custGeom>
              <a:avLst/>
              <a:gdLst/>
              <a:ahLst/>
              <a:cxnLst/>
              <a:rect l="l" t="t" r="r" b="b"/>
              <a:pathLst>
                <a:path w="1393190" h="2462529">
                  <a:moveTo>
                    <a:pt x="696314" y="0"/>
                  </a:moveTo>
                  <a:lnTo>
                    <a:pt x="625117" y="6410"/>
                  </a:lnTo>
                  <a:lnTo>
                    <a:pt x="554522" y="25642"/>
                  </a:lnTo>
                  <a:lnTo>
                    <a:pt x="485128" y="57696"/>
                  </a:lnTo>
                  <a:lnTo>
                    <a:pt x="451070" y="78531"/>
                  </a:lnTo>
                  <a:lnTo>
                    <a:pt x="417537" y="102571"/>
                  </a:lnTo>
                  <a:lnTo>
                    <a:pt x="384605" y="129817"/>
                  </a:lnTo>
                  <a:lnTo>
                    <a:pt x="352349" y="160268"/>
                  </a:lnTo>
                  <a:lnTo>
                    <a:pt x="320844" y="193924"/>
                  </a:lnTo>
                  <a:lnTo>
                    <a:pt x="290165" y="230786"/>
                  </a:lnTo>
                  <a:lnTo>
                    <a:pt x="260388" y="270853"/>
                  </a:lnTo>
                  <a:lnTo>
                    <a:pt x="231586" y="314126"/>
                  </a:lnTo>
                  <a:lnTo>
                    <a:pt x="203836" y="360603"/>
                  </a:lnTo>
                  <a:lnTo>
                    <a:pt x="182380" y="400230"/>
                  </a:lnTo>
                  <a:lnTo>
                    <a:pt x="162115" y="441096"/>
                  </a:lnTo>
                  <a:lnTo>
                    <a:pt x="143043" y="483129"/>
                  </a:lnTo>
                  <a:lnTo>
                    <a:pt x="125163" y="526260"/>
                  </a:lnTo>
                  <a:lnTo>
                    <a:pt x="108474" y="570416"/>
                  </a:lnTo>
                  <a:lnTo>
                    <a:pt x="92978" y="615528"/>
                  </a:lnTo>
                  <a:lnTo>
                    <a:pt x="78673" y="661525"/>
                  </a:lnTo>
                  <a:lnTo>
                    <a:pt x="65561" y="708335"/>
                  </a:lnTo>
                  <a:lnTo>
                    <a:pt x="53641" y="755888"/>
                  </a:lnTo>
                  <a:lnTo>
                    <a:pt x="42913" y="804114"/>
                  </a:lnTo>
                  <a:lnTo>
                    <a:pt x="33376" y="852942"/>
                  </a:lnTo>
                  <a:lnTo>
                    <a:pt x="25032" y="902300"/>
                  </a:lnTo>
                  <a:lnTo>
                    <a:pt x="17880" y="952118"/>
                  </a:lnTo>
                  <a:lnTo>
                    <a:pt x="11920" y="1002326"/>
                  </a:lnTo>
                  <a:lnTo>
                    <a:pt x="7152" y="1052852"/>
                  </a:lnTo>
                  <a:lnTo>
                    <a:pt x="3576" y="1103625"/>
                  </a:lnTo>
                  <a:lnTo>
                    <a:pt x="1192" y="1154576"/>
                  </a:lnTo>
                  <a:lnTo>
                    <a:pt x="0" y="1205632"/>
                  </a:lnTo>
                  <a:lnTo>
                    <a:pt x="0" y="1256725"/>
                  </a:lnTo>
                  <a:lnTo>
                    <a:pt x="1192" y="1307781"/>
                  </a:lnTo>
                  <a:lnTo>
                    <a:pt x="3576" y="1358732"/>
                  </a:lnTo>
                  <a:lnTo>
                    <a:pt x="7152" y="1409505"/>
                  </a:lnTo>
                  <a:lnTo>
                    <a:pt x="11920" y="1460031"/>
                  </a:lnTo>
                  <a:lnTo>
                    <a:pt x="17880" y="1510239"/>
                  </a:lnTo>
                  <a:lnTo>
                    <a:pt x="25032" y="1560057"/>
                  </a:lnTo>
                  <a:lnTo>
                    <a:pt x="33376" y="1609415"/>
                  </a:lnTo>
                  <a:lnTo>
                    <a:pt x="42913" y="1658243"/>
                  </a:lnTo>
                  <a:lnTo>
                    <a:pt x="53641" y="1706469"/>
                  </a:lnTo>
                  <a:lnTo>
                    <a:pt x="65561" y="1754022"/>
                  </a:lnTo>
                  <a:lnTo>
                    <a:pt x="78673" y="1800833"/>
                  </a:lnTo>
                  <a:lnTo>
                    <a:pt x="92978" y="1846829"/>
                  </a:lnTo>
                  <a:lnTo>
                    <a:pt x="108474" y="1891941"/>
                  </a:lnTo>
                  <a:lnTo>
                    <a:pt x="125163" y="1936097"/>
                  </a:lnTo>
                  <a:lnTo>
                    <a:pt x="143043" y="1979228"/>
                  </a:lnTo>
                  <a:lnTo>
                    <a:pt x="162115" y="2021261"/>
                  </a:lnTo>
                  <a:lnTo>
                    <a:pt x="182380" y="2062127"/>
                  </a:lnTo>
                  <a:lnTo>
                    <a:pt x="203836" y="2101754"/>
                  </a:lnTo>
                  <a:lnTo>
                    <a:pt x="231586" y="2148231"/>
                  </a:lnTo>
                  <a:lnTo>
                    <a:pt x="260388" y="2191504"/>
                  </a:lnTo>
                  <a:lnTo>
                    <a:pt x="290165" y="2231571"/>
                  </a:lnTo>
                  <a:lnTo>
                    <a:pt x="320844" y="2268433"/>
                  </a:lnTo>
                  <a:lnTo>
                    <a:pt x="352349" y="2302089"/>
                  </a:lnTo>
                  <a:lnTo>
                    <a:pt x="384605" y="2332540"/>
                  </a:lnTo>
                  <a:lnTo>
                    <a:pt x="417537" y="2359786"/>
                  </a:lnTo>
                  <a:lnTo>
                    <a:pt x="451070" y="2383826"/>
                  </a:lnTo>
                  <a:lnTo>
                    <a:pt x="485128" y="2404661"/>
                  </a:lnTo>
                  <a:lnTo>
                    <a:pt x="519638" y="2422290"/>
                  </a:lnTo>
                  <a:lnTo>
                    <a:pt x="589707" y="2447933"/>
                  </a:lnTo>
                  <a:lnTo>
                    <a:pt x="660678" y="2460755"/>
                  </a:lnTo>
                  <a:lnTo>
                    <a:pt x="696314" y="2462358"/>
                  </a:lnTo>
                  <a:lnTo>
                    <a:pt x="731949" y="2460755"/>
                  </a:lnTo>
                  <a:lnTo>
                    <a:pt x="802920" y="2447933"/>
                  </a:lnTo>
                  <a:lnTo>
                    <a:pt x="872990" y="2422290"/>
                  </a:lnTo>
                  <a:lnTo>
                    <a:pt x="907499" y="2404661"/>
                  </a:lnTo>
                  <a:lnTo>
                    <a:pt x="941557" y="2383826"/>
                  </a:lnTo>
                  <a:lnTo>
                    <a:pt x="975090" y="2359786"/>
                  </a:lnTo>
                  <a:lnTo>
                    <a:pt x="1008022" y="2332540"/>
                  </a:lnTo>
                  <a:lnTo>
                    <a:pt x="1040278" y="2302089"/>
                  </a:lnTo>
                  <a:lnTo>
                    <a:pt x="1071783" y="2268433"/>
                  </a:lnTo>
                  <a:lnTo>
                    <a:pt x="1102462" y="2231571"/>
                  </a:lnTo>
                  <a:lnTo>
                    <a:pt x="1132239" y="2191504"/>
                  </a:lnTo>
                  <a:lnTo>
                    <a:pt x="1161041" y="2148231"/>
                  </a:lnTo>
                  <a:lnTo>
                    <a:pt x="1188791" y="2101754"/>
                  </a:lnTo>
                  <a:lnTo>
                    <a:pt x="1210247" y="2062127"/>
                  </a:lnTo>
                  <a:lnTo>
                    <a:pt x="1230512" y="2021261"/>
                  </a:lnTo>
                  <a:lnTo>
                    <a:pt x="1249584" y="1979228"/>
                  </a:lnTo>
                  <a:lnTo>
                    <a:pt x="1267465" y="1936097"/>
                  </a:lnTo>
                  <a:lnTo>
                    <a:pt x="1284153" y="1891941"/>
                  </a:lnTo>
                  <a:lnTo>
                    <a:pt x="1299649" y="1846829"/>
                  </a:lnTo>
                  <a:lnTo>
                    <a:pt x="1313954" y="1800833"/>
                  </a:lnTo>
                  <a:lnTo>
                    <a:pt x="1327066" y="1754022"/>
                  </a:lnTo>
                  <a:lnTo>
                    <a:pt x="1338986" y="1706469"/>
                  </a:lnTo>
                  <a:lnTo>
                    <a:pt x="1349715" y="1658243"/>
                  </a:lnTo>
                  <a:lnTo>
                    <a:pt x="1359251" y="1609415"/>
                  </a:lnTo>
                  <a:lnTo>
                    <a:pt x="1367595" y="1560057"/>
                  </a:lnTo>
                  <a:lnTo>
                    <a:pt x="1374747" y="1510239"/>
                  </a:lnTo>
                  <a:lnTo>
                    <a:pt x="1380707" y="1460031"/>
                  </a:lnTo>
                  <a:lnTo>
                    <a:pt x="1385475" y="1409505"/>
                  </a:lnTo>
                  <a:lnTo>
                    <a:pt x="1389052" y="1358732"/>
                  </a:lnTo>
                  <a:lnTo>
                    <a:pt x="1391436" y="1307781"/>
                  </a:lnTo>
                  <a:lnTo>
                    <a:pt x="1392628" y="1256725"/>
                  </a:lnTo>
                  <a:lnTo>
                    <a:pt x="1392628" y="1205632"/>
                  </a:lnTo>
                  <a:lnTo>
                    <a:pt x="1391436" y="1154576"/>
                  </a:lnTo>
                  <a:lnTo>
                    <a:pt x="1389052" y="1103625"/>
                  </a:lnTo>
                  <a:lnTo>
                    <a:pt x="1385475" y="1052852"/>
                  </a:lnTo>
                  <a:lnTo>
                    <a:pt x="1380707" y="1002326"/>
                  </a:lnTo>
                  <a:lnTo>
                    <a:pt x="1374747" y="952118"/>
                  </a:lnTo>
                  <a:lnTo>
                    <a:pt x="1367595" y="902300"/>
                  </a:lnTo>
                  <a:lnTo>
                    <a:pt x="1359251" y="852942"/>
                  </a:lnTo>
                  <a:lnTo>
                    <a:pt x="1349715" y="804114"/>
                  </a:lnTo>
                  <a:lnTo>
                    <a:pt x="1338986" y="755888"/>
                  </a:lnTo>
                  <a:lnTo>
                    <a:pt x="1327066" y="708335"/>
                  </a:lnTo>
                  <a:lnTo>
                    <a:pt x="1313954" y="661525"/>
                  </a:lnTo>
                  <a:lnTo>
                    <a:pt x="1299649" y="615528"/>
                  </a:lnTo>
                  <a:lnTo>
                    <a:pt x="1284153" y="570416"/>
                  </a:lnTo>
                  <a:lnTo>
                    <a:pt x="1267465" y="526260"/>
                  </a:lnTo>
                  <a:lnTo>
                    <a:pt x="1249584" y="483129"/>
                  </a:lnTo>
                  <a:lnTo>
                    <a:pt x="1230512" y="441096"/>
                  </a:lnTo>
                  <a:lnTo>
                    <a:pt x="1210247" y="400230"/>
                  </a:lnTo>
                  <a:lnTo>
                    <a:pt x="1188791" y="360603"/>
                  </a:lnTo>
                  <a:lnTo>
                    <a:pt x="1161041" y="314126"/>
                  </a:lnTo>
                  <a:lnTo>
                    <a:pt x="1132239" y="270853"/>
                  </a:lnTo>
                  <a:lnTo>
                    <a:pt x="1102462" y="230786"/>
                  </a:lnTo>
                  <a:lnTo>
                    <a:pt x="1071783" y="193924"/>
                  </a:lnTo>
                  <a:lnTo>
                    <a:pt x="1040278" y="160268"/>
                  </a:lnTo>
                  <a:lnTo>
                    <a:pt x="1008022" y="129817"/>
                  </a:lnTo>
                  <a:lnTo>
                    <a:pt x="975090" y="102571"/>
                  </a:lnTo>
                  <a:lnTo>
                    <a:pt x="941557" y="78531"/>
                  </a:lnTo>
                  <a:lnTo>
                    <a:pt x="907499" y="57696"/>
                  </a:lnTo>
                  <a:lnTo>
                    <a:pt x="872990" y="40067"/>
                  </a:lnTo>
                  <a:lnTo>
                    <a:pt x="802920" y="14424"/>
                  </a:lnTo>
                  <a:lnTo>
                    <a:pt x="731949" y="1602"/>
                  </a:lnTo>
                  <a:lnTo>
                    <a:pt x="696314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2" name="object 22"/>
            <p:cNvSpPr/>
            <p:nvPr/>
          </p:nvSpPr>
          <p:spPr>
            <a:xfrm>
              <a:off x="13569271" y="5415701"/>
              <a:ext cx="991869" cy="264795"/>
            </a:xfrm>
            <a:custGeom>
              <a:avLst/>
              <a:gdLst/>
              <a:ahLst/>
              <a:cxnLst/>
              <a:rect l="l" t="t" r="r" b="b"/>
              <a:pathLst>
                <a:path w="991869" h="264795">
                  <a:moveTo>
                    <a:pt x="991551" y="264252"/>
                  </a:moveTo>
                  <a:lnTo>
                    <a:pt x="25294" y="6741"/>
                  </a:lnTo>
                  <a:lnTo>
                    <a:pt x="0" y="0"/>
                  </a:lnTo>
                </a:path>
              </a:pathLst>
            </a:custGeom>
            <a:ln w="52354">
              <a:solidFill>
                <a:srgbClr val="70BF41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3" name="object 23"/>
            <p:cNvSpPr/>
            <p:nvPr/>
          </p:nvSpPr>
          <p:spPr>
            <a:xfrm>
              <a:off x="13388167" y="5319241"/>
              <a:ext cx="234315" cy="207010"/>
            </a:xfrm>
            <a:custGeom>
              <a:avLst/>
              <a:gdLst/>
              <a:ahLst/>
              <a:cxnLst/>
              <a:rect l="l" t="t" r="r" b="b"/>
              <a:pathLst>
                <a:path w="234315" h="207010">
                  <a:moveTo>
                    <a:pt x="233898" y="0"/>
                  </a:moveTo>
                  <a:lnTo>
                    <a:pt x="0" y="48194"/>
                  </a:lnTo>
                  <a:lnTo>
                    <a:pt x="178895" y="206402"/>
                  </a:lnTo>
                  <a:lnTo>
                    <a:pt x="233898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1466" y="6097071"/>
              <a:ext cx="336791" cy="35012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032879" y="6107542"/>
              <a:ext cx="274320" cy="287655"/>
            </a:xfrm>
            <a:custGeom>
              <a:avLst/>
              <a:gdLst/>
              <a:ahLst/>
              <a:cxnLst/>
              <a:rect l="l" t="t" r="r" b="b"/>
              <a:pathLst>
                <a:path w="274320" h="287654">
                  <a:moveTo>
                    <a:pt x="136990" y="0"/>
                  </a:moveTo>
                  <a:lnTo>
                    <a:pt x="104646" y="109734"/>
                  </a:lnTo>
                  <a:lnTo>
                    <a:pt x="0" y="109740"/>
                  </a:lnTo>
                  <a:lnTo>
                    <a:pt x="84657" y="177564"/>
                  </a:lnTo>
                  <a:lnTo>
                    <a:pt x="52323" y="287302"/>
                  </a:lnTo>
                  <a:lnTo>
                    <a:pt x="136990" y="219485"/>
                  </a:lnTo>
                  <a:lnTo>
                    <a:pt x="221647" y="287302"/>
                  </a:lnTo>
                  <a:lnTo>
                    <a:pt x="189313" y="177564"/>
                  </a:lnTo>
                  <a:lnTo>
                    <a:pt x="273970" y="109740"/>
                  </a:lnTo>
                  <a:lnTo>
                    <a:pt x="169324" y="109734"/>
                  </a:lnTo>
                  <a:lnTo>
                    <a:pt x="136990" y="0"/>
                  </a:lnTo>
                  <a:close/>
                </a:path>
              </a:pathLst>
            </a:custGeom>
            <a:solidFill>
              <a:srgbClr val="F5D328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455846" y="2713205"/>
            <a:ext cx="2351639" cy="43622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99182" marR="2547" indent="-693133">
              <a:lnSpc>
                <a:spcPct val="101299"/>
              </a:lnSpc>
              <a:spcBef>
                <a:spcPts val="45"/>
              </a:spcBef>
            </a:pP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Space</a:t>
            </a:r>
            <a:r>
              <a:rPr sz="1429" b="1" spc="33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of</a:t>
            </a:r>
            <a:r>
              <a:rPr sz="1429" b="1" spc="33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images</a:t>
            </a:r>
            <a:r>
              <a:rPr sz="1429" b="1" spc="38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70BF41"/>
                </a:solidFill>
                <a:latin typeface="Arial"/>
                <a:cs typeface="Arial"/>
              </a:rPr>
              <a:t>classified </a:t>
            </a:r>
            <a:r>
              <a:rPr sz="1429" b="1" dirty="0">
                <a:solidFill>
                  <a:srgbClr val="70BF41"/>
                </a:solidFill>
                <a:latin typeface="Arial"/>
                <a:cs typeface="Arial"/>
              </a:rPr>
              <a:t>as</a:t>
            </a:r>
            <a:r>
              <a:rPr sz="1429" b="1" spc="18" dirty="0">
                <a:solidFill>
                  <a:srgbClr val="70BF41"/>
                </a:solidFill>
                <a:latin typeface="Arial"/>
                <a:cs typeface="Arial"/>
              </a:rPr>
              <a:t> </a:t>
            </a:r>
            <a:r>
              <a:rPr sz="1429" b="1" spc="-5" dirty="0">
                <a:solidFill>
                  <a:srgbClr val="70BF41"/>
                </a:solidFill>
                <a:latin typeface="Arial"/>
                <a:cs typeface="Arial"/>
              </a:rPr>
              <a:t>iguanas</a:t>
            </a:r>
            <a:endParaRPr sz="142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899" y="5464279"/>
            <a:ext cx="4969771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[Alexey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Kurakin,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Ian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Samy</a:t>
            </a:r>
            <a:r>
              <a:rPr sz="852" spc="50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Bengio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(2017):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examples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in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the</a:t>
            </a:r>
            <a:r>
              <a:rPr sz="852" spc="50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physical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world]</a:t>
            </a:r>
            <a:endParaRPr sz="852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3271" y="0"/>
            <a:ext cx="9838930" cy="5433985"/>
            <a:chOff x="481660" y="0"/>
            <a:chExt cx="19622770" cy="108375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60" y="62825"/>
              <a:ext cx="19140778" cy="107745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60075" y="0"/>
              <a:ext cx="944023" cy="5290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91489" y="0"/>
              <a:ext cx="912610" cy="47668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639906" y="4132"/>
            <a:ext cx="423779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lnSpc>
                <a:spcPct val="100000"/>
              </a:lnSpc>
              <a:spcBef>
                <a:spcPts val="68"/>
              </a:spcBef>
            </a:pP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Menti</a:t>
            </a:r>
            <a:endParaRPr sz="130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6667" y="3345847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8674" y="3301221"/>
            <a:ext cx="5614832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-43" dirty="0">
                <a:latin typeface="Arial"/>
                <a:cs typeface="Arial"/>
              </a:rPr>
              <a:t>Train</a:t>
            </a:r>
            <a:r>
              <a:rPr sz="2056" spc="4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on</a:t>
            </a:r>
            <a:r>
              <a:rPr sz="2056" spc="4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correctly</a:t>
            </a:r>
            <a:r>
              <a:rPr sz="2056" spc="48" dirty="0">
                <a:latin typeface="Arial"/>
                <a:cs typeface="Arial"/>
              </a:rPr>
              <a:t> </a:t>
            </a:r>
            <a:r>
              <a:rPr sz="2056" spc="25" dirty="0">
                <a:latin typeface="Arial"/>
                <a:cs typeface="Arial"/>
              </a:rPr>
              <a:t>labelled</a:t>
            </a:r>
            <a:r>
              <a:rPr sz="2056" spc="4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adversarial</a:t>
            </a:r>
            <a:r>
              <a:rPr sz="2056" spc="45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examples</a:t>
            </a:r>
            <a:endParaRPr sz="205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78471" y="2963111"/>
            <a:ext cx="815082" cy="403461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3873" i="1" baseline="-1618" dirty="0">
                <a:latin typeface="Times New Roman"/>
                <a:cs typeface="Times New Roman"/>
              </a:rPr>
              <a:t>y</a:t>
            </a:r>
            <a:r>
              <a:rPr sz="3873" i="1" spc="425" baseline="-1618" dirty="0">
                <a:latin typeface="Times New Roman"/>
                <a:cs typeface="Times New Roman"/>
              </a:rPr>
              <a:t> </a:t>
            </a:r>
            <a:r>
              <a:rPr sz="1805" spc="135" dirty="0">
                <a:latin typeface="Arial"/>
                <a:cs typeface="Arial"/>
              </a:rPr>
              <a:t>=</a:t>
            </a:r>
            <a:r>
              <a:rPr sz="1805" dirty="0">
                <a:latin typeface="Arial"/>
                <a:cs typeface="Arial"/>
              </a:rPr>
              <a:t> </a:t>
            </a:r>
            <a:r>
              <a:rPr sz="1805" spc="28" dirty="0">
                <a:latin typeface="Arial"/>
                <a:cs typeface="Arial"/>
              </a:rPr>
              <a:t>cat</a:t>
            </a:r>
            <a:endParaRPr sz="180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4120" y="4151603"/>
            <a:ext cx="4173792" cy="362234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  <a:tabLst>
                <a:tab pos="512606" algn="l"/>
              </a:tabLst>
            </a:pPr>
            <a:r>
              <a:rPr sz="2231" i="1" spc="-10" dirty="0">
                <a:latin typeface="Times New Roman"/>
                <a:cs typeface="Times New Roman"/>
              </a:rPr>
              <a:t>L</a:t>
            </a:r>
            <a:r>
              <a:rPr sz="1918" i="1" spc="-15" baseline="-31590" dirty="0">
                <a:latin typeface="Times New Roman"/>
                <a:cs typeface="Times New Roman"/>
              </a:rPr>
              <a:t>new</a:t>
            </a:r>
            <a:r>
              <a:rPr sz="1918" i="1" baseline="-31590" dirty="0">
                <a:latin typeface="Times New Roman"/>
                <a:cs typeface="Times New Roman"/>
              </a:rPr>
              <a:t>	</a:t>
            </a:r>
            <a:r>
              <a:rPr sz="2231" dirty="0">
                <a:latin typeface="Symbol"/>
                <a:cs typeface="Symbol"/>
              </a:rPr>
              <a:t></a:t>
            </a:r>
            <a:r>
              <a:rPr sz="2231" spc="135" dirty="0">
                <a:latin typeface="Times New Roman"/>
                <a:cs typeface="Times New Roman"/>
              </a:rPr>
              <a:t> </a:t>
            </a:r>
            <a:r>
              <a:rPr sz="2231" i="1" spc="-38" dirty="0">
                <a:latin typeface="Times New Roman"/>
                <a:cs typeface="Times New Roman"/>
              </a:rPr>
              <a:t>L</a:t>
            </a:r>
            <a:r>
              <a:rPr sz="2231" spc="-38" dirty="0">
                <a:latin typeface="Times New Roman"/>
                <a:cs typeface="Times New Roman"/>
              </a:rPr>
              <a:t>(</a:t>
            </a:r>
            <a:r>
              <a:rPr sz="2231" i="1" spc="-38" dirty="0">
                <a:latin typeface="Times New Roman"/>
                <a:cs typeface="Times New Roman"/>
              </a:rPr>
              <a:t>W</a:t>
            </a:r>
            <a:r>
              <a:rPr sz="2231" i="1" spc="-238" dirty="0">
                <a:latin typeface="Times New Roman"/>
                <a:cs typeface="Times New Roman"/>
              </a:rPr>
              <a:t> 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i="1" spc="35" dirty="0">
                <a:latin typeface="Times New Roman"/>
                <a:cs typeface="Times New Roman"/>
              </a:rPr>
              <a:t>b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spc="-291" dirty="0">
                <a:latin typeface="Times New Roman"/>
                <a:cs typeface="Times New Roman"/>
              </a:rPr>
              <a:t> </a:t>
            </a:r>
            <a:r>
              <a:rPr sz="2231" i="1" spc="33" dirty="0">
                <a:latin typeface="Times New Roman"/>
                <a:cs typeface="Times New Roman"/>
              </a:rPr>
              <a:t>x</a:t>
            </a:r>
            <a:r>
              <a:rPr sz="2231" spc="33" dirty="0">
                <a:latin typeface="Times New Roman"/>
                <a:cs typeface="Times New Roman"/>
              </a:rPr>
              <a:t>,</a:t>
            </a:r>
            <a:r>
              <a:rPr sz="2231" spc="-148" dirty="0">
                <a:latin typeface="Times New Roman"/>
                <a:cs typeface="Times New Roman"/>
              </a:rPr>
              <a:t> </a:t>
            </a:r>
            <a:r>
              <a:rPr sz="2231" i="1" spc="55" dirty="0">
                <a:latin typeface="Times New Roman"/>
                <a:cs typeface="Times New Roman"/>
              </a:rPr>
              <a:t>y</a:t>
            </a:r>
            <a:r>
              <a:rPr sz="2231" spc="55" dirty="0">
                <a:latin typeface="Times New Roman"/>
                <a:cs typeface="Times New Roman"/>
              </a:rPr>
              <a:t>)</a:t>
            </a:r>
            <a:r>
              <a:rPr sz="2231" spc="-201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Symbol"/>
                <a:cs typeface="Symbol"/>
              </a:rPr>
              <a:t></a:t>
            </a:r>
            <a:r>
              <a:rPr sz="2231" spc="-120" dirty="0">
                <a:latin typeface="Times New Roman"/>
                <a:cs typeface="Times New Roman"/>
              </a:rPr>
              <a:t> </a:t>
            </a:r>
            <a:r>
              <a:rPr sz="2306" i="1" spc="-43" dirty="0">
                <a:latin typeface="Symbol"/>
                <a:cs typeface="Symbol"/>
              </a:rPr>
              <a:t></a:t>
            </a:r>
            <a:r>
              <a:rPr sz="2306" spc="-313" dirty="0">
                <a:latin typeface="Times New Roman"/>
                <a:cs typeface="Times New Roman"/>
              </a:rPr>
              <a:t> </a:t>
            </a:r>
            <a:r>
              <a:rPr sz="2231" i="1" spc="-38" dirty="0">
                <a:latin typeface="Times New Roman"/>
                <a:cs typeface="Times New Roman"/>
              </a:rPr>
              <a:t>L</a:t>
            </a:r>
            <a:r>
              <a:rPr sz="2231" spc="-38" dirty="0">
                <a:latin typeface="Times New Roman"/>
                <a:cs typeface="Times New Roman"/>
              </a:rPr>
              <a:t>(</a:t>
            </a:r>
            <a:r>
              <a:rPr sz="2231" i="1" spc="-38" dirty="0">
                <a:latin typeface="Times New Roman"/>
                <a:cs typeface="Times New Roman"/>
              </a:rPr>
              <a:t>W</a:t>
            </a:r>
            <a:r>
              <a:rPr sz="2231" i="1" spc="-238" dirty="0">
                <a:latin typeface="Times New Roman"/>
                <a:cs typeface="Times New Roman"/>
              </a:rPr>
              <a:t> 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i="1" spc="35" dirty="0">
                <a:latin typeface="Times New Roman"/>
                <a:cs typeface="Times New Roman"/>
              </a:rPr>
              <a:t>b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spc="-291" dirty="0">
                <a:latin typeface="Times New Roman"/>
                <a:cs typeface="Times New Roman"/>
              </a:rPr>
              <a:t> </a:t>
            </a:r>
            <a:r>
              <a:rPr sz="2231" i="1" dirty="0">
                <a:latin typeface="Times New Roman"/>
                <a:cs typeface="Times New Roman"/>
              </a:rPr>
              <a:t>x</a:t>
            </a:r>
            <a:r>
              <a:rPr sz="1918" i="1" baseline="-31590" dirty="0">
                <a:latin typeface="Times New Roman"/>
                <a:cs typeface="Times New Roman"/>
              </a:rPr>
              <a:t>adv</a:t>
            </a:r>
            <a:r>
              <a:rPr sz="1918" i="1" spc="-101" baseline="-31590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Times New Roman"/>
                <a:cs typeface="Times New Roman"/>
              </a:rPr>
              <a:t>,</a:t>
            </a:r>
            <a:r>
              <a:rPr sz="2231" spc="-145" dirty="0">
                <a:latin typeface="Times New Roman"/>
                <a:cs typeface="Times New Roman"/>
              </a:rPr>
              <a:t> </a:t>
            </a:r>
            <a:r>
              <a:rPr sz="2231" i="1" spc="43" dirty="0">
                <a:latin typeface="Times New Roman"/>
                <a:cs typeface="Times New Roman"/>
              </a:rPr>
              <a:t>y</a:t>
            </a:r>
            <a:r>
              <a:rPr sz="2231" spc="43" dirty="0">
                <a:latin typeface="Times New Roman"/>
                <a:cs typeface="Times New Roman"/>
              </a:rPr>
              <a:t>)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667" y="4238371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8674" y="4198995"/>
            <a:ext cx="228827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Adversarial</a:t>
            </a:r>
            <a:r>
              <a:rPr sz="2056" spc="105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training</a:t>
            </a:r>
            <a:endParaRPr sz="205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3136" y="297636"/>
            <a:ext cx="5120370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I.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B.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Defenses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against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adversarial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examples</a:t>
            </a:r>
            <a:endParaRPr sz="193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674" y="2455948"/>
            <a:ext cx="2225874" cy="738941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Create</a:t>
            </a:r>
            <a:r>
              <a:rPr sz="2056" spc="-18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a</a:t>
            </a:r>
            <a:r>
              <a:rPr sz="2056" spc="-15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SafetyNet</a:t>
            </a:r>
            <a:endParaRPr sz="2056">
              <a:latin typeface="Arial"/>
              <a:cs typeface="Arial"/>
            </a:endParaRPr>
          </a:p>
          <a:p>
            <a:pPr marL="116530">
              <a:spcBef>
                <a:spcPts val="1366"/>
              </a:spcBef>
            </a:pP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Solution</a:t>
            </a:r>
            <a:r>
              <a:rPr sz="1529" b="1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b="1" u="sng" spc="-2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2</a:t>
            </a:r>
            <a:endParaRPr sz="1529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18927" y="3878736"/>
            <a:ext cx="951671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Solution</a:t>
            </a:r>
            <a:r>
              <a:rPr sz="1529" b="1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b="1" u="sng" spc="-2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3</a:t>
            </a:r>
            <a:endParaRPr sz="1529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7996" y="2446451"/>
            <a:ext cx="423779" cy="403461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2582" i="1" dirty="0">
                <a:latin typeface="Times New Roman"/>
                <a:cs typeface="Times New Roman"/>
              </a:rPr>
              <a:t>x</a:t>
            </a:r>
            <a:r>
              <a:rPr sz="2582" i="1" spc="68" dirty="0">
                <a:latin typeface="Times New Roman"/>
                <a:cs typeface="Times New Roman"/>
              </a:rPr>
              <a:t> </a:t>
            </a:r>
            <a:r>
              <a:rPr sz="3084" spc="196" baseline="-2710" dirty="0">
                <a:latin typeface="Arial"/>
                <a:cs typeface="Arial"/>
              </a:rPr>
              <a:t>=</a:t>
            </a:r>
            <a:endParaRPr sz="3084" baseline="-271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675050" y="2205146"/>
            <a:ext cx="802346" cy="802665"/>
            <a:chOff x="17298007" y="4397945"/>
            <a:chExt cx="1600200" cy="16008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98007" y="4397945"/>
              <a:ext cx="1600082" cy="16004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50362" y="4442635"/>
              <a:ext cx="1474499" cy="147478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350362" y="4442635"/>
              <a:ext cx="1474470" cy="1475105"/>
            </a:xfrm>
            <a:custGeom>
              <a:avLst/>
              <a:gdLst/>
              <a:ahLst/>
              <a:cxnLst/>
              <a:rect l="l" t="t" r="r" b="b"/>
              <a:pathLst>
                <a:path w="1474469" h="1475104">
                  <a:moveTo>
                    <a:pt x="0" y="0"/>
                  </a:moveTo>
                  <a:lnTo>
                    <a:pt x="0" y="1474759"/>
                  </a:lnTo>
                  <a:lnTo>
                    <a:pt x="1474431" y="1474759"/>
                  </a:lnTo>
                  <a:lnTo>
                    <a:pt x="1474431" y="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60801" y="4465932"/>
              <a:ext cx="1428201" cy="14282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56667" y="4771260"/>
            <a:ext cx="3050508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258213" indent="-252164">
              <a:spcBef>
                <a:spcPts val="60"/>
              </a:spcBef>
              <a:buSzPct val="75609"/>
              <a:buChar char="•"/>
              <a:tabLst>
                <a:tab pos="258213" algn="l"/>
                <a:tab pos="258532" algn="l"/>
              </a:tabLst>
            </a:pPr>
            <a:r>
              <a:rPr sz="2056" dirty="0">
                <a:latin typeface="Arial"/>
                <a:cs typeface="Arial"/>
              </a:rPr>
              <a:t>Adversarial</a:t>
            </a:r>
            <a:r>
              <a:rPr sz="2056" spc="110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logit</a:t>
            </a:r>
            <a:r>
              <a:rPr sz="2056" spc="110" dirty="0">
                <a:latin typeface="Arial"/>
                <a:cs typeface="Arial"/>
              </a:rPr>
              <a:t> </a:t>
            </a:r>
            <a:r>
              <a:rPr sz="2056" spc="30" dirty="0">
                <a:latin typeface="Arial"/>
                <a:cs typeface="Arial"/>
              </a:rPr>
              <a:t>pairing</a:t>
            </a:r>
            <a:endParaRPr sz="2056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6555" y="4749025"/>
            <a:ext cx="2531530" cy="362234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  <a:tabLst>
                <a:tab pos="512606" algn="l"/>
              </a:tabLst>
            </a:pPr>
            <a:r>
              <a:rPr sz="2231" i="1" spc="-10" dirty="0">
                <a:latin typeface="Times New Roman"/>
                <a:cs typeface="Times New Roman"/>
              </a:rPr>
              <a:t>L</a:t>
            </a:r>
            <a:r>
              <a:rPr sz="1918" i="1" spc="-15" baseline="-31590" dirty="0">
                <a:latin typeface="Times New Roman"/>
                <a:cs typeface="Times New Roman"/>
              </a:rPr>
              <a:t>new</a:t>
            </a:r>
            <a:r>
              <a:rPr sz="1918" i="1" baseline="-31590" dirty="0">
                <a:latin typeface="Times New Roman"/>
                <a:cs typeface="Times New Roman"/>
              </a:rPr>
              <a:t>	</a:t>
            </a:r>
            <a:r>
              <a:rPr sz="2231" dirty="0">
                <a:latin typeface="Symbol"/>
                <a:cs typeface="Symbol"/>
              </a:rPr>
              <a:t></a:t>
            </a:r>
            <a:r>
              <a:rPr sz="2231" spc="125" dirty="0">
                <a:latin typeface="Times New Roman"/>
                <a:cs typeface="Times New Roman"/>
              </a:rPr>
              <a:t> </a:t>
            </a:r>
            <a:r>
              <a:rPr sz="2231" i="1" spc="-38" dirty="0">
                <a:latin typeface="Times New Roman"/>
                <a:cs typeface="Times New Roman"/>
              </a:rPr>
              <a:t>L</a:t>
            </a:r>
            <a:r>
              <a:rPr sz="2231" spc="-38" dirty="0">
                <a:latin typeface="Times New Roman"/>
                <a:cs typeface="Times New Roman"/>
              </a:rPr>
              <a:t>(</a:t>
            </a:r>
            <a:r>
              <a:rPr sz="2231" i="1" spc="-38" dirty="0">
                <a:latin typeface="Times New Roman"/>
                <a:cs typeface="Times New Roman"/>
              </a:rPr>
              <a:t>W</a:t>
            </a:r>
            <a:r>
              <a:rPr sz="2231" i="1" spc="-243" dirty="0">
                <a:latin typeface="Times New Roman"/>
                <a:cs typeface="Times New Roman"/>
              </a:rPr>
              <a:t> 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i="1" spc="35" dirty="0">
                <a:latin typeface="Times New Roman"/>
                <a:cs typeface="Times New Roman"/>
              </a:rPr>
              <a:t>b</a:t>
            </a:r>
            <a:r>
              <a:rPr sz="2231" spc="35" dirty="0">
                <a:latin typeface="Times New Roman"/>
                <a:cs typeface="Times New Roman"/>
              </a:rPr>
              <a:t>,</a:t>
            </a:r>
            <a:r>
              <a:rPr sz="2231" spc="-293" dirty="0">
                <a:latin typeface="Times New Roman"/>
                <a:cs typeface="Times New Roman"/>
              </a:rPr>
              <a:t> </a:t>
            </a:r>
            <a:r>
              <a:rPr sz="2231" i="1" spc="33" dirty="0">
                <a:latin typeface="Times New Roman"/>
                <a:cs typeface="Times New Roman"/>
              </a:rPr>
              <a:t>x</a:t>
            </a:r>
            <a:r>
              <a:rPr sz="2231" spc="33" dirty="0">
                <a:latin typeface="Times New Roman"/>
                <a:cs typeface="Times New Roman"/>
              </a:rPr>
              <a:t>,</a:t>
            </a:r>
            <a:r>
              <a:rPr sz="2231" spc="-153" dirty="0">
                <a:latin typeface="Times New Roman"/>
                <a:cs typeface="Times New Roman"/>
              </a:rPr>
              <a:t> </a:t>
            </a:r>
            <a:r>
              <a:rPr sz="2231" i="1" spc="55" dirty="0">
                <a:latin typeface="Times New Roman"/>
                <a:cs typeface="Times New Roman"/>
              </a:rPr>
              <a:t>y</a:t>
            </a:r>
            <a:r>
              <a:rPr sz="2231" spc="55" dirty="0">
                <a:latin typeface="Times New Roman"/>
                <a:cs typeface="Times New Roman"/>
              </a:rPr>
              <a:t>)</a:t>
            </a:r>
            <a:r>
              <a:rPr sz="2231" spc="-208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Symbol"/>
                <a:cs typeface="Symbol"/>
              </a:rPr>
              <a:t></a:t>
            </a:r>
            <a:r>
              <a:rPr sz="2231" spc="-125" dirty="0">
                <a:latin typeface="Times New Roman"/>
                <a:cs typeface="Times New Roman"/>
              </a:rPr>
              <a:t> </a:t>
            </a:r>
            <a:r>
              <a:rPr sz="2306" i="1" spc="-25" dirty="0">
                <a:latin typeface="Symbol"/>
                <a:cs typeface="Symbol"/>
              </a:rPr>
              <a:t></a:t>
            </a:r>
            <a:endParaRPr sz="2306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12834" y="4757799"/>
            <a:ext cx="2756632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  <a:tabLst>
                <a:tab pos="1402822" algn="l"/>
              </a:tabLst>
            </a:pPr>
            <a:r>
              <a:rPr sz="2231" i="1" dirty="0">
                <a:latin typeface="Times New Roman"/>
                <a:cs typeface="Times New Roman"/>
              </a:rPr>
              <a:t>f</a:t>
            </a:r>
            <a:r>
              <a:rPr sz="2231" i="1" spc="-73" dirty="0">
                <a:latin typeface="Times New Roman"/>
                <a:cs typeface="Times New Roman"/>
              </a:rPr>
              <a:t> </a:t>
            </a:r>
            <a:r>
              <a:rPr sz="2231" spc="40" dirty="0">
                <a:latin typeface="Times New Roman"/>
                <a:cs typeface="Times New Roman"/>
              </a:rPr>
              <a:t>(</a:t>
            </a:r>
            <a:r>
              <a:rPr sz="2231" i="1" spc="40" dirty="0">
                <a:latin typeface="Times New Roman"/>
                <a:cs typeface="Times New Roman"/>
              </a:rPr>
              <a:t>x</a:t>
            </a:r>
            <a:r>
              <a:rPr sz="2231" spc="40" dirty="0">
                <a:latin typeface="Times New Roman"/>
                <a:cs typeface="Times New Roman"/>
              </a:rPr>
              <a:t>;</a:t>
            </a:r>
            <a:r>
              <a:rPr sz="2231" i="1" spc="40" dirty="0">
                <a:latin typeface="Times New Roman"/>
                <a:cs typeface="Times New Roman"/>
              </a:rPr>
              <a:t>W</a:t>
            </a:r>
            <a:r>
              <a:rPr sz="2231" i="1" spc="-241" dirty="0">
                <a:latin typeface="Times New Roman"/>
                <a:cs typeface="Times New Roman"/>
              </a:rPr>
              <a:t> </a:t>
            </a:r>
            <a:r>
              <a:rPr sz="2231" spc="50" dirty="0">
                <a:latin typeface="Times New Roman"/>
                <a:cs typeface="Times New Roman"/>
              </a:rPr>
              <a:t>,</a:t>
            </a:r>
            <a:r>
              <a:rPr sz="2231" i="1" spc="50" dirty="0">
                <a:latin typeface="Times New Roman"/>
                <a:cs typeface="Times New Roman"/>
              </a:rPr>
              <a:t>b</a:t>
            </a:r>
            <a:r>
              <a:rPr sz="2231" spc="50" dirty="0">
                <a:latin typeface="Times New Roman"/>
                <a:cs typeface="Times New Roman"/>
              </a:rPr>
              <a:t>)</a:t>
            </a:r>
            <a:r>
              <a:rPr sz="2231" spc="-205" dirty="0">
                <a:latin typeface="Times New Roman"/>
                <a:cs typeface="Times New Roman"/>
              </a:rPr>
              <a:t> </a:t>
            </a:r>
            <a:r>
              <a:rPr sz="2231" spc="-25" dirty="0">
                <a:latin typeface="Symbol"/>
                <a:cs typeface="Symbol"/>
              </a:rPr>
              <a:t></a:t>
            </a:r>
            <a:r>
              <a:rPr sz="2231" dirty="0">
                <a:latin typeface="Times New Roman"/>
                <a:cs typeface="Times New Roman"/>
              </a:rPr>
              <a:t>	</a:t>
            </a:r>
            <a:r>
              <a:rPr sz="2231" i="1" dirty="0">
                <a:latin typeface="Times New Roman"/>
                <a:cs typeface="Times New Roman"/>
              </a:rPr>
              <a:t>f</a:t>
            </a:r>
            <a:r>
              <a:rPr sz="2231" i="1" spc="-68" dirty="0">
                <a:latin typeface="Times New Roman"/>
                <a:cs typeface="Times New Roman"/>
              </a:rPr>
              <a:t> </a:t>
            </a:r>
            <a:r>
              <a:rPr sz="2231" spc="43" dirty="0">
                <a:latin typeface="Times New Roman"/>
                <a:cs typeface="Times New Roman"/>
              </a:rPr>
              <a:t>(</a:t>
            </a:r>
            <a:r>
              <a:rPr sz="2231" i="1" spc="43" dirty="0">
                <a:latin typeface="Times New Roman"/>
                <a:cs typeface="Times New Roman"/>
              </a:rPr>
              <a:t>x</a:t>
            </a:r>
            <a:r>
              <a:rPr sz="1918" i="1" spc="64" baseline="-31590" dirty="0">
                <a:latin typeface="Times New Roman"/>
                <a:cs typeface="Times New Roman"/>
              </a:rPr>
              <a:t>adv</a:t>
            </a:r>
            <a:r>
              <a:rPr sz="1918" i="1" spc="-180" baseline="-31590" dirty="0">
                <a:latin typeface="Times New Roman"/>
                <a:cs typeface="Times New Roman"/>
              </a:rPr>
              <a:t> </a:t>
            </a:r>
            <a:r>
              <a:rPr sz="2231" spc="-18" dirty="0">
                <a:latin typeface="Times New Roman"/>
                <a:cs typeface="Times New Roman"/>
              </a:rPr>
              <a:t>;</a:t>
            </a:r>
            <a:r>
              <a:rPr sz="2231" i="1" spc="-18" dirty="0">
                <a:latin typeface="Times New Roman"/>
                <a:cs typeface="Times New Roman"/>
              </a:rPr>
              <a:t>W</a:t>
            </a:r>
            <a:r>
              <a:rPr sz="2231" i="1" spc="-238" dirty="0">
                <a:latin typeface="Times New Roman"/>
                <a:cs typeface="Times New Roman"/>
              </a:rPr>
              <a:t> </a:t>
            </a:r>
            <a:r>
              <a:rPr sz="2231" spc="38" dirty="0">
                <a:latin typeface="Times New Roman"/>
                <a:cs typeface="Times New Roman"/>
              </a:rPr>
              <a:t>,</a:t>
            </a:r>
            <a:r>
              <a:rPr sz="2231" i="1" spc="38" dirty="0">
                <a:latin typeface="Times New Roman"/>
                <a:cs typeface="Times New Roman"/>
              </a:rPr>
              <a:t>b</a:t>
            </a:r>
            <a:r>
              <a:rPr sz="2231" spc="38" dirty="0">
                <a:latin typeface="Times New Roman"/>
                <a:cs typeface="Times New Roman"/>
              </a:rPr>
              <a:t>)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50264" y="4777532"/>
            <a:ext cx="14328" cy="389074"/>
          </a:xfrm>
          <a:custGeom>
            <a:avLst/>
            <a:gdLst/>
            <a:ahLst/>
            <a:cxnLst/>
            <a:rect l="l" t="t" r="r" b="b"/>
            <a:pathLst>
              <a:path w="28575" h="775970">
                <a:moveTo>
                  <a:pt x="28135" y="0"/>
                </a:moveTo>
                <a:lnTo>
                  <a:pt x="0" y="0"/>
                </a:lnTo>
                <a:lnTo>
                  <a:pt x="0" y="775936"/>
                </a:lnTo>
                <a:lnTo>
                  <a:pt x="28135" y="775936"/>
                </a:lnTo>
                <a:lnTo>
                  <a:pt x="28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3" name="object 23"/>
          <p:cNvSpPr/>
          <p:nvPr/>
        </p:nvSpPr>
        <p:spPr>
          <a:xfrm>
            <a:off x="6579729" y="4777532"/>
            <a:ext cx="14328" cy="389074"/>
          </a:xfrm>
          <a:custGeom>
            <a:avLst/>
            <a:gdLst/>
            <a:ahLst/>
            <a:cxnLst/>
            <a:rect l="l" t="t" r="r" b="b"/>
            <a:pathLst>
              <a:path w="28575" h="775970">
                <a:moveTo>
                  <a:pt x="28135" y="0"/>
                </a:moveTo>
                <a:lnTo>
                  <a:pt x="0" y="0"/>
                </a:lnTo>
                <a:lnTo>
                  <a:pt x="0" y="775936"/>
                </a:lnTo>
                <a:lnTo>
                  <a:pt x="28135" y="775936"/>
                </a:lnTo>
                <a:lnTo>
                  <a:pt x="28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4" name="object 24"/>
          <p:cNvSpPr/>
          <p:nvPr/>
        </p:nvSpPr>
        <p:spPr>
          <a:xfrm>
            <a:off x="9522900" y="4777532"/>
            <a:ext cx="14328" cy="389074"/>
          </a:xfrm>
          <a:custGeom>
            <a:avLst/>
            <a:gdLst/>
            <a:ahLst/>
            <a:cxnLst/>
            <a:rect l="l" t="t" r="r" b="b"/>
            <a:pathLst>
              <a:path w="28575" h="775970">
                <a:moveTo>
                  <a:pt x="28135" y="0"/>
                </a:moveTo>
                <a:lnTo>
                  <a:pt x="0" y="0"/>
                </a:lnTo>
                <a:lnTo>
                  <a:pt x="0" y="775936"/>
                </a:lnTo>
                <a:lnTo>
                  <a:pt x="28135" y="775936"/>
                </a:lnTo>
                <a:lnTo>
                  <a:pt x="28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5" name="object 25"/>
          <p:cNvSpPr/>
          <p:nvPr/>
        </p:nvSpPr>
        <p:spPr>
          <a:xfrm>
            <a:off x="9452369" y="4777532"/>
            <a:ext cx="14328" cy="389074"/>
          </a:xfrm>
          <a:custGeom>
            <a:avLst/>
            <a:gdLst/>
            <a:ahLst/>
            <a:cxnLst/>
            <a:rect l="l" t="t" r="r" b="b"/>
            <a:pathLst>
              <a:path w="28575" h="775970">
                <a:moveTo>
                  <a:pt x="28135" y="0"/>
                </a:moveTo>
                <a:lnTo>
                  <a:pt x="0" y="0"/>
                </a:lnTo>
                <a:lnTo>
                  <a:pt x="0" y="775936"/>
                </a:lnTo>
                <a:lnTo>
                  <a:pt x="28135" y="775936"/>
                </a:lnTo>
                <a:lnTo>
                  <a:pt x="28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6" name="object 26"/>
          <p:cNvSpPr txBox="1"/>
          <p:nvPr/>
        </p:nvSpPr>
        <p:spPr>
          <a:xfrm>
            <a:off x="9535840" y="4679096"/>
            <a:ext cx="95199" cy="54344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279" spc="8" dirty="0">
                <a:latin typeface="Times New Roman"/>
                <a:cs typeface="Times New Roman"/>
              </a:rPr>
              <a:t>2</a:t>
            </a:r>
            <a:endParaRPr sz="1279">
              <a:latin typeface="Times New Roman"/>
              <a:cs typeface="Times New Roman"/>
            </a:endParaRPr>
          </a:p>
          <a:p>
            <a:pPr marL="6368">
              <a:spcBef>
                <a:spcPts val="1086"/>
              </a:spcBef>
            </a:pPr>
            <a:r>
              <a:rPr sz="1279" spc="8" dirty="0">
                <a:latin typeface="Times New Roman"/>
                <a:cs typeface="Times New Roman"/>
              </a:rPr>
              <a:t>2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99" y="5271074"/>
            <a:ext cx="4185572" cy="31747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 marR="2547">
              <a:lnSpc>
                <a:spcPct val="125299"/>
              </a:lnSpc>
              <a:spcBef>
                <a:spcPts val="45"/>
              </a:spcBef>
            </a:pPr>
            <a:r>
              <a:rPr sz="852" dirty="0">
                <a:latin typeface="Arial"/>
                <a:cs typeface="Arial"/>
              </a:rPr>
              <a:t>[Lu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et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al.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(2017):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SafetyNet: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Detecting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Rejecting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Examples</a:t>
            </a:r>
            <a:r>
              <a:rPr sz="852" spc="57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Robustly] </a:t>
            </a:r>
            <a:r>
              <a:rPr sz="852" dirty="0">
                <a:latin typeface="Arial"/>
                <a:cs typeface="Arial"/>
              </a:rPr>
              <a:t>[Harini</a:t>
            </a:r>
            <a:r>
              <a:rPr sz="852" spc="4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Kannan</a:t>
            </a:r>
            <a:r>
              <a:rPr sz="852" spc="4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et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al.</a:t>
            </a:r>
            <a:r>
              <a:rPr sz="852" spc="4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(2018):</a:t>
            </a:r>
            <a:r>
              <a:rPr sz="852" spc="48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4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Logit</a:t>
            </a:r>
            <a:r>
              <a:rPr sz="852" spc="4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Pairing]</a:t>
            </a:r>
            <a:endParaRPr sz="852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8927" y="838905"/>
            <a:ext cx="2495551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Knowledge</a:t>
            </a:r>
            <a:r>
              <a:rPr sz="1529" b="1" u="sng" spc="-8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of</a:t>
            </a:r>
            <a:r>
              <a:rPr sz="1529" b="1" u="sng" spc="-8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the</a:t>
            </a:r>
            <a:r>
              <a:rPr sz="1529" b="1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attacker:</a:t>
            </a:r>
            <a:endParaRPr sz="1529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6667" y="1256291"/>
            <a:ext cx="111437" cy="640478"/>
          </a:xfrm>
          <a:prstGeom prst="rect">
            <a:avLst/>
          </a:prstGeom>
        </p:spPr>
        <p:txBody>
          <a:bodyPr vert="horz" wrap="square" lIns="0" tIns="84374" rIns="0" bIns="0" rtlCol="0">
            <a:spAutoFit/>
          </a:bodyPr>
          <a:lstStyle/>
          <a:p>
            <a:pPr marL="6368">
              <a:spcBef>
                <a:spcPts val="664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  <a:p>
            <a:pPr marL="6368">
              <a:spcBef>
                <a:spcPts val="617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5425" y="1290417"/>
            <a:ext cx="1194286" cy="63884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 marR="2547">
              <a:lnSpc>
                <a:spcPct val="100499"/>
              </a:lnSpc>
              <a:spcBef>
                <a:spcPts val="48"/>
              </a:spcBef>
            </a:pPr>
            <a:r>
              <a:rPr sz="2056" dirty="0">
                <a:latin typeface="Arial"/>
                <a:cs typeface="Arial"/>
              </a:rPr>
              <a:t>White-</a:t>
            </a:r>
            <a:r>
              <a:rPr sz="2056" spc="-13" dirty="0">
                <a:latin typeface="Arial"/>
                <a:cs typeface="Arial"/>
              </a:rPr>
              <a:t>box </a:t>
            </a:r>
            <a:r>
              <a:rPr sz="2056" spc="28" dirty="0">
                <a:latin typeface="Arial"/>
                <a:cs typeface="Arial"/>
              </a:rPr>
              <a:t>Black-</a:t>
            </a:r>
            <a:r>
              <a:rPr sz="2056" spc="20" dirty="0">
                <a:latin typeface="Arial"/>
                <a:cs typeface="Arial"/>
              </a:rPr>
              <a:t>box</a:t>
            </a:r>
            <a:endParaRPr sz="2056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082970" y="209402"/>
            <a:ext cx="489686" cy="273180"/>
            <a:chOff x="18111564" y="417632"/>
            <a:chExt cx="976630" cy="54483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11564" y="417632"/>
              <a:ext cx="976305" cy="5444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42976" y="428103"/>
              <a:ext cx="913479" cy="48166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114892" y="224638"/>
            <a:ext cx="423779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Menti</a:t>
            </a:r>
            <a:endParaRPr sz="1304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18927" y="2114689"/>
            <a:ext cx="951671" cy="241751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29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Solution</a:t>
            </a:r>
            <a:r>
              <a:rPr sz="1529" b="1" u="sng" spc="-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529" b="1" u="sng" spc="-2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1</a:t>
            </a:r>
            <a:endParaRPr sz="1529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56667" y="2495324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596900" y="244847"/>
            <a:ext cx="9906000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360795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8" dirty="0"/>
              <a:t> </a:t>
            </a:r>
            <a:r>
              <a:rPr dirty="0"/>
              <a:t>Generative</a:t>
            </a:r>
            <a:r>
              <a:rPr spc="-75" dirty="0"/>
              <a:t> </a:t>
            </a:r>
            <a:r>
              <a:rPr dirty="0"/>
              <a:t>Adversarial</a:t>
            </a:r>
            <a:r>
              <a:rPr spc="-5" dirty="0"/>
              <a:t> </a:t>
            </a:r>
            <a:r>
              <a:rPr dirty="0"/>
              <a:t>Networks</a:t>
            </a:r>
            <a:r>
              <a:rPr spc="-3" dirty="0"/>
              <a:t> </a:t>
            </a:r>
            <a:r>
              <a:rPr spc="-5" dirty="0"/>
              <a:t>(GANs)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2446" y="1265216"/>
            <a:ext cx="2137043" cy="329277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336856" indent="-330806">
              <a:spcBef>
                <a:spcPts val="53"/>
              </a:spcBef>
              <a:buAutoNum type="alphaUcPeriod"/>
              <a:tabLst>
                <a:tab pos="337174" algn="l"/>
              </a:tabLst>
            </a:pP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Motivation</a:t>
            </a:r>
            <a:endParaRPr sz="193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 dirty="0">
              <a:latin typeface="Arial"/>
              <a:cs typeface="Arial"/>
            </a:endParaRPr>
          </a:p>
          <a:p>
            <a:pPr marL="405309" indent="-399260">
              <a:spcBef>
                <a:spcPts val="1241"/>
              </a:spcBef>
              <a:buAutoNum type="alphaUcPeriod"/>
              <a:tabLst>
                <a:tab pos="405309" algn="l"/>
                <a:tab pos="405628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 dirty="0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spc="-1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 dirty="0">
              <a:latin typeface="Arial"/>
              <a:cs typeface="Arial"/>
            </a:endParaRPr>
          </a:p>
          <a:p>
            <a:pPr marL="336856" indent="-330806">
              <a:spcBef>
                <a:spcPts val="1279"/>
              </a:spcBef>
              <a:buAutoNum type="alphaUcPeriod"/>
              <a:tabLst>
                <a:tab pos="337174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In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terms</a:t>
            </a:r>
            <a:r>
              <a:rPr sz="1930" spc="1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40" dirty="0">
                <a:solidFill>
                  <a:srgbClr val="C82506"/>
                </a:solidFill>
                <a:latin typeface="Arial"/>
                <a:cs typeface="Arial"/>
              </a:rPr>
              <a:t>code</a:t>
            </a:r>
            <a:endParaRPr sz="193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 dirty="0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6856" algn="l"/>
                <a:tab pos="337174" algn="l"/>
              </a:tabLst>
            </a:pPr>
            <a:r>
              <a:rPr sz="1930" spc="28" dirty="0">
                <a:solidFill>
                  <a:srgbClr val="C82506"/>
                </a:solidFill>
                <a:latin typeface="Arial"/>
                <a:cs typeface="Arial"/>
              </a:rPr>
              <a:t>Nice</a:t>
            </a:r>
            <a:r>
              <a:rPr sz="193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99" y="5464279"/>
            <a:ext cx="5657814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9408252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967385">
              <a:lnSpc>
                <a:spcPct val="100000"/>
              </a:lnSpc>
              <a:spcBef>
                <a:spcPts val="57"/>
              </a:spcBef>
            </a:pPr>
            <a:r>
              <a:rPr dirty="0"/>
              <a:t>II.A</a:t>
            </a:r>
            <a:r>
              <a:rPr spc="-80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spc="-5" dirty="0"/>
              <a:t>Motivation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5661" y="1783930"/>
            <a:ext cx="9197689" cy="2148109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1384355" algn="l"/>
              </a:tabLst>
            </a:pPr>
            <a:r>
              <a:rPr sz="1855" b="1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Motivation</a:t>
            </a:r>
            <a:r>
              <a:rPr sz="1855" spc="-5" dirty="0">
                <a:solidFill>
                  <a:srgbClr val="00882B"/>
                </a:solidFill>
                <a:latin typeface="Arial"/>
                <a:cs typeface="Arial"/>
              </a:rPr>
              <a:t>: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	endowing</a:t>
            </a:r>
            <a:r>
              <a:rPr sz="1855" spc="8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computers</a:t>
            </a:r>
            <a:r>
              <a:rPr sz="1855" spc="8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with</a:t>
            </a:r>
            <a:r>
              <a:rPr sz="1855" spc="8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an</a:t>
            </a:r>
            <a:r>
              <a:rPr sz="1855" spc="8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understanding</a:t>
            </a:r>
            <a:r>
              <a:rPr sz="1855" spc="8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of</a:t>
            </a:r>
            <a:r>
              <a:rPr sz="1855" spc="8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our</a:t>
            </a:r>
            <a:r>
              <a:rPr sz="1855" spc="8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spc="-5" dirty="0">
                <a:solidFill>
                  <a:srgbClr val="00882B"/>
                </a:solidFill>
                <a:latin typeface="Arial"/>
                <a:cs typeface="Arial"/>
              </a:rPr>
              <a:t>world.</a:t>
            </a:r>
            <a:endParaRPr sz="185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5">
              <a:latin typeface="Arial"/>
              <a:cs typeface="Arial"/>
            </a:endParaRPr>
          </a:p>
          <a:p>
            <a:pPr>
              <a:spcBef>
                <a:spcPts val="28"/>
              </a:spcBef>
            </a:pPr>
            <a:endParaRPr sz="2332">
              <a:latin typeface="Arial"/>
              <a:cs typeface="Arial"/>
            </a:endParaRPr>
          </a:p>
          <a:p>
            <a:pPr marL="42983">
              <a:tabLst>
                <a:tab pos="765089" algn="l"/>
              </a:tabLst>
            </a:pPr>
            <a:r>
              <a:rPr sz="1855" b="1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Goal</a:t>
            </a:r>
            <a:r>
              <a:rPr sz="1855" spc="-5" dirty="0">
                <a:solidFill>
                  <a:srgbClr val="00882B"/>
                </a:solidFill>
                <a:latin typeface="Arial"/>
                <a:cs typeface="Arial"/>
              </a:rPr>
              <a:t>: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	</a:t>
            </a:r>
            <a:r>
              <a:rPr sz="1855" spc="28" dirty="0">
                <a:solidFill>
                  <a:srgbClr val="00882B"/>
                </a:solidFill>
                <a:latin typeface="Arial"/>
                <a:cs typeface="Arial"/>
              </a:rPr>
              <a:t>collect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a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lot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of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data,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use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it</a:t>
            </a:r>
            <a:r>
              <a:rPr sz="1855" spc="1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to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train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a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model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to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generate</a:t>
            </a:r>
            <a:r>
              <a:rPr sz="1855" spc="1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similar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data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from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spc="-5" dirty="0">
                <a:solidFill>
                  <a:srgbClr val="00882B"/>
                </a:solidFill>
                <a:latin typeface="Arial"/>
                <a:cs typeface="Arial"/>
              </a:rPr>
              <a:t>scratch.</a:t>
            </a:r>
            <a:endParaRPr sz="185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5"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2306">
              <a:latin typeface="Arial"/>
              <a:cs typeface="Arial"/>
            </a:endParaRPr>
          </a:p>
          <a:p>
            <a:pPr marL="32475">
              <a:spcBef>
                <a:spcPts val="3"/>
              </a:spcBef>
            </a:pPr>
            <a:r>
              <a:rPr sz="1855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Intuition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:</a:t>
            </a:r>
            <a:r>
              <a:rPr sz="1855" spc="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number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of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parameters</a:t>
            </a:r>
            <a:r>
              <a:rPr sz="1855" spc="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of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the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model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spc="140" dirty="0">
                <a:solidFill>
                  <a:srgbClr val="00882B"/>
                </a:solidFill>
                <a:latin typeface="Arial"/>
                <a:cs typeface="Arial"/>
              </a:rPr>
              <a:t>&lt;&lt;</a:t>
            </a:r>
            <a:r>
              <a:rPr sz="1855" spc="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amount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dirty="0">
                <a:solidFill>
                  <a:srgbClr val="00882B"/>
                </a:solidFill>
                <a:latin typeface="Arial"/>
                <a:cs typeface="Arial"/>
              </a:rPr>
              <a:t>of</a:t>
            </a:r>
            <a:r>
              <a:rPr sz="1855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1855" spc="15" dirty="0">
                <a:solidFill>
                  <a:srgbClr val="00882B"/>
                </a:solidFill>
                <a:latin typeface="Arial"/>
                <a:cs typeface="Arial"/>
              </a:rPr>
              <a:t>data</a:t>
            </a:r>
            <a:endParaRPr sz="185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662" y="211233"/>
            <a:ext cx="72071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967385">
              <a:lnSpc>
                <a:spcPct val="100000"/>
              </a:lnSpc>
              <a:spcBef>
                <a:spcPts val="57"/>
              </a:spcBef>
            </a:pPr>
            <a:r>
              <a:rPr dirty="0"/>
              <a:t>II.A</a:t>
            </a:r>
            <a:r>
              <a:rPr spc="-80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spc="-5" dirty="0"/>
              <a:t>Motivation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907" y="907156"/>
            <a:ext cx="2498099" cy="260793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1655" b="1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Probability</a:t>
            </a:r>
            <a:r>
              <a:rPr sz="1655" b="1" u="sng" spc="-102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1655" b="1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distributions:</a:t>
            </a:r>
            <a:endParaRPr sz="1655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11554" y="1777463"/>
            <a:ext cx="1497713" cy="997202"/>
            <a:chOff x="9991528" y="3544974"/>
            <a:chExt cx="2987040" cy="1988820"/>
          </a:xfrm>
        </p:grpSpPr>
        <p:sp>
          <p:nvSpPr>
            <p:cNvPr id="7" name="object 7"/>
            <p:cNvSpPr/>
            <p:nvPr/>
          </p:nvSpPr>
          <p:spPr>
            <a:xfrm>
              <a:off x="10017705" y="3572587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70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8" name="object 8"/>
            <p:cNvSpPr/>
            <p:nvPr/>
          </p:nvSpPr>
          <p:spPr>
            <a:xfrm>
              <a:off x="10984942" y="3571151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5" h="480060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" name="object 9"/>
            <p:cNvSpPr/>
            <p:nvPr/>
          </p:nvSpPr>
          <p:spPr>
            <a:xfrm>
              <a:off x="11876528" y="4057202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48576" y="4215431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69476" y="4385889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5" h="1121410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90327" y="4386940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30174" y="3926046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66291" y="1474172"/>
            <a:ext cx="927792" cy="1080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652" b="1" dirty="0">
                <a:latin typeface="Arial"/>
                <a:cs typeface="Arial"/>
              </a:rPr>
              <a:t>“real</a:t>
            </a:r>
            <a:r>
              <a:rPr sz="652" b="1" spc="15" dirty="0">
                <a:latin typeface="Arial"/>
                <a:cs typeface="Arial"/>
              </a:rPr>
              <a:t> </a:t>
            </a:r>
            <a:r>
              <a:rPr sz="652" b="1" dirty="0">
                <a:latin typeface="Arial"/>
                <a:cs typeface="Arial"/>
              </a:rPr>
              <a:t>data</a:t>
            </a:r>
            <a:r>
              <a:rPr sz="652" b="1" spc="15" dirty="0">
                <a:latin typeface="Arial"/>
                <a:cs typeface="Arial"/>
              </a:rPr>
              <a:t> </a:t>
            </a:r>
            <a:r>
              <a:rPr sz="652" b="1" spc="-5" dirty="0">
                <a:latin typeface="Arial"/>
                <a:cs typeface="Arial"/>
              </a:rPr>
              <a:t>distribution”</a:t>
            </a:r>
            <a:endParaRPr sz="652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3044" y="1650101"/>
            <a:ext cx="1644810" cy="1389483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552">
              <a:latin typeface="Times New Roman"/>
              <a:cs typeface="Times New Roman"/>
            </a:endParaRPr>
          </a:p>
          <a:p>
            <a:pPr marR="36933" algn="r"/>
            <a:r>
              <a:rPr sz="652" dirty="0">
                <a:latin typeface="Arial"/>
                <a:cs typeface="Arial"/>
              </a:rPr>
              <a:t>Image</a:t>
            </a:r>
            <a:r>
              <a:rPr sz="652" spc="55" dirty="0">
                <a:latin typeface="Arial"/>
                <a:cs typeface="Arial"/>
              </a:rPr>
              <a:t> </a:t>
            </a:r>
            <a:r>
              <a:rPr sz="652" spc="-10" dirty="0">
                <a:latin typeface="Arial"/>
                <a:cs typeface="Arial"/>
              </a:rPr>
              <a:t>space</a:t>
            </a:r>
            <a:endParaRPr sz="652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61132" y="2124523"/>
            <a:ext cx="556548" cy="556548"/>
            <a:chOff x="8694325" y="4237151"/>
            <a:chExt cx="1109980" cy="110998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4325" y="4237151"/>
              <a:ext cx="1109913" cy="11099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5737" y="4247622"/>
              <a:ext cx="1047088" cy="104708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998563" y="3717872"/>
            <a:ext cx="1245229" cy="797252"/>
            <a:chOff x="9965618" y="7414927"/>
            <a:chExt cx="2483485" cy="1590040"/>
          </a:xfrm>
        </p:grpSpPr>
        <p:sp>
          <p:nvSpPr>
            <p:cNvPr id="20" name="object 20"/>
            <p:cNvSpPr/>
            <p:nvPr/>
          </p:nvSpPr>
          <p:spPr>
            <a:xfrm>
              <a:off x="10404968" y="7454738"/>
              <a:ext cx="2023110" cy="1077595"/>
            </a:xfrm>
            <a:custGeom>
              <a:avLst/>
              <a:gdLst/>
              <a:ahLst/>
              <a:cxnLst/>
              <a:rect l="l" t="t" r="r" b="b"/>
              <a:pathLst>
                <a:path w="2023109" h="1077595">
                  <a:moveTo>
                    <a:pt x="0" y="0"/>
                  </a:moveTo>
                  <a:lnTo>
                    <a:pt x="45015" y="15336"/>
                  </a:lnTo>
                  <a:lnTo>
                    <a:pt x="90028" y="31064"/>
                  </a:lnTo>
                  <a:lnTo>
                    <a:pt x="135038" y="47183"/>
                  </a:lnTo>
                  <a:lnTo>
                    <a:pt x="180046" y="63693"/>
                  </a:lnTo>
                  <a:lnTo>
                    <a:pt x="225050" y="80595"/>
                  </a:lnTo>
                  <a:lnTo>
                    <a:pt x="270051" y="97888"/>
                  </a:lnTo>
                  <a:lnTo>
                    <a:pt x="315050" y="115572"/>
                  </a:lnTo>
                  <a:lnTo>
                    <a:pt x="360045" y="133647"/>
                  </a:lnTo>
                  <a:lnTo>
                    <a:pt x="405038" y="152114"/>
                  </a:lnTo>
                  <a:lnTo>
                    <a:pt x="450028" y="170972"/>
                  </a:lnTo>
                  <a:lnTo>
                    <a:pt x="495015" y="190221"/>
                  </a:lnTo>
                  <a:lnTo>
                    <a:pt x="539999" y="209862"/>
                  </a:lnTo>
                  <a:lnTo>
                    <a:pt x="584980" y="229893"/>
                  </a:lnTo>
                  <a:lnTo>
                    <a:pt x="629959" y="250316"/>
                  </a:lnTo>
                  <a:lnTo>
                    <a:pt x="674934" y="271131"/>
                  </a:lnTo>
                  <a:lnTo>
                    <a:pt x="719907" y="292336"/>
                  </a:lnTo>
                  <a:lnTo>
                    <a:pt x="764876" y="313933"/>
                  </a:lnTo>
                  <a:lnTo>
                    <a:pt x="809843" y="335921"/>
                  </a:lnTo>
                  <a:lnTo>
                    <a:pt x="854807" y="358300"/>
                  </a:lnTo>
                  <a:lnTo>
                    <a:pt x="899768" y="381071"/>
                  </a:lnTo>
                  <a:lnTo>
                    <a:pt x="944726" y="404233"/>
                  </a:lnTo>
                  <a:lnTo>
                    <a:pt x="989681" y="427786"/>
                  </a:lnTo>
                  <a:lnTo>
                    <a:pt x="1034633" y="451730"/>
                  </a:lnTo>
                  <a:lnTo>
                    <a:pt x="1079583" y="476066"/>
                  </a:lnTo>
                  <a:lnTo>
                    <a:pt x="1124529" y="500793"/>
                  </a:lnTo>
                  <a:lnTo>
                    <a:pt x="1169473" y="525911"/>
                  </a:lnTo>
                  <a:lnTo>
                    <a:pt x="1214414" y="551420"/>
                  </a:lnTo>
                  <a:lnTo>
                    <a:pt x="1259351" y="577321"/>
                  </a:lnTo>
                  <a:lnTo>
                    <a:pt x="1304286" y="603613"/>
                  </a:lnTo>
                  <a:lnTo>
                    <a:pt x="1349218" y="630296"/>
                  </a:lnTo>
                  <a:lnTo>
                    <a:pt x="1394147" y="657370"/>
                  </a:lnTo>
                  <a:lnTo>
                    <a:pt x="1439074" y="684836"/>
                  </a:lnTo>
                  <a:lnTo>
                    <a:pt x="1483997" y="712693"/>
                  </a:lnTo>
                  <a:lnTo>
                    <a:pt x="1528918" y="740941"/>
                  </a:lnTo>
                  <a:lnTo>
                    <a:pt x="1573835" y="769581"/>
                  </a:lnTo>
                  <a:lnTo>
                    <a:pt x="1618750" y="798612"/>
                  </a:lnTo>
                  <a:lnTo>
                    <a:pt x="1663662" y="828034"/>
                  </a:lnTo>
                  <a:lnTo>
                    <a:pt x="1708571" y="857847"/>
                  </a:lnTo>
                  <a:lnTo>
                    <a:pt x="1753477" y="888052"/>
                  </a:lnTo>
                  <a:lnTo>
                    <a:pt x="1798380" y="918647"/>
                  </a:lnTo>
                  <a:lnTo>
                    <a:pt x="1843280" y="949634"/>
                  </a:lnTo>
                  <a:lnTo>
                    <a:pt x="1888177" y="981013"/>
                  </a:lnTo>
                  <a:lnTo>
                    <a:pt x="1933072" y="1012782"/>
                  </a:lnTo>
                  <a:lnTo>
                    <a:pt x="1977963" y="1044943"/>
                  </a:lnTo>
                  <a:lnTo>
                    <a:pt x="2022852" y="1077495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1" name="object 21"/>
            <p:cNvSpPr/>
            <p:nvPr/>
          </p:nvSpPr>
          <p:spPr>
            <a:xfrm>
              <a:off x="9986560" y="7435869"/>
              <a:ext cx="671195" cy="1150620"/>
            </a:xfrm>
            <a:custGeom>
              <a:avLst/>
              <a:gdLst/>
              <a:ahLst/>
              <a:cxnLst/>
              <a:rect l="l" t="t" r="r" b="b"/>
              <a:pathLst>
                <a:path w="671195" h="1150620">
                  <a:moveTo>
                    <a:pt x="437170" y="0"/>
                  </a:moveTo>
                  <a:lnTo>
                    <a:pt x="389597" y="27151"/>
                  </a:lnTo>
                  <a:lnTo>
                    <a:pt x="344763" y="54384"/>
                  </a:lnTo>
                  <a:lnTo>
                    <a:pt x="302669" y="81701"/>
                  </a:lnTo>
                  <a:lnTo>
                    <a:pt x="263315" y="109099"/>
                  </a:lnTo>
                  <a:lnTo>
                    <a:pt x="226699" y="136581"/>
                  </a:lnTo>
                  <a:lnTo>
                    <a:pt x="192824" y="164145"/>
                  </a:lnTo>
                  <a:lnTo>
                    <a:pt x="161688" y="191791"/>
                  </a:lnTo>
                  <a:lnTo>
                    <a:pt x="133291" y="219520"/>
                  </a:lnTo>
                  <a:lnTo>
                    <a:pt x="84717" y="275226"/>
                  </a:lnTo>
                  <a:lnTo>
                    <a:pt x="47101" y="331262"/>
                  </a:lnTo>
                  <a:lnTo>
                    <a:pt x="20442" y="387629"/>
                  </a:lnTo>
                  <a:lnTo>
                    <a:pt x="4742" y="444325"/>
                  </a:lnTo>
                  <a:lnTo>
                    <a:pt x="0" y="501352"/>
                  </a:lnTo>
                  <a:lnTo>
                    <a:pt x="1738" y="529990"/>
                  </a:lnTo>
                  <a:lnTo>
                    <a:pt x="13432" y="587512"/>
                  </a:lnTo>
                  <a:lnTo>
                    <a:pt x="36085" y="645364"/>
                  </a:lnTo>
                  <a:lnTo>
                    <a:pt x="69696" y="703547"/>
                  </a:lnTo>
                  <a:lnTo>
                    <a:pt x="114265" y="762060"/>
                  </a:lnTo>
                  <a:lnTo>
                    <a:pt x="140658" y="791440"/>
                  </a:lnTo>
                  <a:lnTo>
                    <a:pt x="169792" y="820903"/>
                  </a:lnTo>
                  <a:lnTo>
                    <a:pt x="201664" y="850449"/>
                  </a:lnTo>
                  <a:lnTo>
                    <a:pt x="236276" y="880077"/>
                  </a:lnTo>
                  <a:lnTo>
                    <a:pt x="273628" y="909787"/>
                  </a:lnTo>
                  <a:lnTo>
                    <a:pt x="313719" y="939580"/>
                  </a:lnTo>
                  <a:lnTo>
                    <a:pt x="356550" y="969456"/>
                  </a:lnTo>
                  <a:lnTo>
                    <a:pt x="402120" y="999414"/>
                  </a:lnTo>
                  <a:lnTo>
                    <a:pt x="450430" y="1029455"/>
                  </a:lnTo>
                  <a:lnTo>
                    <a:pt x="501479" y="1059579"/>
                  </a:lnTo>
                  <a:lnTo>
                    <a:pt x="555268" y="1089784"/>
                  </a:lnTo>
                  <a:lnTo>
                    <a:pt x="611796" y="1120073"/>
                  </a:lnTo>
                  <a:lnTo>
                    <a:pt x="671064" y="1150444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69476" y="8232660"/>
              <a:ext cx="656590" cy="751840"/>
            </a:xfrm>
            <a:custGeom>
              <a:avLst/>
              <a:gdLst/>
              <a:ahLst/>
              <a:cxnLst/>
              <a:rect l="l" t="t" r="r" b="b"/>
              <a:pathLst>
                <a:path w="656590" h="751840">
                  <a:moveTo>
                    <a:pt x="409908" y="0"/>
                  </a:moveTo>
                  <a:lnTo>
                    <a:pt x="440534" y="61790"/>
                  </a:lnTo>
                  <a:lnTo>
                    <a:pt x="469128" y="120930"/>
                  </a:lnTo>
                  <a:lnTo>
                    <a:pt x="495691" y="177419"/>
                  </a:lnTo>
                  <a:lnTo>
                    <a:pt x="520223" y="231256"/>
                  </a:lnTo>
                  <a:lnTo>
                    <a:pt x="542724" y="282443"/>
                  </a:lnTo>
                  <a:lnTo>
                    <a:pt x="563194" y="330978"/>
                  </a:lnTo>
                  <a:lnTo>
                    <a:pt x="581632" y="376863"/>
                  </a:lnTo>
                  <a:lnTo>
                    <a:pt x="598040" y="420097"/>
                  </a:lnTo>
                  <a:lnTo>
                    <a:pt x="612416" y="460679"/>
                  </a:lnTo>
                  <a:lnTo>
                    <a:pt x="624761" y="498611"/>
                  </a:lnTo>
                  <a:lnTo>
                    <a:pt x="643357" y="566521"/>
                  </a:lnTo>
                  <a:lnTo>
                    <a:pt x="653829" y="623827"/>
                  </a:lnTo>
                  <a:lnTo>
                    <a:pt x="656177" y="670528"/>
                  </a:lnTo>
                  <a:lnTo>
                    <a:pt x="654303" y="689903"/>
                  </a:lnTo>
                  <a:lnTo>
                    <a:pt x="636497" y="732120"/>
                  </a:lnTo>
                  <a:lnTo>
                    <a:pt x="600410" y="750478"/>
                  </a:lnTo>
                  <a:lnTo>
                    <a:pt x="584319" y="751295"/>
                  </a:lnTo>
                  <a:lnTo>
                    <a:pt x="566197" y="749461"/>
                  </a:lnTo>
                  <a:lnTo>
                    <a:pt x="523858" y="737840"/>
                  </a:lnTo>
                  <a:lnTo>
                    <a:pt x="473395" y="715616"/>
                  </a:lnTo>
                  <a:lnTo>
                    <a:pt x="414808" y="682787"/>
                  </a:lnTo>
                  <a:lnTo>
                    <a:pt x="382467" y="662396"/>
                  </a:lnTo>
                  <a:lnTo>
                    <a:pt x="348095" y="639354"/>
                  </a:lnTo>
                  <a:lnTo>
                    <a:pt x="311692" y="613661"/>
                  </a:lnTo>
                  <a:lnTo>
                    <a:pt x="273258" y="585317"/>
                  </a:lnTo>
                  <a:lnTo>
                    <a:pt x="232793" y="554322"/>
                  </a:lnTo>
                  <a:lnTo>
                    <a:pt x="190297" y="520676"/>
                  </a:lnTo>
                  <a:lnTo>
                    <a:pt x="145769" y="484379"/>
                  </a:lnTo>
                  <a:lnTo>
                    <a:pt x="99210" y="445431"/>
                  </a:lnTo>
                  <a:lnTo>
                    <a:pt x="50621" y="403831"/>
                  </a:lnTo>
                  <a:lnTo>
                    <a:pt x="0" y="359581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3" name="object 23"/>
            <p:cNvSpPr/>
            <p:nvPr/>
          </p:nvSpPr>
          <p:spPr>
            <a:xfrm>
              <a:off x="11079589" y="8228231"/>
              <a:ext cx="1313180" cy="481330"/>
            </a:xfrm>
            <a:custGeom>
              <a:avLst/>
              <a:gdLst/>
              <a:ahLst/>
              <a:cxnLst/>
              <a:rect l="l" t="t" r="r" b="b"/>
              <a:pathLst>
                <a:path w="1313179" h="481329">
                  <a:moveTo>
                    <a:pt x="1313172" y="304122"/>
                  </a:moveTo>
                  <a:lnTo>
                    <a:pt x="1273387" y="331430"/>
                  </a:lnTo>
                  <a:lnTo>
                    <a:pt x="1233600" y="356455"/>
                  </a:lnTo>
                  <a:lnTo>
                    <a:pt x="1193814" y="379197"/>
                  </a:lnTo>
                  <a:lnTo>
                    <a:pt x="1154027" y="399656"/>
                  </a:lnTo>
                  <a:lnTo>
                    <a:pt x="1114240" y="417833"/>
                  </a:lnTo>
                  <a:lnTo>
                    <a:pt x="1074452" y="433727"/>
                  </a:lnTo>
                  <a:lnTo>
                    <a:pt x="1034663" y="447339"/>
                  </a:lnTo>
                  <a:lnTo>
                    <a:pt x="994874" y="458667"/>
                  </a:lnTo>
                  <a:lnTo>
                    <a:pt x="955085" y="467713"/>
                  </a:lnTo>
                  <a:lnTo>
                    <a:pt x="915295" y="474476"/>
                  </a:lnTo>
                  <a:lnTo>
                    <a:pt x="875505" y="478957"/>
                  </a:lnTo>
                  <a:lnTo>
                    <a:pt x="835714" y="481154"/>
                  </a:lnTo>
                  <a:lnTo>
                    <a:pt x="795923" y="481069"/>
                  </a:lnTo>
                  <a:lnTo>
                    <a:pt x="756131" y="478702"/>
                  </a:lnTo>
                  <a:lnTo>
                    <a:pt x="716339" y="474051"/>
                  </a:lnTo>
                  <a:lnTo>
                    <a:pt x="676546" y="467118"/>
                  </a:lnTo>
                  <a:lnTo>
                    <a:pt x="636753" y="457902"/>
                  </a:lnTo>
                  <a:lnTo>
                    <a:pt x="596960" y="446404"/>
                  </a:lnTo>
                  <a:lnTo>
                    <a:pt x="557166" y="432622"/>
                  </a:lnTo>
                  <a:lnTo>
                    <a:pt x="517371" y="416558"/>
                  </a:lnTo>
                  <a:lnTo>
                    <a:pt x="477576" y="398212"/>
                  </a:lnTo>
                  <a:lnTo>
                    <a:pt x="437781" y="377582"/>
                  </a:lnTo>
                  <a:lnTo>
                    <a:pt x="397985" y="354670"/>
                  </a:lnTo>
                  <a:lnTo>
                    <a:pt x="358188" y="329475"/>
                  </a:lnTo>
                  <a:lnTo>
                    <a:pt x="318391" y="301998"/>
                  </a:lnTo>
                  <a:lnTo>
                    <a:pt x="278594" y="272237"/>
                  </a:lnTo>
                  <a:lnTo>
                    <a:pt x="238796" y="240194"/>
                  </a:lnTo>
                  <a:lnTo>
                    <a:pt x="198998" y="205869"/>
                  </a:lnTo>
                  <a:lnTo>
                    <a:pt x="159199" y="169260"/>
                  </a:lnTo>
                  <a:lnTo>
                    <a:pt x="119400" y="130369"/>
                  </a:lnTo>
                  <a:lnTo>
                    <a:pt x="79600" y="89195"/>
                  </a:lnTo>
                  <a:lnTo>
                    <a:pt x="39800" y="45739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40040" y="3143717"/>
            <a:ext cx="983510" cy="1080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652" b="1" dirty="0">
                <a:latin typeface="Arial"/>
                <a:cs typeface="Arial"/>
              </a:rPr>
              <a:t>“generated</a:t>
            </a:r>
            <a:r>
              <a:rPr sz="652" b="1" spc="30" dirty="0">
                <a:latin typeface="Arial"/>
                <a:cs typeface="Arial"/>
              </a:rPr>
              <a:t> </a:t>
            </a:r>
            <a:r>
              <a:rPr sz="652" b="1" spc="-5" dirty="0">
                <a:latin typeface="Arial"/>
                <a:cs typeface="Arial"/>
              </a:rPr>
              <a:t>distribution”</a:t>
            </a:r>
            <a:endParaRPr sz="652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83044" y="3304601"/>
            <a:ext cx="1644810" cy="138544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526">
              <a:latin typeface="Times New Roman"/>
              <a:cs typeface="Times New Roman"/>
            </a:endParaRPr>
          </a:p>
          <a:p>
            <a:pPr marR="36933" algn="r"/>
            <a:r>
              <a:rPr sz="652" dirty="0">
                <a:latin typeface="Arial"/>
                <a:cs typeface="Arial"/>
              </a:rPr>
              <a:t>Image</a:t>
            </a:r>
            <a:r>
              <a:rPr sz="652" spc="55" dirty="0">
                <a:latin typeface="Arial"/>
                <a:cs typeface="Arial"/>
              </a:rPr>
              <a:t> </a:t>
            </a:r>
            <a:r>
              <a:rPr sz="652" spc="-10" dirty="0">
                <a:latin typeface="Arial"/>
                <a:cs typeface="Arial"/>
              </a:rPr>
              <a:t>space</a:t>
            </a:r>
            <a:endParaRPr sz="652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61132" y="3754377"/>
            <a:ext cx="556548" cy="556548"/>
            <a:chOff x="8694325" y="7487733"/>
            <a:chExt cx="1109980" cy="110998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4325" y="7487733"/>
              <a:ext cx="1109913" cy="11099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5737" y="7498204"/>
              <a:ext cx="1047088" cy="1047088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7952244" y="2450769"/>
            <a:ext cx="1498031" cy="997202"/>
            <a:chOff x="15856441" y="4887817"/>
            <a:chExt cx="2987675" cy="1988820"/>
          </a:xfrm>
        </p:grpSpPr>
        <p:sp>
          <p:nvSpPr>
            <p:cNvPr id="30" name="object 30"/>
            <p:cNvSpPr/>
            <p:nvPr/>
          </p:nvSpPr>
          <p:spPr>
            <a:xfrm>
              <a:off x="15882793" y="4915605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50031" y="4914169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60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2" name="object 32"/>
            <p:cNvSpPr/>
            <p:nvPr/>
          </p:nvSpPr>
          <p:spPr>
            <a:xfrm>
              <a:off x="17741616" y="5400220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3" name="object 33"/>
            <p:cNvSpPr/>
            <p:nvPr/>
          </p:nvSpPr>
          <p:spPr>
            <a:xfrm>
              <a:off x="16013672" y="5558449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4" name="object 34"/>
            <p:cNvSpPr/>
            <p:nvPr/>
          </p:nvSpPr>
          <p:spPr>
            <a:xfrm>
              <a:off x="16534575" y="5728908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5" name="object 35"/>
            <p:cNvSpPr/>
            <p:nvPr/>
          </p:nvSpPr>
          <p:spPr>
            <a:xfrm>
              <a:off x="17455426" y="5729958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6" name="object 36"/>
            <p:cNvSpPr/>
            <p:nvPr/>
          </p:nvSpPr>
          <p:spPr>
            <a:xfrm>
              <a:off x="15895264" y="5269065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316870" y="2140939"/>
            <a:ext cx="913464" cy="1080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652" b="1" dirty="0">
                <a:latin typeface="Arial"/>
                <a:cs typeface="Arial"/>
              </a:rPr>
              <a:t>Matching</a:t>
            </a:r>
            <a:r>
              <a:rPr sz="652" b="1" spc="25" dirty="0">
                <a:latin typeface="Arial"/>
                <a:cs typeface="Arial"/>
              </a:rPr>
              <a:t> </a:t>
            </a:r>
            <a:r>
              <a:rPr sz="652" b="1" spc="-5" dirty="0">
                <a:latin typeface="Arial"/>
                <a:cs typeface="Arial"/>
              </a:rPr>
              <a:t>distributions</a:t>
            </a:r>
            <a:endParaRPr sz="652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23822" y="2323496"/>
            <a:ext cx="1644810" cy="1401025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spcBef>
                <a:spcPts val="28"/>
              </a:spcBef>
            </a:pPr>
            <a:endParaRPr sz="627">
              <a:latin typeface="Times New Roman"/>
              <a:cs typeface="Times New Roman"/>
            </a:endParaRPr>
          </a:p>
          <a:p>
            <a:pPr marR="37570" algn="r"/>
            <a:r>
              <a:rPr sz="652" dirty="0">
                <a:latin typeface="Arial"/>
                <a:cs typeface="Arial"/>
              </a:rPr>
              <a:t>Image</a:t>
            </a:r>
            <a:r>
              <a:rPr sz="652" spc="55" dirty="0">
                <a:latin typeface="Arial"/>
                <a:cs typeface="Arial"/>
              </a:rPr>
              <a:t> </a:t>
            </a:r>
            <a:r>
              <a:rPr sz="652" spc="-10" dirty="0">
                <a:latin typeface="Arial"/>
                <a:cs typeface="Arial"/>
              </a:rPr>
              <a:t>space</a:t>
            </a:r>
            <a:endParaRPr sz="652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97283" y="2451484"/>
            <a:ext cx="1497713" cy="997202"/>
            <a:chOff x="15946268" y="4889243"/>
            <a:chExt cx="2987040" cy="1988820"/>
          </a:xfrm>
        </p:grpSpPr>
        <p:sp>
          <p:nvSpPr>
            <p:cNvPr id="40" name="object 40"/>
            <p:cNvSpPr/>
            <p:nvPr/>
          </p:nvSpPr>
          <p:spPr>
            <a:xfrm>
              <a:off x="15972445" y="4916856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1" name="object 41"/>
            <p:cNvSpPr/>
            <p:nvPr/>
          </p:nvSpPr>
          <p:spPr>
            <a:xfrm>
              <a:off x="16939683" y="4915421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60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2" name="object 42"/>
            <p:cNvSpPr/>
            <p:nvPr/>
          </p:nvSpPr>
          <p:spPr>
            <a:xfrm>
              <a:off x="17831268" y="5401472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3" name="object 43"/>
            <p:cNvSpPr/>
            <p:nvPr/>
          </p:nvSpPr>
          <p:spPr>
            <a:xfrm>
              <a:off x="16103323" y="5559700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4" name="object 44"/>
            <p:cNvSpPr/>
            <p:nvPr/>
          </p:nvSpPr>
          <p:spPr>
            <a:xfrm>
              <a:off x="16624226" y="5730159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5" name="object 45"/>
            <p:cNvSpPr/>
            <p:nvPr/>
          </p:nvSpPr>
          <p:spPr>
            <a:xfrm>
              <a:off x="17545078" y="5731210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6" name="object 46"/>
            <p:cNvSpPr/>
            <p:nvPr/>
          </p:nvSpPr>
          <p:spPr>
            <a:xfrm>
              <a:off x="15984916" y="5270316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6850301" y="2855692"/>
            <a:ext cx="851060" cy="556548"/>
            <a:chOff x="13658725" y="5695395"/>
            <a:chExt cx="1697355" cy="1109980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58725" y="5695395"/>
              <a:ext cx="1697204" cy="11099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90138" y="5705866"/>
              <a:ext cx="1634379" cy="1047088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114587" y="2571451"/>
            <a:ext cx="323486" cy="184172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153" spc="-10" dirty="0">
                <a:latin typeface="Arial"/>
                <a:cs typeface="Arial"/>
              </a:rPr>
              <a:t>Goal</a:t>
            </a:r>
            <a:endParaRPr sz="1153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7657" y="3143717"/>
            <a:ext cx="2861383" cy="190902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203" dirty="0">
                <a:latin typeface="Arial"/>
                <a:cs typeface="Arial"/>
              </a:rPr>
              <a:t>Samples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from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the</a:t>
            </a:r>
            <a:r>
              <a:rPr sz="1203" spc="15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“generated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spc="-5" dirty="0">
                <a:latin typeface="Arial"/>
                <a:cs typeface="Arial"/>
              </a:rPr>
              <a:t>distribution”</a:t>
            </a:r>
            <a:endParaRPr sz="1203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174" y="3442724"/>
            <a:ext cx="3832711" cy="61600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4565" y="4150251"/>
            <a:ext cx="3840338" cy="62082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368157" y="1384919"/>
            <a:ext cx="2757269" cy="190902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203" dirty="0">
                <a:latin typeface="Arial"/>
                <a:cs typeface="Arial"/>
              </a:rPr>
              <a:t>Samples</a:t>
            </a:r>
            <a:r>
              <a:rPr sz="1203" spc="-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from</a:t>
            </a:r>
            <a:r>
              <a:rPr sz="1203" spc="-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the</a:t>
            </a:r>
            <a:r>
              <a:rPr sz="1203" spc="-10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“real</a:t>
            </a:r>
            <a:r>
              <a:rPr sz="1203" spc="-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data</a:t>
            </a:r>
            <a:r>
              <a:rPr sz="1203" spc="-13" dirty="0">
                <a:latin typeface="Arial"/>
                <a:cs typeface="Arial"/>
              </a:rPr>
              <a:t> </a:t>
            </a:r>
            <a:r>
              <a:rPr sz="1203" spc="-5" dirty="0">
                <a:latin typeface="Arial"/>
                <a:cs typeface="Arial"/>
              </a:rPr>
              <a:t>distribution”</a:t>
            </a:r>
            <a:endParaRPr sz="1203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7302" y="1647924"/>
            <a:ext cx="943300" cy="627884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6669" y="1638344"/>
            <a:ext cx="943300" cy="6470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16038" y="1647924"/>
            <a:ext cx="943224" cy="63929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05406" y="1653666"/>
            <a:ext cx="943300" cy="62788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7302" y="2326784"/>
            <a:ext cx="943300" cy="62788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16038" y="2326785"/>
            <a:ext cx="943300" cy="62788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26669" y="2326784"/>
            <a:ext cx="943300" cy="62788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01918" y="2332281"/>
            <a:ext cx="950253" cy="616952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63649" y="5490529"/>
            <a:ext cx="6298099" cy="95558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577" dirty="0">
                <a:latin typeface="Times New Roman"/>
                <a:cs typeface="Times New Roman"/>
              </a:rPr>
              <a:t>[Han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Zhang,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Tao </a:t>
            </a:r>
            <a:r>
              <a:rPr sz="577" dirty="0">
                <a:latin typeface="Times New Roman"/>
                <a:cs typeface="Times New Roman"/>
              </a:rPr>
              <a:t>Xu,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Hongsheng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Li,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Shaoting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Zhang,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Xiaogang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Wang, </a:t>
            </a:r>
            <a:r>
              <a:rPr sz="577" dirty="0">
                <a:latin typeface="Times New Roman"/>
                <a:cs typeface="Times New Roman"/>
              </a:rPr>
              <a:t>Xiaolei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Huang,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Dimitris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Metaxas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(2017):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StackGAN: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Text </a:t>
            </a:r>
            <a:r>
              <a:rPr sz="577" dirty="0">
                <a:latin typeface="Times New Roman"/>
                <a:cs typeface="Times New Roman"/>
              </a:rPr>
              <a:t>to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Photo-</a:t>
            </a:r>
            <a:r>
              <a:rPr sz="577" dirty="0">
                <a:latin typeface="Times New Roman"/>
                <a:cs typeface="Times New Roman"/>
              </a:rPr>
              <a:t>realistic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Image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Synthesis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with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Stacked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Generative</a:t>
            </a:r>
            <a:r>
              <a:rPr sz="577" spc="-3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Adversarial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Networks]</a:t>
            </a:r>
            <a:endParaRPr sz="57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9188331" cy="1127059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360795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8" dirty="0"/>
              <a:t> </a:t>
            </a:r>
            <a:r>
              <a:rPr dirty="0"/>
              <a:t>Generative</a:t>
            </a:r>
            <a:r>
              <a:rPr spc="-75" dirty="0"/>
              <a:t> </a:t>
            </a:r>
            <a:r>
              <a:rPr dirty="0"/>
              <a:t>Adversarial</a:t>
            </a:r>
            <a:r>
              <a:rPr spc="-5" dirty="0"/>
              <a:t> </a:t>
            </a:r>
            <a:r>
              <a:rPr dirty="0"/>
              <a:t>Networks</a:t>
            </a:r>
            <a:r>
              <a:rPr spc="-3" dirty="0"/>
              <a:t> </a:t>
            </a:r>
            <a:r>
              <a:rPr spc="-5" dirty="0"/>
              <a:t>(GANs)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2446" y="1265216"/>
            <a:ext cx="2137043" cy="329277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336856" indent="-330806">
              <a:spcBef>
                <a:spcPts val="53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Motivation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405309" indent="-399260">
              <a:spcBef>
                <a:spcPts val="1241"/>
              </a:spcBef>
              <a:buAutoNum type="alphaUcPeriod"/>
              <a:tabLst>
                <a:tab pos="405309" algn="l"/>
                <a:tab pos="405628" algn="l"/>
              </a:tabLst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spc="-1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79"/>
              </a:spcBef>
              <a:buAutoNum type="alphaUcPeriod"/>
              <a:tabLst>
                <a:tab pos="337174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In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terms</a:t>
            </a:r>
            <a:r>
              <a:rPr sz="1930" spc="1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40" dirty="0">
                <a:solidFill>
                  <a:srgbClr val="C82506"/>
                </a:solidFill>
                <a:latin typeface="Arial"/>
                <a:cs typeface="Arial"/>
              </a:rPr>
              <a:t>code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6856" algn="l"/>
                <a:tab pos="337174" algn="l"/>
              </a:tabLst>
            </a:pPr>
            <a:r>
              <a:rPr sz="1930" spc="28" dirty="0">
                <a:solidFill>
                  <a:srgbClr val="C82506"/>
                </a:solidFill>
                <a:latin typeface="Arial"/>
                <a:cs typeface="Arial"/>
              </a:rPr>
              <a:t>Nice</a:t>
            </a:r>
            <a:r>
              <a:rPr sz="193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99" y="5464279"/>
            <a:ext cx="5657814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484355" y="326540"/>
            <a:ext cx="1805916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II.B</a:t>
            </a:r>
            <a:r>
              <a:rPr sz="1930" b="1" spc="-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9413" y="3393086"/>
            <a:ext cx="5265238" cy="441584"/>
          </a:xfrm>
          <a:prstGeom prst="rect">
            <a:avLst/>
          </a:prstGeom>
          <a:solidFill>
            <a:srgbClr val="F5D328"/>
          </a:solidFill>
          <a:ln w="10470">
            <a:solidFill>
              <a:srgbClr val="000000"/>
            </a:solidFill>
          </a:ln>
        </p:spPr>
        <p:txBody>
          <a:bodyPr vert="horz" wrap="square" lIns="0" tIns="18467" rIns="0" bIns="0" rtlCol="0">
            <a:spAutoFit/>
          </a:bodyPr>
          <a:lstStyle/>
          <a:p>
            <a:pPr marL="2038963" marR="184984" indent="-1853342">
              <a:lnSpc>
                <a:spcPct val="100600"/>
              </a:lnSpc>
              <a:spcBef>
                <a:spcPts val="145"/>
              </a:spcBef>
            </a:pPr>
            <a:r>
              <a:rPr sz="1404" b="1" dirty="0">
                <a:latin typeface="Arial"/>
                <a:cs typeface="Arial"/>
              </a:rPr>
              <a:t>How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can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we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train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G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to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generate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images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from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the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true </a:t>
            </a:r>
            <a:r>
              <a:rPr sz="1404" b="1" spc="-10" dirty="0">
                <a:latin typeface="Arial"/>
                <a:cs typeface="Arial"/>
              </a:rPr>
              <a:t>data </a:t>
            </a:r>
            <a:r>
              <a:rPr sz="1404" b="1" spc="-5" dirty="0">
                <a:latin typeface="Arial"/>
                <a:cs typeface="Arial"/>
              </a:rPr>
              <a:t>distributions?</a:t>
            </a:r>
            <a:endParaRPr sz="1404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4907" y="1152879"/>
            <a:ext cx="370926" cy="796966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5139" spc="-3" dirty="0">
                <a:latin typeface="Symbol"/>
                <a:cs typeface="Symbol"/>
              </a:rPr>
              <a:t></a:t>
            </a:r>
            <a:endParaRPr sz="5139">
              <a:latin typeface="Symbol"/>
              <a:cs typeface="Symbo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0795" y="1204228"/>
            <a:ext cx="885043" cy="8887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4241" y="1204236"/>
            <a:ext cx="881355" cy="8887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7692" y="1209722"/>
            <a:ext cx="879580" cy="8777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649" y="5490529"/>
            <a:ext cx="6298099" cy="95558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577" dirty="0">
                <a:latin typeface="Times New Roman"/>
                <a:cs typeface="Times New Roman"/>
              </a:rPr>
              <a:t>[Han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Zhang,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Tao </a:t>
            </a:r>
            <a:r>
              <a:rPr sz="577" dirty="0">
                <a:latin typeface="Times New Roman"/>
                <a:cs typeface="Times New Roman"/>
              </a:rPr>
              <a:t>Xu,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Hongsheng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Li,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Shaoting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Zhang,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Xiaogang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Wang, </a:t>
            </a:r>
            <a:r>
              <a:rPr sz="577" dirty="0">
                <a:latin typeface="Times New Roman"/>
                <a:cs typeface="Times New Roman"/>
              </a:rPr>
              <a:t>Xiaolei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Huang,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Dimitris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Metaxas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(2017):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StackGAN:</a:t>
            </a:r>
            <a:r>
              <a:rPr sz="577" spc="-1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Text </a:t>
            </a:r>
            <a:r>
              <a:rPr sz="577" dirty="0">
                <a:latin typeface="Times New Roman"/>
                <a:cs typeface="Times New Roman"/>
              </a:rPr>
              <a:t>to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Photo-</a:t>
            </a:r>
            <a:r>
              <a:rPr sz="577" dirty="0">
                <a:latin typeface="Times New Roman"/>
                <a:cs typeface="Times New Roman"/>
              </a:rPr>
              <a:t>realistic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Image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Synthesis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with</a:t>
            </a:r>
            <a:r>
              <a:rPr sz="577" spc="-5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Stacked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Generative</a:t>
            </a:r>
            <a:r>
              <a:rPr sz="577" spc="-33" dirty="0">
                <a:latin typeface="Times New Roman"/>
                <a:cs typeface="Times New Roman"/>
              </a:rPr>
              <a:t> </a:t>
            </a:r>
            <a:r>
              <a:rPr sz="577" dirty="0">
                <a:latin typeface="Times New Roman"/>
                <a:cs typeface="Times New Roman"/>
              </a:rPr>
              <a:t>Adversarial</a:t>
            </a:r>
            <a:r>
              <a:rPr sz="577" spc="-3" dirty="0">
                <a:latin typeface="Times New Roman"/>
                <a:cs typeface="Times New Roman"/>
              </a:rPr>
              <a:t> </a:t>
            </a:r>
            <a:r>
              <a:rPr sz="577" spc="-5" dirty="0">
                <a:latin typeface="Times New Roman"/>
                <a:cs typeface="Times New Roman"/>
              </a:rPr>
              <a:t>Networks]</a:t>
            </a:r>
            <a:endParaRPr sz="577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7459" y="1463997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2" name="object 12"/>
          <p:cNvSpPr txBox="1"/>
          <p:nvPr/>
        </p:nvSpPr>
        <p:spPr>
          <a:xfrm>
            <a:off x="1586613" y="1115605"/>
            <a:ext cx="1549611" cy="724622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103" dirty="0">
              <a:latin typeface="Times New Roman"/>
              <a:cs typeface="Times New Roman"/>
            </a:endParaRPr>
          </a:p>
          <a:p>
            <a:pPr marL="142320" marR="142638" indent="94243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45562" y="1463997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4" name="object 14"/>
          <p:cNvSpPr txBox="1"/>
          <p:nvPr/>
        </p:nvSpPr>
        <p:spPr>
          <a:xfrm>
            <a:off x="401420" y="1168445"/>
            <a:ext cx="471538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880" baseline="-5555" dirty="0">
                <a:latin typeface="Symbol"/>
                <a:cs typeface="Symbol"/>
              </a:rPr>
              <a:t></a:t>
            </a:r>
            <a:r>
              <a:rPr sz="1880" spc="-184" baseline="-5555" dirty="0">
                <a:latin typeface="Times New Roman"/>
                <a:cs typeface="Times New Roman"/>
              </a:rPr>
              <a:t> </a:t>
            </a:r>
            <a:r>
              <a:rPr sz="1254" spc="-5" dirty="0">
                <a:latin typeface="Times New Roman"/>
                <a:cs typeface="Times New Roman"/>
              </a:rPr>
              <a:t>0.47</a:t>
            </a:r>
            <a:r>
              <a:rPr sz="1880" spc="-8" baseline="-5555" dirty="0">
                <a:latin typeface="Symbol"/>
                <a:cs typeface="Symbol"/>
              </a:rPr>
              <a:t></a:t>
            </a:r>
            <a:endParaRPr sz="1880" baseline="-5555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420" y="1894280"/>
            <a:ext cx="471538" cy="579474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spcBef>
                <a:spcPts val="55"/>
              </a:spcBef>
            </a:pPr>
            <a:r>
              <a:rPr sz="1880" spc="-365" baseline="23333" dirty="0">
                <a:latin typeface="Symbol"/>
                <a:cs typeface="Symbol"/>
              </a:rPr>
              <a:t></a:t>
            </a:r>
            <a:r>
              <a:rPr sz="1254" spc="-243" dirty="0">
                <a:latin typeface="Symbol"/>
                <a:cs typeface="Symbol"/>
              </a:rPr>
              <a:t></a:t>
            </a:r>
            <a:r>
              <a:rPr sz="1254" spc="-118" dirty="0">
                <a:latin typeface="Times New Roman"/>
                <a:cs typeface="Times New Roman"/>
              </a:rPr>
              <a:t> </a:t>
            </a:r>
            <a:r>
              <a:rPr sz="1880" spc="-41" baseline="2222" dirty="0">
                <a:latin typeface="Times New Roman"/>
                <a:cs typeface="Times New Roman"/>
              </a:rPr>
              <a:t>0.19</a:t>
            </a:r>
            <a:r>
              <a:rPr sz="1880" spc="-41" baseline="23333" dirty="0">
                <a:latin typeface="Symbol"/>
                <a:cs typeface="Symbol"/>
              </a:rPr>
              <a:t></a:t>
            </a:r>
            <a:r>
              <a:rPr sz="1254" spc="-28" dirty="0">
                <a:latin typeface="Symbol"/>
                <a:cs typeface="Symbol"/>
              </a:rPr>
              <a:t></a:t>
            </a:r>
            <a:endParaRPr sz="1254">
              <a:latin typeface="Symbol"/>
              <a:cs typeface="Symbol"/>
            </a:endParaRPr>
          </a:p>
          <a:p>
            <a:pPr marL="39162" algn="ctr">
              <a:spcBef>
                <a:spcPts val="143"/>
              </a:spcBef>
            </a:pPr>
            <a:r>
              <a:rPr sz="2382" i="1" spc="3" dirty="0">
                <a:latin typeface="Times New Roman"/>
                <a:cs typeface="Times New Roman"/>
              </a:rPr>
              <a:t>z</a:t>
            </a:r>
            <a:endParaRPr sz="2382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156" y="1369279"/>
            <a:ext cx="446066" cy="36614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lnSpc>
                <a:spcPts val="1369"/>
              </a:lnSpc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  <a:p>
            <a:pPr marL="6368">
              <a:lnSpc>
                <a:spcPts val="1369"/>
              </a:lnSpc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156" y="1682613"/>
            <a:ext cx="446066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7190" y="1510763"/>
            <a:ext cx="0" cy="281458"/>
          </a:xfrm>
          <a:custGeom>
            <a:avLst/>
            <a:gdLst/>
            <a:ahLst/>
            <a:cxnLst/>
            <a:rect l="l" t="t" r="r" b="b"/>
            <a:pathLst>
              <a:path h="561339">
                <a:moveTo>
                  <a:pt x="0" y="561296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9" name="object 19"/>
          <p:cNvSpPr txBox="1"/>
          <p:nvPr/>
        </p:nvSpPr>
        <p:spPr>
          <a:xfrm>
            <a:off x="294655" y="775903"/>
            <a:ext cx="706192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100-</a:t>
            </a:r>
            <a:r>
              <a:rPr sz="903" spc="-25" dirty="0">
                <a:latin typeface="Arial"/>
                <a:cs typeface="Arial"/>
              </a:rPr>
              <a:t>d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random</a:t>
            </a:r>
            <a:r>
              <a:rPr sz="903" spc="60" dirty="0">
                <a:latin typeface="Arial"/>
                <a:cs typeface="Arial"/>
              </a:rPr>
              <a:t> </a:t>
            </a:r>
            <a:r>
              <a:rPr sz="903" spc="-10" dirty="0">
                <a:latin typeface="Arial"/>
                <a:cs typeface="Arial"/>
              </a:rPr>
              <a:t>code</a:t>
            </a:r>
            <a:endParaRPr sz="903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9466" y="1201158"/>
            <a:ext cx="900645" cy="90064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912002" y="775903"/>
            <a:ext cx="898819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spc="-5" dirty="0">
                <a:latin typeface="Arial"/>
                <a:cs typeface="Arial"/>
              </a:rPr>
              <a:t>(64,64,3)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generated</a:t>
            </a:r>
            <a:r>
              <a:rPr sz="903" spc="120" dirty="0">
                <a:latin typeface="Arial"/>
                <a:cs typeface="Arial"/>
              </a:rPr>
              <a:t> </a:t>
            </a:r>
            <a:r>
              <a:rPr sz="903" spc="-5" dirty="0">
                <a:latin typeface="Arial"/>
                <a:cs typeface="Arial"/>
              </a:rPr>
              <a:t>image</a:t>
            </a:r>
            <a:endParaRPr sz="90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7459" y="1463998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" name="object 3"/>
          <p:cNvSpPr txBox="1"/>
          <p:nvPr/>
        </p:nvSpPr>
        <p:spPr>
          <a:xfrm>
            <a:off x="1586613" y="1115605"/>
            <a:ext cx="1549611" cy="724622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103">
              <a:latin typeface="Times New Roman"/>
              <a:cs typeface="Times New Roman"/>
            </a:endParaRPr>
          </a:p>
          <a:p>
            <a:pPr marL="142320" marR="142638" indent="94243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5562" y="1463998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" name="object 5"/>
          <p:cNvSpPr txBox="1"/>
          <p:nvPr/>
        </p:nvSpPr>
        <p:spPr>
          <a:xfrm>
            <a:off x="401420" y="1168445"/>
            <a:ext cx="471538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880" baseline="-5555" dirty="0">
                <a:latin typeface="Symbol"/>
                <a:cs typeface="Symbol"/>
              </a:rPr>
              <a:t></a:t>
            </a:r>
            <a:r>
              <a:rPr sz="1880" spc="-184" baseline="-5555" dirty="0">
                <a:latin typeface="Times New Roman"/>
                <a:cs typeface="Times New Roman"/>
              </a:rPr>
              <a:t> </a:t>
            </a:r>
            <a:r>
              <a:rPr sz="1254" spc="-5" dirty="0">
                <a:latin typeface="Times New Roman"/>
                <a:cs typeface="Times New Roman"/>
              </a:rPr>
              <a:t>0.47</a:t>
            </a:r>
            <a:r>
              <a:rPr sz="1880" spc="-8" baseline="-5555" dirty="0">
                <a:latin typeface="Symbol"/>
                <a:cs typeface="Symbol"/>
              </a:rPr>
              <a:t></a:t>
            </a:r>
            <a:endParaRPr sz="1880" baseline="-5555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420" y="1894280"/>
            <a:ext cx="471538" cy="579474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spcBef>
                <a:spcPts val="55"/>
              </a:spcBef>
            </a:pPr>
            <a:r>
              <a:rPr sz="1880" spc="-365" baseline="23333" dirty="0">
                <a:latin typeface="Symbol"/>
                <a:cs typeface="Symbol"/>
              </a:rPr>
              <a:t></a:t>
            </a:r>
            <a:r>
              <a:rPr sz="1254" spc="-243" dirty="0">
                <a:latin typeface="Symbol"/>
                <a:cs typeface="Symbol"/>
              </a:rPr>
              <a:t></a:t>
            </a:r>
            <a:r>
              <a:rPr sz="1254" spc="-118" dirty="0">
                <a:latin typeface="Times New Roman"/>
                <a:cs typeface="Times New Roman"/>
              </a:rPr>
              <a:t> </a:t>
            </a:r>
            <a:r>
              <a:rPr sz="1880" spc="-41" baseline="2222" dirty="0">
                <a:latin typeface="Times New Roman"/>
                <a:cs typeface="Times New Roman"/>
              </a:rPr>
              <a:t>0.19</a:t>
            </a:r>
            <a:r>
              <a:rPr sz="1880" spc="-41" baseline="23333" dirty="0">
                <a:latin typeface="Symbol"/>
                <a:cs typeface="Symbol"/>
              </a:rPr>
              <a:t></a:t>
            </a:r>
            <a:r>
              <a:rPr sz="1254" spc="-28" dirty="0">
                <a:latin typeface="Symbol"/>
                <a:cs typeface="Symbol"/>
              </a:rPr>
              <a:t></a:t>
            </a:r>
            <a:endParaRPr sz="1254">
              <a:latin typeface="Symbol"/>
              <a:cs typeface="Symbol"/>
            </a:endParaRPr>
          </a:p>
          <a:p>
            <a:pPr marL="39162" algn="ctr">
              <a:spcBef>
                <a:spcPts val="143"/>
              </a:spcBef>
            </a:pPr>
            <a:r>
              <a:rPr sz="2382" i="1" spc="3" dirty="0">
                <a:latin typeface="Times New Roman"/>
                <a:cs typeface="Times New Roman"/>
              </a:rPr>
              <a:t>z</a:t>
            </a:r>
            <a:endParaRPr sz="2382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156" y="1369279"/>
            <a:ext cx="446066" cy="36614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lnSpc>
                <a:spcPts val="1369"/>
              </a:lnSpc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  <a:p>
            <a:pPr marL="6368">
              <a:lnSpc>
                <a:spcPts val="1369"/>
              </a:lnSpc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156" y="1682613"/>
            <a:ext cx="446066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190" y="1510763"/>
            <a:ext cx="0" cy="281458"/>
          </a:xfrm>
          <a:custGeom>
            <a:avLst/>
            <a:gdLst/>
            <a:ahLst/>
            <a:cxnLst/>
            <a:rect l="l" t="t" r="r" b="b"/>
            <a:pathLst>
              <a:path h="561339">
                <a:moveTo>
                  <a:pt x="0" y="561296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0" name="object 10"/>
          <p:cNvSpPr txBox="1"/>
          <p:nvPr/>
        </p:nvSpPr>
        <p:spPr>
          <a:xfrm>
            <a:off x="294655" y="775903"/>
            <a:ext cx="706192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100-</a:t>
            </a:r>
            <a:r>
              <a:rPr sz="903" spc="-25" dirty="0">
                <a:latin typeface="Arial"/>
                <a:cs typeface="Arial"/>
              </a:rPr>
              <a:t>d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random</a:t>
            </a:r>
            <a:r>
              <a:rPr sz="903" spc="60" dirty="0">
                <a:latin typeface="Arial"/>
                <a:cs typeface="Arial"/>
              </a:rPr>
              <a:t> </a:t>
            </a:r>
            <a:r>
              <a:rPr sz="903" spc="-10" dirty="0">
                <a:latin typeface="Arial"/>
                <a:cs typeface="Arial"/>
              </a:rPr>
              <a:t>code</a:t>
            </a:r>
            <a:endParaRPr sz="903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9466" y="1201158"/>
            <a:ext cx="900645" cy="90064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912002" y="775903"/>
            <a:ext cx="898819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spc="-5" dirty="0">
                <a:latin typeface="Arial"/>
                <a:cs typeface="Arial"/>
              </a:rPr>
              <a:t>(64,64,3)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generated</a:t>
            </a:r>
            <a:r>
              <a:rPr sz="903" spc="120" dirty="0">
                <a:latin typeface="Arial"/>
                <a:cs typeface="Arial"/>
              </a:rPr>
              <a:t> </a:t>
            </a:r>
            <a:r>
              <a:rPr sz="903" spc="-5" dirty="0">
                <a:latin typeface="Arial"/>
                <a:cs typeface="Arial"/>
              </a:rPr>
              <a:t>image</a:t>
            </a:r>
            <a:endParaRPr sz="90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28075" y="3452241"/>
            <a:ext cx="126083" cy="461031"/>
            <a:chOff x="8628396" y="6885152"/>
            <a:chExt cx="251460" cy="919480"/>
          </a:xfrm>
        </p:grpSpPr>
        <p:sp>
          <p:nvSpPr>
            <p:cNvPr id="14" name="object 14"/>
            <p:cNvSpPr/>
            <p:nvPr/>
          </p:nvSpPr>
          <p:spPr>
            <a:xfrm>
              <a:off x="8754047" y="7105041"/>
              <a:ext cx="0" cy="699770"/>
            </a:xfrm>
            <a:custGeom>
              <a:avLst/>
              <a:gdLst/>
              <a:ahLst/>
              <a:cxnLst/>
              <a:rect l="l" t="t" r="r" b="b"/>
              <a:pathLst>
                <a:path h="699770">
                  <a:moveTo>
                    <a:pt x="0" y="699142"/>
                  </a:moveTo>
                  <a:lnTo>
                    <a:pt x="0" y="31412"/>
                  </a:lnTo>
                  <a:lnTo>
                    <a:pt x="0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8628396" y="6885152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59">
                  <a:moveTo>
                    <a:pt x="125650" y="0"/>
                  </a:moveTo>
                  <a:lnTo>
                    <a:pt x="0" y="251301"/>
                  </a:lnTo>
                  <a:lnTo>
                    <a:pt x="251301" y="251301"/>
                  </a:lnTo>
                  <a:lnTo>
                    <a:pt x="125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99196" y="2513289"/>
            <a:ext cx="1549611" cy="728469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128">
              <a:latin typeface="Times New Roman"/>
              <a:cs typeface="Times New Roman"/>
            </a:endParaRPr>
          </a:p>
          <a:p>
            <a:pPr marL="141683" marR="104431" indent="-31521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Discriminator</a:t>
            </a:r>
            <a:r>
              <a:rPr sz="1228" b="1" spc="-10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“D”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52894" y="2668905"/>
            <a:ext cx="518341" cy="573104"/>
            <a:chOff x="13663897" y="5322866"/>
            <a:chExt cx="1033780" cy="1143000"/>
          </a:xfrm>
        </p:grpSpPr>
        <p:sp>
          <p:nvSpPr>
            <p:cNvPr id="18" name="object 18"/>
            <p:cNvSpPr/>
            <p:nvPr/>
          </p:nvSpPr>
          <p:spPr>
            <a:xfrm>
              <a:off x="13674368" y="5707342"/>
              <a:ext cx="952500" cy="748030"/>
            </a:xfrm>
            <a:custGeom>
              <a:avLst/>
              <a:gdLst/>
              <a:ahLst/>
              <a:cxnLst/>
              <a:rect l="l" t="t" r="r" b="b"/>
              <a:pathLst>
                <a:path w="952500" h="748029">
                  <a:moveTo>
                    <a:pt x="614464" y="492194"/>
                  </a:moveTo>
                  <a:lnTo>
                    <a:pt x="614464" y="747832"/>
                  </a:lnTo>
                  <a:lnTo>
                    <a:pt x="952141" y="373916"/>
                  </a:lnTo>
                  <a:lnTo>
                    <a:pt x="614464" y="0"/>
                  </a:lnTo>
                  <a:lnTo>
                    <a:pt x="614464" y="255638"/>
                  </a:lnTo>
                  <a:lnTo>
                    <a:pt x="0" y="255638"/>
                  </a:lnTo>
                  <a:lnTo>
                    <a:pt x="0" y="492194"/>
                  </a:lnTo>
                  <a:lnTo>
                    <a:pt x="614464" y="492194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4135299" y="5561602"/>
              <a:ext cx="562610" cy="0"/>
            </a:xfrm>
            <a:custGeom>
              <a:avLst/>
              <a:gdLst/>
              <a:ahLst/>
              <a:cxnLst/>
              <a:rect l="l" t="t" r="r" b="b"/>
              <a:pathLst>
                <a:path w="562609">
                  <a:moveTo>
                    <a:pt x="562074" y="0"/>
                  </a:moveTo>
                  <a:lnTo>
                    <a:pt x="62825" y="0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720660" y="532286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477472" y="0"/>
                  </a:moveTo>
                  <a:lnTo>
                    <a:pt x="0" y="238736"/>
                  </a:lnTo>
                  <a:lnTo>
                    <a:pt x="477472" y="477472"/>
                  </a:lnTo>
                  <a:lnTo>
                    <a:pt x="477472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505365" y="2715372"/>
            <a:ext cx="556548" cy="596029"/>
            <a:chOff x="8981985" y="5415541"/>
            <a:chExt cx="1109980" cy="1188720"/>
          </a:xfrm>
        </p:grpSpPr>
        <p:sp>
          <p:nvSpPr>
            <p:cNvPr id="22" name="object 22"/>
            <p:cNvSpPr/>
            <p:nvPr/>
          </p:nvSpPr>
          <p:spPr>
            <a:xfrm>
              <a:off x="9129219" y="5845588"/>
              <a:ext cx="952500" cy="748030"/>
            </a:xfrm>
            <a:custGeom>
              <a:avLst/>
              <a:gdLst/>
              <a:ahLst/>
              <a:cxnLst/>
              <a:rect l="l" t="t" r="r" b="b"/>
              <a:pathLst>
                <a:path w="952500" h="748029">
                  <a:moveTo>
                    <a:pt x="614464" y="492194"/>
                  </a:moveTo>
                  <a:lnTo>
                    <a:pt x="614464" y="747832"/>
                  </a:lnTo>
                  <a:lnTo>
                    <a:pt x="952141" y="373916"/>
                  </a:lnTo>
                  <a:lnTo>
                    <a:pt x="614464" y="0"/>
                  </a:lnTo>
                  <a:lnTo>
                    <a:pt x="614464" y="255638"/>
                  </a:lnTo>
                  <a:lnTo>
                    <a:pt x="0" y="255638"/>
                  </a:lnTo>
                  <a:lnTo>
                    <a:pt x="0" y="492194"/>
                  </a:lnTo>
                  <a:lnTo>
                    <a:pt x="614464" y="492194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3" name="object 23"/>
            <p:cNvSpPr/>
            <p:nvPr/>
          </p:nvSpPr>
          <p:spPr>
            <a:xfrm>
              <a:off x="9396632" y="5654278"/>
              <a:ext cx="562610" cy="0"/>
            </a:xfrm>
            <a:custGeom>
              <a:avLst/>
              <a:gdLst/>
              <a:ahLst/>
              <a:cxnLst/>
              <a:rect l="l" t="t" r="r" b="b"/>
              <a:pathLst>
                <a:path w="562609">
                  <a:moveTo>
                    <a:pt x="562074" y="0"/>
                  </a:moveTo>
                  <a:lnTo>
                    <a:pt x="62825" y="0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4" name="object 24"/>
            <p:cNvSpPr/>
            <p:nvPr/>
          </p:nvSpPr>
          <p:spPr>
            <a:xfrm>
              <a:off x="8981985" y="5415541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477472" y="0"/>
                  </a:moveTo>
                  <a:lnTo>
                    <a:pt x="0" y="238736"/>
                  </a:lnTo>
                  <a:lnTo>
                    <a:pt x="477472" y="477472"/>
                  </a:lnTo>
                  <a:lnTo>
                    <a:pt x="477472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318366" y="2248516"/>
            <a:ext cx="126083" cy="461031"/>
            <a:chOff x="8609034" y="4484443"/>
            <a:chExt cx="251460" cy="919480"/>
          </a:xfrm>
        </p:grpSpPr>
        <p:sp>
          <p:nvSpPr>
            <p:cNvPr id="26" name="object 26"/>
            <p:cNvSpPr/>
            <p:nvPr/>
          </p:nvSpPr>
          <p:spPr>
            <a:xfrm>
              <a:off x="8734685" y="4484443"/>
              <a:ext cx="0" cy="699770"/>
            </a:xfrm>
            <a:custGeom>
              <a:avLst/>
              <a:gdLst/>
              <a:ahLst/>
              <a:cxnLst/>
              <a:rect l="l" t="t" r="r" b="b"/>
              <a:pathLst>
                <a:path h="699770">
                  <a:moveTo>
                    <a:pt x="0" y="0"/>
                  </a:moveTo>
                  <a:lnTo>
                    <a:pt x="0" y="667730"/>
                  </a:lnTo>
                  <a:lnTo>
                    <a:pt x="0" y="699143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7" name="object 27"/>
            <p:cNvSpPr/>
            <p:nvPr/>
          </p:nvSpPr>
          <p:spPr>
            <a:xfrm>
              <a:off x="8609034" y="5152174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251301" y="0"/>
                  </a:moveTo>
                  <a:lnTo>
                    <a:pt x="0" y="0"/>
                  </a:lnTo>
                  <a:lnTo>
                    <a:pt x="125650" y="251301"/>
                  </a:lnTo>
                  <a:lnTo>
                    <a:pt x="2513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315191" y="2846853"/>
            <a:ext cx="147415" cy="373969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2382" i="1" spc="3" dirty="0">
                <a:latin typeface="Times New Roman"/>
                <a:cs typeface="Times New Roman"/>
              </a:rPr>
              <a:t>x</a:t>
            </a:r>
            <a:endParaRPr sz="2382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73747" y="2136862"/>
            <a:ext cx="846921" cy="683268"/>
            <a:chOff x="6725085" y="4261760"/>
            <a:chExt cx="1689100" cy="1362710"/>
          </a:xfrm>
        </p:grpSpPr>
        <p:sp>
          <p:nvSpPr>
            <p:cNvPr id="30" name="object 30"/>
            <p:cNvSpPr/>
            <p:nvPr/>
          </p:nvSpPr>
          <p:spPr>
            <a:xfrm>
              <a:off x="7048940" y="4520700"/>
              <a:ext cx="1302385" cy="1041400"/>
            </a:xfrm>
            <a:custGeom>
              <a:avLst/>
              <a:gdLst/>
              <a:ahLst/>
              <a:cxnLst/>
              <a:rect l="l" t="t" r="r" b="b"/>
              <a:pathLst>
                <a:path w="1302384" h="1041400">
                  <a:moveTo>
                    <a:pt x="1301855" y="1040901"/>
                  </a:moveTo>
                  <a:lnTo>
                    <a:pt x="49069" y="39233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1" name="object 31"/>
            <p:cNvSpPr/>
            <p:nvPr/>
          </p:nvSpPr>
          <p:spPr>
            <a:xfrm>
              <a:off x="6725085" y="4261760"/>
              <a:ext cx="522605" cy="485140"/>
            </a:xfrm>
            <a:custGeom>
              <a:avLst/>
              <a:gdLst/>
              <a:ahLst/>
              <a:cxnLst/>
              <a:rect l="l" t="t" r="r" b="b"/>
              <a:pathLst>
                <a:path w="522604" h="485139">
                  <a:moveTo>
                    <a:pt x="0" y="0"/>
                  </a:moveTo>
                  <a:lnTo>
                    <a:pt x="223838" y="484635"/>
                  </a:lnTo>
                  <a:lnTo>
                    <a:pt x="522011" y="111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526603" y="2933769"/>
            <a:ext cx="129903" cy="2931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855" spc="3" dirty="0">
                <a:latin typeface="Symbol"/>
                <a:cs typeface="Symbol"/>
              </a:rPr>
              <a:t>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07500" y="2695049"/>
            <a:ext cx="2024014" cy="293243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25471">
              <a:spcBef>
                <a:spcPts val="60"/>
              </a:spcBef>
              <a:tabLst>
                <a:tab pos="781645" algn="l"/>
                <a:tab pos="1195551" algn="l"/>
              </a:tabLst>
            </a:pPr>
            <a:r>
              <a:rPr sz="2783" spc="-692" baseline="16516" dirty="0">
                <a:latin typeface="Symbol"/>
                <a:cs typeface="Symbol"/>
              </a:rPr>
              <a:t></a:t>
            </a:r>
            <a:r>
              <a:rPr sz="2783" spc="-692" baseline="-13513" dirty="0">
                <a:latin typeface="Symbol"/>
                <a:cs typeface="Symbol"/>
              </a:rPr>
              <a:t></a:t>
            </a:r>
            <a:r>
              <a:rPr sz="2783" spc="-346" baseline="-13513" dirty="0">
                <a:latin typeface="Times New Roman"/>
                <a:cs typeface="Times New Roman"/>
              </a:rPr>
              <a:t> </a:t>
            </a:r>
            <a:r>
              <a:rPr sz="1855" i="1" dirty="0">
                <a:latin typeface="Times New Roman"/>
                <a:cs typeface="Times New Roman"/>
              </a:rPr>
              <a:t>y</a:t>
            </a:r>
            <a:r>
              <a:rPr sz="1855" i="1" spc="-13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53" dirty="0">
                <a:latin typeface="Times New Roman"/>
                <a:cs typeface="Times New Roman"/>
              </a:rPr>
              <a:t> </a:t>
            </a:r>
            <a:r>
              <a:rPr sz="1855" spc="-25" dirty="0">
                <a:latin typeface="Times New Roman"/>
                <a:cs typeface="Times New Roman"/>
              </a:rPr>
              <a:t>0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1855" i="1" spc="-13" dirty="0">
                <a:latin typeface="Times New Roman"/>
                <a:cs typeface="Times New Roman"/>
              </a:rPr>
              <a:t>if</a:t>
            </a:r>
            <a:r>
              <a:rPr sz="1855" i="1" dirty="0">
                <a:latin typeface="Times New Roman"/>
                <a:cs typeface="Times New Roman"/>
              </a:rPr>
              <a:t>	x</a:t>
            </a:r>
            <a:r>
              <a:rPr sz="1855" i="1" spc="-15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55" dirty="0">
                <a:latin typeface="Times New Roman"/>
                <a:cs typeface="Times New Roman"/>
              </a:rPr>
              <a:t> </a:t>
            </a:r>
            <a:r>
              <a:rPr sz="1855" i="1" spc="75" dirty="0">
                <a:latin typeface="Times New Roman"/>
                <a:cs typeface="Times New Roman"/>
              </a:rPr>
              <a:t>G</a:t>
            </a:r>
            <a:r>
              <a:rPr sz="1855" spc="75" dirty="0">
                <a:latin typeface="Times New Roman"/>
                <a:cs typeface="Times New Roman"/>
              </a:rPr>
              <a:t>(</a:t>
            </a:r>
            <a:r>
              <a:rPr sz="1855" i="1" spc="75" dirty="0">
                <a:latin typeface="Times New Roman"/>
                <a:cs typeface="Times New Roman"/>
              </a:rPr>
              <a:t>z</a:t>
            </a:r>
            <a:r>
              <a:rPr sz="1855" spc="75" dirty="0">
                <a:latin typeface="Times New Roman"/>
                <a:cs typeface="Times New Roman"/>
              </a:rPr>
              <a:t>)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13867" y="3177424"/>
            <a:ext cx="2183210" cy="771707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  <a:tabLst>
                <a:tab pos="740573" algn="l"/>
              </a:tabLst>
            </a:pPr>
            <a:r>
              <a:rPr sz="2783" spc="-692" baseline="3003" dirty="0">
                <a:latin typeface="Symbol"/>
                <a:cs typeface="Symbol"/>
              </a:rPr>
              <a:t></a:t>
            </a:r>
            <a:r>
              <a:rPr sz="2783" spc="-692" baseline="-15015" dirty="0">
                <a:latin typeface="Symbol"/>
                <a:cs typeface="Symbol"/>
              </a:rPr>
              <a:t></a:t>
            </a:r>
            <a:r>
              <a:rPr sz="2783" spc="-346" baseline="-15015" dirty="0">
                <a:latin typeface="Times New Roman"/>
                <a:cs typeface="Times New Roman"/>
              </a:rPr>
              <a:t> </a:t>
            </a:r>
            <a:r>
              <a:rPr sz="1855" i="1" dirty="0">
                <a:latin typeface="Times New Roman"/>
                <a:cs typeface="Times New Roman"/>
              </a:rPr>
              <a:t>y</a:t>
            </a:r>
            <a:r>
              <a:rPr sz="1855" i="1" spc="-13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170" dirty="0">
                <a:latin typeface="Times New Roman"/>
                <a:cs typeface="Times New Roman"/>
              </a:rPr>
              <a:t> </a:t>
            </a:r>
            <a:r>
              <a:rPr sz="1855" spc="-25" dirty="0">
                <a:latin typeface="Times New Roman"/>
                <a:cs typeface="Times New Roman"/>
              </a:rPr>
              <a:t>1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1855" i="1" spc="-5" dirty="0">
                <a:latin typeface="Times New Roman"/>
                <a:cs typeface="Times New Roman"/>
              </a:rPr>
              <a:t>otherwise</a:t>
            </a:r>
            <a:endParaRPr sz="1855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2457">
              <a:latin typeface="Times New Roman"/>
              <a:cs typeface="Times New Roman"/>
            </a:endParaRPr>
          </a:p>
          <a:p>
            <a:pPr marL="1197779"/>
            <a:r>
              <a:rPr sz="652" b="1" dirty="0">
                <a:latin typeface="Arial"/>
                <a:cs typeface="Arial"/>
              </a:rPr>
              <a:t>Probability</a:t>
            </a:r>
            <a:r>
              <a:rPr sz="652" b="1" spc="28" dirty="0">
                <a:latin typeface="Arial"/>
                <a:cs typeface="Arial"/>
              </a:rPr>
              <a:t> </a:t>
            </a:r>
            <a:r>
              <a:rPr sz="652" b="1" spc="-5" dirty="0">
                <a:latin typeface="Arial"/>
                <a:cs typeface="Arial"/>
              </a:rPr>
              <a:t>distributions</a:t>
            </a:r>
            <a:endParaRPr sz="652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60108" y="2366696"/>
            <a:ext cx="1182505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dirty="0">
                <a:latin typeface="Arial"/>
                <a:cs typeface="Arial"/>
              </a:rPr>
              <a:t>Binary</a:t>
            </a:r>
            <a:r>
              <a:rPr sz="1028" spc="18" dirty="0">
                <a:latin typeface="Arial"/>
                <a:cs typeface="Arial"/>
              </a:rPr>
              <a:t> </a:t>
            </a:r>
            <a:r>
              <a:rPr sz="1028" spc="-5" dirty="0">
                <a:latin typeface="Arial"/>
                <a:cs typeface="Arial"/>
              </a:rPr>
              <a:t>classification</a:t>
            </a:r>
            <a:endParaRPr sz="1028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04581" y="2398197"/>
            <a:ext cx="55209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b="1" spc="-5" dirty="0">
                <a:solidFill>
                  <a:srgbClr val="C82506"/>
                </a:solidFill>
                <a:latin typeface="Arial"/>
                <a:cs typeface="Arial"/>
              </a:rPr>
              <a:t>Gradients</a:t>
            </a:r>
            <a:endParaRPr sz="90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06808" y="1090911"/>
            <a:ext cx="3467600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88675" marR="2547" indent="-682626">
              <a:lnSpc>
                <a:spcPct val="100400"/>
              </a:lnSpc>
              <a:spcBef>
                <a:spcPts val="63"/>
              </a:spcBef>
            </a:pP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Run</a:t>
            </a:r>
            <a:r>
              <a:rPr sz="1304" spc="1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spc="25" dirty="0">
                <a:solidFill>
                  <a:srgbClr val="C82506"/>
                </a:solidFill>
                <a:latin typeface="Arial"/>
                <a:cs typeface="Arial"/>
              </a:rPr>
              <a:t>Adam</a:t>
            </a:r>
            <a:r>
              <a:rPr sz="1304" spc="2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simultaneously</a:t>
            </a:r>
            <a:r>
              <a:rPr sz="1304" spc="2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on</a:t>
            </a:r>
            <a:r>
              <a:rPr sz="1304" spc="2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two</a:t>
            </a:r>
            <a:r>
              <a:rPr sz="1304" spc="2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spc="-5" dirty="0">
                <a:solidFill>
                  <a:srgbClr val="C82506"/>
                </a:solidFill>
                <a:latin typeface="Arial"/>
                <a:cs typeface="Arial"/>
              </a:rPr>
              <a:t>minibatches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(true</a:t>
            </a:r>
            <a:r>
              <a:rPr sz="1304" spc="5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spc="25" dirty="0">
                <a:solidFill>
                  <a:srgbClr val="C82506"/>
                </a:solidFill>
                <a:latin typeface="Arial"/>
                <a:cs typeface="Arial"/>
              </a:rPr>
              <a:t>data</a:t>
            </a:r>
            <a:r>
              <a:rPr sz="1304" spc="57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/</a:t>
            </a:r>
            <a:r>
              <a:rPr sz="1304" spc="57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dirty="0">
                <a:solidFill>
                  <a:srgbClr val="C82506"/>
                </a:solidFill>
                <a:latin typeface="Arial"/>
                <a:cs typeface="Arial"/>
              </a:rPr>
              <a:t>generated</a:t>
            </a:r>
            <a:r>
              <a:rPr sz="1304" spc="5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304" spc="-5" dirty="0">
                <a:solidFill>
                  <a:srgbClr val="C82506"/>
                </a:solidFill>
                <a:latin typeface="Arial"/>
                <a:cs typeface="Arial"/>
              </a:rPr>
              <a:t>data)</a:t>
            </a:r>
            <a:endParaRPr sz="1304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8143334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982987">
              <a:lnSpc>
                <a:spcPct val="100000"/>
              </a:lnSpc>
              <a:spcBef>
                <a:spcPts val="57"/>
              </a:spcBef>
            </a:pPr>
            <a:r>
              <a:rPr dirty="0"/>
              <a:t>II.B</a:t>
            </a:r>
            <a:r>
              <a:rPr spc="-8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G/D </a:t>
            </a:r>
            <a:r>
              <a:rPr spc="-10" dirty="0"/>
              <a:t>Game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8358646" y="4133058"/>
            <a:ext cx="1508220" cy="1160855"/>
            <a:chOff x="16666970" y="8242975"/>
            <a:chExt cx="3007995" cy="2315210"/>
          </a:xfrm>
        </p:grpSpPr>
        <p:sp>
          <p:nvSpPr>
            <p:cNvPr id="41" name="object 41"/>
            <p:cNvSpPr/>
            <p:nvPr/>
          </p:nvSpPr>
          <p:spPr>
            <a:xfrm>
              <a:off x="17106338" y="9007574"/>
              <a:ext cx="2023110" cy="1077595"/>
            </a:xfrm>
            <a:custGeom>
              <a:avLst/>
              <a:gdLst/>
              <a:ahLst/>
              <a:cxnLst/>
              <a:rect l="l" t="t" r="r" b="b"/>
              <a:pathLst>
                <a:path w="2023109" h="1077595">
                  <a:moveTo>
                    <a:pt x="0" y="0"/>
                  </a:moveTo>
                  <a:lnTo>
                    <a:pt x="45015" y="15336"/>
                  </a:lnTo>
                  <a:lnTo>
                    <a:pt x="90028" y="31064"/>
                  </a:lnTo>
                  <a:lnTo>
                    <a:pt x="135038" y="47183"/>
                  </a:lnTo>
                  <a:lnTo>
                    <a:pt x="180046" y="63693"/>
                  </a:lnTo>
                  <a:lnTo>
                    <a:pt x="225050" y="80595"/>
                  </a:lnTo>
                  <a:lnTo>
                    <a:pt x="270051" y="97888"/>
                  </a:lnTo>
                  <a:lnTo>
                    <a:pt x="315050" y="115572"/>
                  </a:lnTo>
                  <a:lnTo>
                    <a:pt x="360045" y="133647"/>
                  </a:lnTo>
                  <a:lnTo>
                    <a:pt x="405038" y="152114"/>
                  </a:lnTo>
                  <a:lnTo>
                    <a:pt x="450028" y="170972"/>
                  </a:lnTo>
                  <a:lnTo>
                    <a:pt x="495015" y="190221"/>
                  </a:lnTo>
                  <a:lnTo>
                    <a:pt x="539999" y="209862"/>
                  </a:lnTo>
                  <a:lnTo>
                    <a:pt x="584980" y="229893"/>
                  </a:lnTo>
                  <a:lnTo>
                    <a:pt x="629959" y="250316"/>
                  </a:lnTo>
                  <a:lnTo>
                    <a:pt x="674934" y="271131"/>
                  </a:lnTo>
                  <a:lnTo>
                    <a:pt x="719907" y="292336"/>
                  </a:lnTo>
                  <a:lnTo>
                    <a:pt x="764876" y="313933"/>
                  </a:lnTo>
                  <a:lnTo>
                    <a:pt x="809843" y="335921"/>
                  </a:lnTo>
                  <a:lnTo>
                    <a:pt x="854807" y="358300"/>
                  </a:lnTo>
                  <a:lnTo>
                    <a:pt x="899768" y="381071"/>
                  </a:lnTo>
                  <a:lnTo>
                    <a:pt x="944726" y="404233"/>
                  </a:lnTo>
                  <a:lnTo>
                    <a:pt x="989681" y="427786"/>
                  </a:lnTo>
                  <a:lnTo>
                    <a:pt x="1034633" y="451730"/>
                  </a:lnTo>
                  <a:lnTo>
                    <a:pt x="1079583" y="476066"/>
                  </a:lnTo>
                  <a:lnTo>
                    <a:pt x="1124529" y="500793"/>
                  </a:lnTo>
                  <a:lnTo>
                    <a:pt x="1169473" y="525911"/>
                  </a:lnTo>
                  <a:lnTo>
                    <a:pt x="1214414" y="551420"/>
                  </a:lnTo>
                  <a:lnTo>
                    <a:pt x="1259351" y="577321"/>
                  </a:lnTo>
                  <a:lnTo>
                    <a:pt x="1304286" y="603613"/>
                  </a:lnTo>
                  <a:lnTo>
                    <a:pt x="1349218" y="630296"/>
                  </a:lnTo>
                  <a:lnTo>
                    <a:pt x="1394147" y="657370"/>
                  </a:lnTo>
                  <a:lnTo>
                    <a:pt x="1439074" y="684836"/>
                  </a:lnTo>
                  <a:lnTo>
                    <a:pt x="1483997" y="712693"/>
                  </a:lnTo>
                  <a:lnTo>
                    <a:pt x="1528918" y="740941"/>
                  </a:lnTo>
                  <a:lnTo>
                    <a:pt x="1573835" y="769581"/>
                  </a:lnTo>
                  <a:lnTo>
                    <a:pt x="1618750" y="798612"/>
                  </a:lnTo>
                  <a:lnTo>
                    <a:pt x="1663662" y="828034"/>
                  </a:lnTo>
                  <a:lnTo>
                    <a:pt x="1708571" y="857847"/>
                  </a:lnTo>
                  <a:lnTo>
                    <a:pt x="1753477" y="888052"/>
                  </a:lnTo>
                  <a:lnTo>
                    <a:pt x="1798380" y="918647"/>
                  </a:lnTo>
                  <a:lnTo>
                    <a:pt x="1843280" y="949634"/>
                  </a:lnTo>
                  <a:lnTo>
                    <a:pt x="1888177" y="981013"/>
                  </a:lnTo>
                  <a:lnTo>
                    <a:pt x="1933072" y="1012782"/>
                  </a:lnTo>
                  <a:lnTo>
                    <a:pt x="1977963" y="1044943"/>
                  </a:lnTo>
                  <a:lnTo>
                    <a:pt x="2022852" y="1077495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2" name="object 42"/>
            <p:cNvSpPr/>
            <p:nvPr/>
          </p:nvSpPr>
          <p:spPr>
            <a:xfrm>
              <a:off x="16687925" y="8988704"/>
              <a:ext cx="671195" cy="1150620"/>
            </a:xfrm>
            <a:custGeom>
              <a:avLst/>
              <a:gdLst/>
              <a:ahLst/>
              <a:cxnLst/>
              <a:rect l="l" t="t" r="r" b="b"/>
              <a:pathLst>
                <a:path w="671194" h="1150620">
                  <a:moveTo>
                    <a:pt x="437170" y="0"/>
                  </a:moveTo>
                  <a:lnTo>
                    <a:pt x="389597" y="27151"/>
                  </a:lnTo>
                  <a:lnTo>
                    <a:pt x="344763" y="54384"/>
                  </a:lnTo>
                  <a:lnTo>
                    <a:pt x="302669" y="81701"/>
                  </a:lnTo>
                  <a:lnTo>
                    <a:pt x="263315" y="109099"/>
                  </a:lnTo>
                  <a:lnTo>
                    <a:pt x="226699" y="136581"/>
                  </a:lnTo>
                  <a:lnTo>
                    <a:pt x="192824" y="164145"/>
                  </a:lnTo>
                  <a:lnTo>
                    <a:pt x="161688" y="191791"/>
                  </a:lnTo>
                  <a:lnTo>
                    <a:pt x="133291" y="219520"/>
                  </a:lnTo>
                  <a:lnTo>
                    <a:pt x="84717" y="275226"/>
                  </a:lnTo>
                  <a:lnTo>
                    <a:pt x="47101" y="331262"/>
                  </a:lnTo>
                  <a:lnTo>
                    <a:pt x="20442" y="387629"/>
                  </a:lnTo>
                  <a:lnTo>
                    <a:pt x="4742" y="444325"/>
                  </a:lnTo>
                  <a:lnTo>
                    <a:pt x="0" y="501352"/>
                  </a:lnTo>
                  <a:lnTo>
                    <a:pt x="1738" y="529990"/>
                  </a:lnTo>
                  <a:lnTo>
                    <a:pt x="13432" y="587512"/>
                  </a:lnTo>
                  <a:lnTo>
                    <a:pt x="36085" y="645364"/>
                  </a:lnTo>
                  <a:lnTo>
                    <a:pt x="69696" y="703547"/>
                  </a:lnTo>
                  <a:lnTo>
                    <a:pt x="114265" y="762060"/>
                  </a:lnTo>
                  <a:lnTo>
                    <a:pt x="140658" y="791440"/>
                  </a:lnTo>
                  <a:lnTo>
                    <a:pt x="169792" y="820903"/>
                  </a:lnTo>
                  <a:lnTo>
                    <a:pt x="201664" y="850449"/>
                  </a:lnTo>
                  <a:lnTo>
                    <a:pt x="236276" y="880077"/>
                  </a:lnTo>
                  <a:lnTo>
                    <a:pt x="273628" y="909787"/>
                  </a:lnTo>
                  <a:lnTo>
                    <a:pt x="313719" y="939580"/>
                  </a:lnTo>
                  <a:lnTo>
                    <a:pt x="356550" y="969456"/>
                  </a:lnTo>
                  <a:lnTo>
                    <a:pt x="402120" y="999414"/>
                  </a:lnTo>
                  <a:lnTo>
                    <a:pt x="450430" y="1029455"/>
                  </a:lnTo>
                  <a:lnTo>
                    <a:pt x="501479" y="1059579"/>
                  </a:lnTo>
                  <a:lnTo>
                    <a:pt x="555268" y="1089784"/>
                  </a:lnTo>
                  <a:lnTo>
                    <a:pt x="611796" y="1120073"/>
                  </a:lnTo>
                  <a:lnTo>
                    <a:pt x="671064" y="1150444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3" name="object 43"/>
            <p:cNvSpPr/>
            <p:nvPr/>
          </p:nvSpPr>
          <p:spPr>
            <a:xfrm>
              <a:off x="17370843" y="9785495"/>
              <a:ext cx="656590" cy="751840"/>
            </a:xfrm>
            <a:custGeom>
              <a:avLst/>
              <a:gdLst/>
              <a:ahLst/>
              <a:cxnLst/>
              <a:rect l="l" t="t" r="r" b="b"/>
              <a:pathLst>
                <a:path w="656590" h="751840">
                  <a:moveTo>
                    <a:pt x="409908" y="0"/>
                  </a:moveTo>
                  <a:lnTo>
                    <a:pt x="440534" y="61790"/>
                  </a:lnTo>
                  <a:lnTo>
                    <a:pt x="469128" y="120930"/>
                  </a:lnTo>
                  <a:lnTo>
                    <a:pt x="495691" y="177419"/>
                  </a:lnTo>
                  <a:lnTo>
                    <a:pt x="520223" y="231256"/>
                  </a:lnTo>
                  <a:lnTo>
                    <a:pt x="542724" y="282443"/>
                  </a:lnTo>
                  <a:lnTo>
                    <a:pt x="563194" y="330978"/>
                  </a:lnTo>
                  <a:lnTo>
                    <a:pt x="581632" y="376863"/>
                  </a:lnTo>
                  <a:lnTo>
                    <a:pt x="598040" y="420097"/>
                  </a:lnTo>
                  <a:lnTo>
                    <a:pt x="612416" y="460679"/>
                  </a:lnTo>
                  <a:lnTo>
                    <a:pt x="624761" y="498611"/>
                  </a:lnTo>
                  <a:lnTo>
                    <a:pt x="643357" y="566521"/>
                  </a:lnTo>
                  <a:lnTo>
                    <a:pt x="653829" y="623827"/>
                  </a:lnTo>
                  <a:lnTo>
                    <a:pt x="656177" y="670528"/>
                  </a:lnTo>
                  <a:lnTo>
                    <a:pt x="654303" y="689903"/>
                  </a:lnTo>
                  <a:lnTo>
                    <a:pt x="636497" y="732120"/>
                  </a:lnTo>
                  <a:lnTo>
                    <a:pt x="600410" y="750478"/>
                  </a:lnTo>
                  <a:lnTo>
                    <a:pt x="584319" y="751295"/>
                  </a:lnTo>
                  <a:lnTo>
                    <a:pt x="566197" y="749461"/>
                  </a:lnTo>
                  <a:lnTo>
                    <a:pt x="523858" y="737840"/>
                  </a:lnTo>
                  <a:lnTo>
                    <a:pt x="473395" y="715616"/>
                  </a:lnTo>
                  <a:lnTo>
                    <a:pt x="414808" y="682787"/>
                  </a:lnTo>
                  <a:lnTo>
                    <a:pt x="382467" y="662396"/>
                  </a:lnTo>
                  <a:lnTo>
                    <a:pt x="348095" y="639354"/>
                  </a:lnTo>
                  <a:lnTo>
                    <a:pt x="311692" y="613661"/>
                  </a:lnTo>
                  <a:lnTo>
                    <a:pt x="273258" y="585317"/>
                  </a:lnTo>
                  <a:lnTo>
                    <a:pt x="232793" y="554322"/>
                  </a:lnTo>
                  <a:lnTo>
                    <a:pt x="190297" y="520676"/>
                  </a:lnTo>
                  <a:lnTo>
                    <a:pt x="145769" y="484379"/>
                  </a:lnTo>
                  <a:lnTo>
                    <a:pt x="99210" y="445431"/>
                  </a:lnTo>
                  <a:lnTo>
                    <a:pt x="50621" y="403831"/>
                  </a:lnTo>
                  <a:lnTo>
                    <a:pt x="0" y="359581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4" name="object 44"/>
            <p:cNvSpPr/>
            <p:nvPr/>
          </p:nvSpPr>
          <p:spPr>
            <a:xfrm>
              <a:off x="17780956" y="9781066"/>
              <a:ext cx="1313180" cy="481330"/>
            </a:xfrm>
            <a:custGeom>
              <a:avLst/>
              <a:gdLst/>
              <a:ahLst/>
              <a:cxnLst/>
              <a:rect l="l" t="t" r="r" b="b"/>
              <a:pathLst>
                <a:path w="1313180" h="481329">
                  <a:moveTo>
                    <a:pt x="1313172" y="304122"/>
                  </a:moveTo>
                  <a:lnTo>
                    <a:pt x="1273387" y="331430"/>
                  </a:lnTo>
                  <a:lnTo>
                    <a:pt x="1233600" y="356455"/>
                  </a:lnTo>
                  <a:lnTo>
                    <a:pt x="1193814" y="379197"/>
                  </a:lnTo>
                  <a:lnTo>
                    <a:pt x="1154027" y="399656"/>
                  </a:lnTo>
                  <a:lnTo>
                    <a:pt x="1114240" y="417833"/>
                  </a:lnTo>
                  <a:lnTo>
                    <a:pt x="1074452" y="433727"/>
                  </a:lnTo>
                  <a:lnTo>
                    <a:pt x="1034663" y="447339"/>
                  </a:lnTo>
                  <a:lnTo>
                    <a:pt x="994874" y="458667"/>
                  </a:lnTo>
                  <a:lnTo>
                    <a:pt x="955085" y="467713"/>
                  </a:lnTo>
                  <a:lnTo>
                    <a:pt x="915295" y="474476"/>
                  </a:lnTo>
                  <a:lnTo>
                    <a:pt x="875505" y="478957"/>
                  </a:lnTo>
                  <a:lnTo>
                    <a:pt x="835714" y="481154"/>
                  </a:lnTo>
                  <a:lnTo>
                    <a:pt x="795923" y="481069"/>
                  </a:lnTo>
                  <a:lnTo>
                    <a:pt x="756131" y="478702"/>
                  </a:lnTo>
                  <a:lnTo>
                    <a:pt x="716339" y="474051"/>
                  </a:lnTo>
                  <a:lnTo>
                    <a:pt x="676546" y="467118"/>
                  </a:lnTo>
                  <a:lnTo>
                    <a:pt x="636753" y="457902"/>
                  </a:lnTo>
                  <a:lnTo>
                    <a:pt x="596960" y="446404"/>
                  </a:lnTo>
                  <a:lnTo>
                    <a:pt x="557166" y="432622"/>
                  </a:lnTo>
                  <a:lnTo>
                    <a:pt x="517371" y="416558"/>
                  </a:lnTo>
                  <a:lnTo>
                    <a:pt x="477576" y="398212"/>
                  </a:lnTo>
                  <a:lnTo>
                    <a:pt x="437781" y="377582"/>
                  </a:lnTo>
                  <a:lnTo>
                    <a:pt x="397985" y="354670"/>
                  </a:lnTo>
                  <a:lnTo>
                    <a:pt x="358188" y="329475"/>
                  </a:lnTo>
                  <a:lnTo>
                    <a:pt x="318391" y="301998"/>
                  </a:lnTo>
                  <a:lnTo>
                    <a:pt x="278594" y="272237"/>
                  </a:lnTo>
                  <a:lnTo>
                    <a:pt x="238796" y="240194"/>
                  </a:lnTo>
                  <a:lnTo>
                    <a:pt x="198998" y="205869"/>
                  </a:lnTo>
                  <a:lnTo>
                    <a:pt x="159199" y="169260"/>
                  </a:lnTo>
                  <a:lnTo>
                    <a:pt x="119400" y="130369"/>
                  </a:lnTo>
                  <a:lnTo>
                    <a:pt x="79600" y="89195"/>
                  </a:lnTo>
                  <a:lnTo>
                    <a:pt x="39800" y="45739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5" name="object 45"/>
            <p:cNvSpPr/>
            <p:nvPr/>
          </p:nvSpPr>
          <p:spPr>
            <a:xfrm>
              <a:off x="16713606" y="8270763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6" name="object 46"/>
            <p:cNvSpPr/>
            <p:nvPr/>
          </p:nvSpPr>
          <p:spPr>
            <a:xfrm>
              <a:off x="17680844" y="8269328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59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7" name="object 47"/>
            <p:cNvSpPr/>
            <p:nvPr/>
          </p:nvSpPr>
          <p:spPr>
            <a:xfrm>
              <a:off x="18572419" y="8755378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8" name="object 48"/>
            <p:cNvSpPr/>
            <p:nvPr/>
          </p:nvSpPr>
          <p:spPr>
            <a:xfrm>
              <a:off x="16844474" y="8913608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9" name="object 49"/>
            <p:cNvSpPr/>
            <p:nvPr/>
          </p:nvSpPr>
          <p:spPr>
            <a:xfrm>
              <a:off x="17365377" y="9084066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286228" y="9085117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1" name="object 51"/>
            <p:cNvSpPr/>
            <p:nvPr/>
          </p:nvSpPr>
          <p:spPr>
            <a:xfrm>
              <a:off x="16726077" y="8624224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340390" y="4005785"/>
            <a:ext cx="1644810" cy="1401025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spcBef>
                <a:spcPts val="8"/>
              </a:spcBef>
            </a:pPr>
            <a:endParaRPr sz="627">
              <a:latin typeface="Times New Roman"/>
              <a:cs typeface="Times New Roman"/>
            </a:endParaRPr>
          </a:p>
          <a:p>
            <a:pPr marR="34386" algn="r">
              <a:spcBef>
                <a:spcPts val="3"/>
              </a:spcBef>
            </a:pPr>
            <a:r>
              <a:rPr sz="652" dirty="0">
                <a:latin typeface="Arial"/>
                <a:cs typeface="Arial"/>
              </a:rPr>
              <a:t>Image</a:t>
            </a:r>
            <a:r>
              <a:rPr sz="652" spc="55" dirty="0">
                <a:latin typeface="Arial"/>
                <a:cs typeface="Arial"/>
              </a:rPr>
              <a:t> </a:t>
            </a:r>
            <a:r>
              <a:rPr sz="652" spc="-10" dirty="0">
                <a:latin typeface="Arial"/>
                <a:cs typeface="Arial"/>
              </a:rPr>
              <a:t>space</a:t>
            </a:r>
            <a:endParaRPr sz="652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413955" y="4133040"/>
            <a:ext cx="1497713" cy="997202"/>
            <a:chOff x="16777279" y="8242938"/>
            <a:chExt cx="2987040" cy="1988820"/>
          </a:xfrm>
        </p:grpSpPr>
        <p:sp>
          <p:nvSpPr>
            <p:cNvPr id="54" name="object 54"/>
            <p:cNvSpPr/>
            <p:nvPr/>
          </p:nvSpPr>
          <p:spPr>
            <a:xfrm>
              <a:off x="16803457" y="8270552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5" name="object 55"/>
            <p:cNvSpPr/>
            <p:nvPr/>
          </p:nvSpPr>
          <p:spPr>
            <a:xfrm>
              <a:off x="17770694" y="8269115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59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6" name="object 56"/>
            <p:cNvSpPr/>
            <p:nvPr/>
          </p:nvSpPr>
          <p:spPr>
            <a:xfrm>
              <a:off x="18662280" y="8755167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7" name="object 57"/>
            <p:cNvSpPr/>
            <p:nvPr/>
          </p:nvSpPr>
          <p:spPr>
            <a:xfrm>
              <a:off x="16934335" y="8913396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8" name="object 58"/>
            <p:cNvSpPr/>
            <p:nvPr/>
          </p:nvSpPr>
          <p:spPr>
            <a:xfrm>
              <a:off x="17455238" y="9083854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9" name="object 59"/>
            <p:cNvSpPr/>
            <p:nvPr/>
          </p:nvSpPr>
          <p:spPr>
            <a:xfrm>
              <a:off x="18376089" y="9084905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0" name="object 60"/>
            <p:cNvSpPr/>
            <p:nvPr/>
          </p:nvSpPr>
          <p:spPr>
            <a:xfrm>
              <a:off x="16815927" y="8624011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347876" y="4022231"/>
            <a:ext cx="1549611" cy="755591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1304">
              <a:latin typeface="Times New Roman"/>
              <a:cs typeface="Times New Roman"/>
            </a:endParaRPr>
          </a:p>
          <a:p>
            <a:pPr marL="381112" marR="312658" indent="-68454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Real</a:t>
            </a:r>
            <a:r>
              <a:rPr sz="1228" b="1" spc="-5" dirty="0">
                <a:latin typeface="Arial"/>
                <a:cs typeface="Arial"/>
              </a:rPr>
              <a:t> images (database)</a:t>
            </a:r>
            <a:endParaRPr sz="1228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132487" y="4397510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0345" y="4037695"/>
            <a:ext cx="1001478" cy="9777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369" y="128516"/>
            <a:ext cx="97979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982987">
              <a:lnSpc>
                <a:spcPct val="100000"/>
              </a:lnSpc>
              <a:spcBef>
                <a:spcPts val="57"/>
              </a:spcBef>
            </a:pPr>
            <a:r>
              <a:rPr dirty="0"/>
              <a:t>II.B</a:t>
            </a:r>
            <a:r>
              <a:rPr spc="-8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G/D </a:t>
            </a:r>
            <a:r>
              <a:rPr spc="-10" dirty="0"/>
              <a:t>Game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99196" y="2513289"/>
            <a:ext cx="1549611" cy="728469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128">
              <a:latin typeface="Times New Roman"/>
              <a:cs typeface="Times New Roman"/>
            </a:endParaRPr>
          </a:p>
          <a:p>
            <a:pPr marL="141683" marR="104431" indent="-31521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Discriminator</a:t>
            </a:r>
            <a:r>
              <a:rPr sz="1228" b="1" spc="-10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“D”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52894" y="2668905"/>
            <a:ext cx="518341" cy="573104"/>
            <a:chOff x="13663897" y="5322866"/>
            <a:chExt cx="1033780" cy="1143000"/>
          </a:xfrm>
        </p:grpSpPr>
        <p:sp>
          <p:nvSpPr>
            <p:cNvPr id="6" name="object 6"/>
            <p:cNvSpPr/>
            <p:nvPr/>
          </p:nvSpPr>
          <p:spPr>
            <a:xfrm>
              <a:off x="13674368" y="5707342"/>
              <a:ext cx="952500" cy="748030"/>
            </a:xfrm>
            <a:custGeom>
              <a:avLst/>
              <a:gdLst/>
              <a:ahLst/>
              <a:cxnLst/>
              <a:rect l="l" t="t" r="r" b="b"/>
              <a:pathLst>
                <a:path w="952500" h="748029">
                  <a:moveTo>
                    <a:pt x="614464" y="492194"/>
                  </a:moveTo>
                  <a:lnTo>
                    <a:pt x="614464" y="747832"/>
                  </a:lnTo>
                  <a:lnTo>
                    <a:pt x="952141" y="373916"/>
                  </a:lnTo>
                  <a:lnTo>
                    <a:pt x="614464" y="0"/>
                  </a:lnTo>
                  <a:lnTo>
                    <a:pt x="614464" y="255638"/>
                  </a:lnTo>
                  <a:lnTo>
                    <a:pt x="0" y="255638"/>
                  </a:lnTo>
                  <a:lnTo>
                    <a:pt x="0" y="492194"/>
                  </a:lnTo>
                  <a:lnTo>
                    <a:pt x="614464" y="492194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7" name="object 7"/>
            <p:cNvSpPr/>
            <p:nvPr/>
          </p:nvSpPr>
          <p:spPr>
            <a:xfrm>
              <a:off x="14135299" y="5561602"/>
              <a:ext cx="562610" cy="0"/>
            </a:xfrm>
            <a:custGeom>
              <a:avLst/>
              <a:gdLst/>
              <a:ahLst/>
              <a:cxnLst/>
              <a:rect l="l" t="t" r="r" b="b"/>
              <a:pathLst>
                <a:path w="562609">
                  <a:moveTo>
                    <a:pt x="562074" y="0"/>
                  </a:moveTo>
                  <a:lnTo>
                    <a:pt x="62825" y="0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8" name="object 8"/>
            <p:cNvSpPr/>
            <p:nvPr/>
          </p:nvSpPr>
          <p:spPr>
            <a:xfrm>
              <a:off x="13720660" y="5322866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477472" y="0"/>
                  </a:moveTo>
                  <a:lnTo>
                    <a:pt x="0" y="238736"/>
                  </a:lnTo>
                  <a:lnTo>
                    <a:pt x="477472" y="477472"/>
                  </a:lnTo>
                  <a:lnTo>
                    <a:pt x="477472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91846" y="2340445"/>
            <a:ext cx="1613607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354" b="1" baseline="-27777" dirty="0">
                <a:solidFill>
                  <a:srgbClr val="C82506"/>
                </a:solidFill>
                <a:latin typeface="Arial"/>
                <a:cs typeface="Arial"/>
              </a:rPr>
              <a:t>Gradients</a:t>
            </a:r>
            <a:r>
              <a:rPr sz="903" dirty="0">
                <a:latin typeface="Arial"/>
                <a:cs typeface="Arial"/>
              </a:rPr>
              <a:t>Binary</a:t>
            </a:r>
            <a:r>
              <a:rPr sz="903" spc="53" dirty="0">
                <a:latin typeface="Arial"/>
                <a:cs typeface="Arial"/>
              </a:rPr>
              <a:t> </a:t>
            </a:r>
            <a:r>
              <a:rPr sz="903" spc="-5" dirty="0">
                <a:latin typeface="Arial"/>
                <a:cs typeface="Arial"/>
              </a:rPr>
              <a:t>classification</a:t>
            </a:r>
            <a:endParaRPr sz="90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26603" y="2933769"/>
            <a:ext cx="129903" cy="2931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855" spc="3" dirty="0">
                <a:latin typeface="Symbol"/>
                <a:cs typeface="Symbol"/>
              </a:rPr>
              <a:t>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7500" y="2695049"/>
            <a:ext cx="2024014" cy="293243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25471">
              <a:spcBef>
                <a:spcPts val="60"/>
              </a:spcBef>
              <a:tabLst>
                <a:tab pos="781645" algn="l"/>
                <a:tab pos="1195551" algn="l"/>
              </a:tabLst>
            </a:pPr>
            <a:r>
              <a:rPr sz="2783" spc="-692" baseline="-13513" dirty="0">
                <a:latin typeface="Symbol"/>
                <a:cs typeface="Symbol"/>
              </a:rPr>
              <a:t></a:t>
            </a:r>
            <a:r>
              <a:rPr sz="2783" spc="-692" baseline="16516" dirty="0">
                <a:latin typeface="Symbol"/>
                <a:cs typeface="Symbol"/>
              </a:rPr>
              <a:t></a:t>
            </a:r>
            <a:r>
              <a:rPr sz="2783" spc="-346" baseline="16516" dirty="0">
                <a:latin typeface="Times New Roman"/>
                <a:cs typeface="Times New Roman"/>
              </a:rPr>
              <a:t> </a:t>
            </a:r>
            <a:r>
              <a:rPr sz="1855" i="1" dirty="0">
                <a:latin typeface="Times New Roman"/>
                <a:cs typeface="Times New Roman"/>
              </a:rPr>
              <a:t>y</a:t>
            </a:r>
            <a:r>
              <a:rPr sz="1855" i="1" spc="-13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53" dirty="0">
                <a:latin typeface="Times New Roman"/>
                <a:cs typeface="Times New Roman"/>
              </a:rPr>
              <a:t> </a:t>
            </a:r>
            <a:r>
              <a:rPr sz="1855" spc="-25" dirty="0">
                <a:latin typeface="Times New Roman"/>
                <a:cs typeface="Times New Roman"/>
              </a:rPr>
              <a:t>0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1855" i="1" spc="-13" dirty="0">
                <a:latin typeface="Times New Roman"/>
                <a:cs typeface="Times New Roman"/>
              </a:rPr>
              <a:t>if</a:t>
            </a:r>
            <a:r>
              <a:rPr sz="1855" i="1" dirty="0">
                <a:latin typeface="Times New Roman"/>
                <a:cs typeface="Times New Roman"/>
              </a:rPr>
              <a:t>	x</a:t>
            </a:r>
            <a:r>
              <a:rPr sz="1855" i="1" spc="-15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55" dirty="0">
                <a:latin typeface="Times New Roman"/>
                <a:cs typeface="Times New Roman"/>
              </a:rPr>
              <a:t> </a:t>
            </a:r>
            <a:r>
              <a:rPr sz="1855" i="1" spc="75" dirty="0">
                <a:latin typeface="Times New Roman"/>
                <a:cs typeface="Times New Roman"/>
              </a:rPr>
              <a:t>G</a:t>
            </a:r>
            <a:r>
              <a:rPr sz="1855" spc="75" dirty="0">
                <a:latin typeface="Times New Roman"/>
                <a:cs typeface="Times New Roman"/>
              </a:rPr>
              <a:t>(</a:t>
            </a:r>
            <a:r>
              <a:rPr sz="1855" i="1" spc="75" dirty="0">
                <a:latin typeface="Times New Roman"/>
                <a:cs typeface="Times New Roman"/>
              </a:rPr>
              <a:t>z</a:t>
            </a:r>
            <a:r>
              <a:rPr sz="1855" spc="75" dirty="0">
                <a:latin typeface="Times New Roman"/>
                <a:cs typeface="Times New Roman"/>
              </a:rPr>
              <a:t>)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3867" y="3177424"/>
            <a:ext cx="2157420" cy="771707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  <a:tabLst>
                <a:tab pos="740573" algn="l"/>
              </a:tabLst>
            </a:pPr>
            <a:r>
              <a:rPr sz="2783" spc="-692" baseline="3003" dirty="0">
                <a:latin typeface="Symbol"/>
                <a:cs typeface="Symbol"/>
              </a:rPr>
              <a:t></a:t>
            </a:r>
            <a:r>
              <a:rPr sz="2783" spc="-692" baseline="-15015" dirty="0">
                <a:latin typeface="Symbol"/>
                <a:cs typeface="Symbol"/>
              </a:rPr>
              <a:t></a:t>
            </a:r>
            <a:r>
              <a:rPr sz="2783" spc="-346" baseline="-15015" dirty="0">
                <a:latin typeface="Times New Roman"/>
                <a:cs typeface="Times New Roman"/>
              </a:rPr>
              <a:t> </a:t>
            </a:r>
            <a:r>
              <a:rPr sz="1855" i="1" dirty="0">
                <a:latin typeface="Times New Roman"/>
                <a:cs typeface="Times New Roman"/>
              </a:rPr>
              <a:t>y</a:t>
            </a:r>
            <a:r>
              <a:rPr sz="1855" i="1" spc="-13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170" dirty="0">
                <a:latin typeface="Times New Roman"/>
                <a:cs typeface="Times New Roman"/>
              </a:rPr>
              <a:t> </a:t>
            </a:r>
            <a:r>
              <a:rPr sz="1855" spc="-25" dirty="0">
                <a:latin typeface="Times New Roman"/>
                <a:cs typeface="Times New Roman"/>
              </a:rPr>
              <a:t>1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1855" i="1" spc="-5" dirty="0">
                <a:latin typeface="Times New Roman"/>
                <a:cs typeface="Times New Roman"/>
              </a:rPr>
              <a:t>otherwise</a:t>
            </a:r>
            <a:endParaRPr sz="1855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2457">
              <a:latin typeface="Times New Roman"/>
              <a:cs typeface="Times New Roman"/>
            </a:endParaRPr>
          </a:p>
          <a:p>
            <a:pPr marL="1218793"/>
            <a:r>
              <a:rPr sz="652" b="1" dirty="0">
                <a:latin typeface="Arial"/>
                <a:cs typeface="Arial"/>
              </a:rPr>
              <a:t>Probability</a:t>
            </a:r>
            <a:r>
              <a:rPr sz="652" b="1" spc="28" dirty="0">
                <a:latin typeface="Arial"/>
                <a:cs typeface="Arial"/>
              </a:rPr>
              <a:t> </a:t>
            </a:r>
            <a:r>
              <a:rPr sz="652" b="1" spc="-5" dirty="0">
                <a:latin typeface="Arial"/>
                <a:cs typeface="Arial"/>
              </a:rPr>
              <a:t>distribution</a:t>
            </a:r>
            <a:endParaRPr sz="652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7459" y="1463998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4" name="object 14"/>
          <p:cNvSpPr txBox="1"/>
          <p:nvPr/>
        </p:nvSpPr>
        <p:spPr>
          <a:xfrm>
            <a:off x="1586613" y="1115605"/>
            <a:ext cx="1549611" cy="724622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103">
              <a:latin typeface="Times New Roman"/>
              <a:cs typeface="Times New Roman"/>
            </a:endParaRPr>
          </a:p>
          <a:p>
            <a:pPr marL="142320" marR="142638" indent="94243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45562" y="1463998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6" name="object 16"/>
          <p:cNvSpPr txBox="1"/>
          <p:nvPr/>
        </p:nvSpPr>
        <p:spPr>
          <a:xfrm>
            <a:off x="401420" y="1168445"/>
            <a:ext cx="471538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880" baseline="-5555" dirty="0">
                <a:latin typeface="Symbol"/>
                <a:cs typeface="Symbol"/>
              </a:rPr>
              <a:t></a:t>
            </a:r>
            <a:r>
              <a:rPr sz="1880" spc="-184" baseline="-5555" dirty="0">
                <a:latin typeface="Times New Roman"/>
                <a:cs typeface="Times New Roman"/>
              </a:rPr>
              <a:t> </a:t>
            </a:r>
            <a:r>
              <a:rPr sz="1254" spc="-5" dirty="0">
                <a:latin typeface="Times New Roman"/>
                <a:cs typeface="Times New Roman"/>
              </a:rPr>
              <a:t>0.47</a:t>
            </a:r>
            <a:r>
              <a:rPr sz="1880" spc="-8" baseline="-5555" dirty="0">
                <a:latin typeface="Symbol"/>
                <a:cs typeface="Symbol"/>
              </a:rPr>
              <a:t></a:t>
            </a:r>
            <a:endParaRPr sz="1880" baseline="-5555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420" y="1894280"/>
            <a:ext cx="471538" cy="579474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spcBef>
                <a:spcPts val="55"/>
              </a:spcBef>
            </a:pPr>
            <a:r>
              <a:rPr sz="1880" spc="-365" baseline="23333" dirty="0">
                <a:latin typeface="Symbol"/>
                <a:cs typeface="Symbol"/>
              </a:rPr>
              <a:t></a:t>
            </a:r>
            <a:r>
              <a:rPr sz="1254" spc="-243" dirty="0">
                <a:latin typeface="Symbol"/>
                <a:cs typeface="Symbol"/>
              </a:rPr>
              <a:t></a:t>
            </a:r>
            <a:r>
              <a:rPr sz="1254" spc="-118" dirty="0">
                <a:latin typeface="Times New Roman"/>
                <a:cs typeface="Times New Roman"/>
              </a:rPr>
              <a:t> </a:t>
            </a:r>
            <a:r>
              <a:rPr sz="1880" spc="-41" baseline="2222" dirty="0">
                <a:latin typeface="Times New Roman"/>
                <a:cs typeface="Times New Roman"/>
              </a:rPr>
              <a:t>0.19</a:t>
            </a:r>
            <a:r>
              <a:rPr sz="1880" spc="-41" baseline="23333" dirty="0">
                <a:latin typeface="Symbol"/>
                <a:cs typeface="Symbol"/>
              </a:rPr>
              <a:t></a:t>
            </a:r>
            <a:r>
              <a:rPr sz="1254" spc="-28" dirty="0">
                <a:latin typeface="Symbol"/>
                <a:cs typeface="Symbol"/>
              </a:rPr>
              <a:t></a:t>
            </a:r>
            <a:endParaRPr sz="1254">
              <a:latin typeface="Symbol"/>
              <a:cs typeface="Symbol"/>
            </a:endParaRPr>
          </a:p>
          <a:p>
            <a:pPr marL="39162" algn="ctr">
              <a:spcBef>
                <a:spcPts val="143"/>
              </a:spcBef>
            </a:pPr>
            <a:r>
              <a:rPr sz="2382" i="1" spc="3" dirty="0">
                <a:latin typeface="Times New Roman"/>
                <a:cs typeface="Times New Roman"/>
              </a:rPr>
              <a:t>z</a:t>
            </a:r>
            <a:endParaRPr sz="2382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156" y="1369279"/>
            <a:ext cx="446066" cy="36614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lnSpc>
                <a:spcPts val="1369"/>
              </a:lnSpc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  <a:p>
            <a:pPr marL="6368">
              <a:lnSpc>
                <a:spcPts val="1369"/>
              </a:lnSpc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4156" y="1682613"/>
            <a:ext cx="446066" cy="200075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377928" algn="l"/>
              </a:tabLst>
            </a:pPr>
            <a:r>
              <a:rPr sz="1254" spc="-25" dirty="0">
                <a:latin typeface="Symbol"/>
                <a:cs typeface="Symbol"/>
              </a:rPr>
              <a:t></a:t>
            </a:r>
            <a:r>
              <a:rPr sz="1254" dirty="0">
                <a:latin typeface="Times New Roman"/>
                <a:cs typeface="Times New Roman"/>
              </a:rPr>
              <a:t>	</a:t>
            </a:r>
            <a:r>
              <a:rPr sz="1254" spc="-25" dirty="0">
                <a:latin typeface="Symbol"/>
                <a:cs typeface="Symbol"/>
              </a:rPr>
              <a:t></a:t>
            </a:r>
            <a:endParaRPr sz="1254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7190" y="1510763"/>
            <a:ext cx="0" cy="281458"/>
          </a:xfrm>
          <a:custGeom>
            <a:avLst/>
            <a:gdLst/>
            <a:ahLst/>
            <a:cxnLst/>
            <a:rect l="l" t="t" r="r" b="b"/>
            <a:pathLst>
              <a:path h="561339">
                <a:moveTo>
                  <a:pt x="0" y="561296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1" name="object 21"/>
          <p:cNvSpPr txBox="1"/>
          <p:nvPr/>
        </p:nvSpPr>
        <p:spPr>
          <a:xfrm>
            <a:off x="294655" y="775903"/>
            <a:ext cx="706192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100-</a:t>
            </a:r>
            <a:r>
              <a:rPr sz="903" spc="-25" dirty="0">
                <a:latin typeface="Arial"/>
                <a:cs typeface="Arial"/>
              </a:rPr>
              <a:t>d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random</a:t>
            </a:r>
            <a:r>
              <a:rPr sz="903" spc="60" dirty="0">
                <a:latin typeface="Arial"/>
                <a:cs typeface="Arial"/>
              </a:rPr>
              <a:t> </a:t>
            </a:r>
            <a:r>
              <a:rPr sz="903" spc="-10" dirty="0">
                <a:latin typeface="Arial"/>
                <a:cs typeface="Arial"/>
              </a:rPr>
              <a:t>code</a:t>
            </a:r>
            <a:endParaRPr sz="903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9466" y="1201158"/>
            <a:ext cx="900645" cy="90064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912002" y="775903"/>
            <a:ext cx="898819" cy="28029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algn="ctr">
              <a:lnSpc>
                <a:spcPts val="1078"/>
              </a:lnSpc>
              <a:spcBef>
                <a:spcPts val="55"/>
              </a:spcBef>
            </a:pPr>
            <a:r>
              <a:rPr sz="903" spc="-5" dirty="0">
                <a:latin typeface="Arial"/>
                <a:cs typeface="Arial"/>
              </a:rPr>
              <a:t>(64,64,3)</a:t>
            </a:r>
            <a:endParaRPr sz="903">
              <a:latin typeface="Arial"/>
              <a:cs typeface="Arial"/>
            </a:endParaRPr>
          </a:p>
          <a:p>
            <a:pPr algn="ctr">
              <a:lnSpc>
                <a:spcPts val="1078"/>
              </a:lnSpc>
            </a:pPr>
            <a:r>
              <a:rPr sz="903" dirty="0">
                <a:latin typeface="Arial"/>
                <a:cs typeface="Arial"/>
              </a:rPr>
              <a:t>generated</a:t>
            </a:r>
            <a:r>
              <a:rPr sz="903" spc="120" dirty="0">
                <a:latin typeface="Arial"/>
                <a:cs typeface="Arial"/>
              </a:rPr>
              <a:t> </a:t>
            </a:r>
            <a:r>
              <a:rPr sz="903" spc="-5" dirty="0">
                <a:latin typeface="Arial"/>
                <a:cs typeface="Arial"/>
              </a:rPr>
              <a:t>image</a:t>
            </a:r>
            <a:endParaRPr sz="903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28075" y="3452241"/>
            <a:ext cx="126083" cy="461031"/>
            <a:chOff x="8628396" y="6885152"/>
            <a:chExt cx="251460" cy="919480"/>
          </a:xfrm>
        </p:grpSpPr>
        <p:sp>
          <p:nvSpPr>
            <p:cNvPr id="25" name="object 25"/>
            <p:cNvSpPr/>
            <p:nvPr/>
          </p:nvSpPr>
          <p:spPr>
            <a:xfrm>
              <a:off x="8754047" y="7105041"/>
              <a:ext cx="0" cy="699770"/>
            </a:xfrm>
            <a:custGeom>
              <a:avLst/>
              <a:gdLst/>
              <a:ahLst/>
              <a:cxnLst/>
              <a:rect l="l" t="t" r="r" b="b"/>
              <a:pathLst>
                <a:path h="699770">
                  <a:moveTo>
                    <a:pt x="0" y="699142"/>
                  </a:moveTo>
                  <a:lnTo>
                    <a:pt x="0" y="31412"/>
                  </a:lnTo>
                  <a:lnTo>
                    <a:pt x="0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6" name="object 26"/>
            <p:cNvSpPr/>
            <p:nvPr/>
          </p:nvSpPr>
          <p:spPr>
            <a:xfrm>
              <a:off x="8628396" y="6885152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59">
                  <a:moveTo>
                    <a:pt x="125650" y="0"/>
                  </a:moveTo>
                  <a:lnTo>
                    <a:pt x="0" y="251301"/>
                  </a:lnTo>
                  <a:lnTo>
                    <a:pt x="251301" y="251301"/>
                  </a:lnTo>
                  <a:lnTo>
                    <a:pt x="1256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318366" y="2248516"/>
            <a:ext cx="126083" cy="461031"/>
            <a:chOff x="8609034" y="4484443"/>
            <a:chExt cx="251460" cy="919480"/>
          </a:xfrm>
        </p:grpSpPr>
        <p:sp>
          <p:nvSpPr>
            <p:cNvPr id="28" name="object 28"/>
            <p:cNvSpPr/>
            <p:nvPr/>
          </p:nvSpPr>
          <p:spPr>
            <a:xfrm>
              <a:off x="8734685" y="4484443"/>
              <a:ext cx="0" cy="699770"/>
            </a:xfrm>
            <a:custGeom>
              <a:avLst/>
              <a:gdLst/>
              <a:ahLst/>
              <a:cxnLst/>
              <a:rect l="l" t="t" r="r" b="b"/>
              <a:pathLst>
                <a:path h="699770">
                  <a:moveTo>
                    <a:pt x="0" y="0"/>
                  </a:moveTo>
                  <a:lnTo>
                    <a:pt x="0" y="667730"/>
                  </a:lnTo>
                  <a:lnTo>
                    <a:pt x="0" y="699143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9" name="object 29"/>
            <p:cNvSpPr/>
            <p:nvPr/>
          </p:nvSpPr>
          <p:spPr>
            <a:xfrm>
              <a:off x="8609034" y="5152174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60">
                  <a:moveTo>
                    <a:pt x="251301" y="0"/>
                  </a:moveTo>
                  <a:lnTo>
                    <a:pt x="0" y="0"/>
                  </a:lnTo>
                  <a:lnTo>
                    <a:pt x="125650" y="251301"/>
                  </a:lnTo>
                  <a:lnTo>
                    <a:pt x="2513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0" name="object 30"/>
          <p:cNvSpPr/>
          <p:nvPr/>
        </p:nvSpPr>
        <p:spPr>
          <a:xfrm>
            <a:off x="4579189" y="2931000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1" name="object 31"/>
          <p:cNvSpPr txBox="1"/>
          <p:nvPr/>
        </p:nvSpPr>
        <p:spPr>
          <a:xfrm>
            <a:off x="4315191" y="2846853"/>
            <a:ext cx="147415" cy="373969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2382" i="1" spc="3" dirty="0">
                <a:latin typeface="Times New Roman"/>
                <a:cs typeface="Times New Roman"/>
              </a:rPr>
              <a:t>x</a:t>
            </a:r>
            <a:endParaRPr sz="2382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73939" y="2591757"/>
            <a:ext cx="490004" cy="239430"/>
            <a:chOff x="9118748" y="5169002"/>
            <a:chExt cx="977265" cy="477520"/>
          </a:xfrm>
        </p:grpSpPr>
        <p:sp>
          <p:nvSpPr>
            <p:cNvPr id="33" name="object 33"/>
            <p:cNvSpPr/>
            <p:nvPr/>
          </p:nvSpPr>
          <p:spPr>
            <a:xfrm>
              <a:off x="9533395" y="5407738"/>
              <a:ext cx="562610" cy="0"/>
            </a:xfrm>
            <a:custGeom>
              <a:avLst/>
              <a:gdLst/>
              <a:ahLst/>
              <a:cxnLst/>
              <a:rect l="l" t="t" r="r" b="b"/>
              <a:pathLst>
                <a:path w="562609">
                  <a:moveTo>
                    <a:pt x="562074" y="0"/>
                  </a:moveTo>
                  <a:lnTo>
                    <a:pt x="62825" y="0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4" name="object 34"/>
            <p:cNvSpPr/>
            <p:nvPr/>
          </p:nvSpPr>
          <p:spPr>
            <a:xfrm>
              <a:off x="9118748" y="5169002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20" h="477520">
                  <a:moveTo>
                    <a:pt x="477472" y="0"/>
                  </a:moveTo>
                  <a:lnTo>
                    <a:pt x="0" y="238736"/>
                  </a:lnTo>
                  <a:lnTo>
                    <a:pt x="477472" y="477472"/>
                  </a:lnTo>
                  <a:lnTo>
                    <a:pt x="477472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3373747" y="2136862"/>
            <a:ext cx="846921" cy="683268"/>
            <a:chOff x="6725085" y="4261760"/>
            <a:chExt cx="1689100" cy="1362710"/>
          </a:xfrm>
        </p:grpSpPr>
        <p:sp>
          <p:nvSpPr>
            <p:cNvPr id="36" name="object 36"/>
            <p:cNvSpPr/>
            <p:nvPr/>
          </p:nvSpPr>
          <p:spPr>
            <a:xfrm>
              <a:off x="7048940" y="4520700"/>
              <a:ext cx="1302385" cy="1041400"/>
            </a:xfrm>
            <a:custGeom>
              <a:avLst/>
              <a:gdLst/>
              <a:ahLst/>
              <a:cxnLst/>
              <a:rect l="l" t="t" r="r" b="b"/>
              <a:pathLst>
                <a:path w="1302384" h="1041400">
                  <a:moveTo>
                    <a:pt x="1301855" y="1040901"/>
                  </a:moveTo>
                  <a:lnTo>
                    <a:pt x="49069" y="39233"/>
                  </a:lnTo>
                  <a:lnTo>
                    <a:pt x="0" y="0"/>
                  </a:lnTo>
                </a:path>
              </a:pathLst>
            </a:custGeom>
            <a:ln w="125650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7" name="object 37"/>
            <p:cNvSpPr/>
            <p:nvPr/>
          </p:nvSpPr>
          <p:spPr>
            <a:xfrm>
              <a:off x="6725085" y="4261760"/>
              <a:ext cx="522605" cy="485140"/>
            </a:xfrm>
            <a:custGeom>
              <a:avLst/>
              <a:gdLst/>
              <a:ahLst/>
              <a:cxnLst/>
              <a:rect l="l" t="t" r="r" b="b"/>
              <a:pathLst>
                <a:path w="522604" h="485139">
                  <a:moveTo>
                    <a:pt x="0" y="0"/>
                  </a:moveTo>
                  <a:lnTo>
                    <a:pt x="223838" y="484635"/>
                  </a:lnTo>
                  <a:lnTo>
                    <a:pt x="522011" y="111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2332" y="2727917"/>
            <a:ext cx="2818400" cy="876506"/>
          </a:xfrm>
          <a:prstGeom prst="rect">
            <a:avLst/>
          </a:prstGeom>
          <a:solidFill>
            <a:srgbClr val="F5D328"/>
          </a:solidFill>
          <a:ln w="10470">
            <a:solidFill>
              <a:srgbClr val="000000"/>
            </a:solidFill>
          </a:ln>
        </p:spPr>
        <p:txBody>
          <a:bodyPr vert="horz" wrap="square" lIns="0" tIns="16875" rIns="0" bIns="0" rtlCol="0">
            <a:spAutoFit/>
          </a:bodyPr>
          <a:lstStyle/>
          <a:p>
            <a:pPr marL="266173" marR="266810" indent="7641" algn="ctr">
              <a:lnSpc>
                <a:spcPct val="100600"/>
              </a:lnSpc>
              <a:spcBef>
                <a:spcPts val="133"/>
              </a:spcBef>
            </a:pPr>
            <a:r>
              <a:rPr sz="1404" b="1" dirty="0">
                <a:latin typeface="Arial"/>
                <a:cs typeface="Arial"/>
              </a:rPr>
              <a:t>End</a:t>
            </a:r>
            <a:r>
              <a:rPr sz="1404" b="1" spc="-5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goal: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G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is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spc="-5" dirty="0">
                <a:latin typeface="Arial"/>
                <a:cs typeface="Arial"/>
              </a:rPr>
              <a:t>outputting </a:t>
            </a:r>
            <a:r>
              <a:rPr sz="1404" b="1" dirty="0">
                <a:latin typeface="Arial"/>
                <a:cs typeface="Arial"/>
              </a:rPr>
              <a:t>images</a:t>
            </a:r>
            <a:r>
              <a:rPr sz="1404" b="1" spc="-5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that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spc="-13" dirty="0">
                <a:latin typeface="Arial"/>
                <a:cs typeface="Arial"/>
              </a:rPr>
              <a:t>are </a:t>
            </a:r>
            <a:r>
              <a:rPr sz="1404" b="1" dirty="0">
                <a:latin typeface="Arial"/>
                <a:cs typeface="Arial"/>
              </a:rPr>
              <a:t>indistinguishable</a:t>
            </a:r>
            <a:r>
              <a:rPr sz="1404" b="1" spc="-18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from</a:t>
            </a:r>
            <a:r>
              <a:rPr sz="1404" b="1" spc="-15" dirty="0">
                <a:latin typeface="Arial"/>
                <a:cs typeface="Arial"/>
              </a:rPr>
              <a:t> </a:t>
            </a:r>
            <a:r>
              <a:rPr sz="1404" b="1" spc="-10" dirty="0">
                <a:latin typeface="Arial"/>
                <a:cs typeface="Arial"/>
              </a:rPr>
              <a:t>real </a:t>
            </a:r>
            <a:r>
              <a:rPr sz="1404" b="1" dirty="0">
                <a:latin typeface="Arial"/>
                <a:cs typeface="Arial"/>
              </a:rPr>
              <a:t>images</a:t>
            </a:r>
            <a:r>
              <a:rPr sz="1404" b="1" spc="-5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for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spc="-25" dirty="0">
                <a:latin typeface="Arial"/>
                <a:cs typeface="Arial"/>
              </a:rPr>
              <a:t>D</a:t>
            </a:r>
            <a:endParaRPr sz="1404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368816" y="4133058"/>
            <a:ext cx="1498031" cy="997202"/>
            <a:chOff x="16687254" y="8242975"/>
            <a:chExt cx="2987675" cy="1988820"/>
          </a:xfrm>
        </p:grpSpPr>
        <p:sp>
          <p:nvSpPr>
            <p:cNvPr id="40" name="object 40"/>
            <p:cNvSpPr/>
            <p:nvPr/>
          </p:nvSpPr>
          <p:spPr>
            <a:xfrm>
              <a:off x="16713606" y="8270763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1" name="object 41"/>
            <p:cNvSpPr/>
            <p:nvPr/>
          </p:nvSpPr>
          <p:spPr>
            <a:xfrm>
              <a:off x="17680844" y="8269328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59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2" name="object 42"/>
            <p:cNvSpPr/>
            <p:nvPr/>
          </p:nvSpPr>
          <p:spPr>
            <a:xfrm>
              <a:off x="18572419" y="8755378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3" name="object 43"/>
            <p:cNvSpPr/>
            <p:nvPr/>
          </p:nvSpPr>
          <p:spPr>
            <a:xfrm>
              <a:off x="16844474" y="8913608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4" name="object 44"/>
            <p:cNvSpPr/>
            <p:nvPr/>
          </p:nvSpPr>
          <p:spPr>
            <a:xfrm>
              <a:off x="17365377" y="9084066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5" name="object 45"/>
            <p:cNvSpPr/>
            <p:nvPr/>
          </p:nvSpPr>
          <p:spPr>
            <a:xfrm>
              <a:off x="18286229" y="9085117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6" name="object 46"/>
            <p:cNvSpPr/>
            <p:nvPr/>
          </p:nvSpPr>
          <p:spPr>
            <a:xfrm>
              <a:off x="16726077" y="8624224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00882B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340390" y="4005785"/>
            <a:ext cx="1644810" cy="1401025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52">
              <a:latin typeface="Times New Roman"/>
              <a:cs typeface="Times New Roman"/>
            </a:endParaRPr>
          </a:p>
          <a:p>
            <a:pPr>
              <a:spcBef>
                <a:spcPts val="8"/>
              </a:spcBef>
            </a:pPr>
            <a:endParaRPr sz="627">
              <a:latin typeface="Times New Roman"/>
              <a:cs typeface="Times New Roman"/>
            </a:endParaRPr>
          </a:p>
          <a:p>
            <a:pPr marR="34386" algn="r">
              <a:spcBef>
                <a:spcPts val="3"/>
              </a:spcBef>
            </a:pPr>
            <a:r>
              <a:rPr sz="652" dirty="0">
                <a:latin typeface="Arial"/>
                <a:cs typeface="Arial"/>
              </a:rPr>
              <a:t>Image</a:t>
            </a:r>
            <a:r>
              <a:rPr sz="652" spc="55" dirty="0">
                <a:latin typeface="Arial"/>
                <a:cs typeface="Arial"/>
              </a:rPr>
              <a:t> </a:t>
            </a:r>
            <a:r>
              <a:rPr sz="652" spc="-10" dirty="0">
                <a:latin typeface="Arial"/>
                <a:cs typeface="Arial"/>
              </a:rPr>
              <a:t>space</a:t>
            </a:r>
            <a:endParaRPr sz="652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413955" y="4133040"/>
            <a:ext cx="1497713" cy="997202"/>
            <a:chOff x="16777279" y="8242938"/>
            <a:chExt cx="2987040" cy="1988820"/>
          </a:xfrm>
        </p:grpSpPr>
        <p:sp>
          <p:nvSpPr>
            <p:cNvPr id="49" name="object 49"/>
            <p:cNvSpPr/>
            <p:nvPr/>
          </p:nvSpPr>
          <p:spPr>
            <a:xfrm>
              <a:off x="16803457" y="8270552"/>
              <a:ext cx="979169" cy="366395"/>
            </a:xfrm>
            <a:custGeom>
              <a:avLst/>
              <a:gdLst/>
              <a:ahLst/>
              <a:cxnLst/>
              <a:rect l="l" t="t" r="r" b="b"/>
              <a:pathLst>
                <a:path w="979169" h="366395">
                  <a:moveTo>
                    <a:pt x="0" y="365878"/>
                  </a:moveTo>
                  <a:lnTo>
                    <a:pt x="36470" y="335331"/>
                  </a:lnTo>
                  <a:lnTo>
                    <a:pt x="73956" y="306096"/>
                  </a:lnTo>
                  <a:lnTo>
                    <a:pt x="112458" y="278173"/>
                  </a:lnTo>
                  <a:lnTo>
                    <a:pt x="151976" y="251563"/>
                  </a:lnTo>
                  <a:lnTo>
                    <a:pt x="192509" y="226266"/>
                  </a:lnTo>
                  <a:lnTo>
                    <a:pt x="234057" y="202280"/>
                  </a:lnTo>
                  <a:lnTo>
                    <a:pt x="276621" y="179608"/>
                  </a:lnTo>
                  <a:lnTo>
                    <a:pt x="320201" y="158248"/>
                  </a:lnTo>
                  <a:lnTo>
                    <a:pt x="364796" y="138200"/>
                  </a:lnTo>
                  <a:lnTo>
                    <a:pt x="410407" y="119465"/>
                  </a:lnTo>
                  <a:lnTo>
                    <a:pt x="457034" y="102042"/>
                  </a:lnTo>
                  <a:lnTo>
                    <a:pt x="504676" y="85932"/>
                  </a:lnTo>
                  <a:lnTo>
                    <a:pt x="553334" y="71134"/>
                  </a:lnTo>
                  <a:lnTo>
                    <a:pt x="603007" y="57648"/>
                  </a:lnTo>
                  <a:lnTo>
                    <a:pt x="653696" y="45475"/>
                  </a:lnTo>
                  <a:lnTo>
                    <a:pt x="705400" y="34615"/>
                  </a:lnTo>
                  <a:lnTo>
                    <a:pt x="758120" y="25067"/>
                  </a:lnTo>
                  <a:lnTo>
                    <a:pt x="811856" y="16831"/>
                  </a:lnTo>
                  <a:lnTo>
                    <a:pt x="866607" y="9908"/>
                  </a:lnTo>
                  <a:lnTo>
                    <a:pt x="922374" y="4298"/>
                  </a:lnTo>
                  <a:lnTo>
                    <a:pt x="979156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0" name="object 50"/>
            <p:cNvSpPr/>
            <p:nvPr/>
          </p:nvSpPr>
          <p:spPr>
            <a:xfrm>
              <a:off x="17770694" y="8269115"/>
              <a:ext cx="887094" cy="480059"/>
            </a:xfrm>
            <a:custGeom>
              <a:avLst/>
              <a:gdLst/>
              <a:ahLst/>
              <a:cxnLst/>
              <a:rect l="l" t="t" r="r" b="b"/>
              <a:pathLst>
                <a:path w="887094" h="480059">
                  <a:moveTo>
                    <a:pt x="0" y="0"/>
                  </a:moveTo>
                  <a:lnTo>
                    <a:pt x="46712" y="7145"/>
                  </a:lnTo>
                  <a:lnTo>
                    <a:pt x="92976" y="15861"/>
                  </a:lnTo>
                  <a:lnTo>
                    <a:pt x="138794" y="26146"/>
                  </a:lnTo>
                  <a:lnTo>
                    <a:pt x="184165" y="38001"/>
                  </a:lnTo>
                  <a:lnTo>
                    <a:pt x="229088" y="51426"/>
                  </a:lnTo>
                  <a:lnTo>
                    <a:pt x="273564" y="66420"/>
                  </a:lnTo>
                  <a:lnTo>
                    <a:pt x="317593" y="82985"/>
                  </a:lnTo>
                  <a:lnTo>
                    <a:pt x="361175" y="101119"/>
                  </a:lnTo>
                  <a:lnTo>
                    <a:pt x="404310" y="120822"/>
                  </a:lnTo>
                  <a:lnTo>
                    <a:pt x="446998" y="142096"/>
                  </a:lnTo>
                  <a:lnTo>
                    <a:pt x="489238" y="164939"/>
                  </a:lnTo>
                  <a:lnTo>
                    <a:pt x="531031" y="189352"/>
                  </a:lnTo>
                  <a:lnTo>
                    <a:pt x="572377" y="215335"/>
                  </a:lnTo>
                  <a:lnTo>
                    <a:pt x="613276" y="242887"/>
                  </a:lnTo>
                  <a:lnTo>
                    <a:pt x="653728" y="272010"/>
                  </a:lnTo>
                  <a:lnTo>
                    <a:pt x="693733" y="302702"/>
                  </a:lnTo>
                  <a:lnTo>
                    <a:pt x="733290" y="334963"/>
                  </a:lnTo>
                  <a:lnTo>
                    <a:pt x="772400" y="368795"/>
                  </a:lnTo>
                  <a:lnTo>
                    <a:pt x="811063" y="404196"/>
                  </a:lnTo>
                  <a:lnTo>
                    <a:pt x="849279" y="441167"/>
                  </a:lnTo>
                  <a:lnTo>
                    <a:pt x="887048" y="479708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1" name="object 51"/>
            <p:cNvSpPr/>
            <p:nvPr/>
          </p:nvSpPr>
          <p:spPr>
            <a:xfrm>
              <a:off x="18662280" y="8755167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90" h="550545">
                  <a:moveTo>
                    <a:pt x="0" y="0"/>
                  </a:moveTo>
                  <a:lnTo>
                    <a:pt x="47759" y="8690"/>
                  </a:lnTo>
                  <a:lnTo>
                    <a:pt x="95262" y="18618"/>
                  </a:lnTo>
                  <a:lnTo>
                    <a:pt x="142510" y="29785"/>
                  </a:lnTo>
                  <a:lnTo>
                    <a:pt x="189502" y="42190"/>
                  </a:lnTo>
                  <a:lnTo>
                    <a:pt x="236238" y="55833"/>
                  </a:lnTo>
                  <a:lnTo>
                    <a:pt x="282718" y="70714"/>
                  </a:lnTo>
                  <a:lnTo>
                    <a:pt x="328942" y="86833"/>
                  </a:lnTo>
                  <a:lnTo>
                    <a:pt x="374911" y="104191"/>
                  </a:lnTo>
                  <a:lnTo>
                    <a:pt x="420623" y="122787"/>
                  </a:lnTo>
                  <a:lnTo>
                    <a:pt x="466080" y="142620"/>
                  </a:lnTo>
                  <a:lnTo>
                    <a:pt x="511281" y="163692"/>
                  </a:lnTo>
                  <a:lnTo>
                    <a:pt x="556226" y="186003"/>
                  </a:lnTo>
                  <a:lnTo>
                    <a:pt x="600915" y="209551"/>
                  </a:lnTo>
                  <a:lnTo>
                    <a:pt x="645348" y="234338"/>
                  </a:lnTo>
                  <a:lnTo>
                    <a:pt x="689526" y="260362"/>
                  </a:lnTo>
                  <a:lnTo>
                    <a:pt x="733447" y="287625"/>
                  </a:lnTo>
                  <a:lnTo>
                    <a:pt x="777113" y="316127"/>
                  </a:lnTo>
                  <a:lnTo>
                    <a:pt x="820523" y="345866"/>
                  </a:lnTo>
                  <a:lnTo>
                    <a:pt x="863677" y="376843"/>
                  </a:lnTo>
                  <a:lnTo>
                    <a:pt x="906575" y="409059"/>
                  </a:lnTo>
                  <a:lnTo>
                    <a:pt x="949217" y="442513"/>
                  </a:lnTo>
                  <a:lnTo>
                    <a:pt x="991603" y="477205"/>
                  </a:lnTo>
                  <a:lnTo>
                    <a:pt x="1033734" y="513135"/>
                  </a:lnTo>
                  <a:lnTo>
                    <a:pt x="1075609" y="550303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2" name="object 52"/>
            <p:cNvSpPr/>
            <p:nvPr/>
          </p:nvSpPr>
          <p:spPr>
            <a:xfrm>
              <a:off x="16934335" y="8913396"/>
              <a:ext cx="549275" cy="1071245"/>
            </a:xfrm>
            <a:custGeom>
              <a:avLst/>
              <a:gdLst/>
              <a:ahLst/>
              <a:cxnLst/>
              <a:rect l="l" t="t" r="r" b="b"/>
              <a:pathLst>
                <a:path w="549275" h="1071245">
                  <a:moveTo>
                    <a:pt x="549215" y="0"/>
                  </a:moveTo>
                  <a:lnTo>
                    <a:pt x="495323" y="14038"/>
                  </a:lnTo>
                  <a:lnTo>
                    <a:pt x="444214" y="28783"/>
                  </a:lnTo>
                  <a:lnTo>
                    <a:pt x="395886" y="44234"/>
                  </a:lnTo>
                  <a:lnTo>
                    <a:pt x="350341" y="60393"/>
                  </a:lnTo>
                  <a:lnTo>
                    <a:pt x="307578" y="77258"/>
                  </a:lnTo>
                  <a:lnTo>
                    <a:pt x="267598" y="94830"/>
                  </a:lnTo>
                  <a:lnTo>
                    <a:pt x="230399" y="113108"/>
                  </a:lnTo>
                  <a:lnTo>
                    <a:pt x="195983" y="132093"/>
                  </a:lnTo>
                  <a:lnTo>
                    <a:pt x="135497" y="172183"/>
                  </a:lnTo>
                  <a:lnTo>
                    <a:pt x="86140" y="215100"/>
                  </a:lnTo>
                  <a:lnTo>
                    <a:pt x="47912" y="260844"/>
                  </a:lnTo>
                  <a:lnTo>
                    <a:pt x="20812" y="309414"/>
                  </a:lnTo>
                  <a:lnTo>
                    <a:pt x="4842" y="360811"/>
                  </a:lnTo>
                  <a:lnTo>
                    <a:pt x="0" y="415035"/>
                  </a:lnTo>
                  <a:lnTo>
                    <a:pt x="1752" y="443207"/>
                  </a:lnTo>
                  <a:lnTo>
                    <a:pt x="13603" y="501671"/>
                  </a:lnTo>
                  <a:lnTo>
                    <a:pt x="36583" y="562961"/>
                  </a:lnTo>
                  <a:lnTo>
                    <a:pt x="70692" y="627079"/>
                  </a:lnTo>
                  <a:lnTo>
                    <a:pt x="91919" y="660197"/>
                  </a:lnTo>
                  <a:lnTo>
                    <a:pt x="115929" y="694023"/>
                  </a:lnTo>
                  <a:lnTo>
                    <a:pt x="142721" y="728555"/>
                  </a:lnTo>
                  <a:lnTo>
                    <a:pt x="172295" y="763794"/>
                  </a:lnTo>
                  <a:lnTo>
                    <a:pt x="204652" y="799739"/>
                  </a:lnTo>
                  <a:lnTo>
                    <a:pt x="239790" y="836391"/>
                  </a:lnTo>
                  <a:lnTo>
                    <a:pt x="277711" y="873750"/>
                  </a:lnTo>
                  <a:lnTo>
                    <a:pt x="318414" y="911815"/>
                  </a:lnTo>
                  <a:lnTo>
                    <a:pt x="361899" y="950587"/>
                  </a:lnTo>
                  <a:lnTo>
                    <a:pt x="408167" y="990066"/>
                  </a:lnTo>
                  <a:lnTo>
                    <a:pt x="457216" y="1030252"/>
                  </a:lnTo>
                  <a:lnTo>
                    <a:pt x="509048" y="1071144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3" name="object 53"/>
            <p:cNvSpPr/>
            <p:nvPr/>
          </p:nvSpPr>
          <p:spPr>
            <a:xfrm>
              <a:off x="17455238" y="9083854"/>
              <a:ext cx="1007744" cy="1121410"/>
            </a:xfrm>
            <a:custGeom>
              <a:avLst/>
              <a:gdLst/>
              <a:ahLst/>
              <a:cxnLst/>
              <a:rect l="l" t="t" r="r" b="b"/>
              <a:pathLst>
                <a:path w="1007744" h="1121409">
                  <a:moveTo>
                    <a:pt x="931597" y="0"/>
                  </a:moveTo>
                  <a:lnTo>
                    <a:pt x="945283" y="64812"/>
                  </a:lnTo>
                  <a:lnTo>
                    <a:pt x="957607" y="127695"/>
                  </a:lnTo>
                  <a:lnTo>
                    <a:pt x="968569" y="188649"/>
                  </a:lnTo>
                  <a:lnTo>
                    <a:pt x="978168" y="247673"/>
                  </a:lnTo>
                  <a:lnTo>
                    <a:pt x="986405" y="304767"/>
                  </a:lnTo>
                  <a:lnTo>
                    <a:pt x="993279" y="359932"/>
                  </a:lnTo>
                  <a:lnTo>
                    <a:pt x="998791" y="413167"/>
                  </a:lnTo>
                  <a:lnTo>
                    <a:pt x="1002941" y="464472"/>
                  </a:lnTo>
                  <a:lnTo>
                    <a:pt x="1005728" y="513848"/>
                  </a:lnTo>
                  <a:lnTo>
                    <a:pt x="1007152" y="561294"/>
                  </a:lnTo>
                  <a:lnTo>
                    <a:pt x="1007214" y="606811"/>
                  </a:lnTo>
                  <a:lnTo>
                    <a:pt x="1005914" y="650398"/>
                  </a:lnTo>
                  <a:lnTo>
                    <a:pt x="1003251" y="692056"/>
                  </a:lnTo>
                  <a:lnTo>
                    <a:pt x="999226" y="731784"/>
                  </a:lnTo>
                  <a:lnTo>
                    <a:pt x="993838" y="769582"/>
                  </a:lnTo>
                  <a:lnTo>
                    <a:pt x="978976" y="839390"/>
                  </a:lnTo>
                  <a:lnTo>
                    <a:pt x="958663" y="901479"/>
                  </a:lnTo>
                  <a:lnTo>
                    <a:pt x="932901" y="955850"/>
                  </a:lnTo>
                  <a:lnTo>
                    <a:pt x="901689" y="1002503"/>
                  </a:lnTo>
                  <a:lnTo>
                    <a:pt x="865027" y="1041437"/>
                  </a:lnTo>
                  <a:lnTo>
                    <a:pt x="822915" y="1072653"/>
                  </a:lnTo>
                  <a:lnTo>
                    <a:pt x="775353" y="1096151"/>
                  </a:lnTo>
                  <a:lnTo>
                    <a:pt x="722342" y="1111930"/>
                  </a:lnTo>
                  <a:lnTo>
                    <a:pt x="663881" y="1119991"/>
                  </a:lnTo>
                  <a:lnTo>
                    <a:pt x="632607" y="1121127"/>
                  </a:lnTo>
                  <a:lnTo>
                    <a:pt x="599970" y="1120333"/>
                  </a:lnTo>
                  <a:lnTo>
                    <a:pt x="530609" y="1112957"/>
                  </a:lnTo>
                  <a:lnTo>
                    <a:pt x="455799" y="1097863"/>
                  </a:lnTo>
                  <a:lnTo>
                    <a:pt x="416350" y="1087421"/>
                  </a:lnTo>
                  <a:lnTo>
                    <a:pt x="375539" y="1075050"/>
                  </a:lnTo>
                  <a:lnTo>
                    <a:pt x="333365" y="1060749"/>
                  </a:lnTo>
                  <a:lnTo>
                    <a:pt x="289829" y="1044519"/>
                  </a:lnTo>
                  <a:lnTo>
                    <a:pt x="244930" y="1026359"/>
                  </a:lnTo>
                  <a:lnTo>
                    <a:pt x="198669" y="1006269"/>
                  </a:lnTo>
                  <a:lnTo>
                    <a:pt x="151045" y="984250"/>
                  </a:lnTo>
                  <a:lnTo>
                    <a:pt x="102059" y="960301"/>
                  </a:lnTo>
                  <a:lnTo>
                    <a:pt x="51710" y="934423"/>
                  </a:lnTo>
                  <a:lnTo>
                    <a:pt x="0" y="906615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4" name="object 54"/>
            <p:cNvSpPr/>
            <p:nvPr/>
          </p:nvSpPr>
          <p:spPr>
            <a:xfrm>
              <a:off x="18376089" y="9084905"/>
              <a:ext cx="1358900" cy="236854"/>
            </a:xfrm>
            <a:custGeom>
              <a:avLst/>
              <a:gdLst/>
              <a:ahLst/>
              <a:cxnLst/>
              <a:rect l="l" t="t" r="r" b="b"/>
              <a:pathLst>
                <a:path w="1358900" h="236854">
                  <a:moveTo>
                    <a:pt x="1358487" y="236791"/>
                  </a:moveTo>
                  <a:lnTo>
                    <a:pt x="0" y="0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5" name="object 55"/>
            <p:cNvSpPr/>
            <p:nvPr/>
          </p:nvSpPr>
          <p:spPr>
            <a:xfrm>
              <a:off x="16815927" y="8624011"/>
              <a:ext cx="685800" cy="283845"/>
            </a:xfrm>
            <a:custGeom>
              <a:avLst/>
              <a:gdLst/>
              <a:ahLst/>
              <a:cxnLst/>
              <a:rect l="l" t="t" r="r" b="b"/>
              <a:pathLst>
                <a:path w="685800" h="283845">
                  <a:moveTo>
                    <a:pt x="0" y="2652"/>
                  </a:moveTo>
                  <a:lnTo>
                    <a:pt x="47614" y="0"/>
                  </a:lnTo>
                  <a:lnTo>
                    <a:pt x="94595" y="41"/>
                  </a:lnTo>
                  <a:lnTo>
                    <a:pt x="140943" y="2778"/>
                  </a:lnTo>
                  <a:lnTo>
                    <a:pt x="186656" y="8208"/>
                  </a:lnTo>
                  <a:lnTo>
                    <a:pt x="231736" y="16332"/>
                  </a:lnTo>
                  <a:lnTo>
                    <a:pt x="276183" y="27151"/>
                  </a:lnTo>
                  <a:lnTo>
                    <a:pt x="319996" y="40663"/>
                  </a:lnTo>
                  <a:lnTo>
                    <a:pt x="363175" y="56870"/>
                  </a:lnTo>
                  <a:lnTo>
                    <a:pt x="405720" y="75771"/>
                  </a:lnTo>
                  <a:lnTo>
                    <a:pt x="447632" y="97365"/>
                  </a:lnTo>
                  <a:lnTo>
                    <a:pt x="488911" y="121655"/>
                  </a:lnTo>
                  <a:lnTo>
                    <a:pt x="529555" y="148638"/>
                  </a:lnTo>
                  <a:lnTo>
                    <a:pt x="569566" y="178315"/>
                  </a:lnTo>
                  <a:lnTo>
                    <a:pt x="608944" y="210686"/>
                  </a:lnTo>
                  <a:lnTo>
                    <a:pt x="647688" y="245752"/>
                  </a:lnTo>
                  <a:lnTo>
                    <a:pt x="685798" y="283511"/>
                  </a:lnTo>
                </a:path>
              </a:pathLst>
            </a:custGeom>
            <a:ln w="52354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347876" y="4022231"/>
            <a:ext cx="1549611" cy="755591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1304">
              <a:latin typeface="Times New Roman"/>
              <a:cs typeface="Times New Roman"/>
            </a:endParaRPr>
          </a:p>
          <a:p>
            <a:pPr marL="381112" marR="312658" indent="-68454">
              <a:lnSpc>
                <a:spcPct val="101000"/>
              </a:lnSpc>
            </a:pPr>
            <a:r>
              <a:rPr sz="1228" b="1" dirty="0">
                <a:latin typeface="Arial"/>
                <a:cs typeface="Arial"/>
              </a:rPr>
              <a:t>Real</a:t>
            </a:r>
            <a:r>
              <a:rPr sz="1228" b="1" spc="-5" dirty="0">
                <a:latin typeface="Arial"/>
                <a:cs typeface="Arial"/>
              </a:rPr>
              <a:t> images (database)</a:t>
            </a:r>
            <a:endParaRPr sz="1228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132487" y="4397510"/>
            <a:ext cx="477587" cy="375065"/>
          </a:xfrm>
          <a:custGeom>
            <a:avLst/>
            <a:gdLst/>
            <a:ahLst/>
            <a:cxnLst/>
            <a:rect l="l" t="t" r="r" b="b"/>
            <a:pathLst>
              <a:path w="952500" h="748029">
                <a:moveTo>
                  <a:pt x="614464" y="492194"/>
                </a:moveTo>
                <a:lnTo>
                  <a:pt x="614464" y="747832"/>
                </a:lnTo>
                <a:lnTo>
                  <a:pt x="952141" y="373916"/>
                </a:lnTo>
                <a:lnTo>
                  <a:pt x="614464" y="0"/>
                </a:lnTo>
                <a:lnTo>
                  <a:pt x="614464" y="255638"/>
                </a:lnTo>
                <a:lnTo>
                  <a:pt x="0" y="255638"/>
                </a:lnTo>
                <a:lnTo>
                  <a:pt x="0" y="492194"/>
                </a:lnTo>
                <a:lnTo>
                  <a:pt x="614464" y="49219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90345" y="4037695"/>
            <a:ext cx="1001478" cy="9777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1425" y="886156"/>
            <a:ext cx="4833181" cy="1010875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Training</a:t>
            </a:r>
            <a:r>
              <a:rPr sz="2056" spc="-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28" dirty="0">
                <a:solidFill>
                  <a:srgbClr val="00882B"/>
                </a:solidFill>
                <a:latin typeface="Arial"/>
                <a:cs typeface="Arial"/>
              </a:rPr>
              <a:t>procedure,</a:t>
            </a:r>
            <a:r>
              <a:rPr sz="2056" spc="-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we</a:t>
            </a:r>
            <a:r>
              <a:rPr sz="2056" spc="-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want</a:t>
            </a:r>
            <a:r>
              <a:rPr sz="2056" spc="-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to</a:t>
            </a:r>
            <a:r>
              <a:rPr sz="2056" spc="-2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minimize:</a:t>
            </a:r>
            <a:endParaRPr sz="2056"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2407">
              <a:latin typeface="Arial"/>
              <a:cs typeface="Arial"/>
            </a:endParaRPr>
          </a:p>
          <a:p>
            <a:pPr marL="880027" indent="-257577">
              <a:buSzPct val="75609"/>
              <a:buChar char="•"/>
              <a:tabLst>
                <a:tab pos="880027" algn="l"/>
                <a:tab pos="880346" algn="l"/>
              </a:tabLst>
            </a:pPr>
            <a:r>
              <a:rPr sz="2056" dirty="0">
                <a:latin typeface="Arial"/>
                <a:cs typeface="Arial"/>
              </a:rPr>
              <a:t>The</a:t>
            </a:r>
            <a:r>
              <a:rPr sz="2056" spc="-25" dirty="0">
                <a:latin typeface="Arial"/>
                <a:cs typeface="Arial"/>
              </a:rPr>
              <a:t> </a:t>
            </a:r>
            <a:r>
              <a:rPr sz="2056" spc="28" dirty="0">
                <a:latin typeface="Arial"/>
                <a:cs typeface="Arial"/>
              </a:rPr>
              <a:t>cost</a:t>
            </a:r>
            <a:r>
              <a:rPr sz="2056" spc="-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of</a:t>
            </a:r>
            <a:r>
              <a:rPr sz="2056" spc="-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the</a:t>
            </a:r>
            <a:r>
              <a:rPr sz="2056" spc="-25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discriminator</a:t>
            </a:r>
            <a:endParaRPr sz="205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0766" y="2048817"/>
            <a:ext cx="940210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  <a:tabLst>
                <a:tab pos="539351" algn="l"/>
              </a:tabLst>
            </a:pPr>
            <a:r>
              <a:rPr sz="3347" i="1" baseline="-24968" dirty="0">
                <a:latin typeface="Times New Roman"/>
                <a:cs typeface="Times New Roman"/>
              </a:rPr>
              <a:t>J</a:t>
            </a:r>
            <a:r>
              <a:rPr sz="3347" i="1" spc="-387" baseline="-24968" dirty="0">
                <a:latin typeface="Times New Roman"/>
                <a:cs typeface="Times New Roman"/>
              </a:rPr>
              <a:t> </a:t>
            </a: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18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D</a:t>
            </a:r>
            <a:r>
              <a:rPr sz="1279" i="1" spc="-186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r>
              <a:rPr sz="1279" dirty="0">
                <a:latin typeface="Times New Roman"/>
                <a:cs typeface="Times New Roman"/>
              </a:rPr>
              <a:t>	</a:t>
            </a:r>
            <a:r>
              <a:rPr sz="3347" baseline="-24968" dirty="0">
                <a:latin typeface="Symbol"/>
                <a:cs typeface="Symbol"/>
              </a:rPr>
              <a:t></a:t>
            </a:r>
            <a:r>
              <a:rPr sz="3347" spc="-38" baseline="-24968" dirty="0">
                <a:latin typeface="Times New Roman"/>
                <a:cs typeface="Times New Roman"/>
              </a:rPr>
              <a:t> </a:t>
            </a:r>
            <a:r>
              <a:rPr sz="3347" spc="-38" baseline="-24968" dirty="0">
                <a:latin typeface="Symbol"/>
                <a:cs typeface="Symbol"/>
              </a:rPr>
              <a:t></a:t>
            </a:r>
            <a:endParaRPr sz="3347" baseline="-24968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1718" y="1993132"/>
            <a:ext cx="15537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spc="5" dirty="0">
                <a:latin typeface="Times New Roman"/>
                <a:cs typeface="Times New Roman"/>
              </a:rPr>
              <a:t>1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0948" y="2391841"/>
            <a:ext cx="21873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8" dirty="0">
                <a:latin typeface="Times New Roman"/>
                <a:cs typeface="Times New Roman"/>
              </a:rPr>
              <a:t>m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5042" y="2384101"/>
            <a:ext cx="523754" cy="14328"/>
          </a:xfrm>
          <a:custGeom>
            <a:avLst/>
            <a:gdLst/>
            <a:ahLst/>
            <a:cxnLst/>
            <a:rect l="l" t="t" r="r" b="b"/>
            <a:pathLst>
              <a:path w="1044575" h="28575">
                <a:moveTo>
                  <a:pt x="1043960" y="0"/>
                </a:moveTo>
                <a:lnTo>
                  <a:pt x="0" y="0"/>
                </a:lnTo>
                <a:lnTo>
                  <a:pt x="0" y="28135"/>
                </a:lnTo>
                <a:lnTo>
                  <a:pt x="1043960" y="28135"/>
                </a:lnTo>
                <a:lnTo>
                  <a:pt x="1043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" name="object 7"/>
          <p:cNvSpPr txBox="1"/>
          <p:nvPr/>
        </p:nvSpPr>
        <p:spPr>
          <a:xfrm>
            <a:off x="3510528" y="2176523"/>
            <a:ext cx="13945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5" dirty="0">
                <a:latin typeface="Times New Roman"/>
                <a:cs typeface="Times New Roman"/>
              </a:rPr>
              <a:t>y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8234" y="2388871"/>
            <a:ext cx="274772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279" i="1" spc="-10" dirty="0">
                <a:latin typeface="Times New Roman"/>
                <a:cs typeface="Times New Roman"/>
              </a:rPr>
              <a:t>real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0857" y="2169098"/>
            <a:ext cx="1512677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  <a:tabLst>
                <a:tab pos="1320359" algn="l"/>
              </a:tabLst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r>
              <a:rPr sz="1279" dirty="0">
                <a:latin typeface="Times New Roman"/>
                <a:cs typeface="Times New Roman"/>
              </a:rPr>
              <a:t>	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8542" y="2176523"/>
            <a:ext cx="1634302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1259547" algn="l"/>
              </a:tabLst>
            </a:pPr>
            <a:r>
              <a:rPr sz="2231" dirty="0">
                <a:latin typeface="Times New Roman"/>
                <a:cs typeface="Times New Roman"/>
              </a:rPr>
              <a:t>.log(</a:t>
            </a:r>
            <a:r>
              <a:rPr sz="2231" spc="-278" dirty="0">
                <a:latin typeface="Times New Roman"/>
                <a:cs typeface="Times New Roman"/>
              </a:rPr>
              <a:t> </a:t>
            </a:r>
            <a:r>
              <a:rPr sz="2231" i="1" spc="63" dirty="0">
                <a:latin typeface="Times New Roman"/>
                <a:cs typeface="Times New Roman"/>
              </a:rPr>
              <a:t>D</a:t>
            </a:r>
            <a:r>
              <a:rPr sz="2231" spc="63" dirty="0">
                <a:latin typeface="Times New Roman"/>
                <a:cs typeface="Times New Roman"/>
              </a:rPr>
              <a:t>(</a:t>
            </a:r>
            <a:r>
              <a:rPr sz="2231" i="1" spc="63" dirty="0">
                <a:latin typeface="Times New Roman"/>
                <a:cs typeface="Times New Roman"/>
              </a:rPr>
              <a:t>x</a:t>
            </a:r>
            <a:r>
              <a:rPr sz="2231" i="1" dirty="0">
                <a:latin typeface="Times New Roman"/>
                <a:cs typeface="Times New Roman"/>
              </a:rPr>
              <a:t>	</a:t>
            </a:r>
            <a:r>
              <a:rPr sz="2231" spc="-28" dirty="0">
                <a:latin typeface="Times New Roman"/>
                <a:cs typeface="Times New Roman"/>
              </a:rPr>
              <a:t>))</a:t>
            </a:r>
            <a:r>
              <a:rPr sz="2231" spc="-333" dirty="0">
                <a:latin typeface="Times New Roman"/>
                <a:cs typeface="Times New Roman"/>
              </a:rPr>
              <a:t> </a:t>
            </a:r>
            <a:r>
              <a:rPr sz="2231" spc="-25" dirty="0">
                <a:latin typeface="Symbol"/>
                <a:cs typeface="Symbol"/>
              </a:rPr>
              <a:t></a:t>
            </a:r>
            <a:endParaRPr sz="2231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4675" y="2019860"/>
            <a:ext cx="338768" cy="205401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918" i="1" spc="-8" baseline="18518" dirty="0">
                <a:latin typeface="Times New Roman"/>
                <a:cs typeface="Times New Roman"/>
              </a:rPr>
              <a:t>m</a:t>
            </a:r>
            <a:r>
              <a:rPr sz="928" i="1" spc="-5" dirty="0">
                <a:latin typeface="Times New Roman"/>
                <a:cs typeface="Times New Roman"/>
              </a:rPr>
              <a:t>real</a:t>
            </a:r>
            <a:endParaRPr sz="92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2608" y="2090395"/>
            <a:ext cx="317755" cy="52433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3359" spc="5" dirty="0">
                <a:latin typeface="Symbol"/>
                <a:cs typeface="Symbol"/>
              </a:rPr>
              <a:t></a:t>
            </a:r>
            <a:endParaRPr sz="3359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71846" y="2571520"/>
            <a:ext cx="2206770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  <a:tabLst>
                <a:tab pos="310111" algn="l"/>
                <a:tab pos="1903329" algn="l"/>
              </a:tabLst>
            </a:pPr>
            <a:r>
              <a:rPr sz="1918" i="1" spc="-248" baseline="41394" dirty="0">
                <a:latin typeface="Times New Roman"/>
                <a:cs typeface="Times New Roman"/>
              </a:rPr>
              <a:t>i</a:t>
            </a:r>
            <a:r>
              <a:rPr sz="2231" spc="-544" dirty="0">
                <a:latin typeface="Arial Unicode MS"/>
                <a:cs typeface="Arial Unicode MS"/>
              </a:rPr>
              <a:t>-</a:t>
            </a:r>
            <a:r>
              <a:rPr sz="1918" spc="-19" baseline="41394" dirty="0">
                <a:latin typeface="Symbol"/>
                <a:cs typeface="Symbol"/>
              </a:rPr>
              <a:t></a:t>
            </a:r>
            <a:r>
              <a:rPr sz="1918" spc="-19" baseline="41394" dirty="0">
                <a:latin typeface="Times New Roman"/>
                <a:cs typeface="Times New Roman"/>
              </a:rPr>
              <a:t>1</a:t>
            </a:r>
            <a:r>
              <a:rPr sz="1918" baseline="41394" dirty="0">
                <a:latin typeface="Times New Roman"/>
                <a:cs typeface="Times New Roman"/>
              </a:rPr>
              <a:t>	</a:t>
            </a:r>
            <a:r>
              <a:rPr sz="2231" spc="1128" dirty="0">
                <a:latin typeface="Arial Unicode MS"/>
                <a:cs typeface="Arial Unicode MS"/>
              </a:rPr>
              <a:t>-</a:t>
            </a:r>
            <a:r>
              <a:rPr sz="2231" spc="-25" dirty="0">
                <a:latin typeface="Arial Unicode MS"/>
                <a:cs typeface="Arial Unicode MS"/>
              </a:rPr>
              <a:t>�</a:t>
            </a: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endParaRPr sz="2231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71256" y="2802270"/>
            <a:ext cx="558777" cy="68454"/>
          </a:xfrm>
          <a:custGeom>
            <a:avLst/>
            <a:gdLst/>
            <a:ahLst/>
            <a:cxnLst/>
            <a:rect l="l" t="t" r="r" b="b"/>
            <a:pathLst>
              <a:path w="1114425" h="136525">
                <a:moveTo>
                  <a:pt x="0" y="136470"/>
                </a:moveTo>
                <a:lnTo>
                  <a:pt x="1114126" y="136470"/>
                </a:lnTo>
                <a:lnTo>
                  <a:pt x="1114126" y="0"/>
                </a:lnTo>
                <a:lnTo>
                  <a:pt x="0" y="0"/>
                </a:lnTo>
                <a:lnTo>
                  <a:pt x="0" y="136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5" name="object 15"/>
          <p:cNvSpPr txBox="1"/>
          <p:nvPr/>
        </p:nvSpPr>
        <p:spPr>
          <a:xfrm>
            <a:off x="2352152" y="2483908"/>
            <a:ext cx="709376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79" i="1" spc="78" dirty="0">
                <a:latin typeface="Times New Roman"/>
                <a:cs typeface="Times New Roman"/>
              </a:rPr>
              <a:t>r</a:t>
            </a:r>
            <a:r>
              <a:rPr sz="1279" i="1" spc="88" dirty="0">
                <a:latin typeface="Times New Roman"/>
                <a:cs typeface="Times New Roman"/>
              </a:rPr>
              <a:t>e</a:t>
            </a:r>
            <a:r>
              <a:rPr sz="1279" i="1" spc="-471" dirty="0">
                <a:latin typeface="Times New Roman"/>
                <a:cs typeface="Times New Roman"/>
              </a:rPr>
              <a:t>a</a:t>
            </a:r>
            <a:r>
              <a:rPr sz="3347" spc="-688" baseline="-17478" dirty="0">
                <a:latin typeface="Arial Unicode MS"/>
                <a:cs typeface="Arial Unicode MS"/>
              </a:rPr>
              <a:t>-</a:t>
            </a:r>
            <a:r>
              <a:rPr sz="1279" i="1" spc="-25" dirty="0">
                <a:latin typeface="Times New Roman"/>
                <a:cs typeface="Times New Roman"/>
              </a:rPr>
              <a:t>l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2110" y="1993132"/>
            <a:ext cx="15537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spc="5" dirty="0">
                <a:latin typeface="Times New Roman"/>
                <a:cs typeface="Times New Roman"/>
              </a:rPr>
              <a:t>1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15447" y="2391841"/>
            <a:ext cx="21873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8" dirty="0">
                <a:latin typeface="Times New Roman"/>
                <a:cs typeface="Times New Roman"/>
              </a:rPr>
              <a:t>m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99538" y="2384101"/>
            <a:ext cx="495417" cy="14328"/>
          </a:xfrm>
          <a:custGeom>
            <a:avLst/>
            <a:gdLst/>
            <a:ahLst/>
            <a:cxnLst/>
            <a:rect l="l" t="t" r="r" b="b"/>
            <a:pathLst>
              <a:path w="988059" h="28575">
                <a:moveTo>
                  <a:pt x="987690" y="0"/>
                </a:moveTo>
                <a:lnTo>
                  <a:pt x="0" y="0"/>
                </a:lnTo>
                <a:lnTo>
                  <a:pt x="0" y="28135"/>
                </a:lnTo>
                <a:lnTo>
                  <a:pt x="987690" y="28135"/>
                </a:lnTo>
                <a:lnTo>
                  <a:pt x="9876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9" name="object 19"/>
          <p:cNvSpPr txBox="1"/>
          <p:nvPr/>
        </p:nvSpPr>
        <p:spPr>
          <a:xfrm>
            <a:off x="6461128" y="2176523"/>
            <a:ext cx="625002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dirty="0">
                <a:latin typeface="Times New Roman"/>
                <a:cs typeface="Times New Roman"/>
              </a:rPr>
              <a:t>(1</a:t>
            </a:r>
            <a:r>
              <a:rPr sz="2231" dirty="0">
                <a:latin typeface="Symbol"/>
                <a:cs typeface="Symbol"/>
              </a:rPr>
              <a:t></a:t>
            </a:r>
            <a:r>
              <a:rPr sz="2231" spc="160" dirty="0">
                <a:latin typeface="Times New Roman"/>
                <a:cs typeface="Times New Roman"/>
              </a:rPr>
              <a:t> </a:t>
            </a:r>
            <a:r>
              <a:rPr sz="2231" i="1" spc="-25" dirty="0">
                <a:latin typeface="Times New Roman"/>
                <a:cs typeface="Times New Roman"/>
              </a:rPr>
              <a:t>y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0352" y="2147120"/>
            <a:ext cx="249619" cy="450210"/>
          </a:xfrm>
          <a:prstGeom prst="rect">
            <a:avLst/>
          </a:prstGeom>
        </p:spPr>
        <p:txBody>
          <a:bodyPr vert="horz" wrap="square" lIns="0" tIns="30566" rIns="0" bIns="0" rtlCol="0">
            <a:spAutoFit/>
          </a:bodyPr>
          <a:lstStyle/>
          <a:p>
            <a:pPr marL="12736">
              <a:spcBef>
                <a:spcPts val="241"/>
              </a:spcBef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  <a:p>
            <a:pPr marL="6368">
              <a:spcBef>
                <a:spcPts val="198"/>
              </a:spcBef>
            </a:pPr>
            <a:r>
              <a:rPr sz="1279" i="1" spc="-13" dirty="0">
                <a:latin typeface="Times New Roman"/>
                <a:cs typeface="Times New Roman"/>
              </a:rPr>
              <a:t>gen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30328" y="2169098"/>
            <a:ext cx="198358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48386" y="2176523"/>
            <a:ext cx="2284776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2004896" algn="l"/>
              </a:tabLst>
            </a:pPr>
            <a:r>
              <a:rPr sz="2231" dirty="0">
                <a:latin typeface="Times New Roman"/>
                <a:cs typeface="Times New Roman"/>
              </a:rPr>
              <a:t>).log(1</a:t>
            </a:r>
            <a:r>
              <a:rPr sz="2231" dirty="0">
                <a:latin typeface="Symbol"/>
                <a:cs typeface="Symbol"/>
              </a:rPr>
              <a:t></a:t>
            </a:r>
            <a:r>
              <a:rPr sz="2231" spc="73" dirty="0">
                <a:latin typeface="Times New Roman"/>
                <a:cs typeface="Times New Roman"/>
              </a:rPr>
              <a:t> </a:t>
            </a:r>
            <a:r>
              <a:rPr sz="2231" i="1" spc="60" dirty="0">
                <a:latin typeface="Times New Roman"/>
                <a:cs typeface="Times New Roman"/>
              </a:rPr>
              <a:t>D</a:t>
            </a:r>
            <a:r>
              <a:rPr sz="2231" spc="60" dirty="0">
                <a:latin typeface="Times New Roman"/>
                <a:cs typeface="Times New Roman"/>
              </a:rPr>
              <a:t>(</a:t>
            </a:r>
            <a:r>
              <a:rPr sz="2231" i="1" spc="60" dirty="0">
                <a:latin typeface="Times New Roman"/>
                <a:cs typeface="Times New Roman"/>
              </a:rPr>
              <a:t>G</a:t>
            </a:r>
            <a:r>
              <a:rPr sz="2231" spc="60" dirty="0">
                <a:latin typeface="Times New Roman"/>
                <a:cs typeface="Times New Roman"/>
              </a:rPr>
              <a:t>(</a:t>
            </a:r>
            <a:r>
              <a:rPr sz="2231" i="1" spc="60" dirty="0">
                <a:latin typeface="Times New Roman"/>
                <a:cs typeface="Times New Roman"/>
              </a:rPr>
              <a:t>z</a:t>
            </a:r>
            <a:r>
              <a:rPr sz="2231" i="1" dirty="0">
                <a:latin typeface="Times New Roman"/>
                <a:cs typeface="Times New Roman"/>
              </a:rPr>
              <a:t>	</a:t>
            </a:r>
            <a:r>
              <a:rPr sz="2231" spc="-20" dirty="0">
                <a:latin typeface="Times New Roman"/>
                <a:cs typeface="Times New Roman"/>
              </a:rPr>
              <a:t>)))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20960" y="1995358"/>
            <a:ext cx="325396" cy="205401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918" i="1" spc="-15" baseline="18518" dirty="0">
                <a:latin typeface="Times New Roman"/>
                <a:cs typeface="Times New Roman"/>
              </a:rPr>
              <a:t>m</a:t>
            </a:r>
            <a:r>
              <a:rPr sz="928" i="1" spc="-10" dirty="0">
                <a:latin typeface="Times New Roman"/>
                <a:cs typeface="Times New Roman"/>
              </a:rPr>
              <a:t>gen</a:t>
            </a:r>
            <a:endParaRPr sz="92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16505" y="2090395"/>
            <a:ext cx="343226" cy="714831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lnSpc>
                <a:spcPts val="3439"/>
              </a:lnSpc>
              <a:spcBef>
                <a:spcPts val="57"/>
              </a:spcBef>
            </a:pPr>
            <a:r>
              <a:rPr sz="3359" spc="5" dirty="0">
                <a:latin typeface="Symbol"/>
                <a:cs typeface="Symbol"/>
              </a:rPr>
              <a:t></a:t>
            </a:r>
            <a:endParaRPr sz="3359">
              <a:latin typeface="Symbol"/>
              <a:cs typeface="Symbol"/>
            </a:endParaRPr>
          </a:p>
          <a:p>
            <a:pPr marL="71001">
              <a:lnSpc>
                <a:spcPts val="2086"/>
              </a:lnSpc>
            </a:pPr>
            <a:r>
              <a:rPr sz="1279" i="1" spc="-251" dirty="0">
                <a:latin typeface="Times New Roman"/>
                <a:cs typeface="Times New Roman"/>
              </a:rPr>
              <a:t>i</a:t>
            </a:r>
            <a:r>
              <a:rPr sz="1279" spc="-251" dirty="0">
                <a:latin typeface="Symbol"/>
                <a:cs typeface="Symbol"/>
              </a:rPr>
              <a:t></a:t>
            </a:r>
            <a:r>
              <a:rPr sz="3347" spc="-376" baseline="-30586" dirty="0">
                <a:latin typeface="Arial Unicode MS"/>
                <a:cs typeface="Arial Unicode MS"/>
              </a:rPr>
              <a:t>-</a:t>
            </a:r>
            <a:r>
              <a:rPr sz="1279" spc="-25" dirty="0">
                <a:latin typeface="Times New Roman"/>
                <a:cs typeface="Times New Roman"/>
              </a:rPr>
              <a:t>1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05755" y="2836424"/>
            <a:ext cx="558777" cy="68454"/>
          </a:xfrm>
          <a:custGeom>
            <a:avLst/>
            <a:gdLst/>
            <a:ahLst/>
            <a:cxnLst/>
            <a:rect l="l" t="t" r="r" b="b"/>
            <a:pathLst>
              <a:path w="1114425" h="136525">
                <a:moveTo>
                  <a:pt x="0" y="136470"/>
                </a:moveTo>
                <a:lnTo>
                  <a:pt x="1114126" y="136470"/>
                </a:lnTo>
                <a:lnTo>
                  <a:pt x="1114126" y="0"/>
                </a:lnTo>
                <a:lnTo>
                  <a:pt x="0" y="0"/>
                </a:lnTo>
                <a:lnTo>
                  <a:pt x="0" y="136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6" name="object 26"/>
          <p:cNvSpPr txBox="1"/>
          <p:nvPr/>
        </p:nvSpPr>
        <p:spPr>
          <a:xfrm>
            <a:off x="5386651" y="2483908"/>
            <a:ext cx="690272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79" i="1" spc="30" dirty="0">
                <a:latin typeface="Times New Roman"/>
                <a:cs typeface="Times New Roman"/>
              </a:rPr>
              <a:t>g</a:t>
            </a:r>
            <a:r>
              <a:rPr sz="1279" i="1" spc="-115" dirty="0">
                <a:latin typeface="Times New Roman"/>
                <a:cs typeface="Times New Roman"/>
              </a:rPr>
              <a:t>e</a:t>
            </a:r>
            <a:r>
              <a:rPr sz="3347" spc="-1008" baseline="-23720" dirty="0">
                <a:latin typeface="Arial Unicode MS"/>
                <a:cs typeface="Arial Unicode MS"/>
              </a:rPr>
              <a:t>-</a:t>
            </a:r>
            <a:r>
              <a:rPr sz="1279" i="1" spc="-25" dirty="0">
                <a:latin typeface="Times New Roman"/>
                <a:cs typeface="Times New Roman"/>
              </a:rPr>
              <a:t>n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10131" y="2605674"/>
            <a:ext cx="3110047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854238" algn="l"/>
                <a:tab pos="2819335" algn="l"/>
              </a:tabLst>
            </a:pP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endParaRPr sz="2231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0962" y="2996713"/>
            <a:ext cx="2528664" cy="34447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" algn="ctr">
              <a:lnSpc>
                <a:spcPts val="1324"/>
              </a:lnSpc>
              <a:spcBef>
                <a:spcPts val="63"/>
              </a:spcBef>
            </a:pPr>
            <a:r>
              <a:rPr sz="1103" dirty="0">
                <a:latin typeface="Arial"/>
                <a:cs typeface="Arial"/>
              </a:rPr>
              <a:t>cross-entropy</a:t>
            </a:r>
            <a:r>
              <a:rPr sz="1103" spc="130" dirty="0">
                <a:latin typeface="Arial"/>
                <a:cs typeface="Arial"/>
              </a:rPr>
              <a:t> </a:t>
            </a:r>
            <a:r>
              <a:rPr sz="1103" spc="-13" dirty="0">
                <a:latin typeface="Arial"/>
                <a:cs typeface="Arial"/>
              </a:rPr>
              <a:t>1:</a:t>
            </a:r>
            <a:endParaRPr sz="1103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3" spc="33" dirty="0">
                <a:latin typeface="Arial"/>
                <a:cs typeface="Arial"/>
              </a:rPr>
              <a:t>“D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should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correctly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label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real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data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as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spc="20" dirty="0">
                <a:latin typeface="Arial"/>
                <a:cs typeface="Arial"/>
              </a:rPr>
              <a:t>1”</a:t>
            </a:r>
            <a:endParaRPr sz="1103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97544" y="2996713"/>
            <a:ext cx="2948941" cy="34447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" algn="ctr">
              <a:lnSpc>
                <a:spcPts val="1324"/>
              </a:lnSpc>
              <a:spcBef>
                <a:spcPts val="63"/>
              </a:spcBef>
            </a:pPr>
            <a:r>
              <a:rPr sz="1103" dirty="0">
                <a:latin typeface="Arial"/>
                <a:cs typeface="Arial"/>
              </a:rPr>
              <a:t>cross-entropy</a:t>
            </a:r>
            <a:r>
              <a:rPr sz="1103" spc="130" dirty="0">
                <a:latin typeface="Arial"/>
                <a:cs typeface="Arial"/>
              </a:rPr>
              <a:t> </a:t>
            </a:r>
            <a:r>
              <a:rPr sz="1103" spc="-13" dirty="0">
                <a:latin typeface="Arial"/>
                <a:cs typeface="Arial"/>
              </a:rPr>
              <a:t>2:</a:t>
            </a:r>
            <a:endParaRPr sz="1103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3" spc="33" dirty="0">
                <a:latin typeface="Arial"/>
                <a:cs typeface="Arial"/>
              </a:rPr>
              <a:t>“D</a:t>
            </a:r>
            <a:r>
              <a:rPr sz="1103" spc="7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should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correctly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label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generated</a:t>
            </a:r>
            <a:r>
              <a:rPr sz="1103" spc="7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data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as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spc="20" dirty="0">
                <a:latin typeface="Arial"/>
                <a:cs typeface="Arial"/>
              </a:rPr>
              <a:t>0”</a:t>
            </a:r>
            <a:endParaRPr sz="1103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29217" y="4313999"/>
            <a:ext cx="1905572" cy="40897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  <a:tabLst>
                <a:tab pos="613854" algn="l"/>
                <a:tab pos="1703381" algn="l"/>
              </a:tabLst>
            </a:pPr>
            <a:r>
              <a:rPr sz="3911" i="1" baseline="-25106" dirty="0">
                <a:latin typeface="Times New Roman"/>
                <a:cs typeface="Times New Roman"/>
              </a:rPr>
              <a:t>J</a:t>
            </a:r>
            <a:r>
              <a:rPr sz="3911" i="1" spc="-470" baseline="-25106" dirty="0">
                <a:latin typeface="Times New Roman"/>
                <a:cs typeface="Times New Roman"/>
              </a:rPr>
              <a:t> </a:t>
            </a:r>
            <a:r>
              <a:rPr sz="1504" spc="53" dirty="0">
                <a:latin typeface="Times New Roman"/>
                <a:cs typeface="Times New Roman"/>
              </a:rPr>
              <a:t>(</a:t>
            </a:r>
            <a:r>
              <a:rPr sz="1504" i="1" spc="53" dirty="0">
                <a:latin typeface="Times New Roman"/>
                <a:cs typeface="Times New Roman"/>
              </a:rPr>
              <a:t>G</a:t>
            </a:r>
            <a:r>
              <a:rPr sz="1504" i="1" spc="-193" dirty="0">
                <a:latin typeface="Times New Roman"/>
                <a:cs typeface="Times New Roman"/>
              </a:rPr>
              <a:t> </a:t>
            </a:r>
            <a:r>
              <a:rPr sz="1504" spc="-25" dirty="0">
                <a:latin typeface="Times New Roman"/>
                <a:cs typeface="Times New Roman"/>
              </a:rPr>
              <a:t>)</a:t>
            </a:r>
            <a:r>
              <a:rPr sz="1504" dirty="0">
                <a:latin typeface="Times New Roman"/>
                <a:cs typeface="Times New Roman"/>
              </a:rPr>
              <a:t>	</a:t>
            </a:r>
            <a:r>
              <a:rPr sz="3911" baseline="-25106" dirty="0">
                <a:latin typeface="Symbol"/>
                <a:cs typeface="Symbol"/>
              </a:rPr>
              <a:t></a:t>
            </a:r>
            <a:r>
              <a:rPr sz="3911" spc="-38" baseline="-25106" dirty="0">
                <a:latin typeface="Times New Roman"/>
                <a:cs typeface="Times New Roman"/>
              </a:rPr>
              <a:t> </a:t>
            </a:r>
            <a:r>
              <a:rPr sz="3911" baseline="-25106" dirty="0">
                <a:latin typeface="Symbol"/>
                <a:cs typeface="Symbol"/>
              </a:rPr>
              <a:t></a:t>
            </a:r>
            <a:r>
              <a:rPr sz="3911" spc="-538" baseline="-25106" dirty="0">
                <a:latin typeface="Times New Roman"/>
                <a:cs typeface="Times New Roman"/>
              </a:rPr>
              <a:t> </a:t>
            </a:r>
            <a:r>
              <a:rPr sz="3911" i="1" baseline="-25106" dirty="0">
                <a:latin typeface="Times New Roman"/>
                <a:cs typeface="Times New Roman"/>
              </a:rPr>
              <a:t>J</a:t>
            </a:r>
            <a:r>
              <a:rPr sz="3911" i="1" spc="-462" baseline="-25106" dirty="0">
                <a:latin typeface="Times New Roman"/>
                <a:cs typeface="Times New Roman"/>
              </a:rPr>
              <a:t> </a:t>
            </a:r>
            <a:r>
              <a:rPr sz="1504" dirty="0">
                <a:latin typeface="Times New Roman"/>
                <a:cs typeface="Times New Roman"/>
              </a:rPr>
              <a:t>(</a:t>
            </a:r>
            <a:r>
              <a:rPr sz="1504" spc="-145" dirty="0">
                <a:latin typeface="Times New Roman"/>
                <a:cs typeface="Times New Roman"/>
              </a:rPr>
              <a:t> </a:t>
            </a:r>
            <a:r>
              <a:rPr sz="1504" i="1" dirty="0">
                <a:latin typeface="Times New Roman"/>
                <a:cs typeface="Times New Roman"/>
              </a:rPr>
              <a:t>D</a:t>
            </a:r>
            <a:r>
              <a:rPr sz="1504" i="1" spc="-223" dirty="0">
                <a:latin typeface="Times New Roman"/>
                <a:cs typeface="Times New Roman"/>
              </a:rPr>
              <a:t> </a:t>
            </a:r>
            <a:r>
              <a:rPr sz="1504" spc="-25" dirty="0">
                <a:latin typeface="Times New Roman"/>
                <a:cs typeface="Times New Roman"/>
              </a:rPr>
              <a:t>)</a:t>
            </a:r>
            <a:r>
              <a:rPr sz="1504" dirty="0">
                <a:latin typeface="Times New Roman"/>
                <a:cs typeface="Times New Roman"/>
              </a:rPr>
              <a:t>	</a:t>
            </a:r>
            <a:r>
              <a:rPr sz="3911" spc="-38" baseline="-25106" dirty="0">
                <a:latin typeface="Symbol"/>
                <a:cs typeface="Symbol"/>
              </a:rPr>
              <a:t></a:t>
            </a:r>
            <a:endParaRPr sz="3911" baseline="-25106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04628" y="4249040"/>
            <a:ext cx="179254" cy="40891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607" spc="5" dirty="0">
                <a:latin typeface="Times New Roman"/>
                <a:cs typeface="Times New Roman"/>
              </a:rPr>
              <a:t>1</a:t>
            </a:r>
            <a:endParaRPr sz="2607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1879" y="4714141"/>
            <a:ext cx="253121" cy="40891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607" i="1" spc="8" dirty="0">
                <a:latin typeface="Times New Roman"/>
                <a:cs typeface="Times New Roman"/>
              </a:rPr>
              <a:t>m</a:t>
            </a:r>
            <a:endParaRPr sz="260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53996" y="4961848"/>
            <a:ext cx="289099" cy="23918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504" i="1" spc="-13" dirty="0">
                <a:latin typeface="Times New Roman"/>
                <a:cs typeface="Times New Roman"/>
              </a:rPr>
              <a:t>gen</a:t>
            </a:r>
            <a:endParaRPr sz="150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02263" y="4704053"/>
            <a:ext cx="577880" cy="16556"/>
          </a:xfrm>
          <a:custGeom>
            <a:avLst/>
            <a:gdLst/>
            <a:ahLst/>
            <a:cxnLst/>
            <a:rect l="l" t="t" r="r" b="b"/>
            <a:pathLst>
              <a:path w="1152525" h="33020">
                <a:moveTo>
                  <a:pt x="1152155" y="0"/>
                </a:moveTo>
                <a:lnTo>
                  <a:pt x="0" y="0"/>
                </a:lnTo>
                <a:lnTo>
                  <a:pt x="0" y="32820"/>
                </a:lnTo>
                <a:lnTo>
                  <a:pt x="1152155" y="32820"/>
                </a:lnTo>
                <a:lnTo>
                  <a:pt x="1152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5" name="object 35"/>
          <p:cNvSpPr txBox="1"/>
          <p:nvPr/>
        </p:nvSpPr>
        <p:spPr>
          <a:xfrm>
            <a:off x="4602571" y="4462969"/>
            <a:ext cx="2490139" cy="40891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2607" dirty="0">
                <a:latin typeface="Times New Roman"/>
                <a:cs typeface="Times New Roman"/>
              </a:rPr>
              <a:t>log(1</a:t>
            </a:r>
            <a:r>
              <a:rPr sz="2607" dirty="0">
                <a:latin typeface="Symbol"/>
                <a:cs typeface="Symbol"/>
              </a:rPr>
              <a:t></a:t>
            </a:r>
            <a:r>
              <a:rPr sz="2607" spc="35" dirty="0">
                <a:latin typeface="Times New Roman"/>
                <a:cs typeface="Times New Roman"/>
              </a:rPr>
              <a:t> </a:t>
            </a:r>
            <a:r>
              <a:rPr sz="2607" i="1" spc="95" dirty="0">
                <a:latin typeface="Times New Roman"/>
                <a:cs typeface="Times New Roman"/>
              </a:rPr>
              <a:t>D</a:t>
            </a:r>
            <a:r>
              <a:rPr sz="2607" spc="95" dirty="0">
                <a:latin typeface="Times New Roman"/>
                <a:cs typeface="Times New Roman"/>
              </a:rPr>
              <a:t>(</a:t>
            </a:r>
            <a:r>
              <a:rPr sz="2607" i="1" spc="95" dirty="0">
                <a:latin typeface="Times New Roman"/>
                <a:cs typeface="Times New Roman"/>
              </a:rPr>
              <a:t>G</a:t>
            </a:r>
            <a:r>
              <a:rPr sz="2607" spc="95" dirty="0">
                <a:latin typeface="Times New Roman"/>
                <a:cs typeface="Times New Roman"/>
              </a:rPr>
              <a:t>(</a:t>
            </a:r>
            <a:r>
              <a:rPr sz="2607" i="1" spc="95" dirty="0">
                <a:latin typeface="Times New Roman"/>
                <a:cs typeface="Times New Roman"/>
              </a:rPr>
              <a:t>z</a:t>
            </a:r>
            <a:r>
              <a:rPr sz="2256" spc="142" baseline="43518" dirty="0">
                <a:latin typeface="Times New Roman"/>
                <a:cs typeface="Times New Roman"/>
              </a:rPr>
              <a:t>(</a:t>
            </a:r>
            <a:r>
              <a:rPr sz="2256" spc="-338" baseline="43518" dirty="0">
                <a:latin typeface="Times New Roman"/>
                <a:cs typeface="Times New Roman"/>
              </a:rPr>
              <a:t> </a:t>
            </a:r>
            <a:r>
              <a:rPr sz="2256" i="1" baseline="43518" dirty="0">
                <a:latin typeface="Times New Roman"/>
                <a:cs typeface="Times New Roman"/>
              </a:rPr>
              <a:t>i</a:t>
            </a:r>
            <a:r>
              <a:rPr sz="2256" i="1" spc="-361" baseline="43518" dirty="0">
                <a:latin typeface="Times New Roman"/>
                <a:cs typeface="Times New Roman"/>
              </a:rPr>
              <a:t> </a:t>
            </a:r>
            <a:r>
              <a:rPr sz="2256" baseline="43518" dirty="0">
                <a:latin typeface="Times New Roman"/>
                <a:cs typeface="Times New Roman"/>
              </a:rPr>
              <a:t>)</a:t>
            </a:r>
            <a:r>
              <a:rPr sz="2256" spc="-116" baseline="43518" dirty="0">
                <a:latin typeface="Times New Roman"/>
                <a:cs typeface="Times New Roman"/>
              </a:rPr>
              <a:t> </a:t>
            </a:r>
            <a:r>
              <a:rPr sz="2607" spc="-13" dirty="0">
                <a:latin typeface="Times New Roman"/>
                <a:cs typeface="Times New Roman"/>
              </a:rPr>
              <a:t>)))</a:t>
            </a:r>
            <a:endParaRPr sz="260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81854" y="4923739"/>
            <a:ext cx="266812" cy="23918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504" i="1" spc="-13" dirty="0">
                <a:latin typeface="Times New Roman"/>
                <a:cs typeface="Times New Roman"/>
              </a:rPr>
              <a:t>i</a:t>
            </a:r>
            <a:r>
              <a:rPr sz="1504" spc="-13" dirty="0">
                <a:latin typeface="Symbol"/>
                <a:cs typeface="Symbol"/>
              </a:rPr>
              <a:t></a:t>
            </a:r>
            <a:r>
              <a:rPr sz="1504" spc="-13" dirty="0">
                <a:latin typeface="Times New Roman"/>
                <a:cs typeface="Times New Roman"/>
              </a:rPr>
              <a:t>1</a:t>
            </a:r>
            <a:endParaRPr sz="1504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3688" y="4251638"/>
            <a:ext cx="373155" cy="23918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2256" i="1" spc="-15" baseline="18518" dirty="0">
                <a:latin typeface="Times New Roman"/>
                <a:cs typeface="Times New Roman"/>
              </a:rPr>
              <a:t>m</a:t>
            </a:r>
            <a:r>
              <a:rPr sz="1078" i="1" spc="-10" dirty="0">
                <a:latin typeface="Times New Roman"/>
                <a:cs typeface="Times New Roman"/>
              </a:rPr>
              <a:t>gen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21227" y="4362501"/>
            <a:ext cx="368379" cy="610512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3911" spc="10" dirty="0">
                <a:latin typeface="Symbol"/>
                <a:cs typeface="Symbol"/>
              </a:rPr>
              <a:t></a:t>
            </a:r>
            <a:endParaRPr sz="3911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45841" y="4524503"/>
            <a:ext cx="2599347" cy="34749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7063" marR="2547" indent="-21014">
              <a:spcBef>
                <a:spcPts val="63"/>
              </a:spcBef>
            </a:pPr>
            <a:r>
              <a:rPr sz="1103" spc="35" dirty="0">
                <a:latin typeface="Arial"/>
                <a:cs typeface="Arial"/>
              </a:rPr>
              <a:t>“G </a:t>
            </a:r>
            <a:r>
              <a:rPr sz="1103" dirty="0">
                <a:latin typeface="Arial"/>
                <a:cs typeface="Arial"/>
              </a:rPr>
              <a:t>should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try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to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fool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D: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spc="33" dirty="0">
                <a:latin typeface="Arial"/>
                <a:cs typeface="Arial"/>
              </a:rPr>
              <a:t>by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minimizing</a:t>
            </a:r>
            <a:r>
              <a:rPr sz="1103" spc="38" dirty="0">
                <a:latin typeface="Arial"/>
                <a:cs typeface="Arial"/>
              </a:rPr>
              <a:t> </a:t>
            </a:r>
            <a:r>
              <a:rPr sz="1103" spc="-13" dirty="0">
                <a:latin typeface="Arial"/>
                <a:cs typeface="Arial"/>
              </a:rPr>
              <a:t>the </a:t>
            </a:r>
            <a:r>
              <a:rPr sz="1103" dirty="0">
                <a:latin typeface="Arial"/>
                <a:cs typeface="Arial"/>
              </a:rPr>
              <a:t>opposite</a:t>
            </a:r>
            <a:r>
              <a:rPr sz="1103" spc="4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of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what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is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trying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to</a:t>
            </a:r>
            <a:r>
              <a:rPr sz="1103" spc="50" dirty="0">
                <a:latin typeface="Arial"/>
                <a:cs typeface="Arial"/>
              </a:rPr>
              <a:t> </a:t>
            </a:r>
            <a:r>
              <a:rPr sz="1103" spc="-5" dirty="0">
                <a:latin typeface="Arial"/>
                <a:cs typeface="Arial"/>
              </a:rPr>
              <a:t>minimize”</a:t>
            </a:r>
            <a:endParaRPr sz="1103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4137758" y="172557"/>
            <a:ext cx="1805916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II.B</a:t>
            </a:r>
            <a:r>
              <a:rPr sz="1930" b="1" spc="-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97926" y="3786858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55184" y="3742232"/>
            <a:ext cx="2960721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The</a:t>
            </a:r>
            <a:r>
              <a:rPr sz="2056" spc="-25" dirty="0">
                <a:latin typeface="Arial"/>
                <a:cs typeface="Arial"/>
              </a:rPr>
              <a:t> </a:t>
            </a:r>
            <a:r>
              <a:rPr sz="2056" spc="28" dirty="0">
                <a:latin typeface="Arial"/>
                <a:cs typeface="Arial"/>
              </a:rPr>
              <a:t>cost</a:t>
            </a:r>
            <a:r>
              <a:rPr sz="2056" spc="-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of</a:t>
            </a:r>
            <a:r>
              <a:rPr sz="2056" spc="-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the</a:t>
            </a:r>
            <a:r>
              <a:rPr sz="2056" spc="-25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generator</a:t>
            </a:r>
            <a:endParaRPr sz="2056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82613" y="1368923"/>
            <a:ext cx="264902" cy="21898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379" i="1" spc="-13" dirty="0">
                <a:latin typeface="Times New Roman"/>
                <a:cs typeface="Times New Roman"/>
              </a:rPr>
              <a:t>gen</a:t>
            </a:r>
            <a:endParaRPr sz="1379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39566" y="750972"/>
            <a:ext cx="640922" cy="373904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3572" spc="-887" baseline="19883" dirty="0">
                <a:latin typeface="Symbol"/>
                <a:cs typeface="Symbol"/>
              </a:rPr>
              <a:t></a:t>
            </a:r>
            <a:r>
              <a:rPr sz="3572" spc="-887" baseline="3508" dirty="0">
                <a:latin typeface="Symbol"/>
                <a:cs typeface="Symbol"/>
              </a:rPr>
              <a:t></a:t>
            </a:r>
            <a:r>
              <a:rPr sz="3572" spc="-436" baseline="3508" dirty="0">
                <a:latin typeface="Times New Roman"/>
                <a:cs typeface="Times New Roman"/>
              </a:rPr>
              <a:t> </a:t>
            </a:r>
            <a:r>
              <a:rPr sz="3572" i="1" spc="-8" baseline="18128" dirty="0">
                <a:latin typeface="Times New Roman"/>
                <a:cs typeface="Times New Roman"/>
              </a:rPr>
              <a:t>y</a:t>
            </a:r>
            <a:r>
              <a:rPr sz="1379" i="1" spc="-5" dirty="0">
                <a:latin typeface="Times New Roman"/>
                <a:cs typeface="Times New Roman"/>
              </a:rPr>
              <a:t>real</a:t>
            </a:r>
            <a:endParaRPr sz="1379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702841" y="934472"/>
            <a:ext cx="1297763" cy="373904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2056" dirty="0">
                <a:latin typeface="Arial"/>
                <a:cs typeface="Arial"/>
              </a:rPr>
              <a:t>Labels:</a:t>
            </a:r>
            <a:r>
              <a:rPr sz="2056" spc="113" dirty="0">
                <a:latin typeface="Arial"/>
                <a:cs typeface="Arial"/>
              </a:rPr>
              <a:t> </a:t>
            </a:r>
            <a:r>
              <a:rPr sz="3572" baseline="-5263" dirty="0">
                <a:latin typeface="Symbol"/>
                <a:cs typeface="Symbol"/>
              </a:rPr>
              <a:t></a:t>
            </a:r>
            <a:r>
              <a:rPr sz="3572" spc="-380" baseline="-5263" dirty="0">
                <a:latin typeface="Times New Roman"/>
                <a:cs typeface="Times New Roman"/>
              </a:rPr>
              <a:t> </a:t>
            </a:r>
            <a:r>
              <a:rPr sz="3572" i="1" spc="-38" baseline="-38011" dirty="0">
                <a:latin typeface="Times New Roman"/>
                <a:cs typeface="Times New Roman"/>
              </a:rPr>
              <a:t>y</a:t>
            </a:r>
            <a:endParaRPr sz="3572" baseline="-38011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33198" y="701311"/>
            <a:ext cx="2071773" cy="907991"/>
          </a:xfrm>
          <a:prstGeom prst="rect">
            <a:avLst/>
          </a:prstGeom>
        </p:spPr>
        <p:txBody>
          <a:bodyPr vert="horz" wrap="square" lIns="0" tIns="108571" rIns="0" bIns="0" rtlCol="0">
            <a:spAutoFit/>
          </a:bodyPr>
          <a:lstStyle/>
          <a:p>
            <a:pPr marL="768591">
              <a:spcBef>
                <a:spcPts val="855"/>
              </a:spcBef>
            </a:pPr>
            <a:r>
              <a:rPr sz="2056" dirty="0">
                <a:latin typeface="Arial"/>
                <a:cs typeface="Arial"/>
              </a:rPr>
              <a:t>is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always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spc="-25" dirty="0">
                <a:latin typeface="Arial"/>
                <a:cs typeface="Arial"/>
              </a:rPr>
              <a:t>1</a:t>
            </a:r>
            <a:endParaRPr sz="2056">
              <a:latin typeface="Arial"/>
              <a:cs typeface="Arial"/>
            </a:endParaRPr>
          </a:p>
          <a:p>
            <a:pPr marL="25471">
              <a:spcBef>
                <a:spcPts val="928"/>
              </a:spcBef>
              <a:tabLst>
                <a:tab pos="768591" algn="l"/>
              </a:tabLst>
            </a:pPr>
            <a:r>
              <a:rPr sz="2382" spc="-604" dirty="0">
                <a:latin typeface="Symbol"/>
                <a:cs typeface="Symbol"/>
              </a:rPr>
              <a:t></a:t>
            </a:r>
            <a:r>
              <a:rPr sz="3572" spc="-906" baseline="-8771" dirty="0">
                <a:latin typeface="Symbol"/>
                <a:cs typeface="Symbol"/>
              </a:rPr>
              <a:t></a:t>
            </a:r>
            <a:r>
              <a:rPr sz="3572" baseline="-8771" dirty="0">
                <a:latin typeface="Times New Roman"/>
                <a:cs typeface="Times New Roman"/>
              </a:rPr>
              <a:t>	</a:t>
            </a:r>
            <a:r>
              <a:rPr sz="2056" dirty="0">
                <a:latin typeface="Arial"/>
                <a:cs typeface="Arial"/>
              </a:rPr>
              <a:t>is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always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spc="-25" dirty="0">
                <a:latin typeface="Arial"/>
                <a:cs typeface="Arial"/>
              </a:rPr>
              <a:t>0</a:t>
            </a:r>
            <a:endParaRPr sz="2056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596900" y="244847"/>
            <a:ext cx="9264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360795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8" dirty="0"/>
              <a:t> </a:t>
            </a:r>
            <a:r>
              <a:rPr dirty="0"/>
              <a:t>Generative</a:t>
            </a:r>
            <a:r>
              <a:rPr spc="-75" dirty="0"/>
              <a:t> </a:t>
            </a:r>
            <a:r>
              <a:rPr dirty="0"/>
              <a:t>Adversarial</a:t>
            </a:r>
            <a:r>
              <a:rPr spc="-5" dirty="0"/>
              <a:t> </a:t>
            </a:r>
            <a:r>
              <a:rPr dirty="0"/>
              <a:t>Networks</a:t>
            </a:r>
            <a:r>
              <a:rPr spc="-3" dirty="0"/>
              <a:t> </a:t>
            </a:r>
            <a:r>
              <a:rPr spc="-5" dirty="0"/>
              <a:t>(GANs)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2446" y="1265216"/>
            <a:ext cx="2137043" cy="329277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336856" indent="-330806">
              <a:spcBef>
                <a:spcPts val="53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Motivation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405309" indent="-399260">
              <a:spcBef>
                <a:spcPts val="1241"/>
              </a:spcBef>
              <a:buAutoNum type="alphaUcPeriod"/>
              <a:tabLst>
                <a:tab pos="405309" algn="l"/>
                <a:tab pos="405628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b="1" spc="-10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79"/>
              </a:spcBef>
              <a:buAutoNum type="alphaUcPeriod"/>
              <a:tabLst>
                <a:tab pos="337174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In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terms</a:t>
            </a:r>
            <a:r>
              <a:rPr sz="1930" spc="1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40" dirty="0">
                <a:solidFill>
                  <a:srgbClr val="C82506"/>
                </a:solidFill>
                <a:latin typeface="Arial"/>
                <a:cs typeface="Arial"/>
              </a:rPr>
              <a:t>code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6856" algn="l"/>
                <a:tab pos="337174" algn="l"/>
              </a:tabLst>
            </a:pPr>
            <a:r>
              <a:rPr sz="1930" spc="28" dirty="0">
                <a:solidFill>
                  <a:srgbClr val="C82506"/>
                </a:solidFill>
                <a:latin typeface="Arial"/>
                <a:cs typeface="Arial"/>
              </a:rPr>
              <a:t>Nice</a:t>
            </a:r>
            <a:r>
              <a:rPr sz="193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99" y="5464279"/>
            <a:ext cx="5657814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80501" y="172557"/>
            <a:ext cx="2325849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II.C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4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653" y="733902"/>
            <a:ext cx="2040889" cy="63884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 marR="2547" indent="131176">
              <a:lnSpc>
                <a:spcPct val="100499"/>
              </a:lnSpc>
              <a:spcBef>
                <a:spcPts val="48"/>
              </a:spcBef>
            </a:pP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Saturating</a:t>
            </a:r>
            <a:r>
              <a:rPr sz="2056" spc="-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18" dirty="0">
                <a:solidFill>
                  <a:srgbClr val="00882B"/>
                </a:solidFill>
                <a:latin typeface="Arial"/>
                <a:cs typeface="Arial"/>
              </a:rPr>
              <a:t>cost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for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the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generator:</a:t>
            </a:r>
            <a:endParaRPr sz="2056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19668" y="1562298"/>
            <a:ext cx="3997721" cy="3035862"/>
            <a:chOff x="5021707" y="3115848"/>
            <a:chExt cx="7973059" cy="6054725"/>
          </a:xfrm>
        </p:grpSpPr>
        <p:sp>
          <p:nvSpPr>
            <p:cNvPr id="7" name="object 7"/>
            <p:cNvSpPr/>
            <p:nvPr/>
          </p:nvSpPr>
          <p:spPr>
            <a:xfrm>
              <a:off x="5108942" y="3552325"/>
              <a:ext cx="6975475" cy="1462405"/>
            </a:xfrm>
            <a:custGeom>
              <a:avLst/>
              <a:gdLst/>
              <a:ahLst/>
              <a:cxnLst/>
              <a:rect l="l" t="t" r="r" b="b"/>
              <a:pathLst>
                <a:path w="6975475" h="1462404">
                  <a:moveTo>
                    <a:pt x="0" y="0"/>
                  </a:moveTo>
                  <a:lnTo>
                    <a:pt x="17895" y="44251"/>
                  </a:lnTo>
                  <a:lnTo>
                    <a:pt x="40827" y="87893"/>
                  </a:lnTo>
                  <a:lnTo>
                    <a:pt x="68795" y="130927"/>
                  </a:lnTo>
                  <a:lnTo>
                    <a:pt x="101798" y="173352"/>
                  </a:lnTo>
                  <a:lnTo>
                    <a:pt x="139837" y="215169"/>
                  </a:lnTo>
                  <a:lnTo>
                    <a:pt x="167995" y="242709"/>
                  </a:lnTo>
                  <a:lnTo>
                    <a:pt x="198390" y="269978"/>
                  </a:lnTo>
                  <a:lnTo>
                    <a:pt x="231024" y="296977"/>
                  </a:lnTo>
                  <a:lnTo>
                    <a:pt x="265895" y="323705"/>
                  </a:lnTo>
                  <a:lnTo>
                    <a:pt x="303005" y="350162"/>
                  </a:lnTo>
                  <a:lnTo>
                    <a:pt x="342353" y="376349"/>
                  </a:lnTo>
                  <a:lnTo>
                    <a:pt x="383940" y="402266"/>
                  </a:lnTo>
                  <a:lnTo>
                    <a:pt x="427764" y="427912"/>
                  </a:lnTo>
                  <a:lnTo>
                    <a:pt x="473827" y="453288"/>
                  </a:lnTo>
                  <a:lnTo>
                    <a:pt x="522128" y="478393"/>
                  </a:lnTo>
                  <a:lnTo>
                    <a:pt x="572666" y="503228"/>
                  </a:lnTo>
                  <a:lnTo>
                    <a:pt x="625444" y="527792"/>
                  </a:lnTo>
                  <a:lnTo>
                    <a:pt x="680459" y="552086"/>
                  </a:lnTo>
                  <a:lnTo>
                    <a:pt x="737712" y="576109"/>
                  </a:lnTo>
                  <a:lnTo>
                    <a:pt x="797204" y="599861"/>
                  </a:lnTo>
                  <a:lnTo>
                    <a:pt x="858934" y="623344"/>
                  </a:lnTo>
                  <a:lnTo>
                    <a:pt x="922902" y="646555"/>
                  </a:lnTo>
                  <a:lnTo>
                    <a:pt x="989108" y="669496"/>
                  </a:lnTo>
                  <a:lnTo>
                    <a:pt x="1057552" y="692167"/>
                  </a:lnTo>
                  <a:lnTo>
                    <a:pt x="1128234" y="714567"/>
                  </a:lnTo>
                  <a:lnTo>
                    <a:pt x="1201155" y="736697"/>
                  </a:lnTo>
                  <a:lnTo>
                    <a:pt x="1238455" y="747660"/>
                  </a:lnTo>
                  <a:lnTo>
                    <a:pt x="1276314" y="758556"/>
                  </a:lnTo>
                  <a:lnTo>
                    <a:pt x="1314733" y="769384"/>
                  </a:lnTo>
                  <a:lnTo>
                    <a:pt x="1353711" y="780145"/>
                  </a:lnTo>
                  <a:lnTo>
                    <a:pt x="1393249" y="790838"/>
                  </a:lnTo>
                  <a:lnTo>
                    <a:pt x="1433346" y="801463"/>
                  </a:lnTo>
                  <a:lnTo>
                    <a:pt x="1474003" y="812021"/>
                  </a:lnTo>
                  <a:lnTo>
                    <a:pt x="1515219" y="822511"/>
                  </a:lnTo>
                  <a:lnTo>
                    <a:pt x="1556995" y="832933"/>
                  </a:lnTo>
                  <a:lnTo>
                    <a:pt x="1599331" y="843288"/>
                  </a:lnTo>
                  <a:lnTo>
                    <a:pt x="1642226" y="853575"/>
                  </a:lnTo>
                  <a:lnTo>
                    <a:pt x="1685680" y="863795"/>
                  </a:lnTo>
                  <a:lnTo>
                    <a:pt x="1729694" y="873946"/>
                  </a:lnTo>
                  <a:lnTo>
                    <a:pt x="1774268" y="884031"/>
                  </a:lnTo>
                  <a:lnTo>
                    <a:pt x="1819401" y="894047"/>
                  </a:lnTo>
                  <a:lnTo>
                    <a:pt x="1865094" y="903996"/>
                  </a:lnTo>
                  <a:lnTo>
                    <a:pt x="1911346" y="913878"/>
                  </a:lnTo>
                  <a:lnTo>
                    <a:pt x="1958158" y="923692"/>
                  </a:lnTo>
                  <a:lnTo>
                    <a:pt x="2005530" y="933438"/>
                  </a:lnTo>
                  <a:lnTo>
                    <a:pt x="2053460" y="943116"/>
                  </a:lnTo>
                  <a:lnTo>
                    <a:pt x="2101951" y="952727"/>
                  </a:lnTo>
                  <a:lnTo>
                    <a:pt x="2151001" y="962271"/>
                  </a:lnTo>
                  <a:lnTo>
                    <a:pt x="2200610" y="971746"/>
                  </a:lnTo>
                  <a:lnTo>
                    <a:pt x="2250780" y="981154"/>
                  </a:lnTo>
                  <a:lnTo>
                    <a:pt x="2301508" y="990495"/>
                  </a:lnTo>
                  <a:lnTo>
                    <a:pt x="2352796" y="999767"/>
                  </a:lnTo>
                  <a:lnTo>
                    <a:pt x="2404644" y="1008973"/>
                  </a:lnTo>
                  <a:lnTo>
                    <a:pt x="2457051" y="1018110"/>
                  </a:lnTo>
                  <a:lnTo>
                    <a:pt x="2510018" y="1027180"/>
                  </a:lnTo>
                  <a:lnTo>
                    <a:pt x="2563544" y="1036182"/>
                  </a:lnTo>
                  <a:lnTo>
                    <a:pt x="2617630" y="1045117"/>
                  </a:lnTo>
                  <a:lnTo>
                    <a:pt x="2672276" y="1053984"/>
                  </a:lnTo>
                  <a:lnTo>
                    <a:pt x="2727481" y="1062783"/>
                  </a:lnTo>
                  <a:lnTo>
                    <a:pt x="2783245" y="1071515"/>
                  </a:lnTo>
                  <a:lnTo>
                    <a:pt x="2839569" y="1080179"/>
                  </a:lnTo>
                  <a:lnTo>
                    <a:pt x="2896453" y="1088776"/>
                  </a:lnTo>
                  <a:lnTo>
                    <a:pt x="2953896" y="1097305"/>
                  </a:lnTo>
                  <a:lnTo>
                    <a:pt x="3011899" y="1105766"/>
                  </a:lnTo>
                  <a:lnTo>
                    <a:pt x="3070461" y="1114160"/>
                  </a:lnTo>
                  <a:lnTo>
                    <a:pt x="3129583" y="1122486"/>
                  </a:lnTo>
                  <a:lnTo>
                    <a:pt x="3189264" y="1130744"/>
                  </a:lnTo>
                  <a:lnTo>
                    <a:pt x="3249505" y="1138935"/>
                  </a:lnTo>
                  <a:lnTo>
                    <a:pt x="3310305" y="1147058"/>
                  </a:lnTo>
                  <a:lnTo>
                    <a:pt x="3371665" y="1155114"/>
                  </a:lnTo>
                  <a:lnTo>
                    <a:pt x="3433585" y="1163102"/>
                  </a:lnTo>
                  <a:lnTo>
                    <a:pt x="3496064" y="1171022"/>
                  </a:lnTo>
                  <a:lnTo>
                    <a:pt x="3559102" y="1178875"/>
                  </a:lnTo>
                  <a:lnTo>
                    <a:pt x="3622700" y="1186660"/>
                  </a:lnTo>
                  <a:lnTo>
                    <a:pt x="3686858" y="1194377"/>
                  </a:lnTo>
                  <a:lnTo>
                    <a:pt x="3751575" y="1202027"/>
                  </a:lnTo>
                  <a:lnTo>
                    <a:pt x="3816852" y="1209609"/>
                  </a:lnTo>
                  <a:lnTo>
                    <a:pt x="3882688" y="1217124"/>
                  </a:lnTo>
                  <a:lnTo>
                    <a:pt x="3949084" y="1224571"/>
                  </a:lnTo>
                  <a:lnTo>
                    <a:pt x="4016039" y="1231950"/>
                  </a:lnTo>
                  <a:lnTo>
                    <a:pt x="4083554" y="1239261"/>
                  </a:lnTo>
                  <a:lnTo>
                    <a:pt x="4151629" y="1246506"/>
                  </a:lnTo>
                  <a:lnTo>
                    <a:pt x="4220262" y="1253682"/>
                  </a:lnTo>
                  <a:lnTo>
                    <a:pt x="4289456" y="1260791"/>
                  </a:lnTo>
                  <a:lnTo>
                    <a:pt x="4359209" y="1267832"/>
                  </a:lnTo>
                  <a:lnTo>
                    <a:pt x="4429522" y="1274805"/>
                  </a:lnTo>
                  <a:lnTo>
                    <a:pt x="4500394" y="1281711"/>
                  </a:lnTo>
                  <a:lnTo>
                    <a:pt x="4571825" y="1288550"/>
                  </a:lnTo>
                  <a:lnTo>
                    <a:pt x="4643817" y="1295320"/>
                  </a:lnTo>
                  <a:lnTo>
                    <a:pt x="4716367" y="1302023"/>
                  </a:lnTo>
                  <a:lnTo>
                    <a:pt x="4789478" y="1308659"/>
                  </a:lnTo>
                  <a:lnTo>
                    <a:pt x="4863148" y="1315227"/>
                  </a:lnTo>
                  <a:lnTo>
                    <a:pt x="4937377" y="1321727"/>
                  </a:lnTo>
                  <a:lnTo>
                    <a:pt x="5012166" y="1328159"/>
                  </a:lnTo>
                  <a:lnTo>
                    <a:pt x="5087514" y="1334524"/>
                  </a:lnTo>
                  <a:lnTo>
                    <a:pt x="5163422" y="1340822"/>
                  </a:lnTo>
                  <a:lnTo>
                    <a:pt x="5239890" y="1347051"/>
                  </a:lnTo>
                  <a:lnTo>
                    <a:pt x="5316917" y="1353213"/>
                  </a:lnTo>
                  <a:lnTo>
                    <a:pt x="5394504" y="1359308"/>
                  </a:lnTo>
                  <a:lnTo>
                    <a:pt x="5472650" y="1365335"/>
                  </a:lnTo>
                  <a:lnTo>
                    <a:pt x="5551356" y="1371294"/>
                  </a:lnTo>
                  <a:lnTo>
                    <a:pt x="5630621" y="1377185"/>
                  </a:lnTo>
                  <a:lnTo>
                    <a:pt x="5710446" y="1383009"/>
                  </a:lnTo>
                  <a:lnTo>
                    <a:pt x="5790830" y="1388766"/>
                  </a:lnTo>
                  <a:lnTo>
                    <a:pt x="5871774" y="1394454"/>
                  </a:lnTo>
                  <a:lnTo>
                    <a:pt x="5953277" y="1400075"/>
                  </a:lnTo>
                  <a:lnTo>
                    <a:pt x="6035340" y="1405629"/>
                  </a:lnTo>
                  <a:lnTo>
                    <a:pt x="6117963" y="1411115"/>
                  </a:lnTo>
                  <a:lnTo>
                    <a:pt x="6201145" y="1416533"/>
                  </a:lnTo>
                  <a:lnTo>
                    <a:pt x="6284887" y="1421883"/>
                  </a:lnTo>
                  <a:lnTo>
                    <a:pt x="6369188" y="1427166"/>
                  </a:lnTo>
                  <a:lnTo>
                    <a:pt x="6454048" y="1432382"/>
                  </a:lnTo>
                  <a:lnTo>
                    <a:pt x="6539469" y="1437529"/>
                  </a:lnTo>
                  <a:lnTo>
                    <a:pt x="6625449" y="1442609"/>
                  </a:lnTo>
                  <a:lnTo>
                    <a:pt x="6711988" y="1447622"/>
                  </a:lnTo>
                  <a:lnTo>
                    <a:pt x="6799087" y="1452567"/>
                  </a:lnTo>
                  <a:lnTo>
                    <a:pt x="6886745" y="1457444"/>
                  </a:lnTo>
                  <a:lnTo>
                    <a:pt x="6974963" y="1462253"/>
                  </a:lnTo>
                </a:path>
              </a:pathLst>
            </a:custGeom>
            <a:ln w="41883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8" name="object 8"/>
            <p:cNvSpPr/>
            <p:nvPr/>
          </p:nvSpPr>
          <p:spPr>
            <a:xfrm>
              <a:off x="5112162" y="5175372"/>
              <a:ext cx="6957059" cy="2073910"/>
            </a:xfrm>
            <a:custGeom>
              <a:avLst/>
              <a:gdLst/>
              <a:ahLst/>
              <a:cxnLst/>
              <a:rect l="l" t="t" r="r" b="b"/>
              <a:pathLst>
                <a:path w="6957059" h="2073909">
                  <a:moveTo>
                    <a:pt x="0" y="0"/>
                  </a:moveTo>
                  <a:lnTo>
                    <a:pt x="87220" y="6179"/>
                  </a:lnTo>
                  <a:lnTo>
                    <a:pt x="173890" y="12444"/>
                  </a:lnTo>
                  <a:lnTo>
                    <a:pt x="260010" y="18795"/>
                  </a:lnTo>
                  <a:lnTo>
                    <a:pt x="345580" y="25231"/>
                  </a:lnTo>
                  <a:lnTo>
                    <a:pt x="430599" y="31752"/>
                  </a:lnTo>
                  <a:lnTo>
                    <a:pt x="515068" y="38358"/>
                  </a:lnTo>
                  <a:lnTo>
                    <a:pt x="598987" y="45049"/>
                  </a:lnTo>
                  <a:lnTo>
                    <a:pt x="682356" y="51826"/>
                  </a:lnTo>
                  <a:lnTo>
                    <a:pt x="765175" y="58688"/>
                  </a:lnTo>
                  <a:lnTo>
                    <a:pt x="847443" y="65635"/>
                  </a:lnTo>
                  <a:lnTo>
                    <a:pt x="929161" y="72668"/>
                  </a:lnTo>
                  <a:lnTo>
                    <a:pt x="1010329" y="79786"/>
                  </a:lnTo>
                  <a:lnTo>
                    <a:pt x="1090946" y="86989"/>
                  </a:lnTo>
                  <a:lnTo>
                    <a:pt x="1171014" y="94277"/>
                  </a:lnTo>
                  <a:lnTo>
                    <a:pt x="1250531" y="101651"/>
                  </a:lnTo>
                  <a:lnTo>
                    <a:pt x="1329498" y="109110"/>
                  </a:lnTo>
                  <a:lnTo>
                    <a:pt x="1407914" y="116654"/>
                  </a:lnTo>
                  <a:lnTo>
                    <a:pt x="1485781" y="124284"/>
                  </a:lnTo>
                  <a:lnTo>
                    <a:pt x="1563097" y="131999"/>
                  </a:lnTo>
                  <a:lnTo>
                    <a:pt x="1639863" y="139799"/>
                  </a:lnTo>
                  <a:lnTo>
                    <a:pt x="1716079" y="147684"/>
                  </a:lnTo>
                  <a:lnTo>
                    <a:pt x="1791744" y="155655"/>
                  </a:lnTo>
                  <a:lnTo>
                    <a:pt x="1866860" y="163711"/>
                  </a:lnTo>
                  <a:lnTo>
                    <a:pt x="1941425" y="171852"/>
                  </a:lnTo>
                  <a:lnTo>
                    <a:pt x="2015439" y="180078"/>
                  </a:lnTo>
                  <a:lnTo>
                    <a:pt x="2088904" y="188390"/>
                  </a:lnTo>
                  <a:lnTo>
                    <a:pt x="2161818" y="196787"/>
                  </a:lnTo>
                  <a:lnTo>
                    <a:pt x="2234182" y="205269"/>
                  </a:lnTo>
                  <a:lnTo>
                    <a:pt x="2305996" y="213837"/>
                  </a:lnTo>
                  <a:lnTo>
                    <a:pt x="2377260" y="222490"/>
                  </a:lnTo>
                  <a:lnTo>
                    <a:pt x="2447973" y="231228"/>
                  </a:lnTo>
                  <a:lnTo>
                    <a:pt x="2518137" y="240051"/>
                  </a:lnTo>
                  <a:lnTo>
                    <a:pt x="2587750" y="248960"/>
                  </a:lnTo>
                  <a:lnTo>
                    <a:pt x="2656812" y="257954"/>
                  </a:lnTo>
                  <a:lnTo>
                    <a:pt x="2725325" y="267033"/>
                  </a:lnTo>
                  <a:lnTo>
                    <a:pt x="2793287" y="276198"/>
                  </a:lnTo>
                  <a:lnTo>
                    <a:pt x="2860699" y="285447"/>
                  </a:lnTo>
                  <a:lnTo>
                    <a:pt x="2927561" y="294782"/>
                  </a:lnTo>
                  <a:lnTo>
                    <a:pt x="2993872" y="304203"/>
                  </a:lnTo>
                  <a:lnTo>
                    <a:pt x="3059634" y="313708"/>
                  </a:lnTo>
                  <a:lnTo>
                    <a:pt x="3124845" y="323299"/>
                  </a:lnTo>
                  <a:lnTo>
                    <a:pt x="3189506" y="332975"/>
                  </a:lnTo>
                  <a:lnTo>
                    <a:pt x="3253616" y="342737"/>
                  </a:lnTo>
                  <a:lnTo>
                    <a:pt x="3317177" y="352583"/>
                  </a:lnTo>
                  <a:lnTo>
                    <a:pt x="3380187" y="362515"/>
                  </a:lnTo>
                  <a:lnTo>
                    <a:pt x="3442647" y="372533"/>
                  </a:lnTo>
                  <a:lnTo>
                    <a:pt x="3504557" y="382635"/>
                  </a:lnTo>
                  <a:lnTo>
                    <a:pt x="3565916" y="392823"/>
                  </a:lnTo>
                  <a:lnTo>
                    <a:pt x="3626725" y="403096"/>
                  </a:lnTo>
                  <a:lnTo>
                    <a:pt x="3686984" y="413454"/>
                  </a:lnTo>
                  <a:lnTo>
                    <a:pt x="3746693" y="423898"/>
                  </a:lnTo>
                  <a:lnTo>
                    <a:pt x="3805852" y="434427"/>
                  </a:lnTo>
                  <a:lnTo>
                    <a:pt x="3864460" y="445041"/>
                  </a:lnTo>
                  <a:lnTo>
                    <a:pt x="3922518" y="455740"/>
                  </a:lnTo>
                  <a:lnTo>
                    <a:pt x="3980026" y="466525"/>
                  </a:lnTo>
                  <a:lnTo>
                    <a:pt x="4036984" y="477395"/>
                  </a:lnTo>
                  <a:lnTo>
                    <a:pt x="4093391" y="488350"/>
                  </a:lnTo>
                  <a:lnTo>
                    <a:pt x="4149248" y="499391"/>
                  </a:lnTo>
                  <a:lnTo>
                    <a:pt x="4204555" y="510517"/>
                  </a:lnTo>
                  <a:lnTo>
                    <a:pt x="4259312" y="521728"/>
                  </a:lnTo>
                  <a:lnTo>
                    <a:pt x="4313518" y="533024"/>
                  </a:lnTo>
                  <a:lnTo>
                    <a:pt x="4367174" y="544406"/>
                  </a:lnTo>
                  <a:lnTo>
                    <a:pt x="4420280" y="555873"/>
                  </a:lnTo>
                  <a:lnTo>
                    <a:pt x="4472836" y="567425"/>
                  </a:lnTo>
                  <a:lnTo>
                    <a:pt x="4524842" y="579062"/>
                  </a:lnTo>
                  <a:lnTo>
                    <a:pt x="4576297" y="590785"/>
                  </a:lnTo>
                  <a:lnTo>
                    <a:pt x="4627202" y="602593"/>
                  </a:lnTo>
                  <a:lnTo>
                    <a:pt x="4677557" y="614486"/>
                  </a:lnTo>
                  <a:lnTo>
                    <a:pt x="4727362" y="626465"/>
                  </a:lnTo>
                  <a:lnTo>
                    <a:pt x="4776616" y="638529"/>
                  </a:lnTo>
                  <a:lnTo>
                    <a:pt x="4825320" y="650678"/>
                  </a:lnTo>
                  <a:lnTo>
                    <a:pt x="4873474" y="662912"/>
                  </a:lnTo>
                  <a:lnTo>
                    <a:pt x="4921078" y="675232"/>
                  </a:lnTo>
                  <a:lnTo>
                    <a:pt x="4968131" y="687637"/>
                  </a:lnTo>
                  <a:lnTo>
                    <a:pt x="5014634" y="700127"/>
                  </a:lnTo>
                  <a:lnTo>
                    <a:pt x="5060587" y="712703"/>
                  </a:lnTo>
                  <a:lnTo>
                    <a:pt x="5105990" y="725364"/>
                  </a:lnTo>
                  <a:lnTo>
                    <a:pt x="5150843" y="738110"/>
                  </a:lnTo>
                  <a:lnTo>
                    <a:pt x="5195145" y="750941"/>
                  </a:lnTo>
                  <a:lnTo>
                    <a:pt x="5238897" y="763857"/>
                  </a:lnTo>
                  <a:lnTo>
                    <a:pt x="5282099" y="776859"/>
                  </a:lnTo>
                  <a:lnTo>
                    <a:pt x="5324750" y="789947"/>
                  </a:lnTo>
                  <a:lnTo>
                    <a:pt x="5366852" y="803119"/>
                  </a:lnTo>
                  <a:lnTo>
                    <a:pt x="5408403" y="816377"/>
                  </a:lnTo>
                  <a:lnTo>
                    <a:pt x="5449404" y="829720"/>
                  </a:lnTo>
                  <a:lnTo>
                    <a:pt x="5489854" y="843148"/>
                  </a:lnTo>
                  <a:lnTo>
                    <a:pt x="5529755" y="856661"/>
                  </a:lnTo>
                  <a:lnTo>
                    <a:pt x="5569105" y="870260"/>
                  </a:lnTo>
                  <a:lnTo>
                    <a:pt x="5607905" y="883944"/>
                  </a:lnTo>
                  <a:lnTo>
                    <a:pt x="5646155" y="897714"/>
                  </a:lnTo>
                  <a:lnTo>
                    <a:pt x="5683854" y="911568"/>
                  </a:lnTo>
                  <a:lnTo>
                    <a:pt x="5721003" y="925508"/>
                  </a:lnTo>
                  <a:lnTo>
                    <a:pt x="5757602" y="939533"/>
                  </a:lnTo>
                  <a:lnTo>
                    <a:pt x="5793651" y="953644"/>
                  </a:lnTo>
                  <a:lnTo>
                    <a:pt x="5829150" y="967840"/>
                  </a:lnTo>
                  <a:lnTo>
                    <a:pt x="5898496" y="996487"/>
                  </a:lnTo>
                  <a:lnTo>
                    <a:pt x="5965642" y="1025475"/>
                  </a:lnTo>
                  <a:lnTo>
                    <a:pt x="6030586" y="1054805"/>
                  </a:lnTo>
                  <a:lnTo>
                    <a:pt x="6093330" y="1084475"/>
                  </a:lnTo>
                  <a:lnTo>
                    <a:pt x="6153873" y="1114487"/>
                  </a:lnTo>
                  <a:lnTo>
                    <a:pt x="6212215" y="1144840"/>
                  </a:lnTo>
                  <a:lnTo>
                    <a:pt x="6268356" y="1175534"/>
                  </a:lnTo>
                  <a:lnTo>
                    <a:pt x="6322295" y="1206569"/>
                  </a:lnTo>
                  <a:lnTo>
                    <a:pt x="6374034" y="1237945"/>
                  </a:lnTo>
                  <a:lnTo>
                    <a:pt x="6423573" y="1269662"/>
                  </a:lnTo>
                  <a:lnTo>
                    <a:pt x="6470910" y="1301720"/>
                  </a:lnTo>
                  <a:lnTo>
                    <a:pt x="6516046" y="1334120"/>
                  </a:lnTo>
                  <a:lnTo>
                    <a:pt x="6558981" y="1366860"/>
                  </a:lnTo>
                  <a:lnTo>
                    <a:pt x="6599716" y="1399942"/>
                  </a:lnTo>
                  <a:lnTo>
                    <a:pt x="6638249" y="1433365"/>
                  </a:lnTo>
                  <a:lnTo>
                    <a:pt x="6674582" y="1467128"/>
                  </a:lnTo>
                  <a:lnTo>
                    <a:pt x="6708713" y="1501233"/>
                  </a:lnTo>
                  <a:lnTo>
                    <a:pt x="6740644" y="1535679"/>
                  </a:lnTo>
                  <a:lnTo>
                    <a:pt x="6770374" y="1570466"/>
                  </a:lnTo>
                  <a:lnTo>
                    <a:pt x="6797902" y="1605595"/>
                  </a:lnTo>
                  <a:lnTo>
                    <a:pt x="6823230" y="1641064"/>
                  </a:lnTo>
                  <a:lnTo>
                    <a:pt x="6846357" y="1676874"/>
                  </a:lnTo>
                  <a:lnTo>
                    <a:pt x="6867283" y="1713026"/>
                  </a:lnTo>
                  <a:lnTo>
                    <a:pt x="6886008" y="1749518"/>
                  </a:lnTo>
                  <a:lnTo>
                    <a:pt x="6902533" y="1786352"/>
                  </a:lnTo>
                  <a:lnTo>
                    <a:pt x="6916856" y="1823527"/>
                  </a:lnTo>
                  <a:lnTo>
                    <a:pt x="6928978" y="1861043"/>
                  </a:lnTo>
                  <a:lnTo>
                    <a:pt x="6938899" y="1898900"/>
                  </a:lnTo>
                  <a:lnTo>
                    <a:pt x="6946620" y="1937098"/>
                  </a:lnTo>
                  <a:lnTo>
                    <a:pt x="6952139" y="1975637"/>
                  </a:lnTo>
                  <a:lnTo>
                    <a:pt x="6955458" y="2014518"/>
                  </a:lnTo>
                  <a:lnTo>
                    <a:pt x="6956576" y="2053739"/>
                  </a:lnTo>
                  <a:lnTo>
                    <a:pt x="6956309" y="2073478"/>
                  </a:lnTo>
                </a:path>
              </a:pathLst>
            </a:custGeom>
            <a:ln w="41883">
              <a:solidFill>
                <a:srgbClr val="DE6A1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" name="object 9"/>
            <p:cNvSpPr/>
            <p:nvPr/>
          </p:nvSpPr>
          <p:spPr>
            <a:xfrm>
              <a:off x="5109663" y="3270817"/>
              <a:ext cx="0" cy="5826760"/>
            </a:xfrm>
            <a:custGeom>
              <a:avLst/>
              <a:gdLst/>
              <a:ahLst/>
              <a:cxnLst/>
              <a:rect l="l" t="t" r="r" b="b"/>
              <a:pathLst>
                <a:path h="5826759">
                  <a:moveTo>
                    <a:pt x="0" y="5826603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1707" y="311584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87955" y="0"/>
                  </a:moveTo>
                  <a:lnTo>
                    <a:pt x="0" y="175910"/>
                  </a:lnTo>
                  <a:lnTo>
                    <a:pt x="175910" y="175910"/>
                  </a:lnTo>
                  <a:lnTo>
                    <a:pt x="87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1" name="object 11"/>
            <p:cNvSpPr/>
            <p:nvPr/>
          </p:nvSpPr>
          <p:spPr>
            <a:xfrm>
              <a:off x="5109295" y="9082329"/>
              <a:ext cx="7730490" cy="0"/>
            </a:xfrm>
            <a:custGeom>
              <a:avLst/>
              <a:gdLst/>
              <a:ahLst/>
              <a:cxnLst/>
              <a:rect l="l" t="t" r="r" b="b"/>
              <a:pathLst>
                <a:path w="7730490">
                  <a:moveTo>
                    <a:pt x="0" y="0"/>
                  </a:moveTo>
                  <a:lnTo>
                    <a:pt x="7709386" y="0"/>
                  </a:lnTo>
                  <a:lnTo>
                    <a:pt x="7730327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18677" y="899437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3" name="object 13"/>
            <p:cNvSpPr/>
            <p:nvPr/>
          </p:nvSpPr>
          <p:spPr>
            <a:xfrm>
              <a:off x="12079590" y="5048912"/>
              <a:ext cx="0" cy="4048125"/>
            </a:xfrm>
            <a:custGeom>
              <a:avLst/>
              <a:gdLst/>
              <a:ahLst/>
              <a:cxnLst/>
              <a:rect l="l" t="t" r="r" b="b"/>
              <a:pathLst>
                <a:path h="4048125">
                  <a:moveTo>
                    <a:pt x="0" y="404767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0888" y="5114982"/>
              <a:ext cx="7071359" cy="0"/>
            </a:xfrm>
            <a:custGeom>
              <a:avLst/>
              <a:gdLst/>
              <a:ahLst/>
              <a:cxnLst/>
              <a:rect l="l" t="t" r="r" b="b"/>
              <a:pathLst>
                <a:path w="7071359">
                  <a:moveTo>
                    <a:pt x="0" y="0"/>
                  </a:moveTo>
                  <a:lnTo>
                    <a:pt x="707099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85313" y="3794734"/>
            <a:ext cx="1235677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dirty="0">
                <a:solidFill>
                  <a:srgbClr val="DE6A10"/>
                </a:solidFill>
                <a:latin typeface="Arial"/>
                <a:cs typeface="Arial"/>
              </a:rPr>
              <a:t>Saturating</a:t>
            </a:r>
            <a:r>
              <a:rPr sz="1304" b="1" spc="60" dirty="0">
                <a:solidFill>
                  <a:srgbClr val="DE6A10"/>
                </a:solidFill>
                <a:latin typeface="Arial"/>
                <a:cs typeface="Arial"/>
              </a:rPr>
              <a:t> </a:t>
            </a:r>
            <a:r>
              <a:rPr sz="1304" b="1" spc="-10" dirty="0">
                <a:solidFill>
                  <a:srgbClr val="DE6A10"/>
                </a:solidFill>
                <a:latin typeface="Arial"/>
                <a:cs typeface="Arial"/>
              </a:rPr>
              <a:t>cost</a:t>
            </a:r>
            <a:endParaRPr sz="1304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8202" y="4382750"/>
            <a:ext cx="392258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-</a:t>
            </a:r>
            <a:r>
              <a:rPr sz="2056" spc="-13" dirty="0">
                <a:latin typeface="Arial"/>
                <a:cs typeface="Arial"/>
              </a:rPr>
              <a:t>20</a:t>
            </a:r>
            <a:endParaRPr sz="2056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9561" y="2760826"/>
            <a:ext cx="533624" cy="40897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3911" i="1" baseline="-25106" dirty="0">
                <a:latin typeface="Times New Roman"/>
                <a:cs typeface="Times New Roman"/>
              </a:rPr>
              <a:t>J</a:t>
            </a:r>
            <a:r>
              <a:rPr sz="3911" i="1" spc="-470" baseline="-25106" dirty="0">
                <a:latin typeface="Times New Roman"/>
                <a:cs typeface="Times New Roman"/>
              </a:rPr>
              <a:t> </a:t>
            </a:r>
            <a:r>
              <a:rPr sz="1504" spc="53" dirty="0">
                <a:latin typeface="Times New Roman"/>
                <a:cs typeface="Times New Roman"/>
              </a:rPr>
              <a:t>(</a:t>
            </a:r>
            <a:r>
              <a:rPr sz="1504" i="1" spc="53" dirty="0">
                <a:latin typeface="Times New Roman"/>
                <a:cs typeface="Times New Roman"/>
              </a:rPr>
              <a:t>G</a:t>
            </a:r>
            <a:r>
              <a:rPr sz="1504" i="1" spc="-193" dirty="0">
                <a:latin typeface="Times New Roman"/>
                <a:cs typeface="Times New Roman"/>
              </a:rPr>
              <a:t> </a:t>
            </a:r>
            <a:r>
              <a:rPr sz="1504" spc="-25" dirty="0">
                <a:latin typeface="Times New Roman"/>
                <a:cs typeface="Times New Roman"/>
              </a:rPr>
              <a:t>)</a:t>
            </a:r>
            <a:endParaRPr sz="1504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7208" y="1846932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5</a:t>
            </a:r>
            <a:endParaRPr sz="2056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37208" y="2361446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0</a:t>
            </a:r>
            <a:endParaRPr sz="2056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0558" y="4661008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1</a:t>
            </a:r>
            <a:endParaRPr sz="2056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5341" y="4717064"/>
            <a:ext cx="1133473" cy="40891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607" i="1" spc="53" dirty="0">
                <a:latin typeface="Times New Roman"/>
                <a:cs typeface="Times New Roman"/>
              </a:rPr>
              <a:t>D</a:t>
            </a:r>
            <a:r>
              <a:rPr sz="2607" spc="35" dirty="0">
                <a:latin typeface="Times New Roman"/>
                <a:cs typeface="Times New Roman"/>
              </a:rPr>
              <a:t>(</a:t>
            </a:r>
            <a:r>
              <a:rPr sz="2607" i="1" spc="108" dirty="0">
                <a:latin typeface="Times New Roman"/>
                <a:cs typeface="Times New Roman"/>
              </a:rPr>
              <a:t>G</a:t>
            </a:r>
            <a:r>
              <a:rPr sz="2607" spc="198" dirty="0">
                <a:latin typeface="Times New Roman"/>
                <a:cs typeface="Times New Roman"/>
              </a:rPr>
              <a:t>(</a:t>
            </a:r>
            <a:r>
              <a:rPr sz="2607" i="1" spc="160" dirty="0">
                <a:latin typeface="Times New Roman"/>
                <a:cs typeface="Times New Roman"/>
              </a:rPr>
              <a:t>z</a:t>
            </a:r>
            <a:r>
              <a:rPr sz="2607" spc="-60" dirty="0">
                <a:latin typeface="Times New Roman"/>
                <a:cs typeface="Times New Roman"/>
              </a:rPr>
              <a:t>)</a:t>
            </a:r>
            <a:r>
              <a:rPr sz="2607" spc="-5" dirty="0">
                <a:latin typeface="Times New Roman"/>
                <a:cs typeface="Times New Roman"/>
              </a:rPr>
              <a:t>)</a:t>
            </a:r>
            <a:endParaRPr sz="260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83964" y="4661008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0</a:t>
            </a:r>
            <a:endParaRPr sz="2056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00920" y="4362886"/>
            <a:ext cx="421869" cy="309918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</a:pPr>
            <a:r>
              <a:rPr sz="2933" i="1" spc="-15" baseline="17806" dirty="0">
                <a:latin typeface="Times New Roman"/>
                <a:cs typeface="Times New Roman"/>
              </a:rPr>
              <a:t>m</a:t>
            </a:r>
            <a:r>
              <a:rPr sz="1128" i="1" spc="-10" dirty="0">
                <a:latin typeface="Times New Roman"/>
                <a:cs typeface="Times New Roman"/>
              </a:rPr>
              <a:t>gen</a:t>
            </a:r>
            <a:endParaRPr sz="112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11503" y="4439981"/>
            <a:ext cx="204407" cy="18161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128" i="1" spc="-13" dirty="0">
                <a:latin typeface="Times New Roman"/>
                <a:cs typeface="Times New Roman"/>
              </a:rPr>
              <a:t>i</a:t>
            </a:r>
            <a:r>
              <a:rPr sz="1128" spc="-13" dirty="0">
                <a:latin typeface="Symbol"/>
                <a:cs typeface="Symbol"/>
              </a:rPr>
              <a:t></a:t>
            </a:r>
            <a:r>
              <a:rPr sz="1128" spc="-13" dirty="0">
                <a:latin typeface="Times New Roman"/>
                <a:cs typeface="Times New Roman"/>
              </a:rPr>
              <a:t>1</a:t>
            </a:r>
            <a:endParaRPr sz="112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56953" y="3932987"/>
            <a:ext cx="291010" cy="18161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692" i="1" spc="-15" baseline="18518" dirty="0">
                <a:latin typeface="Times New Roman"/>
                <a:cs typeface="Times New Roman"/>
              </a:rPr>
              <a:t>m</a:t>
            </a:r>
            <a:r>
              <a:rPr sz="827" i="1" spc="-10" dirty="0">
                <a:latin typeface="Times New Roman"/>
                <a:cs typeface="Times New Roman"/>
              </a:rPr>
              <a:t>gen</a:t>
            </a:r>
            <a:endParaRPr sz="82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29283" y="3966961"/>
            <a:ext cx="3309041" cy="462263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  <a:tabLst>
                <a:tab pos="467713" algn="l"/>
                <a:tab pos="828448" algn="l"/>
                <a:tab pos="1106720" algn="l"/>
              </a:tabLst>
            </a:pPr>
            <a:r>
              <a:rPr sz="1955" i="1" dirty="0">
                <a:latin typeface="Times New Roman"/>
                <a:cs typeface="Times New Roman"/>
              </a:rPr>
              <a:t>J</a:t>
            </a:r>
            <a:r>
              <a:rPr sz="1955" i="1" spc="-226" dirty="0">
                <a:latin typeface="Times New Roman"/>
                <a:cs typeface="Times New Roman"/>
              </a:rPr>
              <a:t> </a:t>
            </a:r>
            <a:r>
              <a:rPr sz="1692" spc="68" baseline="43209" dirty="0">
                <a:latin typeface="Times New Roman"/>
                <a:cs typeface="Times New Roman"/>
              </a:rPr>
              <a:t>(</a:t>
            </a:r>
            <a:r>
              <a:rPr sz="1692" i="1" spc="68" baseline="43209" dirty="0">
                <a:latin typeface="Times New Roman"/>
                <a:cs typeface="Times New Roman"/>
              </a:rPr>
              <a:t>G</a:t>
            </a:r>
            <a:r>
              <a:rPr sz="1692" i="1" spc="-210" baseline="43209" dirty="0">
                <a:latin typeface="Times New Roman"/>
                <a:cs typeface="Times New Roman"/>
              </a:rPr>
              <a:t> </a:t>
            </a:r>
            <a:r>
              <a:rPr sz="1692" spc="-38" baseline="43209" dirty="0">
                <a:latin typeface="Times New Roman"/>
                <a:cs typeface="Times New Roman"/>
              </a:rPr>
              <a:t>)</a:t>
            </a:r>
            <a:r>
              <a:rPr sz="1692" baseline="43209" dirty="0">
                <a:latin typeface="Times New Roman"/>
                <a:cs typeface="Times New Roman"/>
              </a:rPr>
              <a:t>	</a:t>
            </a:r>
            <a:r>
              <a:rPr sz="1955" dirty="0">
                <a:latin typeface="Symbol"/>
                <a:cs typeface="Symbol"/>
              </a:rPr>
              <a:t></a:t>
            </a:r>
            <a:r>
              <a:rPr sz="1955" dirty="0">
                <a:latin typeface="Times New Roman"/>
                <a:cs typeface="Times New Roman"/>
              </a:rPr>
              <a:t> </a:t>
            </a:r>
            <a:r>
              <a:rPr sz="2933" u="sng" baseline="3632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933" u="sng" spc="-38" baseline="3632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933" u="sng" baseline="3632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933" spc="-297" baseline="36324" dirty="0">
                <a:latin typeface="Times New Roman"/>
                <a:cs typeface="Times New Roman"/>
              </a:rPr>
              <a:t> </a:t>
            </a:r>
            <a:r>
              <a:rPr sz="4437" spc="64" baseline="-7532" dirty="0">
                <a:latin typeface="Symbol"/>
                <a:cs typeface="Symbol"/>
              </a:rPr>
              <a:t></a:t>
            </a:r>
            <a:r>
              <a:rPr sz="1955" spc="43" dirty="0">
                <a:latin typeface="Times New Roman"/>
                <a:cs typeface="Times New Roman"/>
              </a:rPr>
              <a:t>log(1</a:t>
            </a:r>
            <a:r>
              <a:rPr sz="1955" spc="43" dirty="0">
                <a:latin typeface="Symbol"/>
                <a:cs typeface="Symbol"/>
              </a:rPr>
              <a:t></a:t>
            </a:r>
            <a:r>
              <a:rPr sz="1955" spc="28" dirty="0">
                <a:latin typeface="Times New Roman"/>
                <a:cs typeface="Times New Roman"/>
              </a:rPr>
              <a:t> </a:t>
            </a:r>
            <a:r>
              <a:rPr sz="1955" i="1" spc="80" dirty="0">
                <a:latin typeface="Times New Roman"/>
                <a:cs typeface="Times New Roman"/>
              </a:rPr>
              <a:t>D</a:t>
            </a:r>
            <a:r>
              <a:rPr sz="1955" spc="80" dirty="0">
                <a:latin typeface="Times New Roman"/>
                <a:cs typeface="Times New Roman"/>
              </a:rPr>
              <a:t>(</a:t>
            </a:r>
            <a:r>
              <a:rPr sz="1955" i="1" spc="80" dirty="0">
                <a:latin typeface="Times New Roman"/>
                <a:cs typeface="Times New Roman"/>
              </a:rPr>
              <a:t>G</a:t>
            </a:r>
            <a:r>
              <a:rPr sz="1955" spc="80" dirty="0">
                <a:latin typeface="Times New Roman"/>
                <a:cs typeface="Times New Roman"/>
              </a:rPr>
              <a:t>(</a:t>
            </a:r>
            <a:r>
              <a:rPr sz="1955" i="1" spc="80" dirty="0">
                <a:latin typeface="Times New Roman"/>
                <a:cs typeface="Times New Roman"/>
              </a:rPr>
              <a:t>z</a:t>
            </a:r>
            <a:r>
              <a:rPr sz="1692" spc="120" baseline="43209" dirty="0">
                <a:latin typeface="Times New Roman"/>
                <a:cs typeface="Times New Roman"/>
              </a:rPr>
              <a:t>(</a:t>
            </a:r>
            <a:r>
              <a:rPr sz="1692" spc="-259" baseline="43209" dirty="0">
                <a:latin typeface="Times New Roman"/>
                <a:cs typeface="Times New Roman"/>
              </a:rPr>
              <a:t> </a:t>
            </a:r>
            <a:r>
              <a:rPr sz="1692" i="1" baseline="43209" dirty="0">
                <a:latin typeface="Times New Roman"/>
                <a:cs typeface="Times New Roman"/>
              </a:rPr>
              <a:t>i</a:t>
            </a:r>
            <a:r>
              <a:rPr sz="1692" i="1" spc="-271" baseline="43209" dirty="0">
                <a:latin typeface="Times New Roman"/>
                <a:cs typeface="Times New Roman"/>
              </a:rPr>
              <a:t> </a:t>
            </a:r>
            <a:r>
              <a:rPr sz="1692" baseline="43209" dirty="0">
                <a:latin typeface="Times New Roman"/>
                <a:cs typeface="Times New Roman"/>
              </a:rPr>
              <a:t>)</a:t>
            </a:r>
            <a:r>
              <a:rPr sz="1692" spc="-90" baseline="43209" dirty="0">
                <a:latin typeface="Times New Roman"/>
                <a:cs typeface="Times New Roman"/>
              </a:rPr>
              <a:t> </a:t>
            </a:r>
            <a:r>
              <a:rPr sz="1955" dirty="0">
                <a:latin typeface="Times New Roman"/>
                <a:cs typeface="Times New Roman"/>
              </a:rPr>
              <a:t>)))</a:t>
            </a:r>
            <a:endParaRPr sz="195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28643" y="2763950"/>
            <a:ext cx="429510" cy="31632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3008" i="1" spc="-15" baseline="18055" dirty="0">
                <a:latin typeface="Times New Roman"/>
                <a:cs typeface="Times New Roman"/>
              </a:rPr>
              <a:t>m</a:t>
            </a:r>
            <a:r>
              <a:rPr sz="1153" i="1" spc="-10" dirty="0">
                <a:latin typeface="Times New Roman"/>
                <a:cs typeface="Times New Roman"/>
              </a:rPr>
              <a:t>gen</a:t>
            </a:r>
            <a:endParaRPr sz="115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75299" y="1838554"/>
            <a:ext cx="1692887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304" b="1" dirty="0">
                <a:solidFill>
                  <a:srgbClr val="0365C0"/>
                </a:solidFill>
                <a:latin typeface="Arial"/>
                <a:cs typeface="Arial"/>
              </a:rPr>
              <a:t>Non-saturating</a:t>
            </a:r>
            <a:r>
              <a:rPr sz="1304" b="1" spc="83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1304" b="1" spc="43" dirty="0">
                <a:solidFill>
                  <a:srgbClr val="0365C0"/>
                </a:solidFill>
                <a:latin typeface="Arial"/>
                <a:cs typeface="Arial"/>
              </a:rPr>
              <a:t>c</a:t>
            </a:r>
            <a:r>
              <a:rPr sz="1304" b="1" spc="40" dirty="0">
                <a:solidFill>
                  <a:srgbClr val="0365C0"/>
                </a:solidFill>
                <a:latin typeface="Arial"/>
                <a:cs typeface="Arial"/>
              </a:rPr>
              <a:t>o</a:t>
            </a:r>
            <a:r>
              <a:rPr sz="1304" b="1" spc="43" dirty="0">
                <a:solidFill>
                  <a:srgbClr val="0365C0"/>
                </a:solidFill>
                <a:latin typeface="Arial"/>
                <a:cs typeface="Arial"/>
              </a:rPr>
              <a:t>s</a:t>
            </a:r>
            <a:r>
              <a:rPr sz="1304" b="1" spc="-266" dirty="0">
                <a:solidFill>
                  <a:srgbClr val="0365C0"/>
                </a:solidFill>
                <a:latin typeface="Arial"/>
                <a:cs typeface="Arial"/>
              </a:rPr>
              <a:t>t</a:t>
            </a:r>
            <a:r>
              <a:rPr sz="1730" i="1" spc="64" baseline="-33816" dirty="0">
                <a:latin typeface="Times New Roman"/>
                <a:cs typeface="Times New Roman"/>
              </a:rPr>
              <a:t>m</a:t>
            </a:r>
            <a:endParaRPr sz="1730" baseline="-33816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69558" y="2245432"/>
            <a:ext cx="3233901" cy="57229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lnSpc>
                <a:spcPts val="1459"/>
              </a:lnSpc>
              <a:spcBef>
                <a:spcPts val="63"/>
              </a:spcBef>
              <a:tabLst>
                <a:tab pos="476628" algn="l"/>
                <a:tab pos="1018526" algn="l"/>
                <a:tab pos="1302529" algn="l"/>
              </a:tabLst>
            </a:pPr>
            <a:r>
              <a:rPr sz="3008" i="1" baseline="-25000" dirty="0">
                <a:latin typeface="Times New Roman"/>
                <a:cs typeface="Times New Roman"/>
              </a:rPr>
              <a:t>J</a:t>
            </a:r>
            <a:r>
              <a:rPr sz="3008" i="1" spc="-353" baseline="-25000" dirty="0">
                <a:latin typeface="Times New Roman"/>
                <a:cs typeface="Times New Roman"/>
              </a:rPr>
              <a:t> </a:t>
            </a:r>
            <a:r>
              <a:rPr sz="1153" spc="45" dirty="0">
                <a:latin typeface="Times New Roman"/>
                <a:cs typeface="Times New Roman"/>
              </a:rPr>
              <a:t>(</a:t>
            </a:r>
            <a:r>
              <a:rPr sz="1153" i="1" spc="45" dirty="0">
                <a:latin typeface="Times New Roman"/>
                <a:cs typeface="Times New Roman"/>
              </a:rPr>
              <a:t>G</a:t>
            </a:r>
            <a:r>
              <a:rPr sz="1153" i="1" spc="-150" dirty="0">
                <a:latin typeface="Times New Roman"/>
                <a:cs typeface="Times New Roman"/>
              </a:rPr>
              <a:t> </a:t>
            </a:r>
            <a:r>
              <a:rPr sz="1153" spc="-25" dirty="0">
                <a:latin typeface="Times New Roman"/>
                <a:cs typeface="Times New Roman"/>
              </a:rPr>
              <a:t>)</a:t>
            </a:r>
            <a:r>
              <a:rPr sz="1153" dirty="0">
                <a:latin typeface="Times New Roman"/>
                <a:cs typeface="Times New Roman"/>
              </a:rPr>
              <a:t>	</a:t>
            </a:r>
            <a:r>
              <a:rPr sz="3008" baseline="-25000" dirty="0">
                <a:latin typeface="Symbol"/>
                <a:cs typeface="Symbol"/>
              </a:rPr>
              <a:t></a:t>
            </a:r>
            <a:r>
              <a:rPr sz="3008" baseline="-25000" dirty="0">
                <a:latin typeface="Times New Roman"/>
                <a:cs typeface="Times New Roman"/>
              </a:rPr>
              <a:t> </a:t>
            </a:r>
            <a:r>
              <a:rPr sz="3008" baseline="-25000" dirty="0">
                <a:latin typeface="Symbol"/>
                <a:cs typeface="Symbol"/>
              </a:rPr>
              <a:t></a:t>
            </a:r>
            <a:r>
              <a:rPr sz="3008" spc="-180" baseline="-25000" dirty="0">
                <a:latin typeface="Times New Roman"/>
                <a:cs typeface="Times New Roman"/>
              </a:rPr>
              <a:t> </a:t>
            </a:r>
            <a:r>
              <a:rPr sz="3008" u="sng" baseline="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8" u="sng" spc="-38" baseline="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008" u="sng" baseline="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8" spc="-41" baseline="11111" dirty="0">
                <a:latin typeface="Times New Roman"/>
                <a:cs typeface="Times New Roman"/>
              </a:rPr>
              <a:t> </a:t>
            </a:r>
            <a:r>
              <a:rPr sz="4513" spc="-1959" baseline="-24074" dirty="0">
                <a:latin typeface="Symbol"/>
                <a:cs typeface="Symbol"/>
              </a:rPr>
              <a:t></a:t>
            </a:r>
            <a:endParaRPr sz="4513" baseline="-24074">
              <a:latin typeface="Symbol"/>
              <a:cs typeface="Symbol"/>
            </a:endParaRPr>
          </a:p>
          <a:p>
            <a:pPr marR="181482" algn="ctr">
              <a:lnSpc>
                <a:spcPts val="466"/>
              </a:lnSpc>
            </a:pPr>
            <a:r>
              <a:rPr sz="827" i="1" spc="-13" dirty="0">
                <a:latin typeface="Times New Roman"/>
                <a:cs typeface="Times New Roman"/>
              </a:rPr>
              <a:t>gen</a:t>
            </a:r>
            <a:endParaRPr sz="827">
              <a:latin typeface="Times New Roman"/>
              <a:cs typeface="Times New Roman"/>
            </a:endParaRPr>
          </a:p>
          <a:p>
            <a:pPr marL="1642569">
              <a:lnSpc>
                <a:spcPts val="2387"/>
              </a:lnSpc>
            </a:pPr>
            <a:r>
              <a:rPr sz="2006" spc="-5" dirty="0">
                <a:latin typeface="Times New Roman"/>
                <a:cs typeface="Times New Roman"/>
              </a:rPr>
              <a:t>log(</a:t>
            </a:r>
            <a:r>
              <a:rPr sz="2006" spc="-298" dirty="0">
                <a:latin typeface="Times New Roman"/>
                <a:cs typeface="Times New Roman"/>
              </a:rPr>
              <a:t> </a:t>
            </a:r>
            <a:r>
              <a:rPr sz="2006" i="1" spc="73" dirty="0">
                <a:latin typeface="Times New Roman"/>
                <a:cs typeface="Times New Roman"/>
              </a:rPr>
              <a:t>D</a:t>
            </a:r>
            <a:r>
              <a:rPr sz="2006" spc="73" dirty="0">
                <a:latin typeface="Times New Roman"/>
                <a:cs typeface="Times New Roman"/>
              </a:rPr>
              <a:t>(</a:t>
            </a:r>
            <a:r>
              <a:rPr sz="2006" i="1" spc="73" dirty="0">
                <a:latin typeface="Times New Roman"/>
                <a:cs typeface="Times New Roman"/>
              </a:rPr>
              <a:t>G</a:t>
            </a:r>
            <a:r>
              <a:rPr sz="2006" spc="73" dirty="0">
                <a:latin typeface="Times New Roman"/>
                <a:cs typeface="Times New Roman"/>
              </a:rPr>
              <a:t>(</a:t>
            </a:r>
            <a:r>
              <a:rPr sz="2006" i="1" spc="73" dirty="0">
                <a:latin typeface="Times New Roman"/>
                <a:cs typeface="Times New Roman"/>
              </a:rPr>
              <a:t>z</a:t>
            </a:r>
            <a:r>
              <a:rPr sz="1730" spc="109" baseline="43478" dirty="0">
                <a:latin typeface="Times New Roman"/>
                <a:cs typeface="Times New Roman"/>
              </a:rPr>
              <a:t>(</a:t>
            </a:r>
            <a:r>
              <a:rPr sz="1730" spc="-259" baseline="43478" dirty="0">
                <a:latin typeface="Times New Roman"/>
                <a:cs typeface="Times New Roman"/>
              </a:rPr>
              <a:t> </a:t>
            </a:r>
            <a:r>
              <a:rPr sz="1730" i="1" baseline="43478" dirty="0">
                <a:latin typeface="Times New Roman"/>
                <a:cs typeface="Times New Roman"/>
              </a:rPr>
              <a:t>i</a:t>
            </a:r>
            <a:r>
              <a:rPr sz="1730" i="1" spc="-278" baseline="43478" dirty="0">
                <a:latin typeface="Times New Roman"/>
                <a:cs typeface="Times New Roman"/>
              </a:rPr>
              <a:t> </a:t>
            </a:r>
            <a:r>
              <a:rPr sz="1730" baseline="43478" dirty="0">
                <a:latin typeface="Times New Roman"/>
                <a:cs typeface="Times New Roman"/>
              </a:rPr>
              <a:t>)</a:t>
            </a:r>
            <a:r>
              <a:rPr sz="1730" spc="-90" baseline="43478" dirty="0">
                <a:latin typeface="Times New Roman"/>
                <a:cs typeface="Times New Roman"/>
              </a:rPr>
              <a:t> </a:t>
            </a:r>
            <a:r>
              <a:rPr sz="2006" spc="-13" dirty="0">
                <a:latin typeface="Times New Roman"/>
                <a:cs typeface="Times New Roman"/>
              </a:rPr>
              <a:t>)))</a:t>
            </a:r>
            <a:endParaRPr sz="2006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49232" y="2842593"/>
            <a:ext cx="208228" cy="18513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153" i="1" spc="-13" dirty="0">
                <a:latin typeface="Times New Roman"/>
                <a:cs typeface="Times New Roman"/>
              </a:rPr>
              <a:t>i</a:t>
            </a:r>
            <a:r>
              <a:rPr sz="1153" spc="-13" dirty="0">
                <a:latin typeface="Symbol"/>
                <a:cs typeface="Symbol"/>
              </a:rPr>
              <a:t></a:t>
            </a:r>
            <a:r>
              <a:rPr sz="1153" spc="-13" dirty="0">
                <a:latin typeface="Times New Roman"/>
                <a:cs typeface="Times New Roman"/>
              </a:rPr>
              <a:t>1</a:t>
            </a:r>
            <a:endParaRPr sz="1153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901" y="5385527"/>
            <a:ext cx="2956582" cy="184172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153" dirty="0">
                <a:latin typeface="Arial"/>
                <a:cs typeface="Arial"/>
              </a:rPr>
              <a:t>[Ian</a:t>
            </a:r>
            <a:r>
              <a:rPr sz="1153" spc="5" dirty="0">
                <a:latin typeface="Arial"/>
                <a:cs typeface="Arial"/>
              </a:rPr>
              <a:t> </a:t>
            </a:r>
            <a:r>
              <a:rPr sz="1153" dirty="0">
                <a:latin typeface="Arial"/>
                <a:cs typeface="Arial"/>
              </a:rPr>
              <a:t>Goodfellow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dirty="0">
                <a:latin typeface="Arial"/>
                <a:cs typeface="Arial"/>
              </a:rPr>
              <a:t>(2014):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23" dirty="0">
                <a:latin typeface="Arial"/>
                <a:cs typeface="Arial"/>
              </a:rPr>
              <a:t>NIPS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15" dirty="0">
                <a:latin typeface="Arial"/>
                <a:cs typeface="Arial"/>
              </a:rPr>
              <a:t>Tutorial: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5" dirty="0">
                <a:latin typeface="Arial"/>
                <a:cs typeface="Arial"/>
              </a:rPr>
              <a:t>GANs]</a:t>
            </a:r>
            <a:endParaRPr sz="115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16369" y="776947"/>
            <a:ext cx="102522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3" dirty="0">
                <a:latin typeface="Times New Roman"/>
                <a:cs typeface="Times New Roman"/>
              </a:rPr>
              <a:t>1</a:t>
            </a:r>
            <a:endParaRPr sz="1404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10139" y="1025330"/>
            <a:ext cx="311705" cy="8915"/>
          </a:xfrm>
          <a:custGeom>
            <a:avLst/>
            <a:gdLst/>
            <a:ahLst/>
            <a:cxnLst/>
            <a:rect l="l" t="t" r="r" b="b"/>
            <a:pathLst>
              <a:path w="621665" h="17780">
                <a:moveTo>
                  <a:pt x="621515" y="0"/>
                </a:moveTo>
                <a:lnTo>
                  <a:pt x="0" y="0"/>
                </a:lnTo>
                <a:lnTo>
                  <a:pt x="0" y="17704"/>
                </a:lnTo>
                <a:lnTo>
                  <a:pt x="621515" y="17704"/>
                </a:lnTo>
                <a:lnTo>
                  <a:pt x="621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4" name="object 34"/>
          <p:cNvSpPr txBox="1"/>
          <p:nvPr/>
        </p:nvSpPr>
        <p:spPr>
          <a:xfrm>
            <a:off x="3373803" y="1140904"/>
            <a:ext cx="149644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802" i="1" spc="-13" dirty="0">
                <a:latin typeface="Times New Roman"/>
                <a:cs typeface="Times New Roman"/>
              </a:rPr>
              <a:t>i</a:t>
            </a:r>
            <a:r>
              <a:rPr sz="802" spc="-13" dirty="0">
                <a:latin typeface="Symbol"/>
                <a:cs typeface="Symbol"/>
              </a:rPr>
              <a:t></a:t>
            </a:r>
            <a:r>
              <a:rPr sz="802" spc="-13" dirty="0">
                <a:latin typeface="Times New Roman"/>
                <a:cs typeface="Times New Roman"/>
              </a:rPr>
              <a:t>1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31166" y="778349"/>
            <a:ext cx="219053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03" i="1" spc="-15" baseline="19097" dirty="0">
                <a:latin typeface="Times New Roman"/>
                <a:cs typeface="Times New Roman"/>
              </a:rPr>
              <a:t>m</a:t>
            </a:r>
            <a:r>
              <a:rPr sz="577" i="1" spc="-10" dirty="0">
                <a:latin typeface="Times New Roman"/>
                <a:cs typeface="Times New Roman"/>
              </a:rPr>
              <a:t>gen</a:t>
            </a:r>
            <a:endParaRPr sz="57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22477" y="731160"/>
            <a:ext cx="81827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3" dirty="0">
                <a:latin typeface="Symbol"/>
                <a:cs typeface="Symbol"/>
              </a:rPr>
              <a:t>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21125" y="892348"/>
            <a:ext cx="383025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-10" dirty="0">
                <a:latin typeface="Times New Roman"/>
                <a:cs typeface="Times New Roman"/>
              </a:rPr>
              <a:t>min</a:t>
            </a:r>
            <a:r>
              <a:rPr sz="1404" spc="-148" dirty="0">
                <a:latin typeface="Times New Roman"/>
                <a:cs typeface="Times New Roman"/>
              </a:rPr>
              <a:t> </a:t>
            </a:r>
            <a:r>
              <a:rPr sz="2106" spc="-38" baseline="-2976" dirty="0">
                <a:latin typeface="Symbol"/>
                <a:cs typeface="Symbol"/>
              </a:rPr>
              <a:t></a:t>
            </a:r>
            <a:endParaRPr sz="2106" baseline="-2976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09741" y="1085774"/>
            <a:ext cx="407859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2106" spc="-410" baseline="-6944" dirty="0">
                <a:latin typeface="Symbol"/>
                <a:cs typeface="Symbol"/>
              </a:rPr>
              <a:t></a:t>
            </a:r>
            <a:r>
              <a:rPr sz="2106" spc="-410" baseline="2976" dirty="0">
                <a:latin typeface="Symbol"/>
                <a:cs typeface="Symbol"/>
              </a:rPr>
              <a:t></a:t>
            </a:r>
            <a:r>
              <a:rPr sz="2106" spc="-203" baseline="2976" dirty="0">
                <a:latin typeface="Times New Roman"/>
                <a:cs typeface="Times New Roman"/>
              </a:rPr>
              <a:t> </a:t>
            </a:r>
            <a:r>
              <a:rPr sz="2106" i="1" spc="-15" baseline="17857" dirty="0">
                <a:latin typeface="Times New Roman"/>
                <a:cs typeface="Times New Roman"/>
              </a:rPr>
              <a:t>m</a:t>
            </a:r>
            <a:r>
              <a:rPr sz="802" i="1" spc="-10" dirty="0">
                <a:latin typeface="Times New Roman"/>
                <a:cs typeface="Times New Roman"/>
              </a:rPr>
              <a:t>gen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3898" y="1075028"/>
            <a:ext cx="107298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404" spc="-286" dirty="0">
                <a:latin typeface="Symbol"/>
                <a:cs typeface="Symbol"/>
              </a:rPr>
              <a:t></a:t>
            </a:r>
            <a:r>
              <a:rPr sz="2106" spc="-429" baseline="-10912" dirty="0">
                <a:latin typeface="Symbol"/>
                <a:cs typeface="Symbol"/>
              </a:rPr>
              <a:t></a:t>
            </a:r>
            <a:endParaRPr sz="2106" baseline="-10912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50976" y="776947"/>
            <a:ext cx="102522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3" dirty="0">
                <a:latin typeface="Times New Roman"/>
                <a:cs typeface="Times New Roman"/>
              </a:rPr>
              <a:t>1</a:t>
            </a:r>
            <a:endParaRPr sz="1404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644748" y="1025330"/>
            <a:ext cx="311705" cy="8915"/>
          </a:xfrm>
          <a:custGeom>
            <a:avLst/>
            <a:gdLst/>
            <a:ahLst/>
            <a:cxnLst/>
            <a:rect l="l" t="t" r="r" b="b"/>
            <a:pathLst>
              <a:path w="621665" h="17780">
                <a:moveTo>
                  <a:pt x="621515" y="0"/>
                </a:moveTo>
                <a:lnTo>
                  <a:pt x="0" y="0"/>
                </a:lnTo>
                <a:lnTo>
                  <a:pt x="0" y="17704"/>
                </a:lnTo>
                <a:lnTo>
                  <a:pt x="621515" y="17704"/>
                </a:lnTo>
                <a:lnTo>
                  <a:pt x="621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2" name="object 42"/>
          <p:cNvSpPr txBox="1"/>
          <p:nvPr/>
        </p:nvSpPr>
        <p:spPr>
          <a:xfrm>
            <a:off x="4886634" y="731160"/>
            <a:ext cx="752040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676577" algn="l"/>
              </a:tabLst>
            </a:pPr>
            <a:r>
              <a:rPr sz="1404" spc="-25" dirty="0">
                <a:latin typeface="Symbol"/>
                <a:cs typeface="Symbol"/>
              </a:rPr>
              <a:t></a:t>
            </a:r>
            <a:r>
              <a:rPr sz="1404" dirty="0">
                <a:latin typeface="Times New Roman"/>
                <a:cs typeface="Times New Roman"/>
              </a:rPr>
              <a:t>	</a:t>
            </a:r>
            <a:r>
              <a:rPr sz="1404" spc="-25" dirty="0">
                <a:latin typeface="Symbol"/>
                <a:cs typeface="Symbol"/>
              </a:rPr>
              <a:t>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28362" y="802644"/>
            <a:ext cx="2323302" cy="33210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3159" spc="38" baseline="-7275" dirty="0">
                <a:latin typeface="Symbol"/>
                <a:cs typeface="Symbol"/>
              </a:rPr>
              <a:t></a:t>
            </a:r>
            <a:r>
              <a:rPr sz="1404" spc="25" dirty="0">
                <a:latin typeface="Times New Roman"/>
                <a:cs typeface="Times New Roman"/>
              </a:rPr>
              <a:t>log(1</a:t>
            </a:r>
            <a:r>
              <a:rPr sz="1404" spc="25" dirty="0">
                <a:latin typeface="Symbol"/>
                <a:cs typeface="Symbol"/>
              </a:rPr>
              <a:t></a:t>
            </a:r>
            <a:r>
              <a:rPr sz="1404" spc="18" dirty="0">
                <a:latin typeface="Times New Roman"/>
                <a:cs typeface="Times New Roman"/>
              </a:rPr>
              <a:t> </a:t>
            </a:r>
            <a:r>
              <a:rPr sz="1404" i="1" spc="50" dirty="0">
                <a:latin typeface="Times New Roman"/>
                <a:cs typeface="Times New Roman"/>
              </a:rPr>
              <a:t>D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G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z</a:t>
            </a:r>
            <a:r>
              <a:rPr sz="1203" spc="75" baseline="43402" dirty="0">
                <a:latin typeface="Times New Roman"/>
                <a:cs typeface="Times New Roman"/>
              </a:rPr>
              <a:t>(</a:t>
            </a:r>
            <a:r>
              <a:rPr sz="1203" spc="-184" baseline="43402" dirty="0">
                <a:latin typeface="Times New Roman"/>
                <a:cs typeface="Times New Roman"/>
              </a:rPr>
              <a:t> </a:t>
            </a:r>
            <a:r>
              <a:rPr sz="1203" i="1" baseline="43402" dirty="0">
                <a:latin typeface="Times New Roman"/>
                <a:cs typeface="Times New Roman"/>
              </a:rPr>
              <a:t>i</a:t>
            </a:r>
            <a:r>
              <a:rPr sz="1203" i="1" spc="-192" baseline="43402" dirty="0">
                <a:latin typeface="Times New Roman"/>
                <a:cs typeface="Times New Roman"/>
              </a:rPr>
              <a:t> </a:t>
            </a:r>
            <a:r>
              <a:rPr sz="1203" baseline="43402" dirty="0">
                <a:latin typeface="Times New Roman"/>
                <a:cs typeface="Times New Roman"/>
              </a:rPr>
              <a:t>)</a:t>
            </a:r>
            <a:r>
              <a:rPr sz="1203" spc="-64" baseline="43402" dirty="0">
                <a:latin typeface="Times New Roman"/>
                <a:cs typeface="Times New Roman"/>
              </a:rPr>
              <a:t> </a:t>
            </a:r>
            <a:r>
              <a:rPr sz="1404" dirty="0">
                <a:latin typeface="Times New Roman"/>
                <a:cs typeface="Times New Roman"/>
              </a:rPr>
              <a:t>)))</a:t>
            </a:r>
            <a:r>
              <a:rPr sz="2106" baseline="-2976" dirty="0">
                <a:latin typeface="Symbol"/>
                <a:cs typeface="Symbol"/>
              </a:rPr>
              <a:t></a:t>
            </a:r>
            <a:r>
              <a:rPr sz="2106" spc="-49" baseline="-2976" dirty="0">
                <a:latin typeface="Times New Roman"/>
                <a:cs typeface="Times New Roman"/>
              </a:rPr>
              <a:t> </a:t>
            </a:r>
            <a:r>
              <a:rPr sz="1404" dirty="0">
                <a:latin typeface="Symbol"/>
                <a:cs typeface="Symbol"/>
              </a:rPr>
              <a:t></a:t>
            </a:r>
            <a:r>
              <a:rPr sz="1404" spc="-23" dirty="0">
                <a:latin typeface="Times New Roman"/>
                <a:cs typeface="Times New Roman"/>
              </a:rPr>
              <a:t> </a:t>
            </a:r>
            <a:r>
              <a:rPr sz="1404" spc="-10" dirty="0">
                <a:latin typeface="Times New Roman"/>
                <a:cs typeface="Times New Roman"/>
              </a:rPr>
              <a:t>max</a:t>
            </a:r>
            <a:r>
              <a:rPr sz="1404" spc="-118" dirty="0">
                <a:latin typeface="Times New Roman"/>
                <a:cs typeface="Times New Roman"/>
              </a:rPr>
              <a:t> </a:t>
            </a:r>
            <a:r>
              <a:rPr sz="2106" spc="-38" baseline="-2976" dirty="0">
                <a:latin typeface="Symbol"/>
                <a:cs typeface="Symbol"/>
              </a:rPr>
              <a:t></a:t>
            </a:r>
            <a:endParaRPr sz="2106" baseline="-2976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44348" y="1085774"/>
            <a:ext cx="407859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2106" spc="-410" baseline="2976" dirty="0">
                <a:latin typeface="Symbol"/>
                <a:cs typeface="Symbol"/>
              </a:rPr>
              <a:t></a:t>
            </a:r>
            <a:r>
              <a:rPr sz="2106" spc="-410" baseline="-6944" dirty="0">
                <a:latin typeface="Symbol"/>
                <a:cs typeface="Symbol"/>
              </a:rPr>
              <a:t></a:t>
            </a:r>
            <a:r>
              <a:rPr sz="2106" spc="-203" baseline="-6944" dirty="0">
                <a:latin typeface="Times New Roman"/>
                <a:cs typeface="Times New Roman"/>
              </a:rPr>
              <a:t> </a:t>
            </a:r>
            <a:r>
              <a:rPr sz="2106" i="1" spc="-15" baseline="17857" dirty="0">
                <a:latin typeface="Times New Roman"/>
                <a:cs typeface="Times New Roman"/>
              </a:rPr>
              <a:t>m</a:t>
            </a:r>
            <a:r>
              <a:rPr sz="802" i="1" spc="-10" dirty="0">
                <a:latin typeface="Times New Roman"/>
                <a:cs typeface="Times New Roman"/>
              </a:rPr>
              <a:t>gen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08409" y="1140904"/>
            <a:ext cx="149644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802" i="1" spc="-13" dirty="0">
                <a:latin typeface="Times New Roman"/>
                <a:cs typeface="Times New Roman"/>
              </a:rPr>
              <a:t>i</a:t>
            </a:r>
            <a:r>
              <a:rPr sz="802" spc="-13" dirty="0">
                <a:latin typeface="Symbol"/>
                <a:cs typeface="Symbol"/>
              </a:rPr>
              <a:t></a:t>
            </a:r>
            <a:r>
              <a:rPr sz="802" spc="-13" dirty="0">
                <a:latin typeface="Times New Roman"/>
                <a:cs typeface="Times New Roman"/>
              </a:rPr>
              <a:t>1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65772" y="778349"/>
            <a:ext cx="219053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03" i="1" spc="-15" baseline="19097" dirty="0">
                <a:latin typeface="Times New Roman"/>
                <a:cs typeface="Times New Roman"/>
              </a:rPr>
              <a:t>m</a:t>
            </a:r>
            <a:r>
              <a:rPr sz="577" i="1" spc="-10" dirty="0">
                <a:latin typeface="Times New Roman"/>
                <a:cs typeface="Times New Roman"/>
              </a:rPr>
              <a:t>gen</a:t>
            </a:r>
            <a:endParaRPr sz="577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87981" y="1075028"/>
            <a:ext cx="107298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2106" spc="-429" baseline="-10912" dirty="0">
                <a:latin typeface="Symbol"/>
                <a:cs typeface="Symbol"/>
              </a:rPr>
              <a:t></a:t>
            </a:r>
            <a:r>
              <a:rPr sz="1404" spc="-286" dirty="0">
                <a:latin typeface="Symbol"/>
                <a:cs typeface="Symbol"/>
              </a:rPr>
              <a:t>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300717" y="731160"/>
            <a:ext cx="718609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642827" algn="l"/>
              </a:tabLst>
            </a:pPr>
            <a:r>
              <a:rPr sz="1404" spc="-25" dirty="0">
                <a:latin typeface="Symbol"/>
                <a:cs typeface="Symbol"/>
              </a:rPr>
              <a:t></a:t>
            </a:r>
            <a:r>
              <a:rPr sz="1404" dirty="0">
                <a:latin typeface="Times New Roman"/>
                <a:cs typeface="Times New Roman"/>
              </a:rPr>
              <a:t>	</a:t>
            </a:r>
            <a:r>
              <a:rPr sz="1404" spc="-25" dirty="0">
                <a:latin typeface="Symbol"/>
                <a:cs typeface="Symbol"/>
              </a:rPr>
              <a:t>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62969" y="802644"/>
            <a:ext cx="2176205" cy="33210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3159" spc="45" baseline="-7275" dirty="0">
                <a:latin typeface="Symbol"/>
                <a:cs typeface="Symbol"/>
              </a:rPr>
              <a:t></a:t>
            </a:r>
            <a:r>
              <a:rPr sz="1404" spc="30" dirty="0">
                <a:latin typeface="Times New Roman"/>
                <a:cs typeface="Times New Roman"/>
              </a:rPr>
              <a:t>log(</a:t>
            </a:r>
            <a:r>
              <a:rPr sz="1404" spc="-211" dirty="0">
                <a:latin typeface="Times New Roman"/>
                <a:cs typeface="Times New Roman"/>
              </a:rPr>
              <a:t> </a:t>
            </a:r>
            <a:r>
              <a:rPr sz="1404" i="1" spc="50" dirty="0">
                <a:latin typeface="Times New Roman"/>
                <a:cs typeface="Times New Roman"/>
              </a:rPr>
              <a:t>D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G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z</a:t>
            </a:r>
            <a:r>
              <a:rPr sz="1203" spc="75" baseline="43402" dirty="0">
                <a:latin typeface="Times New Roman"/>
                <a:cs typeface="Times New Roman"/>
              </a:rPr>
              <a:t>(</a:t>
            </a:r>
            <a:r>
              <a:rPr sz="1203" spc="-180" baseline="43402" dirty="0">
                <a:latin typeface="Times New Roman"/>
                <a:cs typeface="Times New Roman"/>
              </a:rPr>
              <a:t> </a:t>
            </a:r>
            <a:r>
              <a:rPr sz="1203" i="1" baseline="43402" dirty="0">
                <a:latin typeface="Times New Roman"/>
                <a:cs typeface="Times New Roman"/>
              </a:rPr>
              <a:t>i</a:t>
            </a:r>
            <a:r>
              <a:rPr sz="1203" i="1" spc="-192" baseline="43402" dirty="0">
                <a:latin typeface="Times New Roman"/>
                <a:cs typeface="Times New Roman"/>
              </a:rPr>
              <a:t> </a:t>
            </a:r>
            <a:r>
              <a:rPr sz="1203" baseline="43402" dirty="0">
                <a:latin typeface="Times New Roman"/>
                <a:cs typeface="Times New Roman"/>
              </a:rPr>
              <a:t>)</a:t>
            </a:r>
            <a:r>
              <a:rPr sz="1203" spc="-64" baseline="43402" dirty="0">
                <a:latin typeface="Times New Roman"/>
                <a:cs typeface="Times New Roman"/>
              </a:rPr>
              <a:t> </a:t>
            </a:r>
            <a:r>
              <a:rPr sz="1404" dirty="0">
                <a:latin typeface="Times New Roman"/>
                <a:cs typeface="Times New Roman"/>
              </a:rPr>
              <a:t>)))</a:t>
            </a:r>
            <a:r>
              <a:rPr sz="2106" baseline="-2976" dirty="0">
                <a:latin typeface="Symbol"/>
                <a:cs typeface="Symbol"/>
              </a:rPr>
              <a:t></a:t>
            </a:r>
            <a:r>
              <a:rPr sz="2106" spc="-52" baseline="-2976" dirty="0">
                <a:latin typeface="Times New Roman"/>
                <a:cs typeface="Times New Roman"/>
              </a:rPr>
              <a:t> </a:t>
            </a:r>
            <a:r>
              <a:rPr sz="1404" dirty="0">
                <a:latin typeface="Symbol"/>
                <a:cs typeface="Symbol"/>
              </a:rPr>
              <a:t></a:t>
            </a:r>
            <a:r>
              <a:rPr sz="1404" spc="-20" dirty="0">
                <a:latin typeface="Times New Roman"/>
                <a:cs typeface="Times New Roman"/>
              </a:rPr>
              <a:t> </a:t>
            </a:r>
            <a:r>
              <a:rPr sz="1404" spc="-10" dirty="0">
                <a:latin typeface="Times New Roman"/>
                <a:cs typeface="Times New Roman"/>
              </a:rPr>
              <a:t>min</a:t>
            </a:r>
            <a:r>
              <a:rPr sz="1404" spc="-150" dirty="0">
                <a:latin typeface="Times New Roman"/>
                <a:cs typeface="Times New Roman"/>
              </a:rPr>
              <a:t> </a:t>
            </a:r>
            <a:r>
              <a:rPr sz="2106" spc="30" baseline="-2976" dirty="0">
                <a:latin typeface="Symbol"/>
                <a:cs typeface="Symbol"/>
              </a:rPr>
              <a:t></a:t>
            </a:r>
            <a:r>
              <a:rPr sz="1404" spc="20" dirty="0">
                <a:latin typeface="Symbol"/>
                <a:cs typeface="Symbol"/>
              </a:rPr>
              <a:t>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53361" y="776947"/>
            <a:ext cx="102522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3" dirty="0">
                <a:latin typeface="Times New Roman"/>
                <a:cs typeface="Times New Roman"/>
              </a:rPr>
              <a:t>1</a:t>
            </a:r>
            <a:endParaRPr sz="1404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42044" y="1085774"/>
            <a:ext cx="312660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2106" i="1" spc="-15" baseline="17857" dirty="0">
                <a:latin typeface="Times New Roman"/>
                <a:cs typeface="Times New Roman"/>
              </a:rPr>
              <a:t>m</a:t>
            </a:r>
            <a:r>
              <a:rPr sz="802" i="1" spc="-10" dirty="0">
                <a:latin typeface="Times New Roman"/>
                <a:cs typeface="Times New Roman"/>
              </a:rPr>
              <a:t>gen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147132" y="1025330"/>
            <a:ext cx="311705" cy="8915"/>
          </a:xfrm>
          <a:custGeom>
            <a:avLst/>
            <a:gdLst/>
            <a:ahLst/>
            <a:cxnLst/>
            <a:rect l="l" t="t" r="r" b="b"/>
            <a:pathLst>
              <a:path w="621665" h="17780">
                <a:moveTo>
                  <a:pt x="621515" y="0"/>
                </a:moveTo>
                <a:lnTo>
                  <a:pt x="0" y="0"/>
                </a:lnTo>
                <a:lnTo>
                  <a:pt x="0" y="17704"/>
                </a:lnTo>
                <a:lnTo>
                  <a:pt x="621515" y="17704"/>
                </a:lnTo>
                <a:lnTo>
                  <a:pt x="6215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3" name="object 53"/>
          <p:cNvSpPr txBox="1"/>
          <p:nvPr/>
        </p:nvSpPr>
        <p:spPr>
          <a:xfrm>
            <a:off x="8510794" y="1140904"/>
            <a:ext cx="149644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802" i="1" spc="-13" dirty="0">
                <a:latin typeface="Times New Roman"/>
                <a:cs typeface="Times New Roman"/>
              </a:rPr>
              <a:t>i</a:t>
            </a:r>
            <a:r>
              <a:rPr sz="802" spc="-13" dirty="0">
                <a:latin typeface="Symbol"/>
                <a:cs typeface="Symbol"/>
              </a:rPr>
              <a:t></a:t>
            </a:r>
            <a:r>
              <a:rPr sz="802" spc="-13" dirty="0">
                <a:latin typeface="Times New Roman"/>
                <a:cs typeface="Times New Roman"/>
              </a:rPr>
              <a:t>1</a:t>
            </a:r>
            <a:endParaRPr sz="802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468157" y="778349"/>
            <a:ext cx="219053" cy="131469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03" i="1" spc="-15" baseline="19097" dirty="0">
                <a:latin typeface="Times New Roman"/>
                <a:cs typeface="Times New Roman"/>
              </a:rPr>
              <a:t>m</a:t>
            </a:r>
            <a:r>
              <a:rPr sz="577" i="1" spc="-10" dirty="0">
                <a:latin typeface="Times New Roman"/>
                <a:cs typeface="Times New Roman"/>
              </a:rPr>
              <a:t>gen</a:t>
            </a:r>
            <a:endParaRPr sz="577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924790" y="1075028"/>
            <a:ext cx="107298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404" spc="-286" dirty="0">
                <a:latin typeface="Symbol"/>
                <a:cs typeface="Symbol"/>
              </a:rPr>
              <a:t></a:t>
            </a:r>
            <a:r>
              <a:rPr sz="2106" spc="-429" baseline="-10912" dirty="0">
                <a:latin typeface="Symbol"/>
                <a:cs typeface="Symbol"/>
              </a:rPr>
              <a:t></a:t>
            </a:r>
            <a:endParaRPr sz="2106" baseline="-10912">
              <a:latin typeface="Symbol"/>
              <a:cs typeface="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803102" y="731160"/>
            <a:ext cx="81827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404" spc="3" dirty="0">
                <a:latin typeface="Symbol"/>
                <a:cs typeface="Symbol"/>
              </a:rPr>
              <a:t></a:t>
            </a:r>
            <a:endParaRPr sz="1404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65354" y="802644"/>
            <a:ext cx="1432124" cy="33210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3159" spc="45" baseline="-7275" dirty="0">
                <a:latin typeface="Symbol"/>
                <a:cs typeface="Symbol"/>
              </a:rPr>
              <a:t></a:t>
            </a:r>
            <a:r>
              <a:rPr sz="1404" spc="30" dirty="0">
                <a:latin typeface="Times New Roman"/>
                <a:cs typeface="Times New Roman"/>
              </a:rPr>
              <a:t>log(</a:t>
            </a:r>
            <a:r>
              <a:rPr sz="1404" spc="-211" dirty="0">
                <a:latin typeface="Times New Roman"/>
                <a:cs typeface="Times New Roman"/>
              </a:rPr>
              <a:t> </a:t>
            </a:r>
            <a:r>
              <a:rPr sz="1404" i="1" spc="50" dirty="0">
                <a:latin typeface="Times New Roman"/>
                <a:cs typeface="Times New Roman"/>
              </a:rPr>
              <a:t>D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G</a:t>
            </a:r>
            <a:r>
              <a:rPr sz="1404" spc="50" dirty="0">
                <a:latin typeface="Times New Roman"/>
                <a:cs typeface="Times New Roman"/>
              </a:rPr>
              <a:t>(</a:t>
            </a:r>
            <a:r>
              <a:rPr sz="1404" i="1" spc="50" dirty="0">
                <a:latin typeface="Times New Roman"/>
                <a:cs typeface="Times New Roman"/>
              </a:rPr>
              <a:t>z</a:t>
            </a:r>
            <a:r>
              <a:rPr sz="1203" spc="75" baseline="43402" dirty="0">
                <a:latin typeface="Times New Roman"/>
                <a:cs typeface="Times New Roman"/>
              </a:rPr>
              <a:t>(</a:t>
            </a:r>
            <a:r>
              <a:rPr sz="1203" spc="-184" baseline="43402" dirty="0">
                <a:latin typeface="Times New Roman"/>
                <a:cs typeface="Times New Roman"/>
              </a:rPr>
              <a:t> </a:t>
            </a:r>
            <a:r>
              <a:rPr sz="1203" i="1" baseline="43402" dirty="0">
                <a:latin typeface="Times New Roman"/>
                <a:cs typeface="Times New Roman"/>
              </a:rPr>
              <a:t>i</a:t>
            </a:r>
            <a:r>
              <a:rPr sz="1203" i="1" spc="-192" baseline="43402" dirty="0">
                <a:latin typeface="Times New Roman"/>
                <a:cs typeface="Times New Roman"/>
              </a:rPr>
              <a:t> </a:t>
            </a:r>
            <a:r>
              <a:rPr sz="1203" baseline="43402" dirty="0">
                <a:latin typeface="Times New Roman"/>
                <a:cs typeface="Times New Roman"/>
              </a:rPr>
              <a:t>)</a:t>
            </a:r>
            <a:r>
              <a:rPr sz="1203" spc="-60" baseline="43402" dirty="0">
                <a:latin typeface="Times New Roman"/>
                <a:cs typeface="Times New Roman"/>
              </a:rPr>
              <a:t> </a:t>
            </a:r>
            <a:r>
              <a:rPr sz="1404" spc="-10" dirty="0">
                <a:latin typeface="Times New Roman"/>
                <a:cs typeface="Times New Roman"/>
              </a:rPr>
              <a:t>)))</a:t>
            </a:r>
            <a:r>
              <a:rPr sz="2106" spc="-15" baseline="-2976" dirty="0">
                <a:latin typeface="Symbol"/>
                <a:cs typeface="Symbol"/>
              </a:rPr>
              <a:t></a:t>
            </a:r>
            <a:endParaRPr sz="2106" baseline="-2976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790366" y="1075028"/>
            <a:ext cx="107298" cy="2234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404" spc="-286" dirty="0">
                <a:latin typeface="Symbol"/>
                <a:cs typeface="Symbol"/>
              </a:rPr>
              <a:t></a:t>
            </a:r>
            <a:r>
              <a:rPr sz="2106" spc="-429" baseline="-10912" dirty="0">
                <a:latin typeface="Symbol"/>
                <a:cs typeface="Symbol"/>
              </a:rPr>
              <a:t></a:t>
            </a:r>
            <a:endParaRPr sz="2106" baseline="-10912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155" y="1122413"/>
            <a:ext cx="1150985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Note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that:</a:t>
            </a:r>
            <a:endParaRPr sz="205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905" y="2098938"/>
            <a:ext cx="5356935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New</a:t>
            </a:r>
            <a:r>
              <a:rPr sz="2056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training</a:t>
            </a:r>
            <a:r>
              <a:rPr sz="2056" spc="28" dirty="0">
                <a:solidFill>
                  <a:srgbClr val="00882B"/>
                </a:solidFill>
                <a:latin typeface="Arial"/>
                <a:cs typeface="Arial"/>
              </a:rPr>
              <a:t> procedure,</a:t>
            </a:r>
            <a:r>
              <a:rPr sz="2056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we</a:t>
            </a:r>
            <a:r>
              <a:rPr sz="2056" spc="2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want</a:t>
            </a:r>
            <a:r>
              <a:rPr sz="2056" spc="28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to</a:t>
            </a:r>
            <a:r>
              <a:rPr sz="2056" spc="25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minimize:</a:t>
            </a:r>
            <a:endParaRPr sz="205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3725" y="4367512"/>
            <a:ext cx="944986" cy="357552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  <a:tabLst>
                <a:tab pos="537441" algn="l"/>
              </a:tabLst>
            </a:pPr>
            <a:r>
              <a:rPr sz="3422" i="1" baseline="-25030" dirty="0">
                <a:latin typeface="Times New Roman"/>
                <a:cs typeface="Times New Roman"/>
              </a:rPr>
              <a:t>J</a:t>
            </a:r>
            <a:r>
              <a:rPr sz="3422" i="1" spc="-406" baseline="-25030" dirty="0">
                <a:latin typeface="Times New Roman"/>
                <a:cs typeface="Times New Roman"/>
              </a:rPr>
              <a:t> </a:t>
            </a:r>
            <a:r>
              <a:rPr sz="1304" spc="53" dirty="0">
                <a:latin typeface="Times New Roman"/>
                <a:cs typeface="Times New Roman"/>
              </a:rPr>
              <a:t>(</a:t>
            </a:r>
            <a:r>
              <a:rPr sz="1304" i="1" spc="53" dirty="0">
                <a:latin typeface="Times New Roman"/>
                <a:cs typeface="Times New Roman"/>
              </a:rPr>
              <a:t>G</a:t>
            </a:r>
            <a:r>
              <a:rPr sz="1304" i="1" spc="-165" dirty="0">
                <a:latin typeface="Times New Roman"/>
                <a:cs typeface="Times New Roman"/>
              </a:rPr>
              <a:t> </a:t>
            </a:r>
            <a:r>
              <a:rPr sz="1304" spc="-25" dirty="0">
                <a:latin typeface="Times New Roman"/>
                <a:cs typeface="Times New Roman"/>
              </a:rPr>
              <a:t>)</a:t>
            </a:r>
            <a:r>
              <a:rPr sz="1304" dirty="0">
                <a:latin typeface="Times New Roman"/>
                <a:cs typeface="Times New Roman"/>
              </a:rPr>
              <a:t>	</a:t>
            </a:r>
            <a:r>
              <a:rPr sz="3422" baseline="-25030" dirty="0">
                <a:latin typeface="Symbol"/>
                <a:cs typeface="Symbol"/>
              </a:rPr>
              <a:t></a:t>
            </a:r>
            <a:r>
              <a:rPr sz="3422" spc="-41" baseline="-25030" dirty="0">
                <a:latin typeface="Times New Roman"/>
                <a:cs typeface="Times New Roman"/>
              </a:rPr>
              <a:t> </a:t>
            </a:r>
            <a:r>
              <a:rPr sz="3422" spc="-38" baseline="-25030" dirty="0">
                <a:latin typeface="Symbol"/>
                <a:cs typeface="Symbol"/>
              </a:rPr>
              <a:t></a:t>
            </a:r>
            <a:endParaRPr sz="3422" baseline="-2503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8952" y="4310887"/>
            <a:ext cx="157922" cy="357424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2281" dirty="0">
                <a:latin typeface="Times New Roman"/>
                <a:cs typeface="Times New Roman"/>
              </a:rPr>
              <a:t>1</a:t>
            </a:r>
            <a:endParaRPr sz="228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6913" y="4809938"/>
            <a:ext cx="481407" cy="357552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3422" i="1" spc="-15" baseline="17704" dirty="0">
                <a:latin typeface="Times New Roman"/>
                <a:cs typeface="Times New Roman"/>
              </a:rPr>
              <a:t>m</a:t>
            </a:r>
            <a:r>
              <a:rPr sz="1304" i="1" spc="-10" dirty="0">
                <a:latin typeface="Times New Roman"/>
                <a:cs typeface="Times New Roman"/>
              </a:rPr>
              <a:t>gen</a:t>
            </a:r>
            <a:endParaRPr sz="130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3366" y="4708342"/>
            <a:ext cx="503695" cy="14646"/>
          </a:xfrm>
          <a:custGeom>
            <a:avLst/>
            <a:gdLst/>
            <a:ahLst/>
            <a:cxnLst/>
            <a:rect l="l" t="t" r="r" b="b"/>
            <a:pathLst>
              <a:path w="1004570" h="29209">
                <a:moveTo>
                  <a:pt x="1004342" y="0"/>
                </a:moveTo>
                <a:lnTo>
                  <a:pt x="0" y="0"/>
                </a:lnTo>
                <a:lnTo>
                  <a:pt x="0" y="28609"/>
                </a:lnTo>
                <a:lnTo>
                  <a:pt x="1004342" y="28609"/>
                </a:lnTo>
                <a:lnTo>
                  <a:pt x="1004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8" name="object 8"/>
          <p:cNvSpPr txBox="1"/>
          <p:nvPr/>
        </p:nvSpPr>
        <p:spPr>
          <a:xfrm>
            <a:off x="3394953" y="4899028"/>
            <a:ext cx="234018" cy="20905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1304" i="1" spc="-13" dirty="0">
                <a:latin typeface="Times New Roman"/>
                <a:cs typeface="Times New Roman"/>
              </a:rPr>
              <a:t>i</a:t>
            </a:r>
            <a:r>
              <a:rPr sz="1304" spc="-13" dirty="0">
                <a:latin typeface="Symbol"/>
                <a:cs typeface="Symbol"/>
              </a:rPr>
              <a:t></a:t>
            </a:r>
            <a:r>
              <a:rPr sz="1304" spc="-13" dirty="0">
                <a:latin typeface="Times New Roman"/>
                <a:cs typeface="Times New Roman"/>
              </a:rPr>
              <a:t>1</a:t>
            </a:r>
            <a:endParaRPr sz="130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3898" y="4313152"/>
            <a:ext cx="330172" cy="208927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1955" i="1" spc="-15" baseline="19230" dirty="0">
                <a:latin typeface="Times New Roman"/>
                <a:cs typeface="Times New Roman"/>
              </a:rPr>
              <a:t>m</a:t>
            </a:r>
            <a:r>
              <a:rPr sz="953" i="1" spc="-10" dirty="0">
                <a:latin typeface="Times New Roman"/>
                <a:cs typeface="Times New Roman"/>
              </a:rPr>
              <a:t>gen</a:t>
            </a:r>
            <a:endParaRPr sz="95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9369" y="4352412"/>
            <a:ext cx="2162832" cy="533054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5114" spc="71" baseline="-7352" dirty="0">
                <a:latin typeface="Symbol"/>
                <a:cs typeface="Symbol"/>
              </a:rPr>
              <a:t></a:t>
            </a:r>
            <a:r>
              <a:rPr sz="2281" spc="48" dirty="0">
                <a:latin typeface="Times New Roman"/>
                <a:cs typeface="Times New Roman"/>
              </a:rPr>
              <a:t>log(</a:t>
            </a:r>
            <a:r>
              <a:rPr sz="2281" spc="-341" dirty="0">
                <a:latin typeface="Times New Roman"/>
                <a:cs typeface="Times New Roman"/>
              </a:rPr>
              <a:t> </a:t>
            </a:r>
            <a:r>
              <a:rPr sz="2281" i="1" spc="83" dirty="0">
                <a:latin typeface="Times New Roman"/>
                <a:cs typeface="Times New Roman"/>
              </a:rPr>
              <a:t>D</a:t>
            </a:r>
            <a:r>
              <a:rPr sz="2281" spc="83" dirty="0">
                <a:latin typeface="Times New Roman"/>
                <a:cs typeface="Times New Roman"/>
              </a:rPr>
              <a:t>(</a:t>
            </a:r>
            <a:r>
              <a:rPr sz="2281" i="1" spc="83" dirty="0">
                <a:latin typeface="Times New Roman"/>
                <a:cs typeface="Times New Roman"/>
              </a:rPr>
              <a:t>G</a:t>
            </a:r>
            <a:r>
              <a:rPr sz="2281" spc="83" dirty="0">
                <a:latin typeface="Times New Roman"/>
                <a:cs typeface="Times New Roman"/>
              </a:rPr>
              <a:t>(</a:t>
            </a:r>
            <a:r>
              <a:rPr sz="2281" i="1" spc="83" dirty="0">
                <a:latin typeface="Times New Roman"/>
                <a:cs typeface="Times New Roman"/>
              </a:rPr>
              <a:t>z</a:t>
            </a:r>
            <a:r>
              <a:rPr sz="1955" spc="124" baseline="43803" dirty="0">
                <a:latin typeface="Times New Roman"/>
                <a:cs typeface="Times New Roman"/>
              </a:rPr>
              <a:t>(</a:t>
            </a:r>
            <a:r>
              <a:rPr sz="1955" spc="-297" baseline="43803" dirty="0">
                <a:latin typeface="Times New Roman"/>
                <a:cs typeface="Times New Roman"/>
              </a:rPr>
              <a:t> </a:t>
            </a:r>
            <a:r>
              <a:rPr sz="1955" i="1" baseline="43803" dirty="0">
                <a:latin typeface="Times New Roman"/>
                <a:cs typeface="Times New Roman"/>
              </a:rPr>
              <a:t>i</a:t>
            </a:r>
            <a:r>
              <a:rPr sz="1955" i="1" spc="-316" baseline="43803" dirty="0">
                <a:latin typeface="Times New Roman"/>
                <a:cs typeface="Times New Roman"/>
              </a:rPr>
              <a:t> </a:t>
            </a:r>
            <a:r>
              <a:rPr sz="1955" baseline="43803" dirty="0">
                <a:latin typeface="Times New Roman"/>
                <a:cs typeface="Times New Roman"/>
              </a:rPr>
              <a:t>)</a:t>
            </a:r>
            <a:r>
              <a:rPr sz="1955" spc="-105" baseline="43803" dirty="0">
                <a:latin typeface="Times New Roman"/>
                <a:cs typeface="Times New Roman"/>
              </a:rPr>
              <a:t> </a:t>
            </a:r>
            <a:r>
              <a:rPr sz="2281" spc="-13" dirty="0">
                <a:latin typeface="Times New Roman"/>
                <a:cs typeface="Times New Roman"/>
              </a:rPr>
              <a:t>)))</a:t>
            </a:r>
            <a:endParaRPr sz="228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8804" y="4608505"/>
            <a:ext cx="3368898" cy="22251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404" spc="38" dirty="0">
                <a:latin typeface="Arial"/>
                <a:cs typeface="Arial"/>
              </a:rPr>
              <a:t>“G</a:t>
            </a:r>
            <a:r>
              <a:rPr sz="1404" spc="15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should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try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to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fool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D: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spc="35" dirty="0">
                <a:latin typeface="Arial"/>
                <a:cs typeface="Arial"/>
              </a:rPr>
              <a:t>by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dirty="0">
                <a:latin typeface="Arial"/>
                <a:cs typeface="Arial"/>
              </a:rPr>
              <a:t>minimizing</a:t>
            </a:r>
            <a:r>
              <a:rPr sz="1404" spc="18" dirty="0">
                <a:latin typeface="Arial"/>
                <a:cs typeface="Arial"/>
              </a:rPr>
              <a:t> </a:t>
            </a:r>
            <a:r>
              <a:rPr sz="1404" spc="-5" dirty="0">
                <a:latin typeface="Arial"/>
                <a:cs typeface="Arial"/>
              </a:rPr>
              <a:t>this”</a:t>
            </a:r>
            <a:endParaRPr sz="140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0501" y="172557"/>
            <a:ext cx="2325849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II.C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4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9969" y="1054396"/>
            <a:ext cx="112074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spc="3" dirty="0">
                <a:latin typeface="Times New Roman"/>
                <a:cs typeface="Times New Roman"/>
              </a:rPr>
              <a:t>1</a:t>
            </a:r>
            <a:endParaRPr sz="1554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81954" y="1328110"/>
            <a:ext cx="344499" cy="9870"/>
          </a:xfrm>
          <a:custGeom>
            <a:avLst/>
            <a:gdLst/>
            <a:ahLst/>
            <a:cxnLst/>
            <a:rect l="l" t="t" r="r" b="b"/>
            <a:pathLst>
              <a:path w="687070" h="19685">
                <a:moveTo>
                  <a:pt x="686565" y="0"/>
                </a:moveTo>
                <a:lnTo>
                  <a:pt x="0" y="0"/>
                </a:lnTo>
                <a:lnTo>
                  <a:pt x="0" y="19557"/>
                </a:lnTo>
                <a:lnTo>
                  <a:pt x="686565" y="19557"/>
                </a:lnTo>
                <a:lnTo>
                  <a:pt x="686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6" name="object 16"/>
          <p:cNvSpPr txBox="1"/>
          <p:nvPr/>
        </p:nvSpPr>
        <p:spPr>
          <a:xfrm>
            <a:off x="2484347" y="1456447"/>
            <a:ext cx="163972" cy="145379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8581" y="1055945"/>
            <a:ext cx="237838" cy="145314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5783" y="1003818"/>
            <a:ext cx="88831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dirty="0">
                <a:latin typeface="Symbol"/>
                <a:cs typeface="Symbol"/>
              </a:rPr>
              <a:t></a:t>
            </a:r>
            <a:endParaRPr sz="1554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2891" y="1181877"/>
            <a:ext cx="421869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spc="-13" dirty="0">
                <a:latin typeface="Times New Roman"/>
                <a:cs typeface="Times New Roman"/>
              </a:rPr>
              <a:t>min</a:t>
            </a:r>
            <a:r>
              <a:rPr sz="1554" spc="-163" dirty="0">
                <a:latin typeface="Times New Roman"/>
                <a:cs typeface="Times New Roman"/>
              </a:rPr>
              <a:t> </a:t>
            </a:r>
            <a:r>
              <a:rPr sz="2332" spc="-38" baseline="-3584" dirty="0">
                <a:latin typeface="Symbol"/>
                <a:cs typeface="Symbol"/>
              </a:rPr>
              <a:t></a:t>
            </a:r>
            <a:endParaRPr sz="2332" baseline="-3584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3047" y="1395546"/>
            <a:ext cx="446703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2332" spc="-451" baseline="3584" dirty="0">
                <a:latin typeface="Symbol"/>
                <a:cs typeface="Symbol"/>
              </a:rPr>
              <a:t></a:t>
            </a:r>
            <a:r>
              <a:rPr sz="2332" spc="-451" baseline="-7168" dirty="0">
                <a:latin typeface="Symbol"/>
                <a:cs typeface="Symbol"/>
              </a:rPr>
              <a:t></a:t>
            </a:r>
            <a:r>
              <a:rPr sz="2332" spc="-233" baseline="-7168" dirty="0">
                <a:latin typeface="Times New Roman"/>
                <a:cs typeface="Times New Roman"/>
              </a:rPr>
              <a:t> </a:t>
            </a:r>
            <a:r>
              <a:rPr sz="2332" i="1" spc="-15" baseline="17921" dirty="0">
                <a:latin typeface="Times New Roman"/>
                <a:cs typeface="Times New Roman"/>
              </a:rPr>
              <a:t>m</a:t>
            </a:r>
            <a:r>
              <a:rPr sz="903" i="1" spc="-10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42782" y="1383676"/>
            <a:ext cx="114302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554" spc="-313" dirty="0">
                <a:latin typeface="Symbol"/>
                <a:cs typeface="Symbol"/>
              </a:rPr>
              <a:t></a:t>
            </a:r>
            <a:r>
              <a:rPr sz="2332" spc="-470" baseline="-10752" dirty="0">
                <a:latin typeface="Symbol"/>
                <a:cs typeface="Symbol"/>
              </a:rPr>
              <a:t></a:t>
            </a:r>
            <a:endParaRPr sz="2332" baseline="-10752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0325" y="1054396"/>
            <a:ext cx="112074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spc="3" dirty="0">
                <a:latin typeface="Times New Roman"/>
                <a:cs typeface="Times New Roman"/>
              </a:rPr>
              <a:t>1</a:t>
            </a:r>
            <a:endParaRPr sz="1554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92310" y="1328110"/>
            <a:ext cx="344499" cy="9870"/>
          </a:xfrm>
          <a:custGeom>
            <a:avLst/>
            <a:gdLst/>
            <a:ahLst/>
            <a:cxnLst/>
            <a:rect l="l" t="t" r="r" b="b"/>
            <a:pathLst>
              <a:path w="687070" h="19685">
                <a:moveTo>
                  <a:pt x="686565" y="0"/>
                </a:moveTo>
                <a:lnTo>
                  <a:pt x="0" y="0"/>
                </a:lnTo>
                <a:lnTo>
                  <a:pt x="0" y="19557"/>
                </a:lnTo>
                <a:lnTo>
                  <a:pt x="686565" y="19557"/>
                </a:lnTo>
                <a:lnTo>
                  <a:pt x="686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4" name="object 24"/>
          <p:cNvSpPr txBox="1"/>
          <p:nvPr/>
        </p:nvSpPr>
        <p:spPr>
          <a:xfrm>
            <a:off x="4155517" y="1003818"/>
            <a:ext cx="829728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746941" algn="l"/>
              </a:tabLst>
            </a:pPr>
            <a:r>
              <a:rPr sz="1554" spc="-25" dirty="0">
                <a:latin typeface="Symbol"/>
                <a:cs typeface="Symbol"/>
              </a:rPr>
              <a:t></a:t>
            </a:r>
            <a:r>
              <a:rPr sz="1554" dirty="0">
                <a:latin typeface="Times New Roman"/>
                <a:cs typeface="Times New Roman"/>
              </a:rPr>
              <a:t>	</a:t>
            </a:r>
            <a:r>
              <a:rPr sz="1554" spc="-25" dirty="0">
                <a:latin typeface="Symbol"/>
                <a:cs typeface="Symbol"/>
              </a:rPr>
              <a:t></a:t>
            </a:r>
            <a:endParaRPr sz="1554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35484" y="1082783"/>
            <a:ext cx="2562414" cy="36621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3497" spc="41" baseline="-7168" dirty="0">
                <a:latin typeface="Symbol"/>
                <a:cs typeface="Symbol"/>
              </a:rPr>
              <a:t></a:t>
            </a:r>
            <a:r>
              <a:rPr sz="1554" spc="28" dirty="0">
                <a:latin typeface="Times New Roman"/>
                <a:cs typeface="Times New Roman"/>
              </a:rPr>
              <a:t>log(1</a:t>
            </a:r>
            <a:r>
              <a:rPr sz="1554" spc="28" dirty="0">
                <a:latin typeface="Symbol"/>
                <a:cs typeface="Symbol"/>
              </a:rPr>
              <a:t></a:t>
            </a:r>
            <a:r>
              <a:rPr sz="1554" spc="15" dirty="0">
                <a:latin typeface="Times New Roman"/>
                <a:cs typeface="Times New Roman"/>
              </a:rPr>
              <a:t> </a:t>
            </a:r>
            <a:r>
              <a:rPr sz="1554" i="1" spc="55" dirty="0">
                <a:latin typeface="Times New Roman"/>
                <a:cs typeface="Times New Roman"/>
              </a:rPr>
              <a:t>D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G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z</a:t>
            </a:r>
            <a:r>
              <a:rPr sz="1354" spc="83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79" baseline="43209" dirty="0">
                <a:latin typeface="Times New Roman"/>
                <a:cs typeface="Times New Roman"/>
              </a:rPr>
              <a:t> </a:t>
            </a:r>
            <a:r>
              <a:rPr sz="1554" dirty="0">
                <a:latin typeface="Times New Roman"/>
                <a:cs typeface="Times New Roman"/>
              </a:rPr>
              <a:t>)))</a:t>
            </a:r>
            <a:r>
              <a:rPr sz="2332" baseline="-3584" dirty="0">
                <a:latin typeface="Symbol"/>
                <a:cs typeface="Symbol"/>
              </a:rPr>
              <a:t></a:t>
            </a:r>
            <a:r>
              <a:rPr sz="2332" spc="-60" baseline="-3584" dirty="0">
                <a:latin typeface="Times New Roman"/>
                <a:cs typeface="Times New Roman"/>
              </a:rPr>
              <a:t> </a:t>
            </a:r>
            <a:r>
              <a:rPr sz="1554" dirty="0">
                <a:latin typeface="Symbol"/>
                <a:cs typeface="Symbol"/>
              </a:rPr>
              <a:t></a:t>
            </a:r>
            <a:r>
              <a:rPr sz="1554" spc="-28" dirty="0">
                <a:latin typeface="Times New Roman"/>
                <a:cs typeface="Times New Roman"/>
              </a:rPr>
              <a:t> </a:t>
            </a:r>
            <a:r>
              <a:rPr sz="1554" spc="-8" dirty="0">
                <a:latin typeface="Times New Roman"/>
                <a:cs typeface="Times New Roman"/>
              </a:rPr>
              <a:t>max</a:t>
            </a:r>
            <a:r>
              <a:rPr sz="1554" spc="-135" dirty="0">
                <a:latin typeface="Times New Roman"/>
                <a:cs typeface="Times New Roman"/>
              </a:rPr>
              <a:t> </a:t>
            </a:r>
            <a:r>
              <a:rPr sz="2332" spc="-38" baseline="-3584" dirty="0">
                <a:latin typeface="Symbol"/>
                <a:cs typeface="Symbol"/>
              </a:rPr>
              <a:t></a:t>
            </a:r>
            <a:endParaRPr sz="2332" baseline="-3584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83403" y="1395546"/>
            <a:ext cx="446703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2332" spc="-451" baseline="3584" dirty="0">
                <a:latin typeface="Symbol"/>
                <a:cs typeface="Symbol"/>
              </a:rPr>
              <a:t></a:t>
            </a:r>
            <a:r>
              <a:rPr sz="2332" spc="-451" baseline="-7168" dirty="0">
                <a:latin typeface="Symbol"/>
                <a:cs typeface="Symbol"/>
              </a:rPr>
              <a:t></a:t>
            </a:r>
            <a:r>
              <a:rPr sz="2332" spc="-233" baseline="-7168" dirty="0">
                <a:latin typeface="Times New Roman"/>
                <a:cs typeface="Times New Roman"/>
              </a:rPr>
              <a:t> </a:t>
            </a:r>
            <a:r>
              <a:rPr sz="2332" i="1" spc="-15" baseline="17921" dirty="0">
                <a:latin typeface="Times New Roman"/>
                <a:cs typeface="Times New Roman"/>
              </a:rPr>
              <a:t>m</a:t>
            </a:r>
            <a:r>
              <a:rPr sz="903" i="1" spc="-10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4703" y="1456447"/>
            <a:ext cx="163972" cy="145379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48936" y="1055945"/>
            <a:ext cx="237838" cy="145314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9534" y="1383676"/>
            <a:ext cx="114302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554" spc="-313" dirty="0">
                <a:latin typeface="Symbol"/>
                <a:cs typeface="Symbol"/>
              </a:rPr>
              <a:t></a:t>
            </a:r>
            <a:r>
              <a:rPr sz="2332" spc="-470" baseline="-10752" dirty="0">
                <a:latin typeface="Symbol"/>
                <a:cs typeface="Symbol"/>
              </a:rPr>
              <a:t></a:t>
            </a:r>
            <a:endParaRPr sz="2332" baseline="-10752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22269" y="1003818"/>
            <a:ext cx="792476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  <a:tabLst>
                <a:tab pos="709689" algn="l"/>
              </a:tabLst>
            </a:pPr>
            <a:r>
              <a:rPr sz="1554" spc="-25" dirty="0">
                <a:latin typeface="Symbol"/>
                <a:cs typeface="Symbol"/>
              </a:rPr>
              <a:t></a:t>
            </a:r>
            <a:r>
              <a:rPr sz="1554" dirty="0">
                <a:latin typeface="Times New Roman"/>
                <a:cs typeface="Times New Roman"/>
              </a:rPr>
              <a:t>	</a:t>
            </a:r>
            <a:r>
              <a:rPr sz="1554" spc="-25" dirty="0">
                <a:latin typeface="Symbol"/>
                <a:cs typeface="Symbol"/>
              </a:rPr>
              <a:t></a:t>
            </a:r>
            <a:endParaRPr sz="1554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45839" y="1082783"/>
            <a:ext cx="2400034" cy="36621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3497" spc="49" baseline="-7168" dirty="0">
                <a:latin typeface="Symbol"/>
                <a:cs typeface="Symbol"/>
              </a:rPr>
              <a:t></a:t>
            </a:r>
            <a:r>
              <a:rPr sz="1554" spc="33" dirty="0">
                <a:latin typeface="Times New Roman"/>
                <a:cs typeface="Times New Roman"/>
              </a:rPr>
              <a:t>log(</a:t>
            </a:r>
            <a:r>
              <a:rPr sz="1554" spc="-230" dirty="0">
                <a:latin typeface="Times New Roman"/>
                <a:cs typeface="Times New Roman"/>
              </a:rPr>
              <a:t> </a:t>
            </a:r>
            <a:r>
              <a:rPr sz="1554" i="1" spc="55" dirty="0">
                <a:latin typeface="Times New Roman"/>
                <a:cs typeface="Times New Roman"/>
              </a:rPr>
              <a:t>D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G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z</a:t>
            </a:r>
            <a:r>
              <a:rPr sz="1354" spc="83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75" baseline="43209" dirty="0">
                <a:latin typeface="Times New Roman"/>
                <a:cs typeface="Times New Roman"/>
              </a:rPr>
              <a:t> </a:t>
            </a:r>
            <a:r>
              <a:rPr sz="1554" dirty="0">
                <a:latin typeface="Times New Roman"/>
                <a:cs typeface="Times New Roman"/>
              </a:rPr>
              <a:t>)))</a:t>
            </a:r>
            <a:r>
              <a:rPr sz="2332" baseline="-3584" dirty="0">
                <a:latin typeface="Symbol"/>
                <a:cs typeface="Symbol"/>
              </a:rPr>
              <a:t></a:t>
            </a:r>
            <a:r>
              <a:rPr sz="2332" spc="-56" baseline="-3584" dirty="0">
                <a:latin typeface="Times New Roman"/>
                <a:cs typeface="Times New Roman"/>
              </a:rPr>
              <a:t> </a:t>
            </a:r>
            <a:r>
              <a:rPr sz="1554" dirty="0">
                <a:latin typeface="Symbol"/>
                <a:cs typeface="Symbol"/>
              </a:rPr>
              <a:t></a:t>
            </a:r>
            <a:r>
              <a:rPr sz="1554" spc="-25" dirty="0">
                <a:latin typeface="Times New Roman"/>
                <a:cs typeface="Times New Roman"/>
              </a:rPr>
              <a:t> </a:t>
            </a:r>
            <a:r>
              <a:rPr sz="1554" spc="-13" dirty="0">
                <a:latin typeface="Times New Roman"/>
                <a:cs typeface="Times New Roman"/>
              </a:rPr>
              <a:t>min</a:t>
            </a:r>
            <a:r>
              <a:rPr sz="1554" spc="-168" dirty="0">
                <a:latin typeface="Times New Roman"/>
                <a:cs typeface="Times New Roman"/>
              </a:rPr>
              <a:t> </a:t>
            </a:r>
            <a:r>
              <a:rPr sz="2332" spc="38" baseline="-3584" dirty="0">
                <a:latin typeface="Symbol"/>
                <a:cs typeface="Symbol"/>
              </a:rPr>
              <a:t></a:t>
            </a:r>
            <a:r>
              <a:rPr sz="1554" spc="25" dirty="0">
                <a:latin typeface="Symbol"/>
                <a:cs typeface="Symbol"/>
              </a:rPr>
              <a:t></a:t>
            </a:r>
            <a:endParaRPr sz="1554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74620" y="1054396"/>
            <a:ext cx="112074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spc="3" dirty="0">
                <a:latin typeface="Times New Roman"/>
                <a:cs typeface="Times New Roman"/>
              </a:rPr>
              <a:t>1</a:t>
            </a:r>
            <a:endParaRPr sz="1554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52986" y="1395546"/>
            <a:ext cx="341316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2332" i="1" spc="-15" baseline="17921" dirty="0">
                <a:latin typeface="Times New Roman"/>
                <a:cs typeface="Times New Roman"/>
              </a:rPr>
              <a:t>m</a:t>
            </a:r>
            <a:r>
              <a:rPr sz="903" i="1" spc="-10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56606" y="1328110"/>
            <a:ext cx="344499" cy="9870"/>
          </a:xfrm>
          <a:custGeom>
            <a:avLst/>
            <a:gdLst/>
            <a:ahLst/>
            <a:cxnLst/>
            <a:rect l="l" t="t" r="r" b="b"/>
            <a:pathLst>
              <a:path w="687069" h="19685">
                <a:moveTo>
                  <a:pt x="686565" y="0"/>
                </a:moveTo>
                <a:lnTo>
                  <a:pt x="0" y="0"/>
                </a:lnTo>
                <a:lnTo>
                  <a:pt x="0" y="19557"/>
                </a:lnTo>
                <a:lnTo>
                  <a:pt x="686565" y="19557"/>
                </a:lnTo>
                <a:lnTo>
                  <a:pt x="686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5" name="object 35"/>
          <p:cNvSpPr txBox="1"/>
          <p:nvPr/>
        </p:nvSpPr>
        <p:spPr>
          <a:xfrm>
            <a:off x="8158999" y="1456447"/>
            <a:ext cx="163972" cy="145379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13232" y="1055945"/>
            <a:ext cx="237838" cy="145314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12994" y="1383676"/>
            <a:ext cx="114302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554" spc="-313" dirty="0">
                <a:latin typeface="Symbol"/>
                <a:cs typeface="Symbol"/>
              </a:rPr>
              <a:t></a:t>
            </a:r>
            <a:r>
              <a:rPr sz="2332" spc="-470" baseline="-10752" dirty="0">
                <a:latin typeface="Symbol"/>
                <a:cs typeface="Symbol"/>
              </a:rPr>
              <a:t></a:t>
            </a:r>
            <a:endParaRPr sz="2332" baseline="-10752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586564" y="1003818"/>
            <a:ext cx="88831" cy="246241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554" dirty="0">
                <a:latin typeface="Symbol"/>
                <a:cs typeface="Symbol"/>
              </a:rPr>
              <a:t></a:t>
            </a:r>
            <a:endParaRPr sz="1554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10135" y="1082783"/>
            <a:ext cx="1578266" cy="36621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3497" spc="49" baseline="-7168" dirty="0">
                <a:latin typeface="Symbol"/>
                <a:cs typeface="Symbol"/>
              </a:rPr>
              <a:t></a:t>
            </a:r>
            <a:r>
              <a:rPr sz="1554" spc="33" dirty="0">
                <a:latin typeface="Times New Roman"/>
                <a:cs typeface="Times New Roman"/>
              </a:rPr>
              <a:t>log(</a:t>
            </a:r>
            <a:r>
              <a:rPr sz="1554" spc="-233" dirty="0">
                <a:latin typeface="Times New Roman"/>
                <a:cs typeface="Times New Roman"/>
              </a:rPr>
              <a:t> </a:t>
            </a:r>
            <a:r>
              <a:rPr sz="1554" i="1" spc="55" dirty="0">
                <a:latin typeface="Times New Roman"/>
                <a:cs typeface="Times New Roman"/>
              </a:rPr>
              <a:t>D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G</a:t>
            </a:r>
            <a:r>
              <a:rPr sz="1554" spc="55" dirty="0">
                <a:latin typeface="Times New Roman"/>
                <a:cs typeface="Times New Roman"/>
              </a:rPr>
              <a:t>(</a:t>
            </a:r>
            <a:r>
              <a:rPr sz="1554" i="1" spc="55" dirty="0">
                <a:latin typeface="Times New Roman"/>
                <a:cs typeface="Times New Roman"/>
              </a:rPr>
              <a:t>z</a:t>
            </a:r>
            <a:r>
              <a:rPr sz="1354" spc="83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75" baseline="43209" dirty="0">
                <a:latin typeface="Times New Roman"/>
                <a:cs typeface="Times New Roman"/>
              </a:rPr>
              <a:t> </a:t>
            </a:r>
            <a:r>
              <a:rPr sz="1554" spc="-10" dirty="0">
                <a:latin typeface="Times New Roman"/>
                <a:cs typeface="Times New Roman"/>
              </a:rPr>
              <a:t>)))</a:t>
            </a:r>
            <a:r>
              <a:rPr sz="2332" spc="-15" baseline="-3584" dirty="0">
                <a:latin typeface="Symbol"/>
                <a:cs typeface="Symbol"/>
              </a:rPr>
              <a:t></a:t>
            </a:r>
            <a:endParaRPr sz="2332" baseline="-3584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73829" y="1383676"/>
            <a:ext cx="114302" cy="246306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554" spc="-313" dirty="0">
                <a:latin typeface="Symbol"/>
                <a:cs typeface="Symbol"/>
              </a:rPr>
              <a:t></a:t>
            </a:r>
            <a:r>
              <a:rPr sz="2332" spc="-470" baseline="-10752" dirty="0">
                <a:latin typeface="Symbol"/>
                <a:cs typeface="Symbol"/>
              </a:rPr>
              <a:t></a:t>
            </a:r>
            <a:endParaRPr sz="2332" baseline="-10752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49342" y="2659501"/>
            <a:ext cx="940210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  <a:tabLst>
                <a:tab pos="539351" algn="l"/>
              </a:tabLst>
            </a:pPr>
            <a:r>
              <a:rPr sz="3347" i="1" baseline="-24968" dirty="0">
                <a:latin typeface="Times New Roman"/>
                <a:cs typeface="Times New Roman"/>
              </a:rPr>
              <a:t>J</a:t>
            </a:r>
            <a:r>
              <a:rPr sz="3347" i="1" spc="-387" baseline="-24968" dirty="0">
                <a:latin typeface="Times New Roman"/>
                <a:cs typeface="Times New Roman"/>
              </a:rPr>
              <a:t> </a:t>
            </a: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18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D</a:t>
            </a:r>
            <a:r>
              <a:rPr sz="1279" i="1" spc="-186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r>
              <a:rPr sz="1279" dirty="0">
                <a:latin typeface="Times New Roman"/>
                <a:cs typeface="Times New Roman"/>
              </a:rPr>
              <a:t>	</a:t>
            </a:r>
            <a:r>
              <a:rPr sz="3347" baseline="-24968" dirty="0">
                <a:latin typeface="Symbol"/>
                <a:cs typeface="Symbol"/>
              </a:rPr>
              <a:t></a:t>
            </a:r>
            <a:r>
              <a:rPr sz="3347" spc="-38" baseline="-24968" dirty="0">
                <a:latin typeface="Times New Roman"/>
                <a:cs typeface="Times New Roman"/>
              </a:rPr>
              <a:t> </a:t>
            </a:r>
            <a:r>
              <a:rPr sz="3347" spc="-38" baseline="-24968" dirty="0">
                <a:latin typeface="Symbol"/>
                <a:cs typeface="Symbol"/>
              </a:rPr>
              <a:t></a:t>
            </a:r>
            <a:endParaRPr sz="3347" baseline="-24968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00292" y="2603815"/>
            <a:ext cx="15537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spc="5" dirty="0">
                <a:latin typeface="Times New Roman"/>
                <a:cs typeface="Times New Roman"/>
              </a:rPr>
              <a:t>1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29524" y="3002525"/>
            <a:ext cx="21873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8" dirty="0">
                <a:latin typeface="Times New Roman"/>
                <a:cs typeface="Times New Roman"/>
              </a:rPr>
              <a:t>m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713617" y="2994785"/>
            <a:ext cx="523754" cy="14328"/>
          </a:xfrm>
          <a:custGeom>
            <a:avLst/>
            <a:gdLst/>
            <a:ahLst/>
            <a:cxnLst/>
            <a:rect l="l" t="t" r="r" b="b"/>
            <a:pathLst>
              <a:path w="1044575" h="28575">
                <a:moveTo>
                  <a:pt x="1043960" y="0"/>
                </a:moveTo>
                <a:lnTo>
                  <a:pt x="0" y="0"/>
                </a:lnTo>
                <a:lnTo>
                  <a:pt x="0" y="28135"/>
                </a:lnTo>
                <a:lnTo>
                  <a:pt x="1043960" y="28135"/>
                </a:lnTo>
                <a:lnTo>
                  <a:pt x="1043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5" name="object 45"/>
          <p:cNvSpPr txBox="1"/>
          <p:nvPr/>
        </p:nvSpPr>
        <p:spPr>
          <a:xfrm>
            <a:off x="3659103" y="2787207"/>
            <a:ext cx="13945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5" dirty="0">
                <a:latin typeface="Times New Roman"/>
                <a:cs typeface="Times New Roman"/>
              </a:rPr>
              <a:t>y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86809" y="2999555"/>
            <a:ext cx="274772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279" i="1" spc="-10" dirty="0">
                <a:latin typeface="Times New Roman"/>
                <a:cs typeface="Times New Roman"/>
              </a:rPr>
              <a:t>real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99432" y="2779782"/>
            <a:ext cx="1512677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  <a:tabLst>
                <a:tab pos="1320359" algn="l"/>
              </a:tabLst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r>
              <a:rPr sz="1279" dirty="0">
                <a:latin typeface="Times New Roman"/>
                <a:cs typeface="Times New Roman"/>
              </a:rPr>
              <a:t>	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77117" y="2787207"/>
            <a:ext cx="1634302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1259547" algn="l"/>
              </a:tabLst>
            </a:pPr>
            <a:r>
              <a:rPr sz="2231" dirty="0">
                <a:latin typeface="Times New Roman"/>
                <a:cs typeface="Times New Roman"/>
              </a:rPr>
              <a:t>.log(</a:t>
            </a:r>
            <a:r>
              <a:rPr sz="2231" spc="-278" dirty="0">
                <a:latin typeface="Times New Roman"/>
                <a:cs typeface="Times New Roman"/>
              </a:rPr>
              <a:t> </a:t>
            </a:r>
            <a:r>
              <a:rPr sz="2231" i="1" spc="63" dirty="0">
                <a:latin typeface="Times New Roman"/>
                <a:cs typeface="Times New Roman"/>
              </a:rPr>
              <a:t>D</a:t>
            </a:r>
            <a:r>
              <a:rPr sz="2231" spc="63" dirty="0">
                <a:latin typeface="Times New Roman"/>
                <a:cs typeface="Times New Roman"/>
              </a:rPr>
              <a:t>(</a:t>
            </a:r>
            <a:r>
              <a:rPr sz="2231" i="1" spc="63" dirty="0">
                <a:latin typeface="Times New Roman"/>
                <a:cs typeface="Times New Roman"/>
              </a:rPr>
              <a:t>x</a:t>
            </a:r>
            <a:r>
              <a:rPr sz="2231" i="1" dirty="0">
                <a:latin typeface="Times New Roman"/>
                <a:cs typeface="Times New Roman"/>
              </a:rPr>
              <a:t>	</a:t>
            </a:r>
            <a:r>
              <a:rPr sz="2231" spc="-28" dirty="0">
                <a:latin typeface="Times New Roman"/>
                <a:cs typeface="Times New Roman"/>
              </a:rPr>
              <a:t>))</a:t>
            </a:r>
            <a:r>
              <a:rPr sz="2231" spc="-333" dirty="0">
                <a:latin typeface="Times New Roman"/>
                <a:cs typeface="Times New Roman"/>
              </a:rPr>
              <a:t> </a:t>
            </a:r>
            <a:r>
              <a:rPr sz="2231" spc="-25" dirty="0">
                <a:latin typeface="Symbol"/>
                <a:cs typeface="Symbol"/>
              </a:rPr>
              <a:t></a:t>
            </a:r>
            <a:endParaRPr sz="2231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263250" y="2630545"/>
            <a:ext cx="338768" cy="205401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918" i="1" spc="-8" baseline="18518" dirty="0">
                <a:latin typeface="Times New Roman"/>
                <a:cs typeface="Times New Roman"/>
              </a:rPr>
              <a:t>m</a:t>
            </a:r>
            <a:r>
              <a:rPr sz="928" i="1" spc="-5" dirty="0">
                <a:latin typeface="Times New Roman"/>
                <a:cs typeface="Times New Roman"/>
              </a:rPr>
              <a:t>real</a:t>
            </a:r>
            <a:endParaRPr sz="928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81183" y="2701079"/>
            <a:ext cx="317755" cy="52433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3359" spc="5" dirty="0">
                <a:latin typeface="Symbol"/>
                <a:cs typeface="Symbol"/>
              </a:rPr>
              <a:t></a:t>
            </a:r>
            <a:endParaRPr sz="3359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20421" y="3182204"/>
            <a:ext cx="2206770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  <a:tabLst>
                <a:tab pos="310111" algn="l"/>
                <a:tab pos="1903329" algn="l"/>
              </a:tabLst>
            </a:pPr>
            <a:r>
              <a:rPr sz="1918" i="1" spc="-248" baseline="41394" dirty="0">
                <a:latin typeface="Times New Roman"/>
                <a:cs typeface="Times New Roman"/>
              </a:rPr>
              <a:t>i</a:t>
            </a:r>
            <a:r>
              <a:rPr sz="2231" spc="-544" dirty="0">
                <a:latin typeface="Arial Unicode MS"/>
                <a:cs typeface="Arial Unicode MS"/>
              </a:rPr>
              <a:t>-</a:t>
            </a:r>
            <a:r>
              <a:rPr sz="1918" spc="-19" baseline="41394" dirty="0">
                <a:latin typeface="Symbol"/>
                <a:cs typeface="Symbol"/>
              </a:rPr>
              <a:t></a:t>
            </a:r>
            <a:r>
              <a:rPr sz="1918" spc="-19" baseline="41394" dirty="0">
                <a:latin typeface="Times New Roman"/>
                <a:cs typeface="Times New Roman"/>
              </a:rPr>
              <a:t>1</a:t>
            </a:r>
            <a:r>
              <a:rPr sz="1918" baseline="41394" dirty="0">
                <a:latin typeface="Times New Roman"/>
                <a:cs typeface="Times New Roman"/>
              </a:rPr>
              <a:t>	</a:t>
            </a:r>
            <a:r>
              <a:rPr sz="2231" spc="1128" dirty="0">
                <a:latin typeface="Arial Unicode MS"/>
                <a:cs typeface="Arial Unicode MS"/>
              </a:rPr>
              <a:t>-</a:t>
            </a:r>
            <a:r>
              <a:rPr sz="2231" spc="-25" dirty="0">
                <a:latin typeface="Arial Unicode MS"/>
                <a:cs typeface="Arial Unicode MS"/>
              </a:rPr>
              <a:t>�</a:t>
            </a: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endParaRPr sz="2231">
              <a:latin typeface="Arial Unicode MS"/>
              <a:cs typeface="Arial Unicode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19830" y="3412954"/>
            <a:ext cx="558777" cy="68454"/>
          </a:xfrm>
          <a:custGeom>
            <a:avLst/>
            <a:gdLst/>
            <a:ahLst/>
            <a:cxnLst/>
            <a:rect l="l" t="t" r="r" b="b"/>
            <a:pathLst>
              <a:path w="1114425" h="136525">
                <a:moveTo>
                  <a:pt x="0" y="136470"/>
                </a:moveTo>
                <a:lnTo>
                  <a:pt x="1114126" y="136470"/>
                </a:lnTo>
                <a:lnTo>
                  <a:pt x="1114126" y="0"/>
                </a:lnTo>
                <a:lnTo>
                  <a:pt x="0" y="0"/>
                </a:lnTo>
                <a:lnTo>
                  <a:pt x="0" y="136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3" name="object 53"/>
          <p:cNvSpPr txBox="1"/>
          <p:nvPr/>
        </p:nvSpPr>
        <p:spPr>
          <a:xfrm>
            <a:off x="2500727" y="3094592"/>
            <a:ext cx="709376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79" i="1" spc="78" dirty="0">
                <a:latin typeface="Times New Roman"/>
                <a:cs typeface="Times New Roman"/>
              </a:rPr>
              <a:t>r</a:t>
            </a:r>
            <a:r>
              <a:rPr sz="1279" i="1" spc="88" dirty="0">
                <a:latin typeface="Times New Roman"/>
                <a:cs typeface="Times New Roman"/>
              </a:rPr>
              <a:t>e</a:t>
            </a:r>
            <a:r>
              <a:rPr sz="1279" i="1" spc="-471" dirty="0">
                <a:latin typeface="Times New Roman"/>
                <a:cs typeface="Times New Roman"/>
              </a:rPr>
              <a:t>a</a:t>
            </a:r>
            <a:r>
              <a:rPr sz="3347" spc="-688" baseline="-17478" dirty="0">
                <a:latin typeface="Arial Unicode MS"/>
                <a:cs typeface="Arial Unicode MS"/>
              </a:rPr>
              <a:t>-</a:t>
            </a:r>
            <a:r>
              <a:rPr sz="1279" i="1" spc="-25" dirty="0">
                <a:latin typeface="Times New Roman"/>
                <a:cs typeface="Times New Roman"/>
              </a:rPr>
              <a:t>l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20685" y="2603815"/>
            <a:ext cx="15537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spc="5" dirty="0">
                <a:latin typeface="Times New Roman"/>
                <a:cs typeface="Times New Roman"/>
              </a:rPr>
              <a:t>1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764023" y="3002525"/>
            <a:ext cx="218735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i="1" spc="8" dirty="0">
                <a:latin typeface="Times New Roman"/>
                <a:cs typeface="Times New Roman"/>
              </a:rPr>
              <a:t>m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748117" y="2994785"/>
            <a:ext cx="495417" cy="14328"/>
          </a:xfrm>
          <a:custGeom>
            <a:avLst/>
            <a:gdLst/>
            <a:ahLst/>
            <a:cxnLst/>
            <a:rect l="l" t="t" r="r" b="b"/>
            <a:pathLst>
              <a:path w="988059" h="28575">
                <a:moveTo>
                  <a:pt x="987690" y="0"/>
                </a:moveTo>
                <a:lnTo>
                  <a:pt x="0" y="0"/>
                </a:lnTo>
                <a:lnTo>
                  <a:pt x="0" y="28135"/>
                </a:lnTo>
                <a:lnTo>
                  <a:pt x="987690" y="28135"/>
                </a:lnTo>
                <a:lnTo>
                  <a:pt x="9876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7" name="object 57"/>
          <p:cNvSpPr txBox="1"/>
          <p:nvPr/>
        </p:nvSpPr>
        <p:spPr>
          <a:xfrm>
            <a:off x="6609703" y="2787207"/>
            <a:ext cx="625002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2231" dirty="0">
                <a:latin typeface="Times New Roman"/>
                <a:cs typeface="Times New Roman"/>
              </a:rPr>
              <a:t>(1</a:t>
            </a:r>
            <a:r>
              <a:rPr sz="2231" dirty="0">
                <a:latin typeface="Symbol"/>
                <a:cs typeface="Symbol"/>
              </a:rPr>
              <a:t></a:t>
            </a:r>
            <a:r>
              <a:rPr sz="2231" spc="160" dirty="0">
                <a:latin typeface="Times New Roman"/>
                <a:cs typeface="Times New Roman"/>
              </a:rPr>
              <a:t> </a:t>
            </a:r>
            <a:r>
              <a:rPr sz="2231" i="1" spc="-25" dirty="0">
                <a:latin typeface="Times New Roman"/>
                <a:cs typeface="Times New Roman"/>
              </a:rPr>
              <a:t>y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228927" y="2757805"/>
            <a:ext cx="249619" cy="450210"/>
          </a:xfrm>
          <a:prstGeom prst="rect">
            <a:avLst/>
          </a:prstGeom>
        </p:spPr>
        <p:txBody>
          <a:bodyPr vert="horz" wrap="square" lIns="0" tIns="30566" rIns="0" bIns="0" rtlCol="0">
            <a:spAutoFit/>
          </a:bodyPr>
          <a:lstStyle/>
          <a:p>
            <a:pPr marL="12736">
              <a:spcBef>
                <a:spcPts val="241"/>
              </a:spcBef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  <a:p>
            <a:pPr marL="6368">
              <a:spcBef>
                <a:spcPts val="198"/>
              </a:spcBef>
            </a:pPr>
            <a:r>
              <a:rPr sz="1279" i="1" spc="-13" dirty="0">
                <a:latin typeface="Times New Roman"/>
                <a:cs typeface="Times New Roman"/>
              </a:rPr>
              <a:t>gen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278904" y="2779782"/>
            <a:ext cx="198358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279" dirty="0">
                <a:latin typeface="Times New Roman"/>
                <a:cs typeface="Times New Roman"/>
              </a:rPr>
              <a:t>(</a:t>
            </a:r>
            <a:r>
              <a:rPr sz="1279" spc="-196" dirty="0">
                <a:latin typeface="Times New Roman"/>
                <a:cs typeface="Times New Roman"/>
              </a:rPr>
              <a:t> </a:t>
            </a:r>
            <a:r>
              <a:rPr sz="1279" i="1" dirty="0">
                <a:latin typeface="Times New Roman"/>
                <a:cs typeface="Times New Roman"/>
              </a:rPr>
              <a:t>i</a:t>
            </a:r>
            <a:r>
              <a:rPr sz="1279" i="1" spc="-203" dirty="0">
                <a:latin typeface="Times New Roman"/>
                <a:cs typeface="Times New Roman"/>
              </a:rPr>
              <a:t> </a:t>
            </a:r>
            <a:r>
              <a:rPr sz="1279" spc="-25" dirty="0">
                <a:latin typeface="Times New Roman"/>
                <a:cs typeface="Times New Roman"/>
              </a:rPr>
              <a:t>)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96962" y="2787207"/>
            <a:ext cx="2284776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2004896" algn="l"/>
              </a:tabLst>
            </a:pPr>
            <a:r>
              <a:rPr sz="2231" dirty="0">
                <a:latin typeface="Times New Roman"/>
                <a:cs typeface="Times New Roman"/>
              </a:rPr>
              <a:t>).log(1</a:t>
            </a:r>
            <a:r>
              <a:rPr sz="2231" dirty="0">
                <a:latin typeface="Symbol"/>
                <a:cs typeface="Symbol"/>
              </a:rPr>
              <a:t></a:t>
            </a:r>
            <a:r>
              <a:rPr sz="2231" spc="73" dirty="0">
                <a:latin typeface="Times New Roman"/>
                <a:cs typeface="Times New Roman"/>
              </a:rPr>
              <a:t> </a:t>
            </a:r>
            <a:r>
              <a:rPr sz="2231" i="1" spc="60" dirty="0">
                <a:latin typeface="Times New Roman"/>
                <a:cs typeface="Times New Roman"/>
              </a:rPr>
              <a:t>D</a:t>
            </a:r>
            <a:r>
              <a:rPr sz="2231" spc="60" dirty="0">
                <a:latin typeface="Times New Roman"/>
                <a:cs typeface="Times New Roman"/>
              </a:rPr>
              <a:t>(</a:t>
            </a:r>
            <a:r>
              <a:rPr sz="2231" i="1" spc="60" dirty="0">
                <a:latin typeface="Times New Roman"/>
                <a:cs typeface="Times New Roman"/>
              </a:rPr>
              <a:t>G</a:t>
            </a:r>
            <a:r>
              <a:rPr sz="2231" spc="60" dirty="0">
                <a:latin typeface="Times New Roman"/>
                <a:cs typeface="Times New Roman"/>
              </a:rPr>
              <a:t>(</a:t>
            </a:r>
            <a:r>
              <a:rPr sz="2231" i="1" spc="60" dirty="0">
                <a:latin typeface="Times New Roman"/>
                <a:cs typeface="Times New Roman"/>
              </a:rPr>
              <a:t>z</a:t>
            </a:r>
            <a:r>
              <a:rPr sz="2231" i="1" dirty="0">
                <a:latin typeface="Times New Roman"/>
                <a:cs typeface="Times New Roman"/>
              </a:rPr>
              <a:t>	</a:t>
            </a:r>
            <a:r>
              <a:rPr sz="2231" spc="-20" dirty="0">
                <a:latin typeface="Times New Roman"/>
                <a:cs typeface="Times New Roman"/>
              </a:rPr>
              <a:t>)))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269535" y="2606042"/>
            <a:ext cx="325396" cy="205401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918" i="1" spc="-15" baseline="18518" dirty="0">
                <a:latin typeface="Times New Roman"/>
                <a:cs typeface="Times New Roman"/>
              </a:rPr>
              <a:t>m</a:t>
            </a:r>
            <a:r>
              <a:rPr sz="928" i="1" spc="-10" dirty="0">
                <a:latin typeface="Times New Roman"/>
                <a:cs typeface="Times New Roman"/>
              </a:rPr>
              <a:t>gen</a:t>
            </a:r>
            <a:endParaRPr sz="928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265080" y="2701079"/>
            <a:ext cx="343226" cy="714831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lnSpc>
                <a:spcPts val="3439"/>
              </a:lnSpc>
              <a:spcBef>
                <a:spcPts val="57"/>
              </a:spcBef>
            </a:pPr>
            <a:r>
              <a:rPr sz="3359" spc="5" dirty="0">
                <a:latin typeface="Symbol"/>
                <a:cs typeface="Symbol"/>
              </a:rPr>
              <a:t></a:t>
            </a:r>
            <a:endParaRPr sz="3359">
              <a:latin typeface="Symbol"/>
              <a:cs typeface="Symbol"/>
            </a:endParaRPr>
          </a:p>
          <a:p>
            <a:pPr marL="71001">
              <a:lnSpc>
                <a:spcPts val="2086"/>
              </a:lnSpc>
            </a:pPr>
            <a:r>
              <a:rPr sz="1279" i="1" spc="-251" dirty="0">
                <a:latin typeface="Times New Roman"/>
                <a:cs typeface="Times New Roman"/>
              </a:rPr>
              <a:t>i</a:t>
            </a:r>
            <a:r>
              <a:rPr sz="1279" spc="-251" dirty="0">
                <a:latin typeface="Symbol"/>
                <a:cs typeface="Symbol"/>
              </a:rPr>
              <a:t></a:t>
            </a:r>
            <a:r>
              <a:rPr sz="3347" spc="-376" baseline="-30586" dirty="0">
                <a:latin typeface="Arial Unicode MS"/>
                <a:cs typeface="Arial Unicode MS"/>
              </a:rPr>
              <a:t>-</a:t>
            </a:r>
            <a:r>
              <a:rPr sz="1279" spc="-25" dirty="0">
                <a:latin typeface="Times New Roman"/>
                <a:cs typeface="Times New Roman"/>
              </a:rPr>
              <a:t>1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554330" y="3447108"/>
            <a:ext cx="558777" cy="68454"/>
          </a:xfrm>
          <a:custGeom>
            <a:avLst/>
            <a:gdLst/>
            <a:ahLst/>
            <a:cxnLst/>
            <a:rect l="l" t="t" r="r" b="b"/>
            <a:pathLst>
              <a:path w="1114425" h="136525">
                <a:moveTo>
                  <a:pt x="0" y="136470"/>
                </a:moveTo>
                <a:lnTo>
                  <a:pt x="1114126" y="136470"/>
                </a:lnTo>
                <a:lnTo>
                  <a:pt x="1114126" y="0"/>
                </a:lnTo>
                <a:lnTo>
                  <a:pt x="0" y="0"/>
                </a:lnTo>
                <a:lnTo>
                  <a:pt x="0" y="136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64" name="object 64"/>
          <p:cNvSpPr txBox="1"/>
          <p:nvPr/>
        </p:nvSpPr>
        <p:spPr>
          <a:xfrm>
            <a:off x="5535227" y="3094592"/>
            <a:ext cx="690272" cy="35146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279" i="1" spc="30" dirty="0">
                <a:latin typeface="Times New Roman"/>
                <a:cs typeface="Times New Roman"/>
              </a:rPr>
              <a:t>g</a:t>
            </a:r>
            <a:r>
              <a:rPr sz="1279" i="1" spc="-115" dirty="0">
                <a:latin typeface="Times New Roman"/>
                <a:cs typeface="Times New Roman"/>
              </a:rPr>
              <a:t>e</a:t>
            </a:r>
            <a:r>
              <a:rPr sz="3347" spc="-1008" baseline="-23720" dirty="0">
                <a:latin typeface="Arial Unicode MS"/>
                <a:cs typeface="Arial Unicode MS"/>
              </a:rPr>
              <a:t>-</a:t>
            </a:r>
            <a:r>
              <a:rPr sz="1279" i="1" spc="-25" dirty="0">
                <a:latin typeface="Times New Roman"/>
                <a:cs typeface="Times New Roman"/>
              </a:rPr>
              <a:t>n</a:t>
            </a:r>
            <a:endParaRPr sz="1279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658706" y="3216358"/>
            <a:ext cx="3110047" cy="351337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  <a:tabLst>
                <a:tab pos="854238" algn="l"/>
                <a:tab pos="2819335" algn="l"/>
              </a:tabLst>
            </a:pP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r>
              <a:rPr sz="223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231" u="sng" spc="-25" dirty="0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�</a:t>
            </a:r>
            <a:endParaRPr sz="2231">
              <a:latin typeface="Arial Unicode MS"/>
              <a:cs typeface="Arial Unicode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567966" y="3610980"/>
            <a:ext cx="2528664" cy="34447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" algn="ctr">
              <a:lnSpc>
                <a:spcPts val="1324"/>
              </a:lnSpc>
              <a:spcBef>
                <a:spcPts val="63"/>
              </a:spcBef>
            </a:pPr>
            <a:r>
              <a:rPr sz="1103" dirty="0">
                <a:latin typeface="Arial"/>
                <a:cs typeface="Arial"/>
              </a:rPr>
              <a:t>cross-entropy</a:t>
            </a:r>
            <a:r>
              <a:rPr sz="1103" spc="130" dirty="0">
                <a:latin typeface="Arial"/>
                <a:cs typeface="Arial"/>
              </a:rPr>
              <a:t> </a:t>
            </a:r>
            <a:r>
              <a:rPr sz="1103" spc="-13" dirty="0">
                <a:latin typeface="Arial"/>
                <a:cs typeface="Arial"/>
              </a:rPr>
              <a:t>1:</a:t>
            </a:r>
            <a:endParaRPr sz="1103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3" spc="33" dirty="0">
                <a:latin typeface="Arial"/>
                <a:cs typeface="Arial"/>
              </a:rPr>
              <a:t>“D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should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correctly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label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real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data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as</a:t>
            </a:r>
            <a:r>
              <a:rPr sz="1103" spc="57" dirty="0">
                <a:latin typeface="Arial"/>
                <a:cs typeface="Arial"/>
              </a:rPr>
              <a:t> </a:t>
            </a:r>
            <a:r>
              <a:rPr sz="1103" spc="20" dirty="0">
                <a:latin typeface="Arial"/>
                <a:cs typeface="Arial"/>
              </a:rPr>
              <a:t>1”</a:t>
            </a:r>
            <a:endParaRPr sz="1103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644548" y="3610980"/>
            <a:ext cx="2948941" cy="34447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" algn="ctr">
              <a:lnSpc>
                <a:spcPts val="1324"/>
              </a:lnSpc>
              <a:spcBef>
                <a:spcPts val="63"/>
              </a:spcBef>
            </a:pPr>
            <a:r>
              <a:rPr sz="1103" dirty="0">
                <a:latin typeface="Arial"/>
                <a:cs typeface="Arial"/>
              </a:rPr>
              <a:t>cross-entropy</a:t>
            </a:r>
            <a:r>
              <a:rPr sz="1103" spc="130" dirty="0">
                <a:latin typeface="Arial"/>
                <a:cs typeface="Arial"/>
              </a:rPr>
              <a:t> </a:t>
            </a:r>
            <a:r>
              <a:rPr sz="1103" spc="-13" dirty="0">
                <a:latin typeface="Arial"/>
                <a:cs typeface="Arial"/>
              </a:rPr>
              <a:t>2:</a:t>
            </a:r>
            <a:endParaRPr sz="1103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3" spc="33" dirty="0">
                <a:latin typeface="Arial"/>
                <a:cs typeface="Arial"/>
              </a:rPr>
              <a:t>“D</a:t>
            </a:r>
            <a:r>
              <a:rPr sz="1103" spc="7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should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correctly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label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generated</a:t>
            </a:r>
            <a:r>
              <a:rPr sz="1103" spc="78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data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dirty="0">
                <a:latin typeface="Arial"/>
                <a:cs typeface="Arial"/>
              </a:rPr>
              <a:t>as</a:t>
            </a:r>
            <a:r>
              <a:rPr sz="1103" spc="80" dirty="0">
                <a:latin typeface="Arial"/>
                <a:cs typeface="Arial"/>
              </a:rPr>
              <a:t> </a:t>
            </a:r>
            <a:r>
              <a:rPr sz="1103" spc="20" dirty="0">
                <a:latin typeface="Arial"/>
                <a:cs typeface="Arial"/>
              </a:rPr>
              <a:t>0”</a:t>
            </a:r>
            <a:endParaRPr sz="110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478" y="473075"/>
            <a:ext cx="9143316" cy="38834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96689" y="4860513"/>
            <a:ext cx="6884895" cy="273300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730" dirty="0">
                <a:latin typeface="Times New Roman"/>
                <a:cs typeface="Times New Roman"/>
              </a:rPr>
              <a:t>[Lucic,</a:t>
            </a:r>
            <a:r>
              <a:rPr sz="1730" spc="-5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Kurach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et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al.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(2018):</a:t>
            </a:r>
            <a:r>
              <a:rPr sz="1730" spc="-98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Are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GANs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Created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Equal?</a:t>
            </a:r>
            <a:r>
              <a:rPr sz="1730" spc="-98" dirty="0">
                <a:latin typeface="Times New Roman"/>
                <a:cs typeface="Times New Roman"/>
              </a:rPr>
              <a:t> </a:t>
            </a:r>
            <a:r>
              <a:rPr sz="1730" dirty="0">
                <a:latin typeface="Times New Roman"/>
                <a:cs typeface="Times New Roman"/>
              </a:rPr>
              <a:t>A</a:t>
            </a:r>
            <a:r>
              <a:rPr sz="1730" spc="-95" dirty="0">
                <a:latin typeface="Times New Roman"/>
                <a:cs typeface="Times New Roman"/>
              </a:rPr>
              <a:t> </a:t>
            </a:r>
            <a:r>
              <a:rPr sz="1730" spc="-10" dirty="0">
                <a:latin typeface="Times New Roman"/>
                <a:cs typeface="Times New Roman"/>
              </a:rPr>
              <a:t>Large-</a:t>
            </a:r>
            <a:r>
              <a:rPr sz="1730" dirty="0">
                <a:latin typeface="Times New Roman"/>
                <a:cs typeface="Times New Roman"/>
              </a:rPr>
              <a:t>Scale</a:t>
            </a:r>
            <a:r>
              <a:rPr sz="1730" spc="-3" dirty="0">
                <a:latin typeface="Times New Roman"/>
                <a:cs typeface="Times New Roman"/>
              </a:rPr>
              <a:t> </a:t>
            </a:r>
            <a:r>
              <a:rPr sz="1730" spc="-5" dirty="0">
                <a:latin typeface="Times New Roman"/>
                <a:cs typeface="Times New Roman"/>
              </a:rPr>
              <a:t>Study]</a:t>
            </a:r>
            <a:endParaRPr sz="173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901" y="5385527"/>
            <a:ext cx="2956582" cy="184172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153" dirty="0">
                <a:latin typeface="Arial"/>
                <a:cs typeface="Arial"/>
              </a:rPr>
              <a:t>[Ian</a:t>
            </a:r>
            <a:r>
              <a:rPr sz="1153" spc="5" dirty="0">
                <a:latin typeface="Arial"/>
                <a:cs typeface="Arial"/>
              </a:rPr>
              <a:t> </a:t>
            </a:r>
            <a:r>
              <a:rPr sz="1153" dirty="0">
                <a:latin typeface="Arial"/>
                <a:cs typeface="Arial"/>
              </a:rPr>
              <a:t>Goodfellow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dirty="0">
                <a:latin typeface="Arial"/>
                <a:cs typeface="Arial"/>
              </a:rPr>
              <a:t>(2014):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23" dirty="0">
                <a:latin typeface="Arial"/>
                <a:cs typeface="Arial"/>
              </a:rPr>
              <a:t>NIPS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15" dirty="0">
                <a:latin typeface="Arial"/>
                <a:cs typeface="Arial"/>
              </a:rPr>
              <a:t>Tutorial:</a:t>
            </a:r>
            <a:r>
              <a:rPr sz="1153" spc="8" dirty="0">
                <a:latin typeface="Arial"/>
                <a:cs typeface="Arial"/>
              </a:rPr>
              <a:t> </a:t>
            </a:r>
            <a:r>
              <a:rPr sz="1153" spc="-5" dirty="0">
                <a:latin typeface="Arial"/>
                <a:cs typeface="Arial"/>
              </a:rPr>
              <a:t>GANs]</a:t>
            </a:r>
            <a:endParaRPr sz="1153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45396" y="1314904"/>
            <a:ext cx="3997721" cy="3035862"/>
            <a:chOff x="6070220" y="2622445"/>
            <a:chExt cx="7973059" cy="6054725"/>
          </a:xfrm>
        </p:grpSpPr>
        <p:sp>
          <p:nvSpPr>
            <p:cNvPr id="5" name="object 5"/>
            <p:cNvSpPr/>
            <p:nvPr/>
          </p:nvSpPr>
          <p:spPr>
            <a:xfrm>
              <a:off x="6158176" y="2777415"/>
              <a:ext cx="0" cy="5826760"/>
            </a:xfrm>
            <a:custGeom>
              <a:avLst/>
              <a:gdLst/>
              <a:ahLst/>
              <a:cxnLst/>
              <a:rect l="l" t="t" r="r" b="b"/>
              <a:pathLst>
                <a:path h="5826759">
                  <a:moveTo>
                    <a:pt x="0" y="5826603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" name="object 6"/>
            <p:cNvSpPr/>
            <p:nvPr/>
          </p:nvSpPr>
          <p:spPr>
            <a:xfrm>
              <a:off x="6070220" y="262244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30">
                  <a:moveTo>
                    <a:pt x="87955" y="0"/>
                  </a:moveTo>
                  <a:lnTo>
                    <a:pt x="0" y="175910"/>
                  </a:lnTo>
                  <a:lnTo>
                    <a:pt x="175910" y="175910"/>
                  </a:lnTo>
                  <a:lnTo>
                    <a:pt x="87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7" name="object 7"/>
            <p:cNvSpPr/>
            <p:nvPr/>
          </p:nvSpPr>
          <p:spPr>
            <a:xfrm>
              <a:off x="6157809" y="8588927"/>
              <a:ext cx="7730490" cy="0"/>
            </a:xfrm>
            <a:custGeom>
              <a:avLst/>
              <a:gdLst/>
              <a:ahLst/>
              <a:cxnLst/>
              <a:rect l="l" t="t" r="r" b="b"/>
              <a:pathLst>
                <a:path w="7730490">
                  <a:moveTo>
                    <a:pt x="0" y="0"/>
                  </a:moveTo>
                  <a:lnTo>
                    <a:pt x="7709386" y="0"/>
                  </a:lnTo>
                  <a:lnTo>
                    <a:pt x="7730327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8" name="object 8"/>
            <p:cNvSpPr/>
            <p:nvPr/>
          </p:nvSpPr>
          <p:spPr>
            <a:xfrm>
              <a:off x="13867190" y="8500971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" name="object 9"/>
            <p:cNvSpPr/>
            <p:nvPr/>
          </p:nvSpPr>
          <p:spPr>
            <a:xfrm>
              <a:off x="6157456" y="3294695"/>
              <a:ext cx="6975475" cy="1226820"/>
            </a:xfrm>
            <a:custGeom>
              <a:avLst/>
              <a:gdLst/>
              <a:ahLst/>
              <a:cxnLst/>
              <a:rect l="l" t="t" r="r" b="b"/>
              <a:pathLst>
                <a:path w="6975475" h="1226820">
                  <a:moveTo>
                    <a:pt x="0" y="0"/>
                  </a:moveTo>
                  <a:lnTo>
                    <a:pt x="18316" y="37873"/>
                  </a:lnTo>
                  <a:lnTo>
                    <a:pt x="41877" y="75215"/>
                  </a:lnTo>
                  <a:lnTo>
                    <a:pt x="70683" y="112025"/>
                  </a:lnTo>
                  <a:lnTo>
                    <a:pt x="104735" y="148303"/>
                  </a:lnTo>
                  <a:lnTo>
                    <a:pt x="144031" y="184050"/>
                  </a:lnTo>
                  <a:lnTo>
                    <a:pt x="188572" y="219265"/>
                  </a:lnTo>
                  <a:lnTo>
                    <a:pt x="221180" y="242446"/>
                  </a:lnTo>
                  <a:lnTo>
                    <a:pt x="256119" y="265391"/>
                  </a:lnTo>
                  <a:lnTo>
                    <a:pt x="293389" y="288100"/>
                  </a:lnTo>
                  <a:lnTo>
                    <a:pt x="332990" y="310572"/>
                  </a:lnTo>
                  <a:lnTo>
                    <a:pt x="374923" y="332808"/>
                  </a:lnTo>
                  <a:lnTo>
                    <a:pt x="419186" y="354808"/>
                  </a:lnTo>
                  <a:lnTo>
                    <a:pt x="465781" y="376572"/>
                  </a:lnTo>
                  <a:lnTo>
                    <a:pt x="514706" y="398099"/>
                  </a:lnTo>
                  <a:lnTo>
                    <a:pt x="565963" y="419390"/>
                  </a:lnTo>
                  <a:lnTo>
                    <a:pt x="619551" y="440444"/>
                  </a:lnTo>
                  <a:lnTo>
                    <a:pt x="675469" y="461263"/>
                  </a:lnTo>
                  <a:lnTo>
                    <a:pt x="733719" y="481844"/>
                  </a:lnTo>
                  <a:lnTo>
                    <a:pt x="794300" y="502190"/>
                  </a:lnTo>
                  <a:lnTo>
                    <a:pt x="857213" y="522299"/>
                  </a:lnTo>
                  <a:lnTo>
                    <a:pt x="922456" y="542173"/>
                  </a:lnTo>
                  <a:lnTo>
                    <a:pt x="990030" y="561809"/>
                  </a:lnTo>
                  <a:lnTo>
                    <a:pt x="1059936" y="581210"/>
                  </a:lnTo>
                  <a:lnTo>
                    <a:pt x="1132172" y="600374"/>
                  </a:lnTo>
                  <a:lnTo>
                    <a:pt x="1169165" y="609867"/>
                  </a:lnTo>
                  <a:lnTo>
                    <a:pt x="1206740" y="619302"/>
                  </a:lnTo>
                  <a:lnTo>
                    <a:pt x="1244898" y="628677"/>
                  </a:lnTo>
                  <a:lnTo>
                    <a:pt x="1283638" y="637993"/>
                  </a:lnTo>
                  <a:lnTo>
                    <a:pt x="1322962" y="647250"/>
                  </a:lnTo>
                  <a:lnTo>
                    <a:pt x="1362868" y="656448"/>
                  </a:lnTo>
                  <a:lnTo>
                    <a:pt x="1403357" y="665587"/>
                  </a:lnTo>
                  <a:lnTo>
                    <a:pt x="1444429" y="674667"/>
                  </a:lnTo>
                  <a:lnTo>
                    <a:pt x="1486084" y="683688"/>
                  </a:lnTo>
                  <a:lnTo>
                    <a:pt x="1528321" y="692650"/>
                  </a:lnTo>
                  <a:lnTo>
                    <a:pt x="1571141" y="701553"/>
                  </a:lnTo>
                  <a:lnTo>
                    <a:pt x="1614544" y="710396"/>
                  </a:lnTo>
                  <a:lnTo>
                    <a:pt x="1658530" y="719181"/>
                  </a:lnTo>
                  <a:lnTo>
                    <a:pt x="1703098" y="727906"/>
                  </a:lnTo>
                  <a:lnTo>
                    <a:pt x="1748250" y="736573"/>
                  </a:lnTo>
                  <a:lnTo>
                    <a:pt x="1793984" y="745180"/>
                  </a:lnTo>
                  <a:lnTo>
                    <a:pt x="1840300" y="753728"/>
                  </a:lnTo>
                  <a:lnTo>
                    <a:pt x="1887200" y="762218"/>
                  </a:lnTo>
                  <a:lnTo>
                    <a:pt x="1934682" y="770648"/>
                  </a:lnTo>
                  <a:lnTo>
                    <a:pt x="1982747" y="779019"/>
                  </a:lnTo>
                  <a:lnTo>
                    <a:pt x="2031395" y="787331"/>
                  </a:lnTo>
                  <a:lnTo>
                    <a:pt x="2080626" y="795583"/>
                  </a:lnTo>
                  <a:lnTo>
                    <a:pt x="2130439" y="803777"/>
                  </a:lnTo>
                  <a:lnTo>
                    <a:pt x="2180836" y="811912"/>
                  </a:lnTo>
                  <a:lnTo>
                    <a:pt x="2231815" y="819988"/>
                  </a:lnTo>
                  <a:lnTo>
                    <a:pt x="2283376" y="828004"/>
                  </a:lnTo>
                  <a:lnTo>
                    <a:pt x="2335521" y="835962"/>
                  </a:lnTo>
                  <a:lnTo>
                    <a:pt x="2388248" y="843860"/>
                  </a:lnTo>
                  <a:lnTo>
                    <a:pt x="2441558" y="851699"/>
                  </a:lnTo>
                  <a:lnTo>
                    <a:pt x="2495451" y="859480"/>
                  </a:lnTo>
                  <a:lnTo>
                    <a:pt x="2549927" y="867201"/>
                  </a:lnTo>
                  <a:lnTo>
                    <a:pt x="2604985" y="874863"/>
                  </a:lnTo>
                  <a:lnTo>
                    <a:pt x="2660626" y="882466"/>
                  </a:lnTo>
                  <a:lnTo>
                    <a:pt x="2716850" y="890010"/>
                  </a:lnTo>
                  <a:lnTo>
                    <a:pt x="2773657" y="897495"/>
                  </a:lnTo>
                  <a:lnTo>
                    <a:pt x="2831046" y="904921"/>
                  </a:lnTo>
                  <a:lnTo>
                    <a:pt x="2889019" y="912287"/>
                  </a:lnTo>
                  <a:lnTo>
                    <a:pt x="2947574" y="919595"/>
                  </a:lnTo>
                  <a:lnTo>
                    <a:pt x="3006711" y="926843"/>
                  </a:lnTo>
                  <a:lnTo>
                    <a:pt x="3066432" y="934033"/>
                  </a:lnTo>
                  <a:lnTo>
                    <a:pt x="3126735" y="941163"/>
                  </a:lnTo>
                  <a:lnTo>
                    <a:pt x="3187621" y="948235"/>
                  </a:lnTo>
                  <a:lnTo>
                    <a:pt x="3249090" y="955247"/>
                  </a:lnTo>
                  <a:lnTo>
                    <a:pt x="3311142" y="962200"/>
                  </a:lnTo>
                  <a:lnTo>
                    <a:pt x="3373776" y="969094"/>
                  </a:lnTo>
                  <a:lnTo>
                    <a:pt x="3436994" y="975929"/>
                  </a:lnTo>
                  <a:lnTo>
                    <a:pt x="3500794" y="982705"/>
                  </a:lnTo>
                  <a:lnTo>
                    <a:pt x="3565176" y="989422"/>
                  </a:lnTo>
                  <a:lnTo>
                    <a:pt x="3630142" y="996080"/>
                  </a:lnTo>
                  <a:lnTo>
                    <a:pt x="3695690" y="1002679"/>
                  </a:lnTo>
                  <a:lnTo>
                    <a:pt x="3761821" y="1009218"/>
                  </a:lnTo>
                  <a:lnTo>
                    <a:pt x="3828535" y="1015699"/>
                  </a:lnTo>
                  <a:lnTo>
                    <a:pt x="3895832" y="1022121"/>
                  </a:lnTo>
                  <a:lnTo>
                    <a:pt x="3963711" y="1028483"/>
                  </a:lnTo>
                  <a:lnTo>
                    <a:pt x="4032173" y="1034786"/>
                  </a:lnTo>
                  <a:lnTo>
                    <a:pt x="4101218" y="1041031"/>
                  </a:lnTo>
                  <a:lnTo>
                    <a:pt x="4170846" y="1047216"/>
                  </a:lnTo>
                  <a:lnTo>
                    <a:pt x="4241056" y="1053342"/>
                  </a:lnTo>
                  <a:lnTo>
                    <a:pt x="4311850" y="1059409"/>
                  </a:lnTo>
                  <a:lnTo>
                    <a:pt x="4383226" y="1065417"/>
                  </a:lnTo>
                  <a:lnTo>
                    <a:pt x="4455185" y="1071366"/>
                  </a:lnTo>
                  <a:lnTo>
                    <a:pt x="4527726" y="1077256"/>
                  </a:lnTo>
                  <a:lnTo>
                    <a:pt x="4600850" y="1083087"/>
                  </a:lnTo>
                  <a:lnTo>
                    <a:pt x="4674558" y="1088858"/>
                  </a:lnTo>
                  <a:lnTo>
                    <a:pt x="4748847" y="1094571"/>
                  </a:lnTo>
                  <a:lnTo>
                    <a:pt x="4823720" y="1100224"/>
                  </a:lnTo>
                  <a:lnTo>
                    <a:pt x="4899176" y="1105819"/>
                  </a:lnTo>
                  <a:lnTo>
                    <a:pt x="4975214" y="1111354"/>
                  </a:lnTo>
                  <a:lnTo>
                    <a:pt x="5051835" y="1116830"/>
                  </a:lnTo>
                  <a:lnTo>
                    <a:pt x="5129039" y="1122248"/>
                  </a:lnTo>
                  <a:lnTo>
                    <a:pt x="5206825" y="1127606"/>
                  </a:lnTo>
                  <a:lnTo>
                    <a:pt x="5285194" y="1132905"/>
                  </a:lnTo>
                  <a:lnTo>
                    <a:pt x="5364147" y="1138145"/>
                  </a:lnTo>
                  <a:lnTo>
                    <a:pt x="5443681" y="1143326"/>
                  </a:lnTo>
                  <a:lnTo>
                    <a:pt x="5523799" y="1148448"/>
                  </a:lnTo>
                  <a:lnTo>
                    <a:pt x="5604499" y="1153510"/>
                  </a:lnTo>
                  <a:lnTo>
                    <a:pt x="5685783" y="1158514"/>
                  </a:lnTo>
                  <a:lnTo>
                    <a:pt x="5767649" y="1163459"/>
                  </a:lnTo>
                  <a:lnTo>
                    <a:pt x="5850097" y="1168344"/>
                  </a:lnTo>
                  <a:lnTo>
                    <a:pt x="5933129" y="1173171"/>
                  </a:lnTo>
                  <a:lnTo>
                    <a:pt x="6016743" y="1177938"/>
                  </a:lnTo>
                  <a:lnTo>
                    <a:pt x="6100940" y="1182646"/>
                  </a:lnTo>
                  <a:lnTo>
                    <a:pt x="6185720" y="1187296"/>
                  </a:lnTo>
                  <a:lnTo>
                    <a:pt x="6271082" y="1191886"/>
                  </a:lnTo>
                  <a:lnTo>
                    <a:pt x="6357028" y="1196417"/>
                  </a:lnTo>
                  <a:lnTo>
                    <a:pt x="6443556" y="1200889"/>
                  </a:lnTo>
                  <a:lnTo>
                    <a:pt x="6530667" y="1205302"/>
                  </a:lnTo>
                  <a:lnTo>
                    <a:pt x="6618361" y="1209656"/>
                  </a:lnTo>
                  <a:lnTo>
                    <a:pt x="6706637" y="1213951"/>
                  </a:lnTo>
                  <a:lnTo>
                    <a:pt x="6795496" y="1218186"/>
                  </a:lnTo>
                  <a:lnTo>
                    <a:pt x="6884938" y="1222363"/>
                  </a:lnTo>
                  <a:lnTo>
                    <a:pt x="6974963" y="1226480"/>
                  </a:lnTo>
                </a:path>
              </a:pathLst>
            </a:custGeom>
            <a:ln w="41883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60676" y="4681969"/>
              <a:ext cx="6957059" cy="1203960"/>
            </a:xfrm>
            <a:custGeom>
              <a:avLst/>
              <a:gdLst/>
              <a:ahLst/>
              <a:cxnLst/>
              <a:rect l="l" t="t" r="r" b="b"/>
              <a:pathLst>
                <a:path w="6957059" h="1203960">
                  <a:moveTo>
                    <a:pt x="0" y="0"/>
                  </a:moveTo>
                  <a:lnTo>
                    <a:pt x="93015" y="3828"/>
                  </a:lnTo>
                  <a:lnTo>
                    <a:pt x="185404" y="7712"/>
                  </a:lnTo>
                  <a:lnTo>
                    <a:pt x="277168" y="11653"/>
                  </a:lnTo>
                  <a:lnTo>
                    <a:pt x="368305" y="15650"/>
                  </a:lnTo>
                  <a:lnTo>
                    <a:pt x="458817" y="19703"/>
                  </a:lnTo>
                  <a:lnTo>
                    <a:pt x="548702" y="23813"/>
                  </a:lnTo>
                  <a:lnTo>
                    <a:pt x="637961" y="27979"/>
                  </a:lnTo>
                  <a:lnTo>
                    <a:pt x="726594" y="32201"/>
                  </a:lnTo>
                  <a:lnTo>
                    <a:pt x="814602" y="36480"/>
                  </a:lnTo>
                  <a:lnTo>
                    <a:pt x="901983" y="40815"/>
                  </a:lnTo>
                  <a:lnTo>
                    <a:pt x="988738" y="45206"/>
                  </a:lnTo>
                  <a:lnTo>
                    <a:pt x="1074867" y="49654"/>
                  </a:lnTo>
                  <a:lnTo>
                    <a:pt x="1160370" y="54158"/>
                  </a:lnTo>
                  <a:lnTo>
                    <a:pt x="1245247" y="58718"/>
                  </a:lnTo>
                  <a:lnTo>
                    <a:pt x="1329498" y="63334"/>
                  </a:lnTo>
                  <a:lnTo>
                    <a:pt x="1413123" y="68007"/>
                  </a:lnTo>
                  <a:lnTo>
                    <a:pt x="1496121" y="72736"/>
                  </a:lnTo>
                  <a:lnTo>
                    <a:pt x="1578494" y="77522"/>
                  </a:lnTo>
                  <a:lnTo>
                    <a:pt x="1660241" y="82364"/>
                  </a:lnTo>
                  <a:lnTo>
                    <a:pt x="1741362" y="87262"/>
                  </a:lnTo>
                  <a:lnTo>
                    <a:pt x="1821856" y="92216"/>
                  </a:lnTo>
                  <a:lnTo>
                    <a:pt x="1901725" y="97227"/>
                  </a:lnTo>
                  <a:lnTo>
                    <a:pt x="1980968" y="102294"/>
                  </a:lnTo>
                  <a:lnTo>
                    <a:pt x="2059584" y="107418"/>
                  </a:lnTo>
                  <a:lnTo>
                    <a:pt x="2137575" y="112597"/>
                  </a:lnTo>
                  <a:lnTo>
                    <a:pt x="2214939" y="117833"/>
                  </a:lnTo>
                  <a:lnTo>
                    <a:pt x="2291678" y="123126"/>
                  </a:lnTo>
                  <a:lnTo>
                    <a:pt x="2367790" y="128475"/>
                  </a:lnTo>
                  <a:lnTo>
                    <a:pt x="2443276" y="133880"/>
                  </a:lnTo>
                  <a:lnTo>
                    <a:pt x="2518137" y="139341"/>
                  </a:lnTo>
                  <a:lnTo>
                    <a:pt x="2592371" y="144859"/>
                  </a:lnTo>
                  <a:lnTo>
                    <a:pt x="2665979" y="150433"/>
                  </a:lnTo>
                  <a:lnTo>
                    <a:pt x="2738961" y="156063"/>
                  </a:lnTo>
                  <a:lnTo>
                    <a:pt x="2811317" y="161749"/>
                  </a:lnTo>
                  <a:lnTo>
                    <a:pt x="2883048" y="167492"/>
                  </a:lnTo>
                  <a:lnTo>
                    <a:pt x="2954152" y="173292"/>
                  </a:lnTo>
                  <a:lnTo>
                    <a:pt x="3024630" y="179147"/>
                  </a:lnTo>
                  <a:lnTo>
                    <a:pt x="3094482" y="185059"/>
                  </a:lnTo>
                  <a:lnTo>
                    <a:pt x="3163707" y="191027"/>
                  </a:lnTo>
                  <a:lnTo>
                    <a:pt x="3232307" y="197052"/>
                  </a:lnTo>
                  <a:lnTo>
                    <a:pt x="3300281" y="203133"/>
                  </a:lnTo>
                  <a:lnTo>
                    <a:pt x="3367629" y="209270"/>
                  </a:lnTo>
                  <a:lnTo>
                    <a:pt x="3434351" y="215463"/>
                  </a:lnTo>
                  <a:lnTo>
                    <a:pt x="3500446" y="221713"/>
                  </a:lnTo>
                  <a:lnTo>
                    <a:pt x="3565916" y="228019"/>
                  </a:lnTo>
                  <a:lnTo>
                    <a:pt x="3630760" y="234382"/>
                  </a:lnTo>
                  <a:lnTo>
                    <a:pt x="3694977" y="240801"/>
                  </a:lnTo>
                  <a:lnTo>
                    <a:pt x="3758569" y="247276"/>
                  </a:lnTo>
                  <a:lnTo>
                    <a:pt x="3821534" y="253807"/>
                  </a:lnTo>
                  <a:lnTo>
                    <a:pt x="3883874" y="260395"/>
                  </a:lnTo>
                  <a:lnTo>
                    <a:pt x="3945587" y="267039"/>
                  </a:lnTo>
                  <a:lnTo>
                    <a:pt x="4006675" y="273739"/>
                  </a:lnTo>
                  <a:lnTo>
                    <a:pt x="4067136" y="280496"/>
                  </a:lnTo>
                  <a:lnTo>
                    <a:pt x="4126971" y="287309"/>
                  </a:lnTo>
                  <a:lnTo>
                    <a:pt x="4186181" y="294178"/>
                  </a:lnTo>
                  <a:lnTo>
                    <a:pt x="4244764" y="301104"/>
                  </a:lnTo>
                  <a:lnTo>
                    <a:pt x="4302721" y="308086"/>
                  </a:lnTo>
                  <a:lnTo>
                    <a:pt x="4360052" y="315124"/>
                  </a:lnTo>
                  <a:lnTo>
                    <a:pt x="4416757" y="322219"/>
                  </a:lnTo>
                  <a:lnTo>
                    <a:pt x="4472836" y="329370"/>
                  </a:lnTo>
                  <a:lnTo>
                    <a:pt x="4528289" y="336577"/>
                  </a:lnTo>
                  <a:lnTo>
                    <a:pt x="4583116" y="343840"/>
                  </a:lnTo>
                  <a:lnTo>
                    <a:pt x="4637317" y="351160"/>
                  </a:lnTo>
                  <a:lnTo>
                    <a:pt x="4690892" y="358536"/>
                  </a:lnTo>
                  <a:lnTo>
                    <a:pt x="4743841" y="365969"/>
                  </a:lnTo>
                  <a:lnTo>
                    <a:pt x="4796164" y="373458"/>
                  </a:lnTo>
                  <a:lnTo>
                    <a:pt x="4847860" y="381003"/>
                  </a:lnTo>
                  <a:lnTo>
                    <a:pt x="4898931" y="388604"/>
                  </a:lnTo>
                  <a:lnTo>
                    <a:pt x="4949376" y="396262"/>
                  </a:lnTo>
                  <a:lnTo>
                    <a:pt x="4999194" y="403976"/>
                  </a:lnTo>
                  <a:lnTo>
                    <a:pt x="5048387" y="411747"/>
                  </a:lnTo>
                  <a:lnTo>
                    <a:pt x="5096954" y="419573"/>
                  </a:lnTo>
                  <a:lnTo>
                    <a:pt x="5144894" y="427456"/>
                  </a:lnTo>
                  <a:lnTo>
                    <a:pt x="5192209" y="435396"/>
                  </a:lnTo>
                  <a:lnTo>
                    <a:pt x="5238897" y="443392"/>
                  </a:lnTo>
                  <a:lnTo>
                    <a:pt x="5284959" y="451444"/>
                  </a:lnTo>
                  <a:lnTo>
                    <a:pt x="5330396" y="459552"/>
                  </a:lnTo>
                  <a:lnTo>
                    <a:pt x="5375206" y="467717"/>
                  </a:lnTo>
                  <a:lnTo>
                    <a:pt x="5419390" y="475938"/>
                  </a:lnTo>
                  <a:lnTo>
                    <a:pt x="5462948" y="484215"/>
                  </a:lnTo>
                  <a:lnTo>
                    <a:pt x="5505881" y="492548"/>
                  </a:lnTo>
                  <a:lnTo>
                    <a:pt x="5548187" y="500938"/>
                  </a:lnTo>
                  <a:lnTo>
                    <a:pt x="5589867" y="509385"/>
                  </a:lnTo>
                  <a:lnTo>
                    <a:pt x="5630921" y="517887"/>
                  </a:lnTo>
                  <a:lnTo>
                    <a:pt x="5671349" y="526446"/>
                  </a:lnTo>
                  <a:lnTo>
                    <a:pt x="5711151" y="535061"/>
                  </a:lnTo>
                  <a:lnTo>
                    <a:pt x="5750327" y="543733"/>
                  </a:lnTo>
                  <a:lnTo>
                    <a:pt x="5788877" y="552461"/>
                  </a:lnTo>
                  <a:lnTo>
                    <a:pt x="5826800" y="561245"/>
                  </a:lnTo>
                  <a:lnTo>
                    <a:pt x="5864098" y="570085"/>
                  </a:lnTo>
                  <a:lnTo>
                    <a:pt x="5936816" y="587935"/>
                  </a:lnTo>
                  <a:lnTo>
                    <a:pt x="6007029" y="606010"/>
                  </a:lnTo>
                  <a:lnTo>
                    <a:pt x="6074738" y="624311"/>
                  </a:lnTo>
                  <a:lnTo>
                    <a:pt x="6139943" y="642837"/>
                  </a:lnTo>
                  <a:lnTo>
                    <a:pt x="6202644" y="661588"/>
                  </a:lnTo>
                  <a:lnTo>
                    <a:pt x="6262840" y="680564"/>
                  </a:lnTo>
                  <a:lnTo>
                    <a:pt x="6320533" y="699766"/>
                  </a:lnTo>
                  <a:lnTo>
                    <a:pt x="6375721" y="719193"/>
                  </a:lnTo>
                  <a:lnTo>
                    <a:pt x="6428405" y="738845"/>
                  </a:lnTo>
                  <a:lnTo>
                    <a:pt x="6478585" y="758722"/>
                  </a:lnTo>
                  <a:lnTo>
                    <a:pt x="6526261" y="778825"/>
                  </a:lnTo>
                  <a:lnTo>
                    <a:pt x="6571433" y="799153"/>
                  </a:lnTo>
                  <a:lnTo>
                    <a:pt x="6614100" y="819706"/>
                  </a:lnTo>
                  <a:lnTo>
                    <a:pt x="6654263" y="840485"/>
                  </a:lnTo>
                  <a:lnTo>
                    <a:pt x="6691923" y="861488"/>
                  </a:lnTo>
                  <a:lnTo>
                    <a:pt x="6727077" y="882717"/>
                  </a:lnTo>
                  <a:lnTo>
                    <a:pt x="6759728" y="904172"/>
                  </a:lnTo>
                  <a:lnTo>
                    <a:pt x="6804009" y="936776"/>
                  </a:lnTo>
                  <a:lnTo>
                    <a:pt x="6842656" y="969887"/>
                  </a:lnTo>
                  <a:lnTo>
                    <a:pt x="6875668" y="1003504"/>
                  </a:lnTo>
                  <a:lnTo>
                    <a:pt x="6903045" y="1037629"/>
                  </a:lnTo>
                  <a:lnTo>
                    <a:pt x="6924789" y="1072260"/>
                  </a:lnTo>
                  <a:lnTo>
                    <a:pt x="6940898" y="1107398"/>
                  </a:lnTo>
                  <a:lnTo>
                    <a:pt x="6953612" y="1155038"/>
                  </a:lnTo>
                  <a:lnTo>
                    <a:pt x="6956574" y="1191359"/>
                  </a:lnTo>
                  <a:lnTo>
                    <a:pt x="6956309" y="1203579"/>
                  </a:lnTo>
                </a:path>
              </a:pathLst>
            </a:custGeom>
            <a:ln w="41883">
              <a:solidFill>
                <a:srgbClr val="DE6A1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128102" y="4555509"/>
              <a:ext cx="0" cy="4048125"/>
            </a:xfrm>
            <a:custGeom>
              <a:avLst/>
              <a:gdLst/>
              <a:ahLst/>
              <a:cxnLst/>
              <a:rect l="l" t="t" r="r" b="b"/>
              <a:pathLst>
                <a:path h="4048125">
                  <a:moveTo>
                    <a:pt x="0" y="404767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9401" y="4621579"/>
              <a:ext cx="7071359" cy="0"/>
            </a:xfrm>
            <a:custGeom>
              <a:avLst/>
              <a:gdLst/>
              <a:ahLst/>
              <a:cxnLst/>
              <a:rect l="l" t="t" r="r" b="b"/>
              <a:pathLst>
                <a:path w="7071359">
                  <a:moveTo>
                    <a:pt x="0" y="0"/>
                  </a:moveTo>
                  <a:lnTo>
                    <a:pt x="707099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10328" y="2996712"/>
            <a:ext cx="1235677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dirty="0">
                <a:solidFill>
                  <a:srgbClr val="DE6A10"/>
                </a:solidFill>
                <a:latin typeface="Arial"/>
                <a:cs typeface="Arial"/>
              </a:rPr>
              <a:t>Saturating</a:t>
            </a:r>
            <a:r>
              <a:rPr sz="1304" b="1" spc="60" dirty="0">
                <a:solidFill>
                  <a:srgbClr val="DE6A10"/>
                </a:solidFill>
                <a:latin typeface="Arial"/>
                <a:cs typeface="Arial"/>
              </a:rPr>
              <a:t> </a:t>
            </a:r>
            <a:r>
              <a:rPr sz="1304" b="1" spc="-10" dirty="0">
                <a:solidFill>
                  <a:srgbClr val="DE6A10"/>
                </a:solidFill>
                <a:latin typeface="Arial"/>
                <a:cs typeface="Arial"/>
              </a:rPr>
              <a:t>cost</a:t>
            </a:r>
            <a:endParaRPr sz="130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73216" y="4135993"/>
            <a:ext cx="392258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-</a:t>
            </a:r>
            <a:r>
              <a:rPr sz="2056" spc="-13" dirty="0">
                <a:latin typeface="Arial"/>
                <a:cs typeface="Arial"/>
              </a:rPr>
              <a:t>20</a:t>
            </a:r>
            <a:endParaRPr sz="2056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5289" y="2513432"/>
            <a:ext cx="533624" cy="408979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3911" i="1" baseline="-25106" dirty="0">
                <a:latin typeface="Times New Roman"/>
                <a:cs typeface="Times New Roman"/>
              </a:rPr>
              <a:t>J</a:t>
            </a:r>
            <a:r>
              <a:rPr sz="3911" i="1" spc="-470" baseline="-25106" dirty="0">
                <a:latin typeface="Times New Roman"/>
                <a:cs typeface="Times New Roman"/>
              </a:rPr>
              <a:t> </a:t>
            </a:r>
            <a:r>
              <a:rPr sz="1504" spc="53" dirty="0">
                <a:latin typeface="Times New Roman"/>
                <a:cs typeface="Times New Roman"/>
              </a:rPr>
              <a:t>(</a:t>
            </a:r>
            <a:r>
              <a:rPr sz="1504" i="1" spc="53" dirty="0">
                <a:latin typeface="Times New Roman"/>
                <a:cs typeface="Times New Roman"/>
              </a:rPr>
              <a:t>G</a:t>
            </a:r>
            <a:r>
              <a:rPr sz="1504" i="1" spc="-193" dirty="0">
                <a:latin typeface="Times New Roman"/>
                <a:cs typeface="Times New Roman"/>
              </a:rPr>
              <a:t> </a:t>
            </a:r>
            <a:r>
              <a:rPr sz="1504" spc="-25" dirty="0">
                <a:latin typeface="Times New Roman"/>
                <a:cs typeface="Times New Roman"/>
              </a:rPr>
              <a:t>)</a:t>
            </a:r>
            <a:endParaRPr sz="150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7472" y="2114689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0</a:t>
            </a:r>
            <a:endParaRPr sz="2056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05572" y="4414251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1</a:t>
            </a:r>
            <a:endParaRPr sz="2056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01069" y="4469670"/>
            <a:ext cx="1133473" cy="40891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607" i="1" spc="53" dirty="0">
                <a:latin typeface="Times New Roman"/>
                <a:cs typeface="Times New Roman"/>
              </a:rPr>
              <a:t>D</a:t>
            </a:r>
            <a:r>
              <a:rPr sz="2607" spc="35" dirty="0">
                <a:latin typeface="Times New Roman"/>
                <a:cs typeface="Times New Roman"/>
              </a:rPr>
              <a:t>(</a:t>
            </a:r>
            <a:r>
              <a:rPr sz="2607" i="1" spc="108" dirty="0">
                <a:latin typeface="Times New Roman"/>
                <a:cs typeface="Times New Roman"/>
              </a:rPr>
              <a:t>G</a:t>
            </a:r>
            <a:r>
              <a:rPr sz="2607" spc="198" dirty="0">
                <a:latin typeface="Times New Roman"/>
                <a:cs typeface="Times New Roman"/>
              </a:rPr>
              <a:t>(</a:t>
            </a:r>
            <a:r>
              <a:rPr sz="2607" i="1" spc="160" dirty="0">
                <a:latin typeface="Times New Roman"/>
                <a:cs typeface="Times New Roman"/>
              </a:rPr>
              <a:t>z</a:t>
            </a:r>
            <a:r>
              <a:rPr sz="2607" spc="-60" dirty="0">
                <a:latin typeface="Times New Roman"/>
                <a:cs typeface="Times New Roman"/>
              </a:rPr>
              <a:t>)</a:t>
            </a:r>
            <a:r>
              <a:rPr sz="2607" spc="-5" dirty="0">
                <a:latin typeface="Times New Roman"/>
                <a:cs typeface="Times New Roman"/>
              </a:rPr>
              <a:t>)</a:t>
            </a:r>
            <a:endParaRPr sz="260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8978" y="4414251"/>
            <a:ext cx="158877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5" dirty="0">
                <a:latin typeface="Arial"/>
                <a:cs typeface="Arial"/>
              </a:rPr>
              <a:t>0</a:t>
            </a:r>
            <a:endParaRPr sz="2056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52151" y="3327890"/>
            <a:ext cx="625002" cy="309918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  <a:tabLst>
                <a:tab pos="467713" algn="l"/>
              </a:tabLst>
            </a:pPr>
            <a:r>
              <a:rPr sz="2933" i="1" baseline="-24928" dirty="0">
                <a:latin typeface="Times New Roman"/>
                <a:cs typeface="Times New Roman"/>
              </a:rPr>
              <a:t>J</a:t>
            </a:r>
            <a:r>
              <a:rPr sz="2933" i="1" spc="-338" baseline="-24928" dirty="0">
                <a:latin typeface="Times New Roman"/>
                <a:cs typeface="Times New Roman"/>
              </a:rPr>
              <a:t> </a:t>
            </a:r>
            <a:r>
              <a:rPr sz="1128" spc="45" dirty="0">
                <a:latin typeface="Times New Roman"/>
                <a:cs typeface="Times New Roman"/>
              </a:rPr>
              <a:t>(</a:t>
            </a:r>
            <a:r>
              <a:rPr sz="1128" i="1" spc="45" dirty="0">
                <a:latin typeface="Times New Roman"/>
                <a:cs typeface="Times New Roman"/>
              </a:rPr>
              <a:t>G</a:t>
            </a:r>
            <a:r>
              <a:rPr sz="1128" i="1" spc="-140" dirty="0">
                <a:latin typeface="Times New Roman"/>
                <a:cs typeface="Times New Roman"/>
              </a:rPr>
              <a:t> </a:t>
            </a:r>
            <a:r>
              <a:rPr sz="1128" spc="-25" dirty="0">
                <a:latin typeface="Times New Roman"/>
                <a:cs typeface="Times New Roman"/>
              </a:rPr>
              <a:t>)</a:t>
            </a:r>
            <a:r>
              <a:rPr sz="1128" dirty="0">
                <a:latin typeface="Times New Roman"/>
                <a:cs typeface="Times New Roman"/>
              </a:rPr>
              <a:t>	</a:t>
            </a:r>
            <a:r>
              <a:rPr sz="2933" spc="-38" baseline="-24928" dirty="0">
                <a:latin typeface="Symbol"/>
                <a:cs typeface="Symbol"/>
              </a:rPr>
              <a:t></a:t>
            </a:r>
            <a:endParaRPr sz="2933" baseline="-24928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1004" y="3278889"/>
            <a:ext cx="138182" cy="309854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6368">
              <a:spcBef>
                <a:spcPts val="70"/>
              </a:spcBef>
            </a:pPr>
            <a:r>
              <a:rPr sz="1955" spc="8" dirty="0">
                <a:latin typeface="Times New Roman"/>
                <a:cs typeface="Times New Roman"/>
              </a:rPr>
              <a:t>1</a:t>
            </a:r>
            <a:endParaRPr sz="195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23788" y="3629735"/>
            <a:ext cx="285915" cy="309854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</a:pPr>
            <a:r>
              <a:rPr sz="1955" i="1" spc="-13" dirty="0">
                <a:latin typeface="Times New Roman"/>
                <a:cs typeface="Times New Roman"/>
              </a:rPr>
              <a:t>m</a:t>
            </a:r>
            <a:r>
              <a:rPr sz="1692" i="1" spc="-19" baseline="-30864" dirty="0">
                <a:latin typeface="Times New Roman"/>
                <a:cs typeface="Times New Roman"/>
              </a:rPr>
              <a:t>g</a:t>
            </a:r>
            <a:endParaRPr sz="1692" baseline="-30864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23290" y="3623690"/>
            <a:ext cx="309158" cy="12417"/>
          </a:xfrm>
          <a:custGeom>
            <a:avLst/>
            <a:gdLst/>
            <a:ahLst/>
            <a:cxnLst/>
            <a:rect l="l" t="t" r="r" b="b"/>
            <a:pathLst>
              <a:path w="616584" h="24765">
                <a:moveTo>
                  <a:pt x="616332" y="0"/>
                </a:moveTo>
                <a:lnTo>
                  <a:pt x="0" y="0"/>
                </a:lnTo>
                <a:lnTo>
                  <a:pt x="0" y="24757"/>
                </a:lnTo>
                <a:lnTo>
                  <a:pt x="616332" y="24757"/>
                </a:lnTo>
                <a:lnTo>
                  <a:pt x="6163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4" name="object 24"/>
          <p:cNvSpPr txBox="1"/>
          <p:nvPr/>
        </p:nvSpPr>
        <p:spPr>
          <a:xfrm>
            <a:off x="7903702" y="3787844"/>
            <a:ext cx="204407" cy="18161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128" i="1" spc="-13" dirty="0">
                <a:latin typeface="Times New Roman"/>
                <a:cs typeface="Times New Roman"/>
              </a:rPr>
              <a:t>i</a:t>
            </a:r>
            <a:r>
              <a:rPr sz="1128" spc="-13" dirty="0">
                <a:latin typeface="Symbol"/>
                <a:cs typeface="Symbol"/>
              </a:rPr>
              <a:t></a:t>
            </a:r>
            <a:r>
              <a:rPr sz="1128" spc="-13" dirty="0">
                <a:latin typeface="Times New Roman"/>
                <a:cs typeface="Times New Roman"/>
              </a:rPr>
              <a:t>1</a:t>
            </a:r>
            <a:endParaRPr sz="112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94886" y="3231849"/>
            <a:ext cx="192945" cy="181611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128" i="1" spc="-13" dirty="0">
                <a:latin typeface="Times New Roman"/>
                <a:cs typeface="Times New Roman"/>
              </a:rPr>
              <a:t>m</a:t>
            </a:r>
            <a:r>
              <a:rPr sz="1241" i="1" spc="-19" baseline="-25252" dirty="0">
                <a:latin typeface="Times New Roman"/>
                <a:cs typeface="Times New Roman"/>
              </a:rPr>
              <a:t>g</a:t>
            </a:r>
            <a:endParaRPr sz="1241" baseline="-25252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45232" y="3314823"/>
            <a:ext cx="2181299" cy="462263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4437" spc="60" baseline="-7532" dirty="0">
                <a:latin typeface="Symbol"/>
                <a:cs typeface="Symbol"/>
              </a:rPr>
              <a:t></a:t>
            </a:r>
            <a:r>
              <a:rPr sz="1955" spc="40" dirty="0">
                <a:latin typeface="Times New Roman"/>
                <a:cs typeface="Times New Roman"/>
              </a:rPr>
              <a:t>log(1</a:t>
            </a:r>
            <a:r>
              <a:rPr sz="1955" spc="40" dirty="0">
                <a:latin typeface="Symbol"/>
                <a:cs typeface="Symbol"/>
              </a:rPr>
              <a:t></a:t>
            </a:r>
            <a:r>
              <a:rPr sz="1955" spc="15" dirty="0">
                <a:latin typeface="Times New Roman"/>
                <a:cs typeface="Times New Roman"/>
              </a:rPr>
              <a:t> </a:t>
            </a:r>
            <a:r>
              <a:rPr sz="1955" i="1" spc="80" dirty="0">
                <a:latin typeface="Times New Roman"/>
                <a:cs typeface="Times New Roman"/>
              </a:rPr>
              <a:t>D</a:t>
            </a:r>
            <a:r>
              <a:rPr sz="1955" spc="80" dirty="0">
                <a:latin typeface="Times New Roman"/>
                <a:cs typeface="Times New Roman"/>
              </a:rPr>
              <a:t>(</a:t>
            </a:r>
            <a:r>
              <a:rPr sz="1955" i="1" spc="80" dirty="0">
                <a:latin typeface="Times New Roman"/>
                <a:cs typeface="Times New Roman"/>
              </a:rPr>
              <a:t>G</a:t>
            </a:r>
            <a:r>
              <a:rPr sz="1955" spc="80" dirty="0">
                <a:latin typeface="Times New Roman"/>
                <a:cs typeface="Times New Roman"/>
              </a:rPr>
              <a:t>(</a:t>
            </a:r>
            <a:r>
              <a:rPr sz="1955" i="1" spc="80" dirty="0">
                <a:latin typeface="Times New Roman"/>
                <a:cs typeface="Times New Roman"/>
              </a:rPr>
              <a:t>z</a:t>
            </a:r>
            <a:r>
              <a:rPr sz="1692" spc="120" baseline="43209" dirty="0">
                <a:latin typeface="Times New Roman"/>
                <a:cs typeface="Times New Roman"/>
              </a:rPr>
              <a:t>(</a:t>
            </a:r>
            <a:r>
              <a:rPr sz="1692" spc="-263" baseline="43209" dirty="0">
                <a:latin typeface="Times New Roman"/>
                <a:cs typeface="Times New Roman"/>
              </a:rPr>
              <a:t> </a:t>
            </a:r>
            <a:r>
              <a:rPr sz="1692" i="1" baseline="43209" dirty="0">
                <a:latin typeface="Times New Roman"/>
                <a:cs typeface="Times New Roman"/>
              </a:rPr>
              <a:t>i</a:t>
            </a:r>
            <a:r>
              <a:rPr sz="1692" i="1" spc="-271" baseline="43209" dirty="0">
                <a:latin typeface="Times New Roman"/>
                <a:cs typeface="Times New Roman"/>
              </a:rPr>
              <a:t> </a:t>
            </a:r>
            <a:r>
              <a:rPr sz="1692" baseline="43209" dirty="0">
                <a:latin typeface="Times New Roman"/>
                <a:cs typeface="Times New Roman"/>
              </a:rPr>
              <a:t>)</a:t>
            </a:r>
            <a:r>
              <a:rPr sz="1692" spc="-98" baseline="43209" dirty="0">
                <a:latin typeface="Times New Roman"/>
                <a:cs typeface="Times New Roman"/>
              </a:rPr>
              <a:t> </a:t>
            </a:r>
            <a:r>
              <a:rPr sz="1955" spc="-13" dirty="0">
                <a:latin typeface="Times New Roman"/>
                <a:cs typeface="Times New Roman"/>
              </a:rPr>
              <a:t>)))</a:t>
            </a:r>
            <a:endParaRPr sz="195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95286" y="2236277"/>
            <a:ext cx="838642" cy="31632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  <a:tabLst>
                <a:tab pos="476628" algn="l"/>
              </a:tabLst>
            </a:pPr>
            <a:r>
              <a:rPr sz="3008" i="1" baseline="-25000" dirty="0">
                <a:latin typeface="Times New Roman"/>
                <a:cs typeface="Times New Roman"/>
              </a:rPr>
              <a:t>J</a:t>
            </a:r>
            <a:r>
              <a:rPr sz="3008" i="1" spc="-353" baseline="-25000" dirty="0">
                <a:latin typeface="Times New Roman"/>
                <a:cs typeface="Times New Roman"/>
              </a:rPr>
              <a:t> </a:t>
            </a:r>
            <a:r>
              <a:rPr sz="1153" spc="45" dirty="0">
                <a:latin typeface="Times New Roman"/>
                <a:cs typeface="Times New Roman"/>
              </a:rPr>
              <a:t>(</a:t>
            </a:r>
            <a:r>
              <a:rPr sz="1153" i="1" spc="45" dirty="0">
                <a:latin typeface="Times New Roman"/>
                <a:cs typeface="Times New Roman"/>
              </a:rPr>
              <a:t>G</a:t>
            </a:r>
            <a:r>
              <a:rPr sz="1153" i="1" spc="-150" dirty="0">
                <a:latin typeface="Times New Roman"/>
                <a:cs typeface="Times New Roman"/>
              </a:rPr>
              <a:t> </a:t>
            </a:r>
            <a:r>
              <a:rPr sz="1153" spc="-25" dirty="0">
                <a:latin typeface="Times New Roman"/>
                <a:cs typeface="Times New Roman"/>
              </a:rPr>
              <a:t>)</a:t>
            </a:r>
            <a:r>
              <a:rPr sz="1153" dirty="0">
                <a:latin typeface="Times New Roman"/>
                <a:cs typeface="Times New Roman"/>
              </a:rPr>
              <a:t>	</a:t>
            </a:r>
            <a:r>
              <a:rPr sz="3008" baseline="-25000" dirty="0">
                <a:latin typeface="Symbol"/>
                <a:cs typeface="Symbol"/>
              </a:rPr>
              <a:t></a:t>
            </a:r>
            <a:r>
              <a:rPr sz="3008" spc="-26" baseline="-25000" dirty="0">
                <a:latin typeface="Times New Roman"/>
                <a:cs typeface="Times New Roman"/>
              </a:rPr>
              <a:t> </a:t>
            </a:r>
            <a:r>
              <a:rPr sz="3008" spc="-45" baseline="-25000" dirty="0">
                <a:latin typeface="Symbol"/>
                <a:cs typeface="Symbol"/>
              </a:rPr>
              <a:t></a:t>
            </a:r>
            <a:endParaRPr sz="3008" baseline="-250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3085" y="2186292"/>
            <a:ext cx="140729" cy="31639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06" spc="3" dirty="0">
                <a:latin typeface="Times New Roman"/>
                <a:cs typeface="Times New Roman"/>
              </a:rPr>
              <a:t>1</a:t>
            </a:r>
            <a:endParaRPr sz="2006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54371" y="2544189"/>
            <a:ext cx="291010" cy="31639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2006" i="1" spc="-13" dirty="0">
                <a:latin typeface="Times New Roman"/>
                <a:cs typeface="Times New Roman"/>
              </a:rPr>
              <a:t>m</a:t>
            </a:r>
            <a:r>
              <a:rPr sz="1730" i="1" spc="-19" baseline="-31400" dirty="0">
                <a:latin typeface="Times New Roman"/>
                <a:cs typeface="Times New Roman"/>
              </a:rPr>
              <a:t>g</a:t>
            </a:r>
            <a:endParaRPr sz="1730" baseline="-3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53482" y="2537893"/>
            <a:ext cx="315526" cy="12736"/>
          </a:xfrm>
          <a:custGeom>
            <a:avLst/>
            <a:gdLst/>
            <a:ahLst/>
            <a:cxnLst/>
            <a:rect l="l" t="t" r="r" b="b"/>
            <a:pathLst>
              <a:path w="629284" h="25400">
                <a:moveTo>
                  <a:pt x="628719" y="0"/>
                </a:moveTo>
                <a:lnTo>
                  <a:pt x="0" y="0"/>
                </a:lnTo>
                <a:lnTo>
                  <a:pt x="0" y="25255"/>
                </a:lnTo>
                <a:lnTo>
                  <a:pt x="628719" y="25255"/>
                </a:lnTo>
                <a:lnTo>
                  <a:pt x="6287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1" name="object 31"/>
          <p:cNvSpPr txBox="1"/>
          <p:nvPr/>
        </p:nvSpPr>
        <p:spPr>
          <a:xfrm>
            <a:off x="8141666" y="2705475"/>
            <a:ext cx="208228" cy="18513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153" i="1" spc="-13" dirty="0">
                <a:latin typeface="Times New Roman"/>
                <a:cs typeface="Times New Roman"/>
              </a:rPr>
              <a:t>i</a:t>
            </a:r>
            <a:r>
              <a:rPr sz="1153" spc="-13" dirty="0">
                <a:latin typeface="Symbol"/>
                <a:cs typeface="Symbol"/>
              </a:rPr>
              <a:t></a:t>
            </a:r>
            <a:r>
              <a:rPr sz="1153" spc="-13" dirty="0">
                <a:latin typeface="Times New Roman"/>
                <a:cs typeface="Times New Roman"/>
              </a:rPr>
              <a:t>1</a:t>
            </a:r>
            <a:endParaRPr sz="115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32929" y="2138305"/>
            <a:ext cx="196129" cy="18513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153" i="1" spc="-13" dirty="0">
                <a:latin typeface="Times New Roman"/>
                <a:cs typeface="Times New Roman"/>
              </a:rPr>
              <a:t>m</a:t>
            </a:r>
            <a:r>
              <a:rPr sz="1241" i="1" spc="-19" baseline="-26936" dirty="0">
                <a:latin typeface="Times New Roman"/>
                <a:cs typeface="Times New Roman"/>
              </a:rPr>
              <a:t>g</a:t>
            </a:r>
            <a:endParaRPr sz="1241" baseline="-26936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82277" y="2222947"/>
            <a:ext cx="1909711" cy="470985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4513" spc="52" baseline="-7407" dirty="0">
                <a:latin typeface="Symbol"/>
                <a:cs typeface="Symbol"/>
              </a:rPr>
              <a:t></a:t>
            </a:r>
            <a:r>
              <a:rPr sz="2006" spc="35" dirty="0">
                <a:latin typeface="Times New Roman"/>
                <a:cs typeface="Times New Roman"/>
              </a:rPr>
              <a:t>log(</a:t>
            </a:r>
            <a:r>
              <a:rPr sz="2006" spc="-296" dirty="0">
                <a:latin typeface="Times New Roman"/>
                <a:cs typeface="Times New Roman"/>
              </a:rPr>
              <a:t> </a:t>
            </a:r>
            <a:r>
              <a:rPr sz="2006" i="1" spc="73" dirty="0">
                <a:latin typeface="Times New Roman"/>
                <a:cs typeface="Times New Roman"/>
              </a:rPr>
              <a:t>D</a:t>
            </a:r>
            <a:r>
              <a:rPr sz="2006" spc="73" dirty="0">
                <a:latin typeface="Times New Roman"/>
                <a:cs typeface="Times New Roman"/>
              </a:rPr>
              <a:t>(</a:t>
            </a:r>
            <a:r>
              <a:rPr sz="2006" i="1" spc="73" dirty="0">
                <a:latin typeface="Times New Roman"/>
                <a:cs typeface="Times New Roman"/>
              </a:rPr>
              <a:t>G</a:t>
            </a:r>
            <a:r>
              <a:rPr sz="2006" spc="73" dirty="0">
                <a:latin typeface="Times New Roman"/>
                <a:cs typeface="Times New Roman"/>
              </a:rPr>
              <a:t>(</a:t>
            </a:r>
            <a:r>
              <a:rPr sz="2006" i="1" spc="73" dirty="0">
                <a:latin typeface="Times New Roman"/>
                <a:cs typeface="Times New Roman"/>
              </a:rPr>
              <a:t>z</a:t>
            </a:r>
            <a:r>
              <a:rPr sz="1730" spc="109" baseline="43478" dirty="0">
                <a:latin typeface="Times New Roman"/>
                <a:cs typeface="Times New Roman"/>
              </a:rPr>
              <a:t>(</a:t>
            </a:r>
            <a:r>
              <a:rPr sz="1730" spc="-259" baseline="43478" dirty="0">
                <a:latin typeface="Times New Roman"/>
                <a:cs typeface="Times New Roman"/>
              </a:rPr>
              <a:t> </a:t>
            </a:r>
            <a:r>
              <a:rPr sz="1730" i="1" baseline="43478" dirty="0">
                <a:latin typeface="Times New Roman"/>
                <a:cs typeface="Times New Roman"/>
              </a:rPr>
              <a:t>i</a:t>
            </a:r>
            <a:r>
              <a:rPr sz="1730" i="1" spc="-278" baseline="43478" dirty="0">
                <a:latin typeface="Times New Roman"/>
                <a:cs typeface="Times New Roman"/>
              </a:rPr>
              <a:t> </a:t>
            </a:r>
            <a:r>
              <a:rPr sz="1730" baseline="43478" dirty="0">
                <a:latin typeface="Times New Roman"/>
                <a:cs typeface="Times New Roman"/>
              </a:rPr>
              <a:t>)</a:t>
            </a:r>
            <a:r>
              <a:rPr sz="1730" spc="-86" baseline="43478" dirty="0">
                <a:latin typeface="Times New Roman"/>
                <a:cs typeface="Times New Roman"/>
              </a:rPr>
              <a:t> </a:t>
            </a:r>
            <a:r>
              <a:rPr sz="2006" spc="-13" dirty="0">
                <a:latin typeface="Times New Roman"/>
                <a:cs typeface="Times New Roman"/>
              </a:rPr>
              <a:t>)))</a:t>
            </a:r>
            <a:endParaRPr sz="2006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1708" y="2674141"/>
            <a:ext cx="1656272" cy="1270700"/>
            <a:chOff x="398766" y="5333309"/>
            <a:chExt cx="3303270" cy="253428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766" y="5333309"/>
              <a:ext cx="3303236" cy="253395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178" y="5343780"/>
              <a:ext cx="3240411" cy="247112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17458" y="2679391"/>
            <a:ext cx="1624751" cy="1235960"/>
          </a:xfrm>
          <a:prstGeom prst="rect">
            <a:avLst/>
          </a:prstGeom>
        </p:spPr>
        <p:txBody>
          <a:bodyPr vert="horz" wrap="square" lIns="0" tIns="16237" rIns="0" bIns="0" rtlCol="0">
            <a:spAutoFit/>
          </a:bodyPr>
          <a:lstStyle/>
          <a:p>
            <a:pPr algn="ctr">
              <a:spcBef>
                <a:spcPts val="127"/>
              </a:spcBef>
            </a:pP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304" b="1" spc="1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num_iterations:</a:t>
            </a:r>
            <a:endParaRPr sz="1304"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1354">
              <a:latin typeface="Arial"/>
              <a:cs typeface="Arial"/>
            </a:endParaRPr>
          </a:p>
          <a:p>
            <a:pPr marL="687083" marR="56991" indent="-346726">
              <a:lnSpc>
                <a:spcPct val="100400"/>
              </a:lnSpc>
            </a:pP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304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304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iterations: </a:t>
            </a:r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sz="1304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2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304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1354">
              <a:latin typeface="Arial"/>
              <a:cs typeface="Arial"/>
            </a:endParaRPr>
          </a:p>
          <a:p>
            <a:pPr marR="955" algn="ctr"/>
            <a:r>
              <a:rPr sz="1304" b="1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sz="1304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4" b="1" spc="-2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304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1906" y="172557"/>
            <a:ext cx="7941954" cy="204372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3544625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II.C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4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b="1" spc="-4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2081">
              <a:latin typeface="Arial"/>
              <a:cs typeface="Arial"/>
            </a:endParaRPr>
          </a:p>
          <a:p>
            <a:pPr marL="6368"/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Simultaneously training </a:t>
            </a:r>
            <a:r>
              <a:rPr sz="2056" spc="-10" dirty="0">
                <a:solidFill>
                  <a:srgbClr val="00882B"/>
                </a:solidFill>
                <a:latin typeface="Arial"/>
                <a:cs typeface="Arial"/>
              </a:rPr>
              <a:t>G/D?</a:t>
            </a:r>
            <a:endParaRPr sz="2056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6">
              <a:latin typeface="Arial"/>
              <a:cs typeface="Arial"/>
            </a:endParaRPr>
          </a:p>
          <a:p>
            <a:pPr marL="2431855">
              <a:spcBef>
                <a:spcPts val="1702"/>
              </a:spcBef>
            </a:pPr>
            <a:r>
              <a:rPr sz="2056" spc="5" dirty="0">
                <a:latin typeface="Arial"/>
                <a:cs typeface="Arial"/>
              </a:rPr>
              <a:t>5</a:t>
            </a:r>
            <a:endParaRPr sz="2056">
              <a:latin typeface="Arial"/>
              <a:cs typeface="Arial"/>
            </a:endParaRPr>
          </a:p>
          <a:p>
            <a:pPr marR="2547" algn="r">
              <a:spcBef>
                <a:spcPts val="351"/>
              </a:spcBef>
            </a:pPr>
            <a:r>
              <a:rPr sz="1304" b="1" dirty="0">
                <a:solidFill>
                  <a:srgbClr val="0365C0"/>
                </a:solidFill>
                <a:latin typeface="Arial"/>
                <a:cs typeface="Arial"/>
              </a:rPr>
              <a:t>Non-saturating</a:t>
            </a:r>
            <a:r>
              <a:rPr sz="1304" b="1" spc="83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1304" b="1" spc="-10" dirty="0">
                <a:solidFill>
                  <a:srgbClr val="0365C0"/>
                </a:solidFill>
                <a:latin typeface="Arial"/>
                <a:cs typeface="Arial"/>
              </a:rPr>
              <a:t>cost</a:t>
            </a:r>
            <a:endParaRPr sz="130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83165" y="1117162"/>
            <a:ext cx="3134563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Recap:</a:t>
            </a:r>
            <a:r>
              <a:rPr sz="2056" spc="9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GANs’</a:t>
            </a:r>
            <a:r>
              <a:rPr sz="2056" spc="9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training</a:t>
            </a:r>
            <a:r>
              <a:rPr sz="2056" spc="90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20" dirty="0">
                <a:solidFill>
                  <a:srgbClr val="00882B"/>
                </a:solidFill>
                <a:latin typeface="Arial"/>
                <a:cs typeface="Arial"/>
              </a:rPr>
              <a:t>tips</a:t>
            </a:r>
            <a:endParaRPr sz="205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413" y="1760305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420" y="1715678"/>
            <a:ext cx="3748421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Modification</a:t>
            </a:r>
            <a:r>
              <a:rPr sz="2056" spc="57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of</a:t>
            </a:r>
            <a:r>
              <a:rPr sz="2056" spc="57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the</a:t>
            </a:r>
            <a:r>
              <a:rPr sz="2056" spc="57" dirty="0">
                <a:latin typeface="Arial"/>
                <a:cs typeface="Arial"/>
              </a:rPr>
              <a:t> </a:t>
            </a:r>
            <a:r>
              <a:rPr sz="2056" spc="28" dirty="0">
                <a:latin typeface="Arial"/>
                <a:cs typeface="Arial"/>
              </a:rPr>
              <a:t>cost</a:t>
            </a:r>
            <a:r>
              <a:rPr sz="2056" spc="57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function</a:t>
            </a:r>
            <a:endParaRPr sz="205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3413" y="2390321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5419" y="2345695"/>
            <a:ext cx="8119616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Keep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D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up-to-date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with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spc="28" dirty="0">
                <a:latin typeface="Arial"/>
                <a:cs typeface="Arial"/>
              </a:rPr>
              <a:t>respect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to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G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(k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spc="40" dirty="0">
                <a:latin typeface="Arial"/>
                <a:cs typeface="Arial"/>
              </a:rPr>
              <a:t>update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for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D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/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1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spc="40" dirty="0">
                <a:latin typeface="Arial"/>
                <a:cs typeface="Arial"/>
              </a:rPr>
              <a:t>update</a:t>
            </a:r>
            <a:r>
              <a:rPr sz="2056" spc="2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for</a:t>
            </a:r>
            <a:r>
              <a:rPr sz="2056" spc="25" dirty="0">
                <a:latin typeface="Arial"/>
                <a:cs typeface="Arial"/>
              </a:rPr>
              <a:t> </a:t>
            </a:r>
            <a:r>
              <a:rPr sz="2056" spc="-13" dirty="0">
                <a:latin typeface="Arial"/>
                <a:cs typeface="Arial"/>
              </a:rPr>
              <a:t>G)</a:t>
            </a:r>
            <a:endParaRPr sz="205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413" y="3020338"/>
            <a:ext cx="111437" cy="244955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554" spc="230" dirty="0">
                <a:latin typeface="Arial"/>
                <a:cs typeface="Arial"/>
              </a:rPr>
              <a:t>•</a:t>
            </a:r>
            <a:endParaRPr sz="155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419" y="2975712"/>
            <a:ext cx="6159281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(not</a:t>
            </a:r>
            <a:r>
              <a:rPr sz="2056" spc="4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presented</a:t>
            </a:r>
            <a:r>
              <a:rPr sz="2056" spc="43" dirty="0">
                <a:latin typeface="Arial"/>
                <a:cs typeface="Arial"/>
              </a:rPr>
              <a:t> </a:t>
            </a:r>
            <a:r>
              <a:rPr sz="2056" spc="38" dirty="0">
                <a:latin typeface="Arial"/>
                <a:cs typeface="Arial"/>
              </a:rPr>
              <a:t>but</a:t>
            </a:r>
            <a:r>
              <a:rPr sz="2056" spc="4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important)</a:t>
            </a:r>
            <a:r>
              <a:rPr sz="2056" spc="45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Use</a:t>
            </a:r>
            <a:r>
              <a:rPr sz="2056" spc="4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Virtual</a:t>
            </a:r>
            <a:r>
              <a:rPr sz="2056" spc="43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Batchnorm</a:t>
            </a:r>
            <a:endParaRPr sz="205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0857" y="5003671"/>
            <a:ext cx="4127307" cy="236982"/>
          </a:xfrm>
          <a:prstGeom prst="rect">
            <a:avLst/>
          </a:prstGeom>
          <a:solidFill>
            <a:srgbClr val="F5D328"/>
          </a:solidFill>
          <a:ln w="10470">
            <a:solidFill>
              <a:srgbClr val="000000"/>
            </a:solidFill>
          </a:ln>
        </p:spPr>
        <p:txBody>
          <a:bodyPr vert="horz" wrap="square" lIns="0" tIns="20695" rIns="0" bIns="0" rtlCol="0">
            <a:spAutoFit/>
          </a:bodyPr>
          <a:lstStyle/>
          <a:p>
            <a:pPr marL="408811">
              <a:spcBef>
                <a:spcPts val="163"/>
              </a:spcBef>
            </a:pPr>
            <a:r>
              <a:rPr sz="1404" b="1" dirty="0">
                <a:latin typeface="Arial"/>
                <a:cs typeface="Arial"/>
              </a:rPr>
              <a:t>And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a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lot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more, GANs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are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hard</a:t>
            </a:r>
            <a:r>
              <a:rPr sz="1404" b="1" spc="-3" dirty="0">
                <a:latin typeface="Arial"/>
                <a:cs typeface="Arial"/>
              </a:rPr>
              <a:t> </a:t>
            </a:r>
            <a:r>
              <a:rPr sz="1404" b="1" dirty="0">
                <a:latin typeface="Arial"/>
                <a:cs typeface="Arial"/>
              </a:rPr>
              <a:t>to </a:t>
            </a:r>
            <a:r>
              <a:rPr sz="1404" b="1" spc="-5" dirty="0">
                <a:latin typeface="Arial"/>
                <a:cs typeface="Arial"/>
              </a:rPr>
              <a:t>train!</a:t>
            </a:r>
            <a:endParaRPr sz="1404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-739794" y="219051"/>
            <a:ext cx="9264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725728">
              <a:lnSpc>
                <a:spcPct val="100000"/>
              </a:lnSpc>
              <a:spcBef>
                <a:spcPts val="57"/>
              </a:spcBef>
            </a:pPr>
            <a:r>
              <a:rPr dirty="0"/>
              <a:t>II.C</a:t>
            </a:r>
            <a:r>
              <a:rPr spc="-40" dirty="0"/>
              <a:t> </a:t>
            </a:r>
            <a:r>
              <a:rPr dirty="0"/>
              <a:t>-</a:t>
            </a:r>
            <a:r>
              <a:rPr spc="-43" dirty="0"/>
              <a:t> </a:t>
            </a:r>
            <a:r>
              <a:rPr dirty="0"/>
              <a:t>Training</a:t>
            </a:r>
            <a:r>
              <a:rPr spc="-40" dirty="0"/>
              <a:t> </a:t>
            </a:r>
            <a:r>
              <a:rPr spc="-10" dirty="0"/>
              <a:t>GANs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6611361" y="555779"/>
            <a:ext cx="1835526" cy="1399648"/>
            <a:chOff x="13182184" y="1108446"/>
            <a:chExt cx="3660775" cy="2791460"/>
          </a:xfrm>
        </p:grpSpPr>
        <p:sp>
          <p:nvSpPr>
            <p:cNvPr id="14" name="object 14"/>
            <p:cNvSpPr/>
            <p:nvPr/>
          </p:nvSpPr>
          <p:spPr>
            <a:xfrm>
              <a:off x="13270140" y="1263416"/>
              <a:ext cx="0" cy="2555240"/>
            </a:xfrm>
            <a:custGeom>
              <a:avLst/>
              <a:gdLst/>
              <a:ahLst/>
              <a:cxnLst/>
              <a:rect l="l" t="t" r="r" b="b"/>
              <a:pathLst>
                <a:path h="2555240">
                  <a:moveTo>
                    <a:pt x="0" y="2555067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182184" y="110844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87955" y="0"/>
                  </a:moveTo>
                  <a:lnTo>
                    <a:pt x="0" y="175910"/>
                  </a:lnTo>
                  <a:lnTo>
                    <a:pt x="175910" y="175910"/>
                  </a:lnTo>
                  <a:lnTo>
                    <a:pt x="879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69972" y="3811645"/>
              <a:ext cx="3418204" cy="0"/>
            </a:xfrm>
            <a:custGeom>
              <a:avLst/>
              <a:gdLst/>
              <a:ahLst/>
              <a:cxnLst/>
              <a:rect l="l" t="t" r="r" b="b"/>
              <a:pathLst>
                <a:path w="3418205">
                  <a:moveTo>
                    <a:pt x="0" y="0"/>
                  </a:moveTo>
                  <a:lnTo>
                    <a:pt x="3396635" y="0"/>
                  </a:lnTo>
                  <a:lnTo>
                    <a:pt x="3417577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7" name="object 17"/>
            <p:cNvSpPr/>
            <p:nvPr/>
          </p:nvSpPr>
          <p:spPr>
            <a:xfrm>
              <a:off x="16666612" y="372368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8" name="object 18"/>
            <p:cNvSpPr/>
            <p:nvPr/>
          </p:nvSpPr>
          <p:spPr>
            <a:xfrm>
              <a:off x="13269815" y="1413018"/>
              <a:ext cx="3160395" cy="556260"/>
            </a:xfrm>
            <a:custGeom>
              <a:avLst/>
              <a:gdLst/>
              <a:ahLst/>
              <a:cxnLst/>
              <a:rect l="l" t="t" r="r" b="b"/>
              <a:pathLst>
                <a:path w="3160394" h="556260">
                  <a:moveTo>
                    <a:pt x="0" y="0"/>
                  </a:moveTo>
                  <a:lnTo>
                    <a:pt x="21543" y="37635"/>
                  </a:lnTo>
                  <a:lnTo>
                    <a:pt x="54714" y="74091"/>
                  </a:lnTo>
                  <a:lnTo>
                    <a:pt x="99514" y="109368"/>
                  </a:lnTo>
                  <a:lnTo>
                    <a:pt x="135841" y="132232"/>
                  </a:lnTo>
                  <a:lnTo>
                    <a:pt x="177336" y="154571"/>
                  </a:lnTo>
                  <a:lnTo>
                    <a:pt x="223999" y="176387"/>
                  </a:lnTo>
                  <a:lnTo>
                    <a:pt x="275830" y="197679"/>
                  </a:lnTo>
                  <a:lnTo>
                    <a:pt x="332830" y="218447"/>
                  </a:lnTo>
                  <a:lnTo>
                    <a:pt x="394997" y="238691"/>
                  </a:lnTo>
                  <a:lnTo>
                    <a:pt x="462333" y="258411"/>
                  </a:lnTo>
                  <a:lnTo>
                    <a:pt x="534837" y="277607"/>
                  </a:lnTo>
                  <a:lnTo>
                    <a:pt x="573027" y="287009"/>
                  </a:lnTo>
                  <a:lnTo>
                    <a:pt x="612510" y="296279"/>
                  </a:lnTo>
                  <a:lnTo>
                    <a:pt x="653284" y="305419"/>
                  </a:lnTo>
                  <a:lnTo>
                    <a:pt x="695350" y="314428"/>
                  </a:lnTo>
                  <a:lnTo>
                    <a:pt x="738708" y="323305"/>
                  </a:lnTo>
                  <a:lnTo>
                    <a:pt x="783358" y="332052"/>
                  </a:lnTo>
                  <a:lnTo>
                    <a:pt x="829301" y="340668"/>
                  </a:lnTo>
                  <a:lnTo>
                    <a:pt x="876535" y="349153"/>
                  </a:lnTo>
                  <a:lnTo>
                    <a:pt x="925062" y="357506"/>
                  </a:lnTo>
                  <a:lnTo>
                    <a:pt x="974880" y="365729"/>
                  </a:lnTo>
                  <a:lnTo>
                    <a:pt x="1025991" y="373821"/>
                  </a:lnTo>
                  <a:lnTo>
                    <a:pt x="1078393" y="381782"/>
                  </a:lnTo>
                  <a:lnTo>
                    <a:pt x="1132088" y="389612"/>
                  </a:lnTo>
                  <a:lnTo>
                    <a:pt x="1187074" y="397311"/>
                  </a:lnTo>
                  <a:lnTo>
                    <a:pt x="1243353" y="404879"/>
                  </a:lnTo>
                  <a:lnTo>
                    <a:pt x="1300924" y="412316"/>
                  </a:lnTo>
                  <a:lnTo>
                    <a:pt x="1359787" y="419622"/>
                  </a:lnTo>
                  <a:lnTo>
                    <a:pt x="1419941" y="426797"/>
                  </a:lnTo>
                  <a:lnTo>
                    <a:pt x="1481388" y="433841"/>
                  </a:lnTo>
                  <a:lnTo>
                    <a:pt x="1544127" y="440754"/>
                  </a:lnTo>
                  <a:lnTo>
                    <a:pt x="1608158" y="447536"/>
                  </a:lnTo>
                  <a:lnTo>
                    <a:pt x="1673481" y="454187"/>
                  </a:lnTo>
                  <a:lnTo>
                    <a:pt x="1740096" y="460708"/>
                  </a:lnTo>
                  <a:lnTo>
                    <a:pt x="1808003" y="467097"/>
                  </a:lnTo>
                  <a:lnTo>
                    <a:pt x="1877202" y="473355"/>
                  </a:lnTo>
                  <a:lnTo>
                    <a:pt x="1947694" y="479482"/>
                  </a:lnTo>
                  <a:lnTo>
                    <a:pt x="2019477" y="485479"/>
                  </a:lnTo>
                  <a:lnTo>
                    <a:pt x="2092552" y="491344"/>
                  </a:lnTo>
                  <a:lnTo>
                    <a:pt x="2166919" y="497078"/>
                  </a:lnTo>
                  <a:lnTo>
                    <a:pt x="2242579" y="502682"/>
                  </a:lnTo>
                  <a:lnTo>
                    <a:pt x="2319530" y="508154"/>
                  </a:lnTo>
                  <a:lnTo>
                    <a:pt x="2397774" y="513495"/>
                  </a:lnTo>
                  <a:lnTo>
                    <a:pt x="2477309" y="518706"/>
                  </a:lnTo>
                  <a:lnTo>
                    <a:pt x="2558137" y="523785"/>
                  </a:lnTo>
                  <a:lnTo>
                    <a:pt x="2640256" y="528734"/>
                  </a:lnTo>
                  <a:lnTo>
                    <a:pt x="2723668" y="533551"/>
                  </a:lnTo>
                  <a:lnTo>
                    <a:pt x="2808371" y="538238"/>
                  </a:lnTo>
                  <a:lnTo>
                    <a:pt x="2894367" y="542793"/>
                  </a:lnTo>
                  <a:lnTo>
                    <a:pt x="2981655" y="547218"/>
                  </a:lnTo>
                  <a:lnTo>
                    <a:pt x="3070235" y="551511"/>
                  </a:lnTo>
                  <a:lnTo>
                    <a:pt x="3160106" y="555674"/>
                  </a:lnTo>
                </a:path>
              </a:pathLst>
            </a:custGeom>
            <a:ln w="41883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3271270" y="2041543"/>
              <a:ext cx="3152140" cy="545465"/>
            </a:xfrm>
            <a:custGeom>
              <a:avLst/>
              <a:gdLst/>
              <a:ahLst/>
              <a:cxnLst/>
              <a:rect l="l" t="t" r="r" b="b"/>
              <a:pathLst>
                <a:path w="3152140" h="545464">
                  <a:moveTo>
                    <a:pt x="0" y="0"/>
                  </a:moveTo>
                  <a:lnTo>
                    <a:pt x="92583" y="3859"/>
                  </a:lnTo>
                  <a:lnTo>
                    <a:pt x="183785" y="7843"/>
                  </a:lnTo>
                  <a:lnTo>
                    <a:pt x="273608" y="11951"/>
                  </a:lnTo>
                  <a:lnTo>
                    <a:pt x="362051" y="16183"/>
                  </a:lnTo>
                  <a:lnTo>
                    <a:pt x="449113" y="20540"/>
                  </a:lnTo>
                  <a:lnTo>
                    <a:pt x="534796" y="25020"/>
                  </a:lnTo>
                  <a:lnTo>
                    <a:pt x="619098" y="29625"/>
                  </a:lnTo>
                  <a:lnTo>
                    <a:pt x="702020" y="34354"/>
                  </a:lnTo>
                  <a:lnTo>
                    <a:pt x="783561" y="39207"/>
                  </a:lnTo>
                  <a:lnTo>
                    <a:pt x="863723" y="44184"/>
                  </a:lnTo>
                  <a:lnTo>
                    <a:pt x="942505" y="49286"/>
                  </a:lnTo>
                  <a:lnTo>
                    <a:pt x="1019906" y="54511"/>
                  </a:lnTo>
                  <a:lnTo>
                    <a:pt x="1095927" y="59861"/>
                  </a:lnTo>
                  <a:lnTo>
                    <a:pt x="1170568" y="65335"/>
                  </a:lnTo>
                  <a:lnTo>
                    <a:pt x="1243829" y="70933"/>
                  </a:lnTo>
                  <a:lnTo>
                    <a:pt x="1315710" y="76655"/>
                  </a:lnTo>
                  <a:lnTo>
                    <a:pt x="1386211" y="82501"/>
                  </a:lnTo>
                  <a:lnTo>
                    <a:pt x="1455331" y="88471"/>
                  </a:lnTo>
                  <a:lnTo>
                    <a:pt x="1523071" y="94566"/>
                  </a:lnTo>
                  <a:lnTo>
                    <a:pt x="1589431" y="100785"/>
                  </a:lnTo>
                  <a:lnTo>
                    <a:pt x="1654411" y="107128"/>
                  </a:lnTo>
                  <a:lnTo>
                    <a:pt x="1718011" y="113595"/>
                  </a:lnTo>
                  <a:lnTo>
                    <a:pt x="1780231" y="120186"/>
                  </a:lnTo>
                  <a:lnTo>
                    <a:pt x="1841070" y="126902"/>
                  </a:lnTo>
                  <a:lnTo>
                    <a:pt x="1900530" y="133741"/>
                  </a:lnTo>
                  <a:lnTo>
                    <a:pt x="1958609" y="140705"/>
                  </a:lnTo>
                  <a:lnTo>
                    <a:pt x="2015308" y="147793"/>
                  </a:lnTo>
                  <a:lnTo>
                    <a:pt x="2070627" y="155005"/>
                  </a:lnTo>
                  <a:lnTo>
                    <a:pt x="2124566" y="162341"/>
                  </a:lnTo>
                  <a:lnTo>
                    <a:pt x="2177124" y="169801"/>
                  </a:lnTo>
                  <a:lnTo>
                    <a:pt x="2228303" y="177386"/>
                  </a:lnTo>
                  <a:lnTo>
                    <a:pt x="2278101" y="185095"/>
                  </a:lnTo>
                  <a:lnTo>
                    <a:pt x="2326519" y="192928"/>
                  </a:lnTo>
                  <a:lnTo>
                    <a:pt x="2373557" y="200885"/>
                  </a:lnTo>
                  <a:lnTo>
                    <a:pt x="2419215" y="208966"/>
                  </a:lnTo>
                  <a:lnTo>
                    <a:pt x="2463492" y="217171"/>
                  </a:lnTo>
                  <a:lnTo>
                    <a:pt x="2506390" y="225501"/>
                  </a:lnTo>
                  <a:lnTo>
                    <a:pt x="2547907" y="233954"/>
                  </a:lnTo>
                  <a:lnTo>
                    <a:pt x="2588044" y="242532"/>
                  </a:lnTo>
                  <a:lnTo>
                    <a:pt x="2626801" y="251234"/>
                  </a:lnTo>
                  <a:lnTo>
                    <a:pt x="2664178" y="260060"/>
                  </a:lnTo>
                  <a:lnTo>
                    <a:pt x="2734792" y="278085"/>
                  </a:lnTo>
                  <a:lnTo>
                    <a:pt x="2799884" y="296606"/>
                  </a:lnTo>
                  <a:lnTo>
                    <a:pt x="2859456" y="315624"/>
                  </a:lnTo>
                  <a:lnTo>
                    <a:pt x="2913508" y="335139"/>
                  </a:lnTo>
                  <a:lnTo>
                    <a:pt x="2962039" y="355150"/>
                  </a:lnTo>
                  <a:lnTo>
                    <a:pt x="3005049" y="375658"/>
                  </a:lnTo>
                  <a:lnTo>
                    <a:pt x="3042538" y="396663"/>
                  </a:lnTo>
                  <a:lnTo>
                    <a:pt x="3074507" y="418164"/>
                  </a:lnTo>
                  <a:lnTo>
                    <a:pt x="3112110" y="451347"/>
                  </a:lnTo>
                  <a:lnTo>
                    <a:pt x="3137290" y="485648"/>
                  </a:lnTo>
                  <a:lnTo>
                    <a:pt x="3151543" y="533120"/>
                  </a:lnTo>
                  <a:lnTo>
                    <a:pt x="3151655" y="545298"/>
                  </a:lnTo>
                </a:path>
              </a:pathLst>
            </a:custGeom>
            <a:ln w="41883">
              <a:solidFill>
                <a:srgbClr val="DE6A1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0" name="object 20"/>
            <p:cNvSpPr/>
            <p:nvPr/>
          </p:nvSpPr>
          <p:spPr>
            <a:xfrm>
              <a:off x="16427970" y="1984248"/>
              <a:ext cx="0" cy="1833880"/>
            </a:xfrm>
            <a:custGeom>
              <a:avLst/>
              <a:gdLst/>
              <a:ahLst/>
              <a:cxnLst/>
              <a:rect l="l" t="t" r="r" b="b"/>
              <a:pathLst>
                <a:path h="1833879">
                  <a:moveTo>
                    <a:pt x="0" y="1833855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48046" y="2014182"/>
              <a:ext cx="3204210" cy="0"/>
            </a:xfrm>
            <a:custGeom>
              <a:avLst/>
              <a:gdLst/>
              <a:ahLst/>
              <a:cxnLst/>
              <a:rect l="l" t="t" r="r" b="b"/>
              <a:pathLst>
                <a:path w="3204209">
                  <a:moveTo>
                    <a:pt x="0" y="0"/>
                  </a:moveTo>
                  <a:lnTo>
                    <a:pt x="3203614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337871" y="896656"/>
            <a:ext cx="558458" cy="7612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451" b="1" dirty="0">
                <a:solidFill>
                  <a:srgbClr val="0365C0"/>
                </a:solidFill>
                <a:latin typeface="Arial"/>
                <a:cs typeface="Arial"/>
              </a:rPr>
              <a:t>Non-saturating</a:t>
            </a:r>
            <a:r>
              <a:rPr sz="451" b="1" spc="-5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451" b="1" spc="-10" dirty="0">
                <a:solidFill>
                  <a:srgbClr val="0365C0"/>
                </a:solidFill>
                <a:latin typeface="Arial"/>
                <a:cs typeface="Arial"/>
              </a:rPr>
              <a:t>cost</a:t>
            </a:r>
            <a:endParaRPr sz="451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30822" y="1095306"/>
            <a:ext cx="262673" cy="188662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767" i="1" baseline="-24822" dirty="0">
                <a:latin typeface="Times New Roman"/>
                <a:cs typeface="Times New Roman"/>
              </a:rPr>
              <a:t>J</a:t>
            </a:r>
            <a:r>
              <a:rPr sz="1767" i="1" spc="-207" baseline="-24822" dirty="0">
                <a:latin typeface="Times New Roman"/>
                <a:cs typeface="Times New Roman"/>
              </a:rPr>
              <a:t> </a:t>
            </a:r>
            <a:r>
              <a:rPr sz="677" spc="25" dirty="0">
                <a:latin typeface="Times New Roman"/>
                <a:cs typeface="Times New Roman"/>
              </a:rPr>
              <a:t>(</a:t>
            </a:r>
            <a:r>
              <a:rPr sz="677" i="1" spc="25" dirty="0">
                <a:latin typeface="Times New Roman"/>
                <a:cs typeface="Times New Roman"/>
              </a:rPr>
              <a:t>G</a:t>
            </a:r>
            <a:r>
              <a:rPr sz="677" i="1" spc="-88" dirty="0">
                <a:latin typeface="Times New Roman"/>
                <a:cs typeface="Times New Roman"/>
              </a:rPr>
              <a:t> </a:t>
            </a:r>
            <a:r>
              <a:rPr sz="677" spc="-25" dirty="0">
                <a:latin typeface="Times New Roman"/>
                <a:cs typeface="Times New Roman"/>
              </a:rPr>
              <a:t>)</a:t>
            </a:r>
            <a:endParaRPr sz="677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21322" y="697151"/>
            <a:ext cx="68454" cy="12697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777" b="1" spc="3" dirty="0">
                <a:latin typeface="Arial"/>
                <a:cs typeface="Arial"/>
              </a:rPr>
              <a:t>5</a:t>
            </a:r>
            <a:endParaRPr sz="77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21322" y="933407"/>
            <a:ext cx="71320" cy="133387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>
              <a:spcBef>
                <a:spcPts val="48"/>
              </a:spcBef>
            </a:pPr>
            <a:r>
              <a:rPr sz="827" b="1" spc="-3" dirty="0">
                <a:latin typeface="Arial"/>
                <a:cs typeface="Arial"/>
              </a:rPr>
              <a:t>0</a:t>
            </a:r>
            <a:endParaRPr sz="82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80367" y="1978185"/>
            <a:ext cx="59539" cy="1080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652" b="1" spc="5" dirty="0">
                <a:latin typeface="Arial"/>
                <a:cs typeface="Arial"/>
              </a:rPr>
              <a:t>1</a:t>
            </a:r>
            <a:endParaRPr sz="652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46208" y="1981608"/>
            <a:ext cx="520570" cy="188662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178" i="1" spc="28" dirty="0">
                <a:latin typeface="Times New Roman"/>
                <a:cs typeface="Times New Roman"/>
              </a:rPr>
              <a:t>D</a:t>
            </a:r>
            <a:r>
              <a:rPr sz="1178" spc="28" dirty="0">
                <a:latin typeface="Times New Roman"/>
                <a:cs typeface="Times New Roman"/>
              </a:rPr>
              <a:t>(</a:t>
            </a:r>
            <a:r>
              <a:rPr sz="1178" i="1" spc="28" dirty="0">
                <a:latin typeface="Times New Roman"/>
                <a:cs typeface="Times New Roman"/>
              </a:rPr>
              <a:t>G</a:t>
            </a:r>
            <a:r>
              <a:rPr sz="1178" spc="28" dirty="0">
                <a:latin typeface="Times New Roman"/>
                <a:cs typeface="Times New Roman"/>
              </a:rPr>
              <a:t>(</a:t>
            </a:r>
            <a:r>
              <a:rPr sz="1178" i="1" spc="28" dirty="0">
                <a:latin typeface="Times New Roman"/>
                <a:cs typeface="Times New Roman"/>
              </a:rPr>
              <a:t>z</a:t>
            </a:r>
            <a:r>
              <a:rPr sz="1178" spc="28" dirty="0">
                <a:latin typeface="Times New Roman"/>
                <a:cs typeface="Times New Roman"/>
              </a:rPr>
              <a:t>))</a:t>
            </a:r>
            <a:endParaRPr sz="117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31575" y="1972935"/>
            <a:ext cx="62405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b="1" dirty="0">
                <a:latin typeface="Arial"/>
                <a:cs typeface="Arial"/>
              </a:rPr>
              <a:t>0</a:t>
            </a:r>
            <a:endParaRPr sz="702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9737" y="1464309"/>
            <a:ext cx="304064" cy="143718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316" i="1" baseline="-25396" dirty="0">
                <a:latin typeface="Times New Roman"/>
                <a:cs typeface="Times New Roman"/>
              </a:rPr>
              <a:t>J</a:t>
            </a:r>
            <a:r>
              <a:rPr sz="1316" i="1" spc="-150" baseline="-25396" dirty="0">
                <a:latin typeface="Times New Roman"/>
                <a:cs typeface="Times New Roman"/>
              </a:rPr>
              <a:t> </a:t>
            </a:r>
            <a:r>
              <a:rPr sz="501" spc="25" dirty="0">
                <a:latin typeface="Times New Roman"/>
                <a:cs typeface="Times New Roman"/>
              </a:rPr>
              <a:t>(</a:t>
            </a:r>
            <a:r>
              <a:rPr sz="501" i="1" spc="25" dirty="0">
                <a:latin typeface="Times New Roman"/>
                <a:cs typeface="Times New Roman"/>
              </a:rPr>
              <a:t>G</a:t>
            </a:r>
            <a:r>
              <a:rPr sz="501" i="1" spc="-63" dirty="0">
                <a:latin typeface="Times New Roman"/>
                <a:cs typeface="Times New Roman"/>
              </a:rPr>
              <a:t> </a:t>
            </a:r>
            <a:r>
              <a:rPr sz="501" dirty="0">
                <a:latin typeface="Times New Roman"/>
                <a:cs typeface="Times New Roman"/>
              </a:rPr>
              <a:t>)</a:t>
            </a:r>
            <a:r>
              <a:rPr sz="501" spc="148" dirty="0">
                <a:latin typeface="Times New Roman"/>
                <a:cs typeface="Times New Roman"/>
              </a:rPr>
              <a:t> </a:t>
            </a:r>
            <a:r>
              <a:rPr sz="1316" spc="-38" baseline="-25396" dirty="0">
                <a:latin typeface="Symbol"/>
                <a:cs typeface="Symbol"/>
              </a:rPr>
              <a:t></a:t>
            </a:r>
            <a:endParaRPr sz="1316" baseline="-25396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00513" y="1442108"/>
            <a:ext cx="69728" cy="143654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877" spc="8" dirty="0">
                <a:latin typeface="Times New Roman"/>
                <a:cs typeface="Times New Roman"/>
              </a:rPr>
              <a:t>1</a:t>
            </a:r>
            <a:endParaRPr sz="877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54033" y="1601063"/>
            <a:ext cx="150599" cy="143654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877" i="1" spc="-13" dirty="0">
                <a:latin typeface="Times New Roman"/>
                <a:cs typeface="Times New Roman"/>
              </a:rPr>
              <a:t>m</a:t>
            </a:r>
            <a:r>
              <a:rPr sz="752" i="1" spc="-19" baseline="-33333" dirty="0">
                <a:latin typeface="Times New Roman"/>
                <a:cs typeface="Times New Roman"/>
              </a:rPr>
              <a:t>g</a:t>
            </a:r>
            <a:endParaRPr sz="752" baseline="-3333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664255" y="1601807"/>
            <a:ext cx="140092" cy="5731"/>
          </a:xfrm>
          <a:custGeom>
            <a:avLst/>
            <a:gdLst/>
            <a:ahLst/>
            <a:cxnLst/>
            <a:rect l="l" t="t" r="r" b="b"/>
            <a:pathLst>
              <a:path w="279400" h="11430">
                <a:moveTo>
                  <a:pt x="279238" y="0"/>
                </a:moveTo>
                <a:lnTo>
                  <a:pt x="0" y="0"/>
                </a:lnTo>
                <a:lnTo>
                  <a:pt x="0" y="11216"/>
                </a:lnTo>
                <a:lnTo>
                  <a:pt x="279238" y="11216"/>
                </a:lnTo>
                <a:lnTo>
                  <a:pt x="2792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3" name="object 33"/>
          <p:cNvSpPr txBox="1"/>
          <p:nvPr/>
        </p:nvSpPr>
        <p:spPr>
          <a:xfrm>
            <a:off x="8833124" y="1672697"/>
            <a:ext cx="99656" cy="85431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501" i="1" spc="-13" dirty="0">
                <a:latin typeface="Times New Roman"/>
                <a:cs typeface="Times New Roman"/>
              </a:rPr>
              <a:t>i</a:t>
            </a:r>
            <a:r>
              <a:rPr sz="501" spc="-13" dirty="0">
                <a:latin typeface="Symbol"/>
                <a:cs typeface="Symbol"/>
              </a:rPr>
              <a:t></a:t>
            </a:r>
            <a:r>
              <a:rPr sz="501" spc="-13" dirty="0">
                <a:latin typeface="Times New Roman"/>
                <a:cs typeface="Times New Roman"/>
              </a:rPr>
              <a:t>1</a:t>
            </a:r>
            <a:endParaRPr sz="501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22165" y="1420795"/>
            <a:ext cx="108253" cy="85431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501" i="1" spc="-13" dirty="0">
                <a:latin typeface="Times New Roman"/>
                <a:cs typeface="Times New Roman"/>
              </a:rPr>
              <a:t>m</a:t>
            </a:r>
            <a:r>
              <a:rPr sz="564" i="1" spc="-19" baseline="-25925" dirty="0">
                <a:latin typeface="Times New Roman"/>
                <a:cs typeface="Times New Roman"/>
              </a:rPr>
              <a:t>g</a:t>
            </a:r>
            <a:endParaRPr sz="564" baseline="-2592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99668" y="1458389"/>
            <a:ext cx="1009301" cy="21245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993" spc="34" baseline="-7337" dirty="0">
                <a:latin typeface="Symbol"/>
                <a:cs typeface="Symbol"/>
              </a:rPr>
              <a:t></a:t>
            </a:r>
            <a:r>
              <a:rPr sz="877" spc="23" dirty="0">
                <a:latin typeface="Times New Roman"/>
                <a:cs typeface="Times New Roman"/>
              </a:rPr>
              <a:t>log(1</a:t>
            </a:r>
            <a:r>
              <a:rPr sz="877" spc="23" dirty="0">
                <a:latin typeface="Symbol"/>
                <a:cs typeface="Symbol"/>
              </a:rPr>
              <a:t></a:t>
            </a:r>
            <a:r>
              <a:rPr sz="877" spc="10" dirty="0">
                <a:latin typeface="Times New Roman"/>
                <a:cs typeface="Times New Roman"/>
              </a:rPr>
              <a:t> </a:t>
            </a:r>
            <a:r>
              <a:rPr sz="877" i="1" spc="40" dirty="0">
                <a:latin typeface="Times New Roman"/>
                <a:cs typeface="Times New Roman"/>
              </a:rPr>
              <a:t>D</a:t>
            </a:r>
            <a:r>
              <a:rPr sz="877" spc="40" dirty="0">
                <a:latin typeface="Times New Roman"/>
                <a:cs typeface="Times New Roman"/>
              </a:rPr>
              <a:t>(</a:t>
            </a:r>
            <a:r>
              <a:rPr sz="877" i="1" spc="40" dirty="0">
                <a:latin typeface="Times New Roman"/>
                <a:cs typeface="Times New Roman"/>
              </a:rPr>
              <a:t>G</a:t>
            </a:r>
            <a:r>
              <a:rPr sz="877" spc="40" dirty="0">
                <a:latin typeface="Times New Roman"/>
                <a:cs typeface="Times New Roman"/>
              </a:rPr>
              <a:t>(</a:t>
            </a:r>
            <a:r>
              <a:rPr sz="877" i="1" spc="40" dirty="0">
                <a:latin typeface="Times New Roman"/>
                <a:cs typeface="Times New Roman"/>
              </a:rPr>
              <a:t>z</a:t>
            </a:r>
            <a:r>
              <a:rPr sz="752" spc="60" baseline="44444" dirty="0">
                <a:latin typeface="Times New Roman"/>
                <a:cs typeface="Times New Roman"/>
              </a:rPr>
              <a:t>(</a:t>
            </a:r>
            <a:r>
              <a:rPr sz="752" spc="-113" baseline="44444" dirty="0">
                <a:latin typeface="Times New Roman"/>
                <a:cs typeface="Times New Roman"/>
              </a:rPr>
              <a:t> </a:t>
            </a:r>
            <a:r>
              <a:rPr sz="752" i="1" baseline="44444" dirty="0">
                <a:latin typeface="Times New Roman"/>
                <a:cs typeface="Times New Roman"/>
              </a:rPr>
              <a:t>i</a:t>
            </a:r>
            <a:r>
              <a:rPr sz="752" i="1" spc="-124" baseline="44444" dirty="0">
                <a:latin typeface="Times New Roman"/>
                <a:cs typeface="Times New Roman"/>
              </a:rPr>
              <a:t> </a:t>
            </a:r>
            <a:r>
              <a:rPr sz="752" baseline="44444" dirty="0">
                <a:latin typeface="Times New Roman"/>
                <a:cs typeface="Times New Roman"/>
              </a:rPr>
              <a:t>)</a:t>
            </a:r>
            <a:r>
              <a:rPr sz="752" spc="-38" baseline="44444" dirty="0">
                <a:latin typeface="Times New Roman"/>
                <a:cs typeface="Times New Roman"/>
              </a:rPr>
              <a:t> </a:t>
            </a:r>
            <a:r>
              <a:rPr sz="877" spc="-13" dirty="0">
                <a:latin typeface="Times New Roman"/>
                <a:cs typeface="Times New Roman"/>
              </a:rPr>
              <a:t>)))</a:t>
            </a:r>
            <a:endParaRPr sz="877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46135" y="1109241"/>
            <a:ext cx="565145" cy="305811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R="15283" algn="r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m</a:t>
            </a:r>
            <a:r>
              <a:rPr sz="790" i="1" spc="-19" baseline="-31746" dirty="0">
                <a:latin typeface="Times New Roman"/>
                <a:cs typeface="Times New Roman"/>
              </a:rPr>
              <a:t>g</a:t>
            </a:r>
            <a:endParaRPr sz="790" baseline="-31746">
              <a:latin typeface="Times New Roman"/>
              <a:cs typeface="Times New Roman"/>
            </a:endParaRPr>
          </a:p>
          <a:p>
            <a:pPr marL="19103">
              <a:spcBef>
                <a:spcPts val="667"/>
              </a:spcBef>
            </a:pPr>
            <a:r>
              <a:rPr sz="451" b="1" dirty="0">
                <a:solidFill>
                  <a:srgbClr val="DE6A10"/>
                </a:solidFill>
                <a:latin typeface="Arial"/>
                <a:cs typeface="Arial"/>
              </a:rPr>
              <a:t>Saturating</a:t>
            </a:r>
            <a:r>
              <a:rPr sz="451" b="1" spc="-5" dirty="0">
                <a:solidFill>
                  <a:srgbClr val="DE6A10"/>
                </a:solidFill>
                <a:latin typeface="Arial"/>
                <a:cs typeface="Arial"/>
              </a:rPr>
              <a:t> </a:t>
            </a:r>
            <a:r>
              <a:rPr sz="451" b="1" spc="-10" dirty="0">
                <a:solidFill>
                  <a:srgbClr val="DE6A10"/>
                </a:solidFill>
                <a:latin typeface="Arial"/>
                <a:cs typeface="Arial"/>
              </a:rPr>
              <a:t>cost</a:t>
            </a:r>
            <a:endParaRPr sz="451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40940" y="1182314"/>
            <a:ext cx="101248" cy="8735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526" i="1" spc="-13" dirty="0">
                <a:latin typeface="Times New Roman"/>
                <a:cs typeface="Times New Roman"/>
              </a:rPr>
              <a:t>i</a:t>
            </a:r>
            <a:r>
              <a:rPr sz="526" spc="-13" dirty="0">
                <a:latin typeface="Symbol"/>
                <a:cs typeface="Symbol"/>
              </a:rPr>
              <a:t></a:t>
            </a:r>
            <a:r>
              <a:rPr sz="526" spc="-13" dirty="0">
                <a:latin typeface="Times New Roman"/>
                <a:cs typeface="Times New Roman"/>
              </a:rPr>
              <a:t>1</a:t>
            </a:r>
            <a:endParaRPr sz="526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42752" y="925349"/>
            <a:ext cx="61450" cy="8735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526" i="1" dirty="0">
                <a:latin typeface="Times New Roman"/>
                <a:cs typeface="Times New Roman"/>
              </a:rPr>
              <a:t>m</a:t>
            </a:r>
            <a:endParaRPr sz="526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69285" y="911761"/>
            <a:ext cx="1423846" cy="256760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lnSpc>
                <a:spcPts val="652"/>
              </a:lnSpc>
              <a:spcBef>
                <a:spcPts val="65"/>
              </a:spcBef>
            </a:pPr>
            <a:r>
              <a:rPr sz="1354" i="1" baseline="-24691" dirty="0">
                <a:latin typeface="Times New Roman"/>
                <a:cs typeface="Times New Roman"/>
              </a:rPr>
              <a:t>J</a:t>
            </a:r>
            <a:r>
              <a:rPr sz="1354" i="1" spc="-158" baseline="-24691" dirty="0">
                <a:latin typeface="Times New Roman"/>
                <a:cs typeface="Times New Roman"/>
              </a:rPr>
              <a:t> </a:t>
            </a:r>
            <a:r>
              <a:rPr sz="526" dirty="0">
                <a:latin typeface="Times New Roman"/>
                <a:cs typeface="Times New Roman"/>
              </a:rPr>
              <a:t>(</a:t>
            </a:r>
            <a:r>
              <a:rPr sz="526" i="1" dirty="0">
                <a:latin typeface="Times New Roman"/>
                <a:cs typeface="Times New Roman"/>
              </a:rPr>
              <a:t>G</a:t>
            </a:r>
            <a:r>
              <a:rPr sz="526" i="1" spc="-68" dirty="0">
                <a:latin typeface="Times New Roman"/>
                <a:cs typeface="Times New Roman"/>
              </a:rPr>
              <a:t> </a:t>
            </a:r>
            <a:r>
              <a:rPr sz="526" dirty="0">
                <a:latin typeface="Times New Roman"/>
                <a:cs typeface="Times New Roman"/>
              </a:rPr>
              <a:t>)</a:t>
            </a:r>
            <a:r>
              <a:rPr sz="526" spc="150" dirty="0">
                <a:latin typeface="Times New Roman"/>
                <a:cs typeface="Times New Roman"/>
              </a:rPr>
              <a:t> </a:t>
            </a:r>
            <a:r>
              <a:rPr sz="1354" baseline="-24691" dirty="0">
                <a:latin typeface="Symbol"/>
                <a:cs typeface="Symbol"/>
              </a:rPr>
              <a:t></a:t>
            </a:r>
            <a:r>
              <a:rPr sz="1354" baseline="-24691" dirty="0">
                <a:latin typeface="Times New Roman"/>
                <a:cs typeface="Times New Roman"/>
              </a:rPr>
              <a:t> </a:t>
            </a:r>
            <a:r>
              <a:rPr sz="1354" baseline="-24691" dirty="0">
                <a:latin typeface="Symbol"/>
                <a:cs typeface="Symbol"/>
              </a:rPr>
              <a:t></a:t>
            </a:r>
            <a:r>
              <a:rPr sz="1354" spc="-124" baseline="-24691" dirty="0">
                <a:latin typeface="Times New Roman"/>
                <a:cs typeface="Times New Roman"/>
              </a:rPr>
              <a:t> </a:t>
            </a:r>
            <a:r>
              <a:rPr sz="1354" u="sng" spc="188" baseline="1080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4" u="sng" baseline="1080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354" u="sng" spc="161" baseline="1080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4" spc="-158" baseline="10802" dirty="0">
                <a:latin typeface="Times New Roman"/>
                <a:cs typeface="Times New Roman"/>
              </a:rPr>
              <a:t> </a:t>
            </a:r>
            <a:r>
              <a:rPr sz="2031" spc="-665" baseline="-24691" dirty="0">
                <a:latin typeface="Symbol"/>
                <a:cs typeface="Symbol"/>
              </a:rPr>
              <a:t></a:t>
            </a:r>
            <a:endParaRPr sz="2031" baseline="-24691">
              <a:latin typeface="Symbol"/>
              <a:cs typeface="Symbol"/>
            </a:endParaRPr>
          </a:p>
          <a:p>
            <a:pPr marR="141683" algn="ctr">
              <a:lnSpc>
                <a:spcPts val="216"/>
              </a:lnSpc>
            </a:pPr>
            <a:r>
              <a:rPr sz="376" i="1" spc="3" dirty="0">
                <a:latin typeface="Times New Roman"/>
                <a:cs typeface="Times New Roman"/>
              </a:rPr>
              <a:t>g</a:t>
            </a:r>
            <a:endParaRPr sz="376">
              <a:latin typeface="Times New Roman"/>
              <a:cs typeface="Times New Roman"/>
            </a:endParaRPr>
          </a:p>
          <a:p>
            <a:pPr marL="692178">
              <a:lnSpc>
                <a:spcPts val="1078"/>
              </a:lnSpc>
            </a:pPr>
            <a:r>
              <a:rPr sz="903" dirty="0">
                <a:latin typeface="Times New Roman"/>
                <a:cs typeface="Times New Roman"/>
              </a:rPr>
              <a:t>log(</a:t>
            </a:r>
            <a:r>
              <a:rPr sz="903" spc="-133" dirty="0">
                <a:latin typeface="Times New Roman"/>
                <a:cs typeface="Times New Roman"/>
              </a:rPr>
              <a:t> </a:t>
            </a:r>
            <a:r>
              <a:rPr sz="903" i="1" spc="35" dirty="0">
                <a:latin typeface="Times New Roman"/>
                <a:cs typeface="Times New Roman"/>
              </a:rPr>
              <a:t>D</a:t>
            </a:r>
            <a:r>
              <a:rPr sz="903" spc="35" dirty="0">
                <a:latin typeface="Times New Roman"/>
                <a:cs typeface="Times New Roman"/>
              </a:rPr>
              <a:t>(</a:t>
            </a:r>
            <a:r>
              <a:rPr sz="903" i="1" spc="35" dirty="0">
                <a:latin typeface="Times New Roman"/>
                <a:cs typeface="Times New Roman"/>
              </a:rPr>
              <a:t>G</a:t>
            </a:r>
            <a:r>
              <a:rPr sz="903" spc="35" dirty="0">
                <a:latin typeface="Times New Roman"/>
                <a:cs typeface="Times New Roman"/>
              </a:rPr>
              <a:t>(</a:t>
            </a:r>
            <a:r>
              <a:rPr sz="903" i="1" spc="35" dirty="0">
                <a:latin typeface="Times New Roman"/>
                <a:cs typeface="Times New Roman"/>
              </a:rPr>
              <a:t>z</a:t>
            </a:r>
            <a:r>
              <a:rPr sz="790" spc="52" baseline="42328" dirty="0">
                <a:latin typeface="Times New Roman"/>
                <a:cs typeface="Times New Roman"/>
              </a:rPr>
              <a:t>(</a:t>
            </a:r>
            <a:r>
              <a:rPr sz="790" spc="-120" baseline="42328" dirty="0">
                <a:latin typeface="Times New Roman"/>
                <a:cs typeface="Times New Roman"/>
              </a:rPr>
              <a:t> </a:t>
            </a:r>
            <a:r>
              <a:rPr sz="790" i="1" baseline="42328" dirty="0">
                <a:latin typeface="Times New Roman"/>
                <a:cs typeface="Times New Roman"/>
              </a:rPr>
              <a:t>i</a:t>
            </a:r>
            <a:r>
              <a:rPr sz="790" i="1" spc="-127" baseline="42328" dirty="0">
                <a:latin typeface="Times New Roman"/>
                <a:cs typeface="Times New Roman"/>
              </a:rPr>
              <a:t> </a:t>
            </a:r>
            <a:r>
              <a:rPr sz="790" baseline="42328" dirty="0">
                <a:latin typeface="Times New Roman"/>
                <a:cs typeface="Times New Roman"/>
              </a:rPr>
              <a:t>)</a:t>
            </a:r>
            <a:r>
              <a:rPr sz="790" spc="-41" baseline="42328" dirty="0">
                <a:latin typeface="Times New Roman"/>
                <a:cs typeface="Times New Roman"/>
              </a:rPr>
              <a:t> </a:t>
            </a:r>
            <a:r>
              <a:rPr sz="903" spc="-13" dirty="0">
                <a:latin typeface="Times New Roman"/>
                <a:cs typeface="Times New Roman"/>
              </a:rPr>
              <a:t>)))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650" y="5390777"/>
            <a:ext cx="2794521" cy="21161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lnSpc>
                <a:spcPts val="772"/>
              </a:lnSpc>
              <a:spcBef>
                <a:spcPts val="50"/>
              </a:spcBef>
            </a:pPr>
            <a:r>
              <a:rPr sz="702" dirty="0">
                <a:latin typeface="Times New Roman"/>
                <a:cs typeface="Times New Roman"/>
              </a:rPr>
              <a:t>[Soumith</a:t>
            </a:r>
            <a:r>
              <a:rPr sz="702" spc="-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et</a:t>
            </a:r>
            <a:r>
              <a:rPr sz="702" spc="-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al.</a:t>
            </a:r>
            <a:r>
              <a:rPr sz="702" spc="-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(2016): </a:t>
            </a:r>
            <a:r>
              <a:rPr sz="702" spc="-5" dirty="0">
                <a:latin typeface="Times New Roman"/>
                <a:cs typeface="Times New Roman"/>
              </a:rPr>
              <a:t>GanHacks]</a:t>
            </a:r>
            <a:endParaRPr sz="702">
              <a:latin typeface="Times New Roman"/>
              <a:cs typeface="Times New Roman"/>
            </a:endParaRPr>
          </a:p>
          <a:p>
            <a:pPr marL="6368">
              <a:lnSpc>
                <a:spcPts val="772"/>
              </a:lnSpc>
            </a:pPr>
            <a:r>
              <a:rPr sz="702" dirty="0">
                <a:latin typeface="Times New Roman"/>
                <a:cs typeface="Times New Roman"/>
              </a:rPr>
              <a:t>[Lucic,</a:t>
            </a:r>
            <a:r>
              <a:rPr sz="702" spc="-5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Kurach et al. (2018):</a:t>
            </a:r>
            <a:r>
              <a:rPr sz="702" spc="-40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Are</a:t>
            </a:r>
            <a:r>
              <a:rPr sz="702" spc="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GANs Created </a:t>
            </a:r>
            <a:r>
              <a:rPr sz="702" spc="-5" dirty="0">
                <a:latin typeface="Times New Roman"/>
                <a:cs typeface="Times New Roman"/>
              </a:rPr>
              <a:t>Equal?</a:t>
            </a:r>
            <a:r>
              <a:rPr sz="702" spc="-40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A</a:t>
            </a:r>
            <a:r>
              <a:rPr sz="702" spc="-40" dirty="0">
                <a:latin typeface="Times New Roman"/>
                <a:cs typeface="Times New Roman"/>
              </a:rPr>
              <a:t> </a:t>
            </a:r>
            <a:r>
              <a:rPr sz="702" spc="-5" dirty="0">
                <a:latin typeface="Times New Roman"/>
                <a:cs typeface="Times New Roman"/>
              </a:rPr>
              <a:t>Large-</a:t>
            </a:r>
            <a:r>
              <a:rPr sz="702" dirty="0">
                <a:latin typeface="Times New Roman"/>
                <a:cs typeface="Times New Roman"/>
              </a:rPr>
              <a:t>Scale</a:t>
            </a:r>
            <a:r>
              <a:rPr sz="702" spc="3" dirty="0">
                <a:latin typeface="Times New Roman"/>
                <a:cs typeface="Times New Roman"/>
              </a:rPr>
              <a:t> </a:t>
            </a:r>
            <a:r>
              <a:rPr sz="702" spc="-5" dirty="0">
                <a:latin typeface="Times New Roman"/>
                <a:cs typeface="Times New Roman"/>
              </a:rPr>
              <a:t>Study]</a:t>
            </a:r>
            <a:endParaRPr sz="702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520700" y="154870"/>
            <a:ext cx="10026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360795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8" dirty="0"/>
              <a:t> </a:t>
            </a:r>
            <a:r>
              <a:rPr dirty="0"/>
              <a:t>Generative</a:t>
            </a:r>
            <a:r>
              <a:rPr spc="-75" dirty="0"/>
              <a:t> </a:t>
            </a:r>
            <a:r>
              <a:rPr dirty="0"/>
              <a:t>Adversarial</a:t>
            </a:r>
            <a:r>
              <a:rPr spc="-5" dirty="0"/>
              <a:t> </a:t>
            </a:r>
            <a:r>
              <a:rPr dirty="0"/>
              <a:t>Networks</a:t>
            </a:r>
            <a:r>
              <a:rPr spc="-3" dirty="0"/>
              <a:t> </a:t>
            </a:r>
            <a:r>
              <a:rPr spc="-5" dirty="0"/>
              <a:t>(GANs)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22446" y="1265216"/>
            <a:ext cx="2241475" cy="329277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336856" indent="-330806">
              <a:spcBef>
                <a:spcPts val="53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Motivation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405309" indent="-399260">
              <a:spcBef>
                <a:spcPts val="1241"/>
              </a:spcBef>
              <a:buAutoNum type="alphaUcPeriod"/>
              <a:tabLst>
                <a:tab pos="405309" algn="l"/>
                <a:tab pos="405628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spc="-1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79"/>
              </a:spcBef>
              <a:buAutoNum type="alphaUcPeriod"/>
              <a:tabLst>
                <a:tab pos="337174" algn="l"/>
              </a:tabLst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In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terms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of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code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6856" algn="l"/>
                <a:tab pos="337174" algn="l"/>
              </a:tabLst>
            </a:pPr>
            <a:r>
              <a:rPr sz="1930" spc="28" dirty="0">
                <a:solidFill>
                  <a:srgbClr val="C82506"/>
                </a:solidFill>
                <a:latin typeface="Arial"/>
                <a:cs typeface="Arial"/>
              </a:rPr>
              <a:t>Nice</a:t>
            </a:r>
            <a:r>
              <a:rPr sz="193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99" y="5464279"/>
            <a:ext cx="5657814" cy="139485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9264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636579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3" dirty="0"/>
              <a:t> </a:t>
            </a:r>
            <a:r>
              <a:rPr dirty="0"/>
              <a:t>D.</a:t>
            </a:r>
            <a:r>
              <a:rPr spc="-3" dirty="0"/>
              <a:t> </a:t>
            </a:r>
            <a:r>
              <a:rPr dirty="0"/>
              <a:t>In</a:t>
            </a:r>
            <a:r>
              <a:rPr spc="-3" dirty="0"/>
              <a:t> </a:t>
            </a:r>
            <a:r>
              <a:rPr dirty="0"/>
              <a:t>terms</a:t>
            </a:r>
            <a:r>
              <a:rPr spc="3" dirty="0"/>
              <a:t> </a:t>
            </a:r>
            <a:r>
              <a:rPr dirty="0"/>
              <a:t>of</a:t>
            </a:r>
            <a:r>
              <a:rPr spc="-3" dirty="0"/>
              <a:t> </a:t>
            </a:r>
            <a:r>
              <a:rPr spc="-10" dirty="0"/>
              <a:t>code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4958" y="649920"/>
            <a:ext cx="9565113" cy="4581333"/>
            <a:chOff x="704408" y="1296201"/>
            <a:chExt cx="19076670" cy="91370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408" y="1643573"/>
              <a:ext cx="10531929" cy="87891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96974" y="1980705"/>
              <a:ext cx="3850640" cy="356235"/>
            </a:xfrm>
            <a:custGeom>
              <a:avLst/>
              <a:gdLst/>
              <a:ahLst/>
              <a:cxnLst/>
              <a:rect l="l" t="t" r="r" b="b"/>
              <a:pathLst>
                <a:path w="3850640" h="356235">
                  <a:moveTo>
                    <a:pt x="0" y="0"/>
                  </a:moveTo>
                  <a:lnTo>
                    <a:pt x="3850204" y="0"/>
                  </a:lnTo>
                  <a:lnTo>
                    <a:pt x="3850204" y="356010"/>
                  </a:lnTo>
                  <a:lnTo>
                    <a:pt x="0" y="356010"/>
                  </a:lnTo>
                  <a:lnTo>
                    <a:pt x="0" y="0"/>
                  </a:lnTo>
                  <a:close/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7" name="object 7"/>
            <p:cNvSpPr/>
            <p:nvPr/>
          </p:nvSpPr>
          <p:spPr>
            <a:xfrm>
              <a:off x="3046358" y="4286633"/>
              <a:ext cx="3265804" cy="356235"/>
            </a:xfrm>
            <a:custGeom>
              <a:avLst/>
              <a:gdLst/>
              <a:ahLst/>
              <a:cxnLst/>
              <a:rect l="l" t="t" r="r" b="b"/>
              <a:pathLst>
                <a:path w="3265804" h="356235">
                  <a:moveTo>
                    <a:pt x="0" y="0"/>
                  </a:moveTo>
                  <a:lnTo>
                    <a:pt x="3265177" y="0"/>
                  </a:lnTo>
                  <a:lnTo>
                    <a:pt x="3265177" y="356010"/>
                  </a:lnTo>
                  <a:lnTo>
                    <a:pt x="0" y="356010"/>
                  </a:lnTo>
                  <a:lnTo>
                    <a:pt x="0" y="0"/>
                  </a:lnTo>
                  <a:close/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8" name="object 8"/>
            <p:cNvSpPr/>
            <p:nvPr/>
          </p:nvSpPr>
          <p:spPr>
            <a:xfrm>
              <a:off x="7487307" y="2043774"/>
              <a:ext cx="4367530" cy="678180"/>
            </a:xfrm>
            <a:custGeom>
              <a:avLst/>
              <a:gdLst/>
              <a:ahLst/>
              <a:cxnLst/>
              <a:rect l="l" t="t" r="r" b="b"/>
              <a:pathLst>
                <a:path w="4367530" h="678180">
                  <a:moveTo>
                    <a:pt x="0" y="0"/>
                  </a:moveTo>
                  <a:lnTo>
                    <a:pt x="4346731" y="674349"/>
                  </a:lnTo>
                  <a:lnTo>
                    <a:pt x="4367425" y="67756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52541" y="1423318"/>
              <a:ext cx="7465387" cy="650529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35895" y="1306672"/>
              <a:ext cx="7734934" cy="6783705"/>
            </a:xfrm>
            <a:custGeom>
              <a:avLst/>
              <a:gdLst/>
              <a:ahLst/>
              <a:cxnLst/>
              <a:rect l="l" t="t" r="r" b="b"/>
              <a:pathLst>
                <a:path w="7734934" h="6783705">
                  <a:moveTo>
                    <a:pt x="0" y="0"/>
                  </a:moveTo>
                  <a:lnTo>
                    <a:pt x="7734571" y="0"/>
                  </a:lnTo>
                  <a:lnTo>
                    <a:pt x="7734571" y="6783453"/>
                  </a:lnTo>
                  <a:lnTo>
                    <a:pt x="0" y="6783453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820551" y="2631208"/>
              <a:ext cx="187325" cy="173990"/>
            </a:xfrm>
            <a:custGeom>
              <a:avLst/>
              <a:gdLst/>
              <a:ahLst/>
              <a:cxnLst/>
              <a:rect l="l" t="t" r="r" b="b"/>
              <a:pathLst>
                <a:path w="187325" h="173989">
                  <a:moveTo>
                    <a:pt x="26973" y="0"/>
                  </a:moveTo>
                  <a:lnTo>
                    <a:pt x="0" y="173831"/>
                  </a:lnTo>
                  <a:lnTo>
                    <a:pt x="187324" y="113884"/>
                  </a:lnTo>
                  <a:lnTo>
                    <a:pt x="26973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899" y="5489635"/>
            <a:ext cx="2978551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[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Erik</a:t>
            </a:r>
            <a:r>
              <a:rPr sz="852" u="sng" spc="50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 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Linder-Norén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(Github):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586069"/>
                </a:solidFill>
                <a:latin typeface="Arial"/>
                <a:cs typeface="Arial"/>
              </a:rPr>
              <a:t>eriklindernoren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/Keras-GAN: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u="sng" spc="-5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link</a:t>
            </a:r>
            <a:r>
              <a:rPr sz="852" spc="-5" dirty="0">
                <a:solidFill>
                  <a:srgbClr val="24292E"/>
                </a:solidFill>
                <a:latin typeface="Arial"/>
                <a:cs typeface="Arial"/>
              </a:rPr>
              <a:t>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4958" y="846954"/>
            <a:ext cx="9534547" cy="4407173"/>
            <a:chOff x="704408" y="1643573"/>
            <a:chExt cx="19015710" cy="87896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408" y="1643573"/>
              <a:ext cx="10531929" cy="87891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96974" y="1980705"/>
              <a:ext cx="3850640" cy="356235"/>
            </a:xfrm>
            <a:custGeom>
              <a:avLst/>
              <a:gdLst/>
              <a:ahLst/>
              <a:cxnLst/>
              <a:rect l="l" t="t" r="r" b="b"/>
              <a:pathLst>
                <a:path w="3850640" h="356235">
                  <a:moveTo>
                    <a:pt x="0" y="0"/>
                  </a:moveTo>
                  <a:lnTo>
                    <a:pt x="3850204" y="0"/>
                  </a:lnTo>
                  <a:lnTo>
                    <a:pt x="3850204" y="356010"/>
                  </a:lnTo>
                  <a:lnTo>
                    <a:pt x="0" y="356010"/>
                  </a:lnTo>
                  <a:lnTo>
                    <a:pt x="0" y="0"/>
                  </a:lnTo>
                  <a:close/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" name="object 5"/>
            <p:cNvSpPr/>
            <p:nvPr/>
          </p:nvSpPr>
          <p:spPr>
            <a:xfrm>
              <a:off x="3046358" y="4286633"/>
              <a:ext cx="3265804" cy="356235"/>
            </a:xfrm>
            <a:custGeom>
              <a:avLst/>
              <a:gdLst/>
              <a:ahLst/>
              <a:cxnLst/>
              <a:rect l="l" t="t" r="r" b="b"/>
              <a:pathLst>
                <a:path w="3265804" h="356235">
                  <a:moveTo>
                    <a:pt x="0" y="0"/>
                  </a:moveTo>
                  <a:lnTo>
                    <a:pt x="3265177" y="0"/>
                  </a:lnTo>
                  <a:lnTo>
                    <a:pt x="3265177" y="356010"/>
                  </a:lnTo>
                  <a:lnTo>
                    <a:pt x="0" y="356010"/>
                  </a:lnTo>
                  <a:lnTo>
                    <a:pt x="0" y="0"/>
                  </a:lnTo>
                  <a:close/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" name="object 6"/>
            <p:cNvSpPr/>
            <p:nvPr/>
          </p:nvSpPr>
          <p:spPr>
            <a:xfrm>
              <a:off x="6318959" y="3970081"/>
              <a:ext cx="5555615" cy="481965"/>
            </a:xfrm>
            <a:custGeom>
              <a:avLst/>
              <a:gdLst/>
              <a:ahLst/>
              <a:cxnLst/>
              <a:rect l="l" t="t" r="r" b="b"/>
              <a:pathLst>
                <a:path w="5555615" h="481964">
                  <a:moveTo>
                    <a:pt x="0" y="481670"/>
                  </a:moveTo>
                  <a:lnTo>
                    <a:pt x="5534539" y="1808"/>
                  </a:lnTo>
                  <a:lnTo>
                    <a:pt x="5555403" y="0"/>
                  </a:lnTo>
                </a:path>
              </a:pathLst>
            </a:custGeom>
            <a:ln w="41883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5003" y="1766856"/>
              <a:ext cx="7475076" cy="70333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023843" y="1689721"/>
              <a:ext cx="7686040" cy="7166609"/>
            </a:xfrm>
            <a:custGeom>
              <a:avLst/>
              <a:gdLst/>
              <a:ahLst/>
              <a:cxnLst/>
              <a:rect l="l" t="t" r="r" b="b"/>
              <a:pathLst>
                <a:path w="7686040" h="7166609">
                  <a:moveTo>
                    <a:pt x="0" y="0"/>
                  </a:moveTo>
                  <a:lnTo>
                    <a:pt x="7685444" y="0"/>
                  </a:lnTo>
                  <a:lnTo>
                    <a:pt x="7685444" y="7166536"/>
                  </a:lnTo>
                  <a:lnTo>
                    <a:pt x="0" y="7166536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" name="object 9"/>
            <p:cNvSpPr/>
            <p:nvPr/>
          </p:nvSpPr>
          <p:spPr>
            <a:xfrm>
              <a:off x="11845900" y="3884263"/>
              <a:ext cx="182880" cy="175260"/>
            </a:xfrm>
            <a:custGeom>
              <a:avLst/>
              <a:gdLst/>
              <a:ahLst/>
              <a:cxnLst/>
              <a:rect l="l" t="t" r="r" b="b"/>
              <a:pathLst>
                <a:path w="182879" h="175260">
                  <a:moveTo>
                    <a:pt x="0" y="0"/>
                  </a:moveTo>
                  <a:lnTo>
                    <a:pt x="15193" y="175253"/>
                  </a:lnTo>
                  <a:lnTo>
                    <a:pt x="182853" y="72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8121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636579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3" dirty="0"/>
              <a:t> </a:t>
            </a:r>
            <a:r>
              <a:rPr dirty="0"/>
              <a:t>D.</a:t>
            </a:r>
            <a:r>
              <a:rPr spc="-3" dirty="0"/>
              <a:t> </a:t>
            </a:r>
            <a:r>
              <a:rPr dirty="0"/>
              <a:t>In</a:t>
            </a:r>
            <a:r>
              <a:rPr spc="-3" dirty="0"/>
              <a:t> </a:t>
            </a:r>
            <a:r>
              <a:rPr dirty="0"/>
              <a:t>terms</a:t>
            </a:r>
            <a:r>
              <a:rPr spc="3" dirty="0"/>
              <a:t> </a:t>
            </a:r>
            <a:r>
              <a:rPr dirty="0"/>
              <a:t>of</a:t>
            </a:r>
            <a:r>
              <a:rPr spc="-3" dirty="0"/>
              <a:t> </a:t>
            </a:r>
            <a:r>
              <a:rPr spc="-10" dirty="0"/>
              <a:t>code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899" y="5489635"/>
            <a:ext cx="2978551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[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Erik</a:t>
            </a:r>
            <a:r>
              <a:rPr sz="852" u="sng" spc="50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 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Linder-Norén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(Github):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586069"/>
                </a:solidFill>
                <a:latin typeface="Arial"/>
                <a:cs typeface="Arial"/>
              </a:rPr>
              <a:t>eriklindernoren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/Keras-GAN: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u="sng" spc="-5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link</a:t>
            </a:r>
            <a:r>
              <a:rPr sz="852" spc="-5" dirty="0">
                <a:solidFill>
                  <a:srgbClr val="24292E"/>
                </a:solidFill>
                <a:latin typeface="Arial"/>
                <a:cs typeface="Arial"/>
              </a:rPr>
              <a:t>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54" y="1801377"/>
            <a:ext cx="4104871" cy="20551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02" y="752703"/>
            <a:ext cx="5295320" cy="45374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84263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636579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3" dirty="0"/>
              <a:t> </a:t>
            </a:r>
            <a:r>
              <a:rPr dirty="0"/>
              <a:t>D.</a:t>
            </a:r>
            <a:r>
              <a:rPr spc="-3" dirty="0"/>
              <a:t> </a:t>
            </a:r>
            <a:r>
              <a:rPr dirty="0"/>
              <a:t>In</a:t>
            </a:r>
            <a:r>
              <a:rPr spc="-3" dirty="0"/>
              <a:t> </a:t>
            </a:r>
            <a:r>
              <a:rPr dirty="0"/>
              <a:t>terms</a:t>
            </a:r>
            <a:r>
              <a:rPr spc="3" dirty="0"/>
              <a:t> </a:t>
            </a:r>
            <a:r>
              <a:rPr dirty="0"/>
              <a:t>of</a:t>
            </a:r>
            <a:r>
              <a:rPr spc="-3" dirty="0"/>
              <a:t> </a:t>
            </a:r>
            <a:r>
              <a:rPr spc="-10" dirty="0"/>
              <a:t>code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99" y="5489635"/>
            <a:ext cx="2978551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[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Erik</a:t>
            </a:r>
            <a:r>
              <a:rPr sz="852" u="sng" spc="50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 </a:t>
            </a:r>
            <a:r>
              <a:rPr sz="852" u="sng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Linder-Norén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(Github):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dirty="0">
                <a:solidFill>
                  <a:srgbClr val="586069"/>
                </a:solidFill>
                <a:latin typeface="Arial"/>
                <a:cs typeface="Arial"/>
              </a:rPr>
              <a:t>eriklindernoren</a:t>
            </a:r>
            <a:r>
              <a:rPr sz="852" dirty="0">
                <a:solidFill>
                  <a:srgbClr val="24292E"/>
                </a:solidFill>
                <a:latin typeface="Arial"/>
                <a:cs typeface="Arial"/>
              </a:rPr>
              <a:t>/Keras-GAN:</a:t>
            </a:r>
            <a:r>
              <a:rPr sz="852" spc="50" dirty="0">
                <a:solidFill>
                  <a:srgbClr val="24292E"/>
                </a:solidFill>
                <a:latin typeface="Arial"/>
                <a:cs typeface="Arial"/>
              </a:rPr>
              <a:t> </a:t>
            </a:r>
            <a:r>
              <a:rPr sz="852" u="sng" spc="-5" dirty="0">
                <a:solidFill>
                  <a:srgbClr val="24292E"/>
                </a:solidFill>
                <a:uFill>
                  <a:solidFill>
                    <a:srgbClr val="24292E"/>
                  </a:solidFill>
                </a:uFill>
                <a:latin typeface="Arial"/>
                <a:cs typeface="Arial"/>
              </a:rPr>
              <a:t>link</a:t>
            </a:r>
            <a:r>
              <a:rPr sz="852" spc="-5" dirty="0">
                <a:solidFill>
                  <a:srgbClr val="24292E"/>
                </a:solidFill>
                <a:latin typeface="Arial"/>
                <a:cs typeface="Arial"/>
              </a:rPr>
              <a:t>]</a:t>
            </a:r>
            <a:endParaRPr sz="8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596900" y="232168"/>
            <a:ext cx="9396656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360795">
              <a:lnSpc>
                <a:spcPct val="100000"/>
              </a:lnSpc>
              <a:spcBef>
                <a:spcPts val="57"/>
              </a:spcBef>
            </a:pPr>
            <a:r>
              <a:rPr dirty="0"/>
              <a:t>II.</a:t>
            </a:r>
            <a:r>
              <a:rPr spc="-8" dirty="0"/>
              <a:t> </a:t>
            </a:r>
            <a:r>
              <a:rPr dirty="0"/>
              <a:t>Generative</a:t>
            </a:r>
            <a:r>
              <a:rPr spc="-75" dirty="0"/>
              <a:t> </a:t>
            </a:r>
            <a:r>
              <a:rPr dirty="0"/>
              <a:t>Adversarial</a:t>
            </a:r>
            <a:r>
              <a:rPr spc="-5" dirty="0"/>
              <a:t> </a:t>
            </a:r>
            <a:r>
              <a:rPr dirty="0"/>
              <a:t>Networks</a:t>
            </a:r>
            <a:r>
              <a:rPr spc="-3" dirty="0"/>
              <a:t> </a:t>
            </a:r>
            <a:r>
              <a:rPr spc="-5" dirty="0"/>
              <a:t>(GANs)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899" y="5489637"/>
            <a:ext cx="5657814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890"/>
              </a:lnSpc>
            </a:pPr>
            <a:r>
              <a:rPr sz="852" dirty="0">
                <a:latin typeface="Arial"/>
                <a:cs typeface="Arial"/>
              </a:rPr>
              <a:t>[Ian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J.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Goodfellow,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Jonathon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Shlens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&amp;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Christian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Szegedy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(2015):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Explaining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and</a:t>
            </a:r>
            <a:r>
              <a:rPr sz="852" spc="53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harnessing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dirty="0">
                <a:latin typeface="Arial"/>
                <a:cs typeface="Arial"/>
              </a:rPr>
              <a:t>adversarial</a:t>
            </a:r>
            <a:r>
              <a:rPr sz="852" spc="55" dirty="0">
                <a:latin typeface="Arial"/>
                <a:cs typeface="Arial"/>
              </a:rPr>
              <a:t> </a:t>
            </a:r>
            <a:r>
              <a:rPr sz="852" spc="-5" dirty="0">
                <a:latin typeface="Arial"/>
                <a:cs typeface="Arial"/>
              </a:rPr>
              <a:t>examples]</a:t>
            </a:r>
            <a:endParaRPr sz="852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2446" y="1265216"/>
            <a:ext cx="2137043" cy="3292779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336856" indent="-330806">
              <a:spcBef>
                <a:spcPts val="53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Motivation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405309" indent="-399260">
              <a:spcBef>
                <a:spcPts val="1241"/>
              </a:spcBef>
              <a:buAutoNum type="alphaUcPeriod"/>
              <a:tabLst>
                <a:tab pos="405309" algn="l"/>
                <a:tab pos="405628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G/D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Game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spc="-5" dirty="0">
                <a:solidFill>
                  <a:srgbClr val="C82506"/>
                </a:solidFill>
                <a:latin typeface="Arial"/>
                <a:cs typeface="Arial"/>
              </a:rPr>
              <a:t>Training</a:t>
            </a:r>
            <a:r>
              <a:rPr sz="1930" spc="-13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79"/>
              </a:spcBef>
              <a:buAutoNum type="alphaUcPeriod"/>
              <a:tabLst>
                <a:tab pos="337174" algn="l"/>
              </a:tabLst>
            </a:pP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In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terms</a:t>
            </a:r>
            <a:r>
              <a:rPr sz="1930" spc="1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dirty="0">
                <a:solidFill>
                  <a:srgbClr val="C82506"/>
                </a:solidFill>
                <a:latin typeface="Arial"/>
                <a:cs typeface="Arial"/>
              </a:rPr>
              <a:t>of</a:t>
            </a:r>
            <a:r>
              <a:rPr sz="1930" spc="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spc="40" dirty="0">
                <a:solidFill>
                  <a:srgbClr val="C82506"/>
                </a:solidFill>
                <a:latin typeface="Arial"/>
                <a:cs typeface="Arial"/>
              </a:rPr>
              <a:t>code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lphaUcPeriod"/>
            </a:pPr>
            <a:endParaRPr sz="1905">
              <a:latin typeface="Arial"/>
              <a:cs typeface="Arial"/>
            </a:endParaRPr>
          </a:p>
          <a:p>
            <a:pPr marL="336856" indent="-330806">
              <a:spcBef>
                <a:spcPts val="1238"/>
              </a:spcBef>
              <a:buAutoNum type="alphaUcPeriod"/>
              <a:tabLst>
                <a:tab pos="337174" algn="l"/>
              </a:tabLst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Nice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4360847" cy="1686892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914" y="670901"/>
            <a:ext cx="234749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Operation</a:t>
            </a:r>
            <a:r>
              <a:rPr sz="2056" u="sng" spc="40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2056" u="sng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on</a:t>
            </a:r>
            <a:r>
              <a:rPr sz="2056" u="sng" spc="4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2056" u="sng" spc="38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codes</a:t>
            </a:r>
            <a:endParaRPr sz="205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650" y="5474779"/>
            <a:ext cx="5815418" cy="11447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02" dirty="0">
                <a:latin typeface="Times New Roman"/>
                <a:cs typeface="Times New Roman"/>
              </a:rPr>
              <a:t>[Radford</a:t>
            </a:r>
            <a:r>
              <a:rPr sz="702" spc="-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et al. (2015): </a:t>
            </a:r>
            <a:r>
              <a:rPr sz="702" spc="-5" dirty="0">
                <a:latin typeface="Times New Roman"/>
                <a:cs typeface="Times New Roman"/>
              </a:rPr>
              <a:t>UNSUPERVISED</a:t>
            </a:r>
            <a:r>
              <a:rPr sz="702" dirty="0">
                <a:latin typeface="Times New Roman"/>
                <a:cs typeface="Times New Roman"/>
              </a:rPr>
              <a:t> </a:t>
            </a:r>
            <a:r>
              <a:rPr sz="702" spc="-10" dirty="0">
                <a:latin typeface="Times New Roman"/>
                <a:cs typeface="Times New Roman"/>
              </a:rPr>
              <a:t>REPRESENTATION</a:t>
            </a:r>
            <a:r>
              <a:rPr sz="702" dirty="0">
                <a:latin typeface="Times New Roman"/>
                <a:cs typeface="Times New Roman"/>
              </a:rPr>
              <a:t> LEARNING</a:t>
            </a:r>
            <a:r>
              <a:rPr sz="702" spc="-13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WITH DEEP</a:t>
            </a:r>
            <a:r>
              <a:rPr sz="702" spc="-28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CONVOLUTIONAL</a:t>
            </a:r>
            <a:r>
              <a:rPr sz="702" spc="-28" dirty="0">
                <a:latin typeface="Times New Roman"/>
                <a:cs typeface="Times New Roman"/>
              </a:rPr>
              <a:t> </a:t>
            </a:r>
            <a:r>
              <a:rPr sz="702" spc="-13" dirty="0">
                <a:latin typeface="Times New Roman"/>
                <a:cs typeface="Times New Roman"/>
              </a:rPr>
              <a:t>GENERATIVE</a:t>
            </a:r>
            <a:r>
              <a:rPr sz="702" spc="-40" dirty="0">
                <a:latin typeface="Times New Roman"/>
                <a:cs typeface="Times New Roman"/>
              </a:rPr>
              <a:t> </a:t>
            </a:r>
            <a:r>
              <a:rPr sz="702" dirty="0">
                <a:latin typeface="Times New Roman"/>
                <a:cs typeface="Times New Roman"/>
              </a:rPr>
              <a:t>ADVERSARIAL</a:t>
            </a:r>
            <a:r>
              <a:rPr sz="702" spc="-28" dirty="0">
                <a:latin typeface="Times New Roman"/>
                <a:cs typeface="Times New Roman"/>
              </a:rPr>
              <a:t> </a:t>
            </a:r>
            <a:r>
              <a:rPr sz="702" spc="-5" dirty="0">
                <a:latin typeface="Times New Roman"/>
                <a:cs typeface="Times New Roman"/>
              </a:rPr>
              <a:t>NETWORKS]</a:t>
            </a:r>
            <a:endParaRPr sz="702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74982" y="1811504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8" name="object 8"/>
          <p:cNvSpPr txBox="1"/>
          <p:nvPr/>
        </p:nvSpPr>
        <p:spPr>
          <a:xfrm>
            <a:off x="1583482" y="1510806"/>
            <a:ext cx="1337244" cy="64466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 marL="40435" marR="32475" indent="89149">
              <a:lnSpc>
                <a:spcPct val="101000"/>
              </a:lnSpc>
              <a:spcBef>
                <a:spcPts val="730"/>
              </a:spcBef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15328" y="1811504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0" name="object 10"/>
          <p:cNvSpPr txBox="1"/>
          <p:nvPr/>
        </p:nvSpPr>
        <p:spPr>
          <a:xfrm>
            <a:off x="570659" y="1567048"/>
            <a:ext cx="380796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617" baseline="2583" dirty="0">
                <a:latin typeface="Symbol"/>
                <a:cs typeface="Symbol"/>
              </a:rPr>
              <a:t></a:t>
            </a:r>
            <a:r>
              <a:rPr sz="1617" spc="-192" baseline="2583" dirty="0">
                <a:latin typeface="Times New Roman"/>
                <a:cs typeface="Times New Roman"/>
              </a:rPr>
              <a:t> </a:t>
            </a:r>
            <a:r>
              <a:rPr sz="1078" spc="-10" dirty="0">
                <a:latin typeface="Times New Roman"/>
                <a:cs typeface="Times New Roman"/>
              </a:rPr>
              <a:t>0.12</a:t>
            </a:r>
            <a:r>
              <a:rPr sz="1617" spc="-15" baseline="2583" dirty="0">
                <a:latin typeface="Symbol"/>
                <a:cs typeface="Symbol"/>
              </a:rPr>
              <a:t></a:t>
            </a:r>
            <a:endParaRPr sz="1617" baseline="2583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923" y="2188484"/>
            <a:ext cx="406267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971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23" dirty="0">
                <a:latin typeface="Times New Roman"/>
                <a:cs typeface="Times New Roman"/>
              </a:rPr>
              <a:t> </a:t>
            </a:r>
            <a:r>
              <a:rPr sz="1078" spc="-45" dirty="0">
                <a:latin typeface="Times New Roman"/>
                <a:cs typeface="Times New Roman"/>
              </a:rPr>
              <a:t>0.92</a:t>
            </a:r>
            <a:r>
              <a:rPr sz="1617" spc="-68" baseline="29715" dirty="0">
                <a:latin typeface="Symbol"/>
                <a:cs typeface="Symbol"/>
              </a:rPr>
              <a:t></a:t>
            </a:r>
            <a:r>
              <a:rPr sz="1078" spc="-45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0659" y="1717373"/>
            <a:ext cx="380796" cy="31517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lnSpc>
                <a:spcPts val="1168"/>
              </a:lnSpc>
              <a:spcBef>
                <a:spcPts val="57"/>
              </a:spcBef>
              <a:tabLst>
                <a:tab pos="321255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  <a:p>
            <a:pPr marL="6368">
              <a:lnSpc>
                <a:spcPts val="1168"/>
              </a:lnSpc>
              <a:tabLst>
                <a:tab pos="321255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659" y="1982058"/>
            <a:ext cx="380796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1255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2663" y="1851867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5" name="object 15"/>
          <p:cNvSpPr txBox="1"/>
          <p:nvPr/>
        </p:nvSpPr>
        <p:spPr>
          <a:xfrm>
            <a:off x="578163" y="1264167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1</a:t>
            </a:r>
            <a:endParaRPr sz="90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7493" y="1222165"/>
            <a:ext cx="737713" cy="23246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algn="ctr">
              <a:spcBef>
                <a:spcPts val="68"/>
              </a:spcBef>
            </a:pPr>
            <a:r>
              <a:rPr sz="727" spc="-5" dirty="0">
                <a:latin typeface="Arial"/>
                <a:cs typeface="Arial"/>
              </a:rPr>
              <a:t>(64,64,3)</a:t>
            </a:r>
            <a:endParaRPr sz="727">
              <a:latin typeface="Arial"/>
              <a:cs typeface="Arial"/>
            </a:endParaRPr>
          </a:p>
          <a:p>
            <a:pPr algn="ctr">
              <a:spcBef>
                <a:spcPts val="35"/>
              </a:spcBef>
            </a:pPr>
            <a:r>
              <a:rPr sz="727" dirty="0">
                <a:latin typeface="Arial"/>
                <a:cs typeface="Arial"/>
              </a:rPr>
              <a:t>generated</a:t>
            </a:r>
            <a:r>
              <a:rPr sz="727" spc="133" dirty="0">
                <a:latin typeface="Arial"/>
                <a:cs typeface="Arial"/>
              </a:rPr>
              <a:t> </a:t>
            </a:r>
            <a:r>
              <a:rPr sz="727" spc="-5" dirty="0">
                <a:latin typeface="Arial"/>
                <a:cs typeface="Arial"/>
              </a:rPr>
              <a:t>image</a:t>
            </a:r>
            <a:endParaRPr sz="727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610676" y="1656910"/>
            <a:ext cx="717336" cy="709058"/>
            <a:chOff x="7197616" y="3304542"/>
            <a:chExt cx="1430655" cy="1414145"/>
          </a:xfrm>
        </p:grpSpPr>
        <p:sp>
          <p:nvSpPr>
            <p:cNvPr id="18" name="object 18"/>
            <p:cNvSpPr/>
            <p:nvPr/>
          </p:nvSpPr>
          <p:spPr>
            <a:xfrm>
              <a:off x="7208093" y="3315019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89">
                  <a:moveTo>
                    <a:pt x="0" y="0"/>
                  </a:moveTo>
                  <a:lnTo>
                    <a:pt x="1409368" y="0"/>
                  </a:lnTo>
                  <a:lnTo>
                    <a:pt x="1409368" y="1392741"/>
                  </a:lnTo>
                  <a:lnTo>
                    <a:pt x="0" y="139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7208093" y="3315019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89">
                  <a:moveTo>
                    <a:pt x="0" y="0"/>
                  </a:moveTo>
                  <a:lnTo>
                    <a:pt x="1409368" y="0"/>
                  </a:lnTo>
                  <a:lnTo>
                    <a:pt x="1409368" y="1392741"/>
                  </a:lnTo>
                  <a:lnTo>
                    <a:pt x="0" y="139274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23620" y="1944442"/>
            <a:ext cx="9360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9"/>
              </a:lnSpc>
            </a:pPr>
            <a:r>
              <a:rPr sz="1304" spc="10" dirty="0">
                <a:latin typeface="Arial"/>
                <a:cs typeface="Arial"/>
              </a:rPr>
              <a:t>1</a:t>
            </a:r>
            <a:endParaRPr sz="1304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2628" y="1555629"/>
            <a:ext cx="892524" cy="88202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074982" y="3140787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3" name="object 23"/>
          <p:cNvSpPr txBox="1"/>
          <p:nvPr/>
        </p:nvSpPr>
        <p:spPr>
          <a:xfrm>
            <a:off x="1583482" y="2840087"/>
            <a:ext cx="1337244" cy="64466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 marL="40435" marR="32475" indent="89149">
              <a:lnSpc>
                <a:spcPct val="101000"/>
              </a:lnSpc>
              <a:spcBef>
                <a:spcPts val="722"/>
              </a:spcBef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15328" y="3140787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25" name="object 25"/>
          <p:cNvSpPr txBox="1"/>
          <p:nvPr/>
        </p:nvSpPr>
        <p:spPr>
          <a:xfrm>
            <a:off x="557923" y="2884822"/>
            <a:ext cx="411998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baseline="-6459" dirty="0">
                <a:latin typeface="Symbol"/>
                <a:cs typeface="Symbol"/>
              </a:rPr>
              <a:t></a:t>
            </a:r>
            <a:r>
              <a:rPr sz="1617" spc="-158" baseline="-6459" dirty="0">
                <a:latin typeface="Times New Roman"/>
                <a:cs typeface="Times New Roman"/>
              </a:rPr>
              <a:t> </a:t>
            </a:r>
            <a:r>
              <a:rPr sz="1078" spc="-5" dirty="0">
                <a:latin typeface="Times New Roman"/>
                <a:cs typeface="Times New Roman"/>
              </a:rPr>
              <a:t>0.47</a:t>
            </a:r>
            <a:r>
              <a:rPr sz="1617" spc="-8" baseline="-6459" dirty="0">
                <a:latin typeface="Symbol"/>
                <a:cs typeface="Symbol"/>
              </a:rPr>
              <a:t></a:t>
            </a:r>
            <a:endParaRPr sz="1617" baseline="-6459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7923" y="3511293"/>
            <a:ext cx="411998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325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00" dirty="0">
                <a:latin typeface="Times New Roman"/>
                <a:cs typeface="Times New Roman"/>
              </a:rPr>
              <a:t> </a:t>
            </a:r>
            <a:r>
              <a:rPr sz="1617" spc="-60" baseline="2583" dirty="0">
                <a:latin typeface="Times New Roman"/>
                <a:cs typeface="Times New Roman"/>
              </a:rPr>
              <a:t>0.19</a:t>
            </a:r>
            <a:r>
              <a:rPr sz="1617" spc="-60" baseline="23255" dirty="0">
                <a:latin typeface="Symbol"/>
                <a:cs typeface="Symbol"/>
              </a:rPr>
              <a:t></a:t>
            </a:r>
            <a:r>
              <a:rPr sz="1078" spc="-40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0659" y="3058163"/>
            <a:ext cx="386527" cy="31517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lnSpc>
                <a:spcPts val="1178"/>
              </a:lnSpc>
              <a:spcBef>
                <a:spcPts val="57"/>
              </a:spcBef>
              <a:tabLst>
                <a:tab pos="326986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  <a:p>
            <a:pPr marL="6368">
              <a:lnSpc>
                <a:spcPts val="1178"/>
              </a:lnSpc>
              <a:tabLst>
                <a:tab pos="326986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0659" y="3328602"/>
            <a:ext cx="386527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6986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72663" y="3181149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0" name="object 30"/>
          <p:cNvSpPr txBox="1"/>
          <p:nvPr/>
        </p:nvSpPr>
        <p:spPr>
          <a:xfrm>
            <a:off x="578163" y="2592452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2</a:t>
            </a:r>
            <a:endParaRPr sz="903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07493" y="2550450"/>
            <a:ext cx="737713" cy="23246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algn="ctr">
              <a:spcBef>
                <a:spcPts val="68"/>
              </a:spcBef>
            </a:pPr>
            <a:r>
              <a:rPr sz="727" spc="-5" dirty="0">
                <a:latin typeface="Arial"/>
                <a:cs typeface="Arial"/>
              </a:rPr>
              <a:t>(64,64,3)</a:t>
            </a:r>
            <a:endParaRPr sz="727">
              <a:latin typeface="Arial"/>
              <a:cs typeface="Arial"/>
            </a:endParaRPr>
          </a:p>
          <a:p>
            <a:pPr algn="ctr">
              <a:spcBef>
                <a:spcPts val="35"/>
              </a:spcBef>
            </a:pPr>
            <a:r>
              <a:rPr sz="727" dirty="0">
                <a:latin typeface="Arial"/>
                <a:cs typeface="Arial"/>
              </a:rPr>
              <a:t>generated</a:t>
            </a:r>
            <a:r>
              <a:rPr sz="727" spc="133" dirty="0">
                <a:latin typeface="Arial"/>
                <a:cs typeface="Arial"/>
              </a:rPr>
              <a:t> </a:t>
            </a:r>
            <a:r>
              <a:rPr sz="727" spc="-5" dirty="0">
                <a:latin typeface="Arial"/>
                <a:cs typeface="Arial"/>
              </a:rPr>
              <a:t>image</a:t>
            </a:r>
            <a:endParaRPr sz="727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610675" y="2986192"/>
            <a:ext cx="717336" cy="709058"/>
            <a:chOff x="7197614" y="5955663"/>
            <a:chExt cx="1430655" cy="1414145"/>
          </a:xfrm>
        </p:grpSpPr>
        <p:sp>
          <p:nvSpPr>
            <p:cNvPr id="33" name="object 33"/>
            <p:cNvSpPr/>
            <p:nvPr/>
          </p:nvSpPr>
          <p:spPr>
            <a:xfrm>
              <a:off x="7208092" y="5966140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90">
                  <a:moveTo>
                    <a:pt x="0" y="0"/>
                  </a:moveTo>
                  <a:lnTo>
                    <a:pt x="1409369" y="0"/>
                  </a:lnTo>
                  <a:lnTo>
                    <a:pt x="1409369" y="1392741"/>
                  </a:lnTo>
                  <a:lnTo>
                    <a:pt x="0" y="139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4" name="object 34"/>
            <p:cNvSpPr/>
            <p:nvPr/>
          </p:nvSpPr>
          <p:spPr>
            <a:xfrm>
              <a:off x="7208092" y="5966140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90">
                  <a:moveTo>
                    <a:pt x="0" y="0"/>
                  </a:moveTo>
                  <a:lnTo>
                    <a:pt x="1409368" y="0"/>
                  </a:lnTo>
                  <a:lnTo>
                    <a:pt x="1409368" y="1392741"/>
                  </a:lnTo>
                  <a:lnTo>
                    <a:pt x="0" y="139274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23620" y="3272728"/>
            <a:ext cx="9360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9"/>
              </a:lnSpc>
            </a:pPr>
            <a:r>
              <a:rPr sz="1304" spc="10" dirty="0">
                <a:latin typeface="Arial"/>
                <a:cs typeface="Arial"/>
              </a:rPr>
              <a:t>2</a:t>
            </a:r>
            <a:endParaRPr sz="1304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5314" y="2905213"/>
            <a:ext cx="807152" cy="811872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1074982" y="4470068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38" name="object 38"/>
          <p:cNvSpPr txBox="1"/>
          <p:nvPr/>
        </p:nvSpPr>
        <p:spPr>
          <a:xfrm>
            <a:off x="1583482" y="4169369"/>
            <a:ext cx="1337244" cy="657488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 marL="40435" marR="32475" indent="89149">
              <a:lnSpc>
                <a:spcPct val="101000"/>
              </a:lnSpc>
              <a:spcBef>
                <a:spcPts val="757"/>
              </a:spcBef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15328" y="4470068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0" name="object 40"/>
          <p:cNvSpPr txBox="1"/>
          <p:nvPr/>
        </p:nvSpPr>
        <p:spPr>
          <a:xfrm>
            <a:off x="570659" y="4225612"/>
            <a:ext cx="383662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617" baseline="2583" dirty="0">
                <a:latin typeface="Symbol"/>
                <a:cs typeface="Symbol"/>
              </a:rPr>
              <a:t></a:t>
            </a:r>
            <a:r>
              <a:rPr sz="1617" spc="-192" baseline="2583" dirty="0">
                <a:latin typeface="Times New Roman"/>
                <a:cs typeface="Times New Roman"/>
              </a:rPr>
              <a:t> </a:t>
            </a:r>
            <a:r>
              <a:rPr sz="1078" spc="-10" dirty="0">
                <a:latin typeface="Times New Roman"/>
                <a:cs typeface="Times New Roman"/>
              </a:rPr>
              <a:t>0.42</a:t>
            </a:r>
            <a:r>
              <a:rPr sz="1617" spc="-15" baseline="2583" dirty="0">
                <a:latin typeface="Symbol"/>
                <a:cs typeface="Symbol"/>
              </a:rPr>
              <a:t></a:t>
            </a:r>
            <a:endParaRPr sz="1617" baseline="2583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7923" y="4847047"/>
            <a:ext cx="409133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971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23" dirty="0">
                <a:latin typeface="Times New Roman"/>
                <a:cs typeface="Times New Roman"/>
              </a:rPr>
              <a:t> </a:t>
            </a:r>
            <a:r>
              <a:rPr sz="1078" spc="-40" dirty="0">
                <a:latin typeface="Times New Roman"/>
                <a:cs typeface="Times New Roman"/>
              </a:rPr>
              <a:t>0.07</a:t>
            </a:r>
            <a:r>
              <a:rPr sz="1617" spc="-60" baseline="29715" dirty="0">
                <a:latin typeface="Symbol"/>
                <a:cs typeface="Symbol"/>
              </a:rPr>
              <a:t></a:t>
            </a:r>
            <a:r>
              <a:rPr sz="1078" spc="-40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0659" y="4375937"/>
            <a:ext cx="383662" cy="31517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lnSpc>
                <a:spcPts val="1168"/>
              </a:lnSpc>
              <a:spcBef>
                <a:spcPts val="57"/>
              </a:spcBef>
              <a:tabLst>
                <a:tab pos="324120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  <a:p>
            <a:pPr marL="6368">
              <a:lnSpc>
                <a:spcPts val="1168"/>
              </a:lnSpc>
              <a:tabLst>
                <a:tab pos="324120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0659" y="4640621"/>
            <a:ext cx="383662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4120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72663" y="4510431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5" name="object 45"/>
          <p:cNvSpPr txBox="1"/>
          <p:nvPr/>
        </p:nvSpPr>
        <p:spPr>
          <a:xfrm>
            <a:off x="578163" y="3920737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3</a:t>
            </a:r>
            <a:endParaRPr sz="903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07493" y="3878736"/>
            <a:ext cx="737713" cy="23246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algn="ctr">
              <a:spcBef>
                <a:spcPts val="68"/>
              </a:spcBef>
            </a:pPr>
            <a:r>
              <a:rPr sz="727" spc="-5" dirty="0">
                <a:latin typeface="Arial"/>
                <a:cs typeface="Arial"/>
              </a:rPr>
              <a:t>(64,64,3)</a:t>
            </a:r>
            <a:endParaRPr sz="727">
              <a:latin typeface="Arial"/>
              <a:cs typeface="Arial"/>
            </a:endParaRPr>
          </a:p>
          <a:p>
            <a:pPr algn="ctr">
              <a:spcBef>
                <a:spcPts val="35"/>
              </a:spcBef>
            </a:pPr>
            <a:r>
              <a:rPr sz="727" dirty="0">
                <a:latin typeface="Arial"/>
                <a:cs typeface="Arial"/>
              </a:rPr>
              <a:t>generated</a:t>
            </a:r>
            <a:r>
              <a:rPr sz="727" spc="133" dirty="0">
                <a:latin typeface="Arial"/>
                <a:cs typeface="Arial"/>
              </a:rPr>
              <a:t> </a:t>
            </a:r>
            <a:r>
              <a:rPr sz="727" spc="-5" dirty="0">
                <a:latin typeface="Arial"/>
                <a:cs typeface="Arial"/>
              </a:rPr>
              <a:t>image</a:t>
            </a:r>
            <a:endParaRPr sz="727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610675" y="4315473"/>
            <a:ext cx="717336" cy="709058"/>
            <a:chOff x="7197614" y="8606784"/>
            <a:chExt cx="1430655" cy="1414145"/>
          </a:xfrm>
        </p:grpSpPr>
        <p:sp>
          <p:nvSpPr>
            <p:cNvPr id="48" name="object 48"/>
            <p:cNvSpPr/>
            <p:nvPr/>
          </p:nvSpPr>
          <p:spPr>
            <a:xfrm>
              <a:off x="7208092" y="8617262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90">
                  <a:moveTo>
                    <a:pt x="0" y="0"/>
                  </a:moveTo>
                  <a:lnTo>
                    <a:pt x="1409369" y="0"/>
                  </a:lnTo>
                  <a:lnTo>
                    <a:pt x="1409369" y="1392740"/>
                  </a:lnTo>
                  <a:lnTo>
                    <a:pt x="0" y="1392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9" name="object 49"/>
            <p:cNvSpPr/>
            <p:nvPr/>
          </p:nvSpPr>
          <p:spPr>
            <a:xfrm>
              <a:off x="7208092" y="8617262"/>
              <a:ext cx="1409700" cy="1393190"/>
            </a:xfrm>
            <a:custGeom>
              <a:avLst/>
              <a:gdLst/>
              <a:ahLst/>
              <a:cxnLst/>
              <a:rect l="l" t="t" r="r" b="b"/>
              <a:pathLst>
                <a:path w="1409700" h="1393190">
                  <a:moveTo>
                    <a:pt x="0" y="0"/>
                  </a:moveTo>
                  <a:lnTo>
                    <a:pt x="1409368" y="0"/>
                  </a:lnTo>
                  <a:lnTo>
                    <a:pt x="1409368" y="1392741"/>
                  </a:lnTo>
                  <a:lnTo>
                    <a:pt x="0" y="139274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923620" y="4606263"/>
            <a:ext cx="9360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9"/>
              </a:lnSpc>
            </a:pPr>
            <a:r>
              <a:rPr sz="1304" spc="10" dirty="0">
                <a:latin typeface="Arial"/>
                <a:cs typeface="Arial"/>
              </a:rPr>
              <a:t>2</a:t>
            </a:r>
            <a:endParaRPr sz="1304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88379" y="4184647"/>
            <a:ext cx="861023" cy="882023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61944" y="2907471"/>
            <a:ext cx="908274" cy="86627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909572" y="3073479"/>
            <a:ext cx="380796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617" baseline="2583" dirty="0">
                <a:latin typeface="Symbol"/>
                <a:cs typeface="Symbol"/>
              </a:rPr>
              <a:t></a:t>
            </a:r>
            <a:r>
              <a:rPr sz="1617" spc="-192" baseline="2583" dirty="0">
                <a:latin typeface="Times New Roman"/>
                <a:cs typeface="Times New Roman"/>
              </a:rPr>
              <a:t> </a:t>
            </a:r>
            <a:r>
              <a:rPr sz="1078" spc="-10" dirty="0">
                <a:latin typeface="Times New Roman"/>
                <a:cs typeface="Times New Roman"/>
              </a:rPr>
              <a:t>0.12</a:t>
            </a:r>
            <a:r>
              <a:rPr sz="1617" spc="-15" baseline="2583" dirty="0">
                <a:latin typeface="Symbol"/>
                <a:cs typeface="Symbol"/>
              </a:rPr>
              <a:t></a:t>
            </a:r>
            <a:endParaRPr sz="1617" baseline="2583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96837" y="3694914"/>
            <a:ext cx="406267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971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23" dirty="0">
                <a:latin typeface="Times New Roman"/>
                <a:cs typeface="Times New Roman"/>
              </a:rPr>
              <a:t> </a:t>
            </a:r>
            <a:r>
              <a:rPr sz="1078" spc="-45" dirty="0">
                <a:latin typeface="Times New Roman"/>
                <a:cs typeface="Times New Roman"/>
              </a:rPr>
              <a:t>0.92</a:t>
            </a:r>
            <a:r>
              <a:rPr sz="1617" spc="-68" baseline="29715" dirty="0">
                <a:latin typeface="Symbol"/>
                <a:cs typeface="Symbol"/>
              </a:rPr>
              <a:t></a:t>
            </a:r>
            <a:r>
              <a:rPr sz="1078" spc="-45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09572" y="3488488"/>
            <a:ext cx="380796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1255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111577" y="3358298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7" name="object 57"/>
          <p:cNvSpPr txBox="1"/>
          <p:nvPr/>
        </p:nvSpPr>
        <p:spPr>
          <a:xfrm>
            <a:off x="4914779" y="2770957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1</a:t>
            </a:r>
            <a:endParaRPr sz="903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18571" y="3061971"/>
            <a:ext cx="411998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baseline="-6459" dirty="0">
                <a:latin typeface="Symbol"/>
                <a:cs typeface="Symbol"/>
              </a:rPr>
              <a:t></a:t>
            </a:r>
            <a:r>
              <a:rPr sz="1617" spc="-158" baseline="-6459" dirty="0">
                <a:latin typeface="Times New Roman"/>
                <a:cs typeface="Times New Roman"/>
              </a:rPr>
              <a:t> </a:t>
            </a:r>
            <a:r>
              <a:rPr sz="1078" spc="-5" dirty="0">
                <a:latin typeface="Times New Roman"/>
                <a:cs typeface="Times New Roman"/>
              </a:rPr>
              <a:t>0.47</a:t>
            </a:r>
            <a:r>
              <a:rPr sz="1617" spc="-8" baseline="-6459" dirty="0">
                <a:latin typeface="Symbol"/>
                <a:cs typeface="Symbol"/>
              </a:rPr>
              <a:t></a:t>
            </a:r>
            <a:endParaRPr sz="1617" baseline="-6459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18571" y="3688442"/>
            <a:ext cx="411998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325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00" dirty="0">
                <a:latin typeface="Times New Roman"/>
                <a:cs typeface="Times New Roman"/>
              </a:rPr>
              <a:t> </a:t>
            </a:r>
            <a:r>
              <a:rPr sz="1617" spc="-60" baseline="2583" dirty="0">
                <a:latin typeface="Times New Roman"/>
                <a:cs typeface="Times New Roman"/>
              </a:rPr>
              <a:t>0.19</a:t>
            </a:r>
            <a:r>
              <a:rPr sz="1617" spc="-60" baseline="23255" dirty="0">
                <a:latin typeface="Symbol"/>
                <a:cs typeface="Symbol"/>
              </a:rPr>
              <a:t></a:t>
            </a:r>
            <a:r>
              <a:rPr sz="1078" spc="-40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31307" y="3235311"/>
            <a:ext cx="386527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6986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431307" y="3505751"/>
            <a:ext cx="386527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6986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633313" y="3358298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63" name="object 63"/>
          <p:cNvSpPr txBox="1"/>
          <p:nvPr/>
        </p:nvSpPr>
        <p:spPr>
          <a:xfrm>
            <a:off x="5439793" y="2770957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2</a:t>
            </a:r>
            <a:endParaRPr sz="903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32582" y="3073479"/>
            <a:ext cx="383662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617" baseline="2583" dirty="0">
                <a:latin typeface="Symbol"/>
                <a:cs typeface="Symbol"/>
              </a:rPr>
              <a:t></a:t>
            </a:r>
            <a:r>
              <a:rPr sz="1617" spc="-192" baseline="2583" dirty="0">
                <a:latin typeface="Times New Roman"/>
                <a:cs typeface="Times New Roman"/>
              </a:rPr>
              <a:t> </a:t>
            </a:r>
            <a:r>
              <a:rPr sz="1078" spc="-10" dirty="0">
                <a:latin typeface="Times New Roman"/>
                <a:cs typeface="Times New Roman"/>
              </a:rPr>
              <a:t>0.42</a:t>
            </a:r>
            <a:r>
              <a:rPr sz="1617" spc="-15" baseline="2583" dirty="0">
                <a:latin typeface="Symbol"/>
                <a:cs typeface="Symbol"/>
              </a:rPr>
              <a:t></a:t>
            </a:r>
            <a:endParaRPr sz="1617" baseline="2583"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919846" y="3694914"/>
            <a:ext cx="409133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spcBef>
                <a:spcPts val="57"/>
              </a:spcBef>
            </a:pPr>
            <a:r>
              <a:rPr sz="1617" spc="-316" baseline="29715" dirty="0">
                <a:latin typeface="Symbol"/>
                <a:cs typeface="Symbol"/>
              </a:rPr>
              <a:t></a:t>
            </a:r>
            <a:r>
              <a:rPr sz="1078" spc="-211" dirty="0">
                <a:latin typeface="Symbol"/>
                <a:cs typeface="Symbol"/>
              </a:rPr>
              <a:t></a:t>
            </a:r>
            <a:r>
              <a:rPr sz="1078" spc="-123" dirty="0">
                <a:latin typeface="Times New Roman"/>
                <a:cs typeface="Times New Roman"/>
              </a:rPr>
              <a:t> </a:t>
            </a:r>
            <a:r>
              <a:rPr sz="1078" spc="-40" dirty="0">
                <a:latin typeface="Times New Roman"/>
                <a:cs typeface="Times New Roman"/>
              </a:rPr>
              <a:t>0.07</a:t>
            </a:r>
            <a:r>
              <a:rPr sz="1617" spc="-60" baseline="29715" dirty="0">
                <a:latin typeface="Symbol"/>
                <a:cs typeface="Symbol"/>
              </a:rPr>
              <a:t></a:t>
            </a:r>
            <a:r>
              <a:rPr sz="1078" spc="-40" dirty="0">
                <a:latin typeface="Symbol"/>
                <a:cs typeface="Symbol"/>
              </a:rPr>
              <a:t>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32582" y="3223804"/>
            <a:ext cx="383662" cy="315170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R="2547" algn="r">
              <a:lnSpc>
                <a:spcPts val="1168"/>
              </a:lnSpc>
              <a:spcBef>
                <a:spcPts val="57"/>
              </a:spcBef>
              <a:tabLst>
                <a:tab pos="317752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  <a:p>
            <a:pPr marR="2547" algn="r">
              <a:lnSpc>
                <a:spcPts val="1168"/>
              </a:lnSpc>
            </a:pPr>
            <a:r>
              <a:rPr sz="1078" spc="3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32582" y="3488488"/>
            <a:ext cx="383662" cy="173273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  <a:tabLst>
                <a:tab pos="324120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134586" y="3358298"/>
            <a:ext cx="0" cy="242933"/>
          </a:xfrm>
          <a:custGeom>
            <a:avLst/>
            <a:gdLst/>
            <a:ahLst/>
            <a:cxnLst/>
            <a:rect l="l" t="t" r="r" b="b"/>
            <a:pathLst>
              <a:path h="484504">
                <a:moveTo>
                  <a:pt x="0" y="484457"/>
                </a:moveTo>
                <a:lnTo>
                  <a:pt x="0" y="0"/>
                </a:lnTo>
              </a:path>
            </a:pathLst>
          </a:custGeom>
          <a:ln w="5235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69" name="object 69"/>
          <p:cNvSpPr txBox="1"/>
          <p:nvPr/>
        </p:nvSpPr>
        <p:spPr>
          <a:xfrm>
            <a:off x="4896837" y="3223804"/>
            <a:ext cx="1127105" cy="34081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19103">
              <a:lnSpc>
                <a:spcPts val="679"/>
              </a:lnSpc>
              <a:spcBef>
                <a:spcPts val="57"/>
              </a:spcBef>
              <a:tabLst>
                <a:tab pos="333990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spc="-25" dirty="0">
                <a:latin typeface="Symbol"/>
                <a:cs typeface="Symbol"/>
              </a:rPr>
              <a:t></a:t>
            </a:r>
            <a:endParaRPr sz="1078">
              <a:latin typeface="Symbol"/>
              <a:cs typeface="Symbol"/>
            </a:endParaRPr>
          </a:p>
          <a:p>
            <a:pPr marL="19103">
              <a:lnSpc>
                <a:spcPts val="1853"/>
              </a:lnSpc>
              <a:tabLst>
                <a:tab pos="333990" algn="l"/>
                <a:tab pos="861561" algn="l"/>
              </a:tabLst>
            </a:pPr>
            <a:r>
              <a:rPr sz="1078" spc="-25" dirty="0">
                <a:latin typeface="Symbol"/>
                <a:cs typeface="Symbol"/>
              </a:rPr>
              <a:t>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dirty="0">
                <a:latin typeface="Symbol"/>
                <a:cs typeface="Symbol"/>
              </a:rPr>
              <a:t></a:t>
            </a:r>
            <a:r>
              <a:rPr sz="1078" spc="-28" dirty="0">
                <a:latin typeface="Times New Roman"/>
                <a:cs typeface="Times New Roman"/>
              </a:rPr>
              <a:t> </a:t>
            </a:r>
            <a:r>
              <a:rPr sz="3084" baseline="-9485" dirty="0">
                <a:latin typeface="Arial"/>
                <a:cs typeface="Arial"/>
              </a:rPr>
              <a:t>-</a:t>
            </a:r>
            <a:r>
              <a:rPr sz="3084" spc="-440" baseline="-9485" dirty="0">
                <a:latin typeface="Arial"/>
                <a:cs typeface="Arial"/>
              </a:rPr>
              <a:t> </a:t>
            </a:r>
            <a:r>
              <a:rPr sz="1617" spc="-38" baseline="-6459" dirty="0">
                <a:latin typeface="Symbol"/>
                <a:cs typeface="Symbol"/>
              </a:rPr>
              <a:t></a:t>
            </a:r>
            <a:r>
              <a:rPr sz="1617" baseline="-6459" dirty="0">
                <a:latin typeface="Times New Roman"/>
                <a:cs typeface="Times New Roman"/>
              </a:rPr>
              <a:t>	</a:t>
            </a:r>
            <a:r>
              <a:rPr sz="1617" spc="-19" baseline="-6459" dirty="0">
                <a:latin typeface="Symbol"/>
                <a:cs typeface="Symbol"/>
              </a:rPr>
              <a:t></a:t>
            </a:r>
            <a:r>
              <a:rPr sz="3084" spc="-19" baseline="-9485" dirty="0">
                <a:latin typeface="Arial"/>
                <a:cs typeface="Arial"/>
              </a:rPr>
              <a:t>+</a:t>
            </a:r>
            <a:r>
              <a:rPr sz="1078" spc="-13" dirty="0">
                <a:latin typeface="Symbol"/>
                <a:cs typeface="Symbol"/>
              </a:rPr>
              <a:t></a:t>
            </a:r>
            <a:endParaRPr sz="1078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38556" y="2770957"/>
            <a:ext cx="391621" cy="14602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903" dirty="0">
                <a:latin typeface="Arial"/>
                <a:cs typeface="Arial"/>
              </a:rPr>
              <a:t>Code</a:t>
            </a:r>
            <a:r>
              <a:rPr sz="903" spc="63" dirty="0">
                <a:latin typeface="Arial"/>
                <a:cs typeface="Arial"/>
              </a:rPr>
              <a:t> </a:t>
            </a:r>
            <a:r>
              <a:rPr sz="903" spc="-25" dirty="0">
                <a:latin typeface="Arial"/>
                <a:cs typeface="Arial"/>
              </a:rPr>
              <a:t>3</a:t>
            </a:r>
            <a:endParaRPr sz="903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518313" y="3200642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2" name="object 72"/>
          <p:cNvSpPr txBox="1"/>
          <p:nvPr/>
        </p:nvSpPr>
        <p:spPr>
          <a:xfrm>
            <a:off x="7026815" y="2899943"/>
            <a:ext cx="1337244" cy="644664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3">
              <a:latin typeface="Times New Roman"/>
              <a:cs typeface="Times New Roman"/>
            </a:endParaRPr>
          </a:p>
          <a:p>
            <a:pPr marL="36296" marR="36615" indent="94243">
              <a:lnSpc>
                <a:spcPct val="101000"/>
              </a:lnSpc>
              <a:spcBef>
                <a:spcPts val="747"/>
              </a:spcBef>
            </a:pPr>
            <a:r>
              <a:rPr sz="1228" b="1" dirty="0">
                <a:latin typeface="Arial"/>
                <a:cs typeface="Arial"/>
              </a:rPr>
              <a:t>Generator</a:t>
            </a:r>
            <a:r>
              <a:rPr sz="1228" b="1" spc="-5" dirty="0">
                <a:latin typeface="Arial"/>
                <a:cs typeface="Arial"/>
              </a:rPr>
              <a:t> </a:t>
            </a:r>
            <a:r>
              <a:rPr sz="1228" b="1" spc="-13" dirty="0">
                <a:latin typeface="Arial"/>
                <a:cs typeface="Arial"/>
              </a:rPr>
              <a:t>“G” </a:t>
            </a:r>
            <a:r>
              <a:rPr sz="1228" b="1" dirty="0">
                <a:latin typeface="Arial"/>
                <a:cs typeface="Arial"/>
              </a:rPr>
              <a:t>(Neural </a:t>
            </a:r>
            <a:r>
              <a:rPr sz="1228" b="1" spc="-5" dirty="0">
                <a:latin typeface="Arial"/>
                <a:cs typeface="Arial"/>
              </a:rPr>
              <a:t>Network)</a:t>
            </a:r>
            <a:endParaRPr sz="1228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8458660" y="3200642"/>
            <a:ext cx="412317" cy="323804"/>
          </a:xfrm>
          <a:custGeom>
            <a:avLst/>
            <a:gdLst/>
            <a:ahLst/>
            <a:cxnLst/>
            <a:rect l="l" t="t" r="r" b="b"/>
            <a:pathLst>
              <a:path w="822325" h="645795">
                <a:moveTo>
                  <a:pt x="530346" y="424814"/>
                </a:moveTo>
                <a:lnTo>
                  <a:pt x="530346" y="645457"/>
                </a:lnTo>
                <a:lnTo>
                  <a:pt x="821797" y="322728"/>
                </a:lnTo>
                <a:lnTo>
                  <a:pt x="530346" y="0"/>
                </a:lnTo>
                <a:lnTo>
                  <a:pt x="530346" y="220642"/>
                </a:lnTo>
                <a:lnTo>
                  <a:pt x="0" y="220642"/>
                </a:lnTo>
                <a:lnTo>
                  <a:pt x="0" y="424814"/>
                </a:lnTo>
                <a:lnTo>
                  <a:pt x="530346" y="424814"/>
                </a:lnTo>
                <a:close/>
              </a:path>
            </a:pathLst>
          </a:custGeom>
          <a:ln w="20941">
            <a:solidFill>
              <a:srgbClr val="85888D"/>
            </a:solidFill>
          </a:ln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4" name="object 74"/>
          <p:cNvSpPr txBox="1"/>
          <p:nvPr/>
        </p:nvSpPr>
        <p:spPr>
          <a:xfrm>
            <a:off x="5313789" y="4503503"/>
            <a:ext cx="3984349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dirty="0">
                <a:latin typeface="Arial"/>
                <a:cs typeface="Arial"/>
              </a:rPr>
              <a:t>Man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with</a:t>
            </a:r>
            <a:r>
              <a:rPr sz="1228" spc="1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glasses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-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man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spc="100" dirty="0">
                <a:latin typeface="Arial"/>
                <a:cs typeface="Arial"/>
              </a:rPr>
              <a:t>+</a:t>
            </a:r>
            <a:r>
              <a:rPr sz="1228" spc="1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woman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spc="100" dirty="0">
                <a:latin typeface="Arial"/>
                <a:cs typeface="Arial"/>
              </a:rPr>
              <a:t>=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woman</a:t>
            </a:r>
            <a:r>
              <a:rPr sz="1228" spc="1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with</a:t>
            </a:r>
            <a:r>
              <a:rPr sz="1228" spc="10" dirty="0">
                <a:latin typeface="Arial"/>
                <a:cs typeface="Arial"/>
              </a:rPr>
              <a:t> </a:t>
            </a:r>
            <a:r>
              <a:rPr sz="1228" spc="-5" dirty="0">
                <a:latin typeface="Arial"/>
                <a:cs typeface="Arial"/>
              </a:rPr>
              <a:t>glasses</a:t>
            </a:r>
            <a:endParaRPr sz="122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63" y="739152"/>
            <a:ext cx="2201358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u="sng" spc="2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Image</a:t>
            </a:r>
            <a:r>
              <a:rPr sz="2056" u="sng" spc="1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 </a:t>
            </a:r>
            <a:r>
              <a:rPr sz="2056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Generation:</a:t>
            </a:r>
            <a:endParaRPr sz="2056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7247" y="1300917"/>
            <a:ext cx="2861383" cy="190902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203" dirty="0">
                <a:latin typeface="Arial"/>
                <a:cs typeface="Arial"/>
              </a:rPr>
              <a:t>Samples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from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the</a:t>
            </a:r>
            <a:r>
              <a:rPr sz="1203" spc="15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“generated</a:t>
            </a:r>
            <a:r>
              <a:rPr sz="1203" spc="13" dirty="0">
                <a:latin typeface="Arial"/>
                <a:cs typeface="Arial"/>
              </a:rPr>
              <a:t> </a:t>
            </a:r>
            <a:r>
              <a:rPr sz="1203" spc="-5" dirty="0">
                <a:latin typeface="Arial"/>
                <a:cs typeface="Arial"/>
              </a:rPr>
              <a:t>distribution”</a:t>
            </a:r>
            <a:endParaRPr sz="120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159" y="5280524"/>
            <a:ext cx="2447793" cy="190902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  <a:tabLst>
                <a:tab pos="1478599" algn="l"/>
              </a:tabLst>
            </a:pPr>
            <a:r>
              <a:rPr sz="1203" dirty="0">
                <a:latin typeface="Arial"/>
                <a:cs typeface="Arial"/>
              </a:rPr>
              <a:t>[Zhang</a:t>
            </a:r>
            <a:r>
              <a:rPr sz="1203" spc="25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et</a:t>
            </a:r>
            <a:r>
              <a:rPr sz="1203" spc="28" dirty="0">
                <a:latin typeface="Arial"/>
                <a:cs typeface="Arial"/>
              </a:rPr>
              <a:t> </a:t>
            </a:r>
            <a:r>
              <a:rPr sz="1203" dirty="0">
                <a:latin typeface="Arial"/>
                <a:cs typeface="Arial"/>
              </a:rPr>
              <a:t>al.</a:t>
            </a:r>
            <a:r>
              <a:rPr sz="1203" spc="28" dirty="0">
                <a:latin typeface="Arial"/>
                <a:cs typeface="Arial"/>
              </a:rPr>
              <a:t> </a:t>
            </a:r>
            <a:r>
              <a:rPr sz="1203" spc="-5" dirty="0">
                <a:latin typeface="Arial"/>
                <a:cs typeface="Arial"/>
              </a:rPr>
              <a:t>(2017):</a:t>
            </a:r>
            <a:r>
              <a:rPr sz="1203" dirty="0">
                <a:latin typeface="Arial"/>
                <a:cs typeface="Arial"/>
              </a:rPr>
              <a:t>	</a:t>
            </a:r>
            <a:r>
              <a:rPr sz="1203" spc="-5" dirty="0">
                <a:latin typeface="Arial"/>
                <a:cs typeface="Arial"/>
              </a:rPr>
              <a:t>StackGAN++]</a:t>
            </a:r>
            <a:endParaRPr sz="1203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4589" y="1588717"/>
            <a:ext cx="9408464" cy="3563117"/>
            <a:chOff x="863224" y="3168538"/>
            <a:chExt cx="18764250" cy="710628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847" y="5583772"/>
              <a:ext cx="18476316" cy="46909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224" y="3168538"/>
              <a:ext cx="18763826" cy="243291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65" y="0"/>
            <a:ext cx="0" cy="896471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349369" y="756880"/>
            <a:ext cx="8426331" cy="162020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8915">
              <a:lnSpc>
                <a:spcPct val="100000"/>
              </a:lnSpc>
              <a:spcBef>
                <a:spcPts val="50"/>
              </a:spcBef>
              <a:tabLst>
                <a:tab pos="1898235" algn="l"/>
              </a:tabLst>
            </a:pPr>
            <a:r>
              <a:rPr dirty="0"/>
              <a:t>[Karras</a:t>
            </a:r>
            <a:r>
              <a:rPr spc="10" dirty="0"/>
              <a:t> </a:t>
            </a:r>
            <a:r>
              <a:rPr dirty="0"/>
              <a:t>et</a:t>
            </a:r>
            <a:r>
              <a:rPr spc="13" dirty="0"/>
              <a:t> </a:t>
            </a:r>
            <a:r>
              <a:rPr dirty="0"/>
              <a:t>al.</a:t>
            </a:r>
            <a:r>
              <a:rPr spc="10" dirty="0"/>
              <a:t> </a:t>
            </a:r>
            <a:r>
              <a:rPr spc="-5" dirty="0"/>
              <a:t>(2018):</a:t>
            </a:r>
            <a:r>
              <a:rPr dirty="0"/>
              <a:t>	A </a:t>
            </a:r>
            <a:r>
              <a:rPr spc="-10" dirty="0"/>
              <a:t>Style-</a:t>
            </a:r>
            <a:r>
              <a:rPr dirty="0"/>
              <a:t>Based</a:t>
            </a:r>
            <a:r>
              <a:rPr spc="5" dirty="0"/>
              <a:t> </a:t>
            </a:r>
            <a:r>
              <a:rPr dirty="0"/>
              <a:t>Generator</a:t>
            </a:r>
            <a:r>
              <a:rPr spc="3" dirty="0"/>
              <a:t> </a:t>
            </a:r>
            <a:r>
              <a:rPr dirty="0"/>
              <a:t>Architecture</a:t>
            </a:r>
            <a:r>
              <a:rPr spc="5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dirty="0"/>
              <a:t>Generative</a:t>
            </a:r>
            <a:r>
              <a:rPr spc="5" dirty="0"/>
              <a:t> </a:t>
            </a:r>
            <a:r>
              <a:rPr dirty="0"/>
              <a:t>Adversarial</a:t>
            </a:r>
            <a:r>
              <a:rPr spc="5" dirty="0"/>
              <a:t> </a:t>
            </a:r>
            <a:r>
              <a:rPr spc="-5" dirty="0"/>
              <a:t>Networks]</a:t>
            </a:r>
          </a:p>
          <a:p>
            <a:pPr marL="2547">
              <a:lnSpc>
                <a:spcPct val="100000"/>
              </a:lnSpc>
            </a:pPr>
            <a:endParaRPr sz="1504" dirty="0"/>
          </a:p>
          <a:p>
            <a:pPr marL="2547">
              <a:lnSpc>
                <a:spcPct val="100000"/>
              </a:lnSpc>
              <a:spcBef>
                <a:spcPts val="15"/>
              </a:spcBef>
            </a:pPr>
            <a:endParaRPr sz="1630" dirty="0"/>
          </a:p>
          <a:p>
            <a:pPr marL="1809404" marR="2513044" indent="0">
              <a:lnSpc>
                <a:spcPct val="100499"/>
              </a:lnSpc>
              <a:spcBef>
                <a:spcPts val="3"/>
              </a:spcBef>
              <a:buNone/>
            </a:pPr>
            <a:r>
              <a:rPr lang="en-US" sz="2056" u="sng" spc="-5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</a:rPr>
              <a:t>https://youtu.be/kSLJriaOumA</a:t>
            </a:r>
            <a:endParaRPr sz="2056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2120900" y="189653"/>
            <a:ext cx="10026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482" y="706554"/>
            <a:ext cx="6436356" cy="45424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571" y="2298028"/>
            <a:ext cx="2784037" cy="13580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1892300" y="144692"/>
            <a:ext cx="741795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650" y="5473466"/>
            <a:ext cx="62446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1108"/>
              </a:lnSpc>
            </a:pPr>
            <a:r>
              <a:rPr sz="1103" dirty="0">
                <a:latin typeface="Times New Roman"/>
                <a:cs typeface="Times New Roman"/>
              </a:rPr>
              <a:t>[Zhu,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Park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(2017):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Unpaired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Image-to-Image</a:t>
            </a:r>
            <a:r>
              <a:rPr sz="1103" spc="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Translation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Cycle-Consistent</a:t>
            </a:r>
            <a:r>
              <a:rPr sz="1103" spc="-3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Adversarial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Networks]</a:t>
            </a:r>
            <a:endParaRPr sz="110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100" y="913511"/>
            <a:ext cx="6115024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dirty="0">
                <a:latin typeface="Arial"/>
                <a:cs typeface="Arial"/>
              </a:rPr>
              <a:t>Goal</a:t>
            </a:r>
            <a:r>
              <a:rPr sz="1805" dirty="0">
                <a:latin typeface="Arial"/>
                <a:cs typeface="Arial"/>
              </a:rPr>
              <a:t>:</a:t>
            </a:r>
            <a:r>
              <a:rPr sz="1805" spc="38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Convert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horses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to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zebras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on</a:t>
            </a:r>
            <a:r>
              <a:rPr sz="1805" spc="40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images,</a:t>
            </a:r>
            <a:r>
              <a:rPr sz="1805" spc="40" dirty="0">
                <a:latin typeface="Arial"/>
                <a:cs typeface="Arial"/>
              </a:rPr>
              <a:t> and</a:t>
            </a:r>
            <a:r>
              <a:rPr sz="1805" spc="38" dirty="0">
                <a:latin typeface="Arial"/>
                <a:cs typeface="Arial"/>
              </a:rPr>
              <a:t> </a:t>
            </a:r>
            <a:r>
              <a:rPr sz="1805" dirty="0">
                <a:latin typeface="Arial"/>
                <a:cs typeface="Arial"/>
              </a:rPr>
              <a:t>vice-</a:t>
            </a:r>
            <a:r>
              <a:rPr sz="1805" spc="-5" dirty="0">
                <a:latin typeface="Arial"/>
                <a:cs typeface="Arial"/>
              </a:rPr>
              <a:t>versa.</a:t>
            </a:r>
            <a:endParaRPr sz="1805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438" y="1647427"/>
            <a:ext cx="654613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spc="-5" dirty="0">
                <a:latin typeface="Arial"/>
                <a:cs typeface="Arial"/>
              </a:rPr>
              <a:t>Data?</a:t>
            </a:r>
            <a:endParaRPr sz="18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2766" y="1647427"/>
            <a:ext cx="1514906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spc="-5" dirty="0">
                <a:latin typeface="Arial"/>
                <a:cs typeface="Arial"/>
              </a:rPr>
              <a:t>Architecture?</a:t>
            </a:r>
            <a:endParaRPr sz="18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1670" y="2413947"/>
            <a:ext cx="2035475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dirty="0">
                <a:latin typeface="Arial"/>
                <a:cs typeface="Arial"/>
              </a:rPr>
              <a:t>Unpaired</a:t>
            </a:r>
            <a:r>
              <a:rPr sz="2056" spc="198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images</a:t>
            </a:r>
            <a:endParaRPr sz="2056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532" y="3355959"/>
            <a:ext cx="815172" cy="7020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2671" y="3043964"/>
            <a:ext cx="927792" cy="184172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153" dirty="0">
                <a:latin typeface="Arial"/>
                <a:cs typeface="Arial"/>
              </a:rPr>
              <a:t>Horse </a:t>
            </a:r>
            <a:r>
              <a:rPr sz="1153" spc="-5" dirty="0">
                <a:latin typeface="Arial"/>
                <a:cs typeface="Arial"/>
              </a:rPr>
              <a:t>images</a:t>
            </a:r>
            <a:endParaRPr sz="1153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9859" y="3338715"/>
            <a:ext cx="815220" cy="7365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43199" y="3043964"/>
            <a:ext cx="927792" cy="184172"/>
          </a:xfrm>
          <a:prstGeom prst="rect">
            <a:avLst/>
          </a:prstGeom>
        </p:spPr>
        <p:txBody>
          <a:bodyPr vert="horz" wrap="square" lIns="0" tIns="6686" rIns="0" bIns="0" rtlCol="0">
            <a:spAutoFit/>
          </a:bodyPr>
          <a:lstStyle/>
          <a:p>
            <a:pPr marL="6368">
              <a:spcBef>
                <a:spcPts val="53"/>
              </a:spcBef>
            </a:pPr>
            <a:r>
              <a:rPr sz="1153" dirty="0">
                <a:latin typeface="Arial"/>
                <a:cs typeface="Arial"/>
              </a:rPr>
              <a:t>Zebra</a:t>
            </a:r>
            <a:r>
              <a:rPr sz="1153" spc="60" dirty="0">
                <a:latin typeface="Arial"/>
                <a:cs typeface="Arial"/>
              </a:rPr>
              <a:t> </a:t>
            </a:r>
            <a:r>
              <a:rPr sz="1153" spc="-5" dirty="0">
                <a:latin typeface="Arial"/>
                <a:cs typeface="Arial"/>
              </a:rPr>
              <a:t>images</a:t>
            </a:r>
            <a:endParaRPr sz="115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33857" y="1647427"/>
            <a:ext cx="667348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spc="-5" dirty="0">
                <a:latin typeface="Arial"/>
                <a:cs typeface="Arial"/>
              </a:rPr>
              <a:t>Cost?</a:t>
            </a:r>
            <a:endParaRPr sz="1805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76643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5650" y="5473466"/>
            <a:ext cx="62446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1108"/>
              </a:lnSpc>
            </a:pPr>
            <a:r>
              <a:rPr sz="1103" dirty="0">
                <a:latin typeface="Times New Roman"/>
                <a:cs typeface="Times New Roman"/>
              </a:rPr>
              <a:t>[Zhu,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Park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(2017):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Unpaired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Image-to-Image</a:t>
            </a:r>
            <a:r>
              <a:rPr sz="1103" spc="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Translation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Cycle-Consistent</a:t>
            </a:r>
            <a:r>
              <a:rPr sz="1103" spc="-3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Adversarial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Networks]</a:t>
            </a:r>
            <a:endParaRPr sz="110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339" y="586612"/>
            <a:ext cx="1514906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spc="-5" dirty="0">
                <a:latin typeface="Arial"/>
                <a:cs typeface="Arial"/>
              </a:rPr>
              <a:t>Architecture?</a:t>
            </a:r>
            <a:endParaRPr sz="1805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26702" y="1248996"/>
            <a:ext cx="1084759" cy="925245"/>
            <a:chOff x="8825097" y="2490999"/>
            <a:chExt cx="2163445" cy="1845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5097" y="2490999"/>
              <a:ext cx="2163098" cy="18448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56510" y="2501470"/>
              <a:ext cx="2100276" cy="178200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515768" y="1489922"/>
            <a:ext cx="909326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37200" marR="2547" indent="-231150">
              <a:lnSpc>
                <a:spcPct val="100400"/>
              </a:lnSpc>
              <a:spcBef>
                <a:spcPts val="63"/>
              </a:spcBef>
            </a:pP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Generator1 </a:t>
            </a:r>
            <a:r>
              <a:rPr sz="1304" b="1" spc="-10" dirty="0">
                <a:solidFill>
                  <a:srgbClr val="FFFFFF"/>
                </a:solidFill>
                <a:latin typeface="Arial"/>
                <a:cs typeface="Arial"/>
              </a:rPr>
              <a:t>(H2Z)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76125" y="1686259"/>
            <a:ext cx="688362" cy="88513"/>
            <a:chOff x="7328147" y="3363077"/>
            <a:chExt cx="1372870" cy="176530"/>
          </a:xfrm>
        </p:grpSpPr>
        <p:sp>
          <p:nvSpPr>
            <p:cNvPr id="8" name="object 8"/>
            <p:cNvSpPr/>
            <p:nvPr/>
          </p:nvSpPr>
          <p:spPr>
            <a:xfrm>
              <a:off x="7328147" y="3451033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1196658" y="0"/>
                  </a:lnTo>
                  <a:lnTo>
                    <a:pt x="121760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" name="object 9"/>
            <p:cNvSpPr/>
            <p:nvPr/>
          </p:nvSpPr>
          <p:spPr>
            <a:xfrm>
              <a:off x="8524806" y="336307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421954" y="2247393"/>
            <a:ext cx="1084759" cy="925245"/>
            <a:chOff x="8815629" y="4482203"/>
            <a:chExt cx="2163445" cy="18453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5629" y="4482203"/>
              <a:ext cx="2163098" cy="18448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47042" y="4492674"/>
              <a:ext cx="2100268" cy="178200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510518" y="2487449"/>
            <a:ext cx="909326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37200" marR="2547" indent="-231150">
              <a:lnSpc>
                <a:spcPct val="100400"/>
              </a:lnSpc>
              <a:spcBef>
                <a:spcPts val="63"/>
              </a:spcBef>
            </a:pP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Generator2 (Z2H)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73838" y="2132289"/>
            <a:ext cx="692820" cy="462623"/>
            <a:chOff x="11112949" y="4252639"/>
            <a:chExt cx="1381760" cy="922655"/>
          </a:xfrm>
        </p:grpSpPr>
        <p:sp>
          <p:nvSpPr>
            <p:cNvPr id="15" name="object 15"/>
            <p:cNvSpPr/>
            <p:nvPr/>
          </p:nvSpPr>
          <p:spPr>
            <a:xfrm>
              <a:off x="11242148" y="4273581"/>
              <a:ext cx="1231900" cy="815975"/>
            </a:xfrm>
            <a:custGeom>
              <a:avLst/>
              <a:gdLst/>
              <a:ahLst/>
              <a:cxnLst/>
              <a:rect l="l" t="t" r="r" b="b"/>
              <a:pathLst>
                <a:path w="1231900" h="815975">
                  <a:moveTo>
                    <a:pt x="1231482" y="0"/>
                  </a:moveTo>
                  <a:lnTo>
                    <a:pt x="17458" y="804156"/>
                  </a:lnTo>
                  <a:lnTo>
                    <a:pt x="0" y="815721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12949" y="5004410"/>
              <a:ext cx="195580" cy="170815"/>
            </a:xfrm>
            <a:custGeom>
              <a:avLst/>
              <a:gdLst/>
              <a:ahLst/>
              <a:cxnLst/>
              <a:rect l="l" t="t" r="r" b="b"/>
              <a:pathLst>
                <a:path w="195579" h="170814">
                  <a:moveTo>
                    <a:pt x="98091" y="0"/>
                  </a:moveTo>
                  <a:lnTo>
                    <a:pt x="0" y="170471"/>
                  </a:lnTo>
                  <a:lnTo>
                    <a:pt x="195229" y="146655"/>
                  </a:lnTo>
                  <a:lnTo>
                    <a:pt x="980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573650" y="1688906"/>
            <a:ext cx="688362" cy="88513"/>
            <a:chOff x="11112572" y="3368355"/>
            <a:chExt cx="1372870" cy="176530"/>
          </a:xfrm>
        </p:grpSpPr>
        <p:sp>
          <p:nvSpPr>
            <p:cNvPr id="18" name="object 18"/>
            <p:cNvSpPr/>
            <p:nvPr/>
          </p:nvSpPr>
          <p:spPr>
            <a:xfrm>
              <a:off x="11112572" y="3456310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1196658" y="0"/>
                  </a:lnTo>
                  <a:lnTo>
                    <a:pt x="121760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2309237" y="336835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89574" y="1138163"/>
            <a:ext cx="484591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-5" dirty="0">
                <a:latin typeface="Arial"/>
                <a:cs typeface="Arial"/>
              </a:rPr>
              <a:t>G1(H)</a:t>
            </a:r>
            <a:endParaRPr sz="1354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5514" y="1407411"/>
            <a:ext cx="912173" cy="65119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71980" y="1117162"/>
            <a:ext cx="137863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5" dirty="0">
                <a:latin typeface="Arial"/>
                <a:cs typeface="Arial"/>
              </a:rPr>
              <a:t>H</a:t>
            </a:r>
            <a:endParaRPr sz="1354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9276" y="1375404"/>
            <a:ext cx="918734" cy="65119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725470" y="2104188"/>
            <a:ext cx="831001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-5" dirty="0">
                <a:latin typeface="Arial"/>
                <a:cs typeface="Arial"/>
              </a:rPr>
              <a:t>G2(G1(H))</a:t>
            </a:r>
            <a:endParaRPr sz="1354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76045" y="2667334"/>
            <a:ext cx="688362" cy="88513"/>
            <a:chOff x="7327988" y="5319733"/>
            <a:chExt cx="1372870" cy="176530"/>
          </a:xfrm>
        </p:grpSpPr>
        <p:sp>
          <p:nvSpPr>
            <p:cNvPr id="26" name="object 26"/>
            <p:cNvSpPr/>
            <p:nvPr/>
          </p:nvSpPr>
          <p:spPr>
            <a:xfrm>
              <a:off x="7482957" y="5407688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20941" y="0"/>
                  </a:lnTo>
                  <a:lnTo>
                    <a:pt x="121760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7" name="object 27"/>
            <p:cNvSpPr/>
            <p:nvPr/>
          </p:nvSpPr>
          <p:spPr>
            <a:xfrm>
              <a:off x="7327988" y="531973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9197" y="2385839"/>
            <a:ext cx="918734" cy="651191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7982551" y="1248996"/>
            <a:ext cx="1221986" cy="925245"/>
            <a:chOff x="15916887" y="2490999"/>
            <a:chExt cx="2437130" cy="1845310"/>
          </a:xfrm>
        </p:grpSpPr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16887" y="2490999"/>
              <a:ext cx="2436690" cy="184483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48300" y="2501470"/>
              <a:ext cx="2373864" cy="178200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033362" y="1594925"/>
            <a:ext cx="1115643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5" dirty="0">
                <a:solidFill>
                  <a:srgbClr val="FFFFFF"/>
                </a:solidFill>
                <a:latin typeface="Arial"/>
                <a:cs typeface="Arial"/>
              </a:rPr>
              <a:t>Discriminator1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383568" y="1686259"/>
            <a:ext cx="518978" cy="88513"/>
            <a:chOff x="14722275" y="3363077"/>
            <a:chExt cx="1035050" cy="176530"/>
          </a:xfrm>
        </p:grpSpPr>
        <p:sp>
          <p:nvSpPr>
            <p:cNvPr id="34" name="object 34"/>
            <p:cNvSpPr/>
            <p:nvPr/>
          </p:nvSpPr>
          <p:spPr>
            <a:xfrm>
              <a:off x="14722275" y="3451033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09">
                  <a:moveTo>
                    <a:pt x="0" y="0"/>
                  </a:moveTo>
                  <a:lnTo>
                    <a:pt x="858884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5" name="object 35"/>
            <p:cNvSpPr/>
            <p:nvPr/>
          </p:nvSpPr>
          <p:spPr>
            <a:xfrm>
              <a:off x="15581159" y="336307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9298861" y="1656898"/>
            <a:ext cx="518978" cy="88513"/>
            <a:chOff x="18542136" y="3304519"/>
            <a:chExt cx="1035050" cy="176530"/>
          </a:xfrm>
        </p:grpSpPr>
        <p:sp>
          <p:nvSpPr>
            <p:cNvPr id="37" name="object 37"/>
            <p:cNvSpPr/>
            <p:nvPr/>
          </p:nvSpPr>
          <p:spPr>
            <a:xfrm>
              <a:off x="18542136" y="3392474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09">
                  <a:moveTo>
                    <a:pt x="0" y="0"/>
                  </a:moveTo>
                  <a:lnTo>
                    <a:pt x="858884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8" name="object 38"/>
            <p:cNvSpPr/>
            <p:nvPr/>
          </p:nvSpPr>
          <p:spPr>
            <a:xfrm>
              <a:off x="19401021" y="330451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608848" y="583401"/>
            <a:ext cx="1242681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25471">
              <a:spcBef>
                <a:spcPts val="55"/>
              </a:spcBef>
              <a:tabLst>
                <a:tab pos="444471" algn="l"/>
                <a:tab pos="674030" algn="l"/>
              </a:tabLst>
            </a:pPr>
            <a:r>
              <a:rPr sz="1542" baseline="16260" dirty="0">
                <a:latin typeface="Symbol"/>
                <a:cs typeface="Symbol"/>
              </a:rPr>
              <a:t></a:t>
            </a:r>
            <a:r>
              <a:rPr sz="1542" spc="-192" baseline="16260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0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13" dirty="0">
                <a:latin typeface="Times New Roman"/>
                <a:cs typeface="Times New Roman"/>
              </a:rPr>
              <a:t>if</a:t>
            </a:r>
            <a:r>
              <a:rPr sz="1028" i="1" dirty="0">
                <a:latin typeface="Times New Roman"/>
                <a:cs typeface="Times New Roman"/>
              </a:rPr>
              <a:t>	x</a:t>
            </a:r>
            <a:r>
              <a:rPr sz="1028" i="1" spc="-15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i="1" spc="-38" dirty="0">
                <a:latin typeface="Times New Roman"/>
                <a:cs typeface="Times New Roman"/>
              </a:rPr>
              <a:t>G</a:t>
            </a:r>
            <a:r>
              <a:rPr sz="1028" spc="-38" dirty="0">
                <a:latin typeface="Times New Roman"/>
                <a:cs typeface="Times New Roman"/>
              </a:rPr>
              <a:t>1(</a:t>
            </a:r>
            <a:r>
              <a:rPr sz="1028" spc="-15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H</a:t>
            </a:r>
            <a:r>
              <a:rPr sz="1028" i="1" spc="-127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27951" y="730798"/>
            <a:ext cx="1392644" cy="28920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lnSpc>
                <a:spcPts val="1091"/>
              </a:lnSpc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</a:t>
            </a:r>
            <a:endParaRPr sz="1028">
              <a:latin typeface="Symbol"/>
              <a:cs typeface="Symbol"/>
            </a:endParaRPr>
          </a:p>
          <a:p>
            <a:pPr marL="87557">
              <a:lnSpc>
                <a:spcPts val="1091"/>
              </a:lnSpc>
              <a:tabLst>
                <a:tab pos="406264" algn="l"/>
                <a:tab pos="1029670" algn="l"/>
              </a:tabLst>
            </a:pP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95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1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5" dirty="0">
                <a:latin typeface="Times New Roman"/>
                <a:cs typeface="Times New Roman"/>
              </a:rPr>
              <a:t>otherwise</a:t>
            </a:r>
            <a:r>
              <a:rPr sz="1028" i="1" dirty="0">
                <a:latin typeface="Times New Roman"/>
                <a:cs typeface="Times New Roman"/>
              </a:rPr>
              <a:t>	</a:t>
            </a:r>
            <a:r>
              <a:rPr sz="1028" spc="40" dirty="0">
                <a:latin typeface="Times New Roman"/>
                <a:cs typeface="Times New Roman"/>
              </a:rPr>
              <a:t>(</a:t>
            </a:r>
            <a:r>
              <a:rPr sz="1028" i="1" spc="40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33" dirty="0">
                <a:latin typeface="Times New Roman"/>
                <a:cs typeface="Times New Roman"/>
              </a:rPr>
              <a:t> </a:t>
            </a:r>
            <a:r>
              <a:rPr sz="1028" i="1" spc="20" dirty="0">
                <a:latin typeface="Times New Roman"/>
                <a:cs typeface="Times New Roman"/>
              </a:rPr>
              <a:t>z</a:t>
            </a:r>
            <a:r>
              <a:rPr sz="1028" spc="20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27951" y="630937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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615215" y="859387"/>
            <a:ext cx="103159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</a:pPr>
            <a:r>
              <a:rPr sz="1028" spc="-268" dirty="0">
                <a:latin typeface="Symbol"/>
                <a:cs typeface="Symbol"/>
              </a:rPr>
              <a:t></a:t>
            </a:r>
            <a:r>
              <a:rPr sz="1542" spc="-402" baseline="-24390" dirty="0">
                <a:latin typeface="Symbol"/>
                <a:cs typeface="Symbol"/>
              </a:rPr>
              <a:t></a:t>
            </a:r>
            <a:endParaRPr sz="1542" baseline="-24390">
              <a:latin typeface="Symbol"/>
              <a:cs typeface="Symbo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418111" y="3301682"/>
            <a:ext cx="1084759" cy="925245"/>
            <a:chOff x="8807964" y="6584877"/>
            <a:chExt cx="2163445" cy="184531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7964" y="6584877"/>
              <a:ext cx="2163098" cy="184483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377" y="6595348"/>
              <a:ext cx="2100268" cy="178200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505268" y="3542727"/>
            <a:ext cx="909326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42612" marR="2547" indent="-236563">
              <a:lnSpc>
                <a:spcPct val="100400"/>
              </a:lnSpc>
              <a:spcBef>
                <a:spcPts val="63"/>
              </a:spcBef>
            </a:pP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Generator1 (H2Z)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640105" y="3803411"/>
            <a:ext cx="715744" cy="653657"/>
            <a:chOff x="7256309" y="7585526"/>
            <a:chExt cx="1427480" cy="1303655"/>
          </a:xfrm>
        </p:grpSpPr>
        <p:sp>
          <p:nvSpPr>
            <p:cNvPr id="48" name="object 48"/>
            <p:cNvSpPr/>
            <p:nvPr/>
          </p:nvSpPr>
          <p:spPr>
            <a:xfrm>
              <a:off x="7277251" y="7689960"/>
              <a:ext cx="1292225" cy="1178560"/>
            </a:xfrm>
            <a:custGeom>
              <a:avLst/>
              <a:gdLst/>
              <a:ahLst/>
              <a:cxnLst/>
              <a:rect l="l" t="t" r="r" b="b"/>
              <a:pathLst>
                <a:path w="1292225" h="1178559">
                  <a:moveTo>
                    <a:pt x="0" y="1178172"/>
                  </a:moveTo>
                  <a:lnTo>
                    <a:pt x="1276205" y="14112"/>
                  </a:lnTo>
                  <a:lnTo>
                    <a:pt x="1291677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9" name="object 49"/>
            <p:cNvSpPr/>
            <p:nvPr/>
          </p:nvSpPr>
          <p:spPr>
            <a:xfrm>
              <a:off x="8494183" y="7585526"/>
              <a:ext cx="189865" cy="184150"/>
            </a:xfrm>
            <a:custGeom>
              <a:avLst/>
              <a:gdLst/>
              <a:ahLst/>
              <a:cxnLst/>
              <a:rect l="l" t="t" r="r" b="b"/>
              <a:pathLst>
                <a:path w="189865" h="184150">
                  <a:moveTo>
                    <a:pt x="189240" y="0"/>
                  </a:moveTo>
                  <a:lnTo>
                    <a:pt x="0" y="53562"/>
                  </a:lnTo>
                  <a:lnTo>
                    <a:pt x="118546" y="183530"/>
                  </a:lnTo>
                  <a:lnTo>
                    <a:pt x="189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4413363" y="4300079"/>
            <a:ext cx="1084759" cy="925245"/>
            <a:chOff x="8798495" y="8576082"/>
            <a:chExt cx="2163445" cy="1845310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8495" y="8576082"/>
              <a:ext cx="2163098" cy="184483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29908" y="8586553"/>
              <a:ext cx="2100272" cy="178200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4500017" y="4540254"/>
            <a:ext cx="909326" cy="409430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242612" marR="2547" indent="-236563">
              <a:lnSpc>
                <a:spcPct val="100400"/>
              </a:lnSpc>
              <a:spcBef>
                <a:spcPts val="63"/>
              </a:spcBef>
            </a:pPr>
            <a:r>
              <a:rPr sz="1304" b="1" spc="-5" dirty="0">
                <a:solidFill>
                  <a:srgbClr val="FFFFFF"/>
                </a:solidFill>
                <a:latin typeface="Arial"/>
                <a:cs typeface="Arial"/>
              </a:rPr>
              <a:t>Generator2 (Z2H)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555647" y="4707981"/>
            <a:ext cx="623729" cy="88513"/>
            <a:chOff x="11076668" y="9389602"/>
            <a:chExt cx="1243965" cy="176530"/>
          </a:xfrm>
        </p:grpSpPr>
        <p:sp>
          <p:nvSpPr>
            <p:cNvPr id="55" name="object 55"/>
            <p:cNvSpPr/>
            <p:nvPr/>
          </p:nvSpPr>
          <p:spPr>
            <a:xfrm>
              <a:off x="11231633" y="9477557"/>
              <a:ext cx="1089025" cy="0"/>
            </a:xfrm>
            <a:custGeom>
              <a:avLst/>
              <a:gdLst/>
              <a:ahLst/>
              <a:cxnLst/>
              <a:rect l="l" t="t" r="r" b="b"/>
              <a:pathLst>
                <a:path w="1089025">
                  <a:moveTo>
                    <a:pt x="1088662" y="0"/>
                  </a:moveTo>
                  <a:lnTo>
                    <a:pt x="20941" y="0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6" name="object 56"/>
            <p:cNvSpPr/>
            <p:nvPr/>
          </p:nvSpPr>
          <p:spPr>
            <a:xfrm>
              <a:off x="11076668" y="9389602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752329" y="4156993"/>
            <a:ext cx="118759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5" dirty="0">
                <a:latin typeface="Arial"/>
                <a:cs typeface="Arial"/>
              </a:rPr>
              <a:t>Z</a:t>
            </a:r>
            <a:endParaRPr sz="1354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48660" y="4433304"/>
            <a:ext cx="918734" cy="712863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2898725" y="4141243"/>
            <a:ext cx="465170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-5" dirty="0">
                <a:latin typeface="Arial"/>
                <a:cs typeface="Arial"/>
              </a:rPr>
              <a:t>G2(Z)</a:t>
            </a:r>
            <a:endParaRPr sz="1354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667454" y="4720019"/>
            <a:ext cx="688362" cy="88513"/>
            <a:chOff x="7310854" y="9413610"/>
            <a:chExt cx="1372870" cy="176530"/>
          </a:xfrm>
        </p:grpSpPr>
        <p:sp>
          <p:nvSpPr>
            <p:cNvPr id="61" name="object 61"/>
            <p:cNvSpPr/>
            <p:nvPr/>
          </p:nvSpPr>
          <p:spPr>
            <a:xfrm>
              <a:off x="7465823" y="9501566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20941" y="0"/>
                  </a:lnTo>
                  <a:lnTo>
                    <a:pt x="121760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2" name="object 62"/>
            <p:cNvSpPr/>
            <p:nvPr/>
          </p:nvSpPr>
          <p:spPr>
            <a:xfrm>
              <a:off x="7310854" y="941361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63" name="object 6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50478" y="4436537"/>
            <a:ext cx="912173" cy="706397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5565061" y="3709584"/>
            <a:ext cx="688362" cy="88513"/>
            <a:chOff x="11095442" y="7398398"/>
            <a:chExt cx="1372870" cy="176530"/>
          </a:xfrm>
        </p:grpSpPr>
        <p:sp>
          <p:nvSpPr>
            <p:cNvPr id="65" name="object 65"/>
            <p:cNvSpPr/>
            <p:nvPr/>
          </p:nvSpPr>
          <p:spPr>
            <a:xfrm>
              <a:off x="11095442" y="7486353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1196658" y="0"/>
                  </a:lnTo>
                  <a:lnTo>
                    <a:pt x="121760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6" name="object 66"/>
            <p:cNvSpPr/>
            <p:nvPr/>
          </p:nvSpPr>
          <p:spPr>
            <a:xfrm>
              <a:off x="12292096" y="739839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60362" y="3397254"/>
            <a:ext cx="918734" cy="712863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6400568" y="3112215"/>
            <a:ext cx="811898" cy="216106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354" spc="-5" dirty="0">
                <a:latin typeface="Arial"/>
                <a:cs typeface="Arial"/>
              </a:rPr>
              <a:t>G1(G2(Z))</a:t>
            </a:r>
            <a:endParaRPr sz="1354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69382" y="4300079"/>
            <a:ext cx="1221986" cy="925245"/>
            <a:chOff x="1530937" y="8576082"/>
            <a:chExt cx="2437130" cy="1845310"/>
          </a:xfrm>
        </p:grpSpPr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0937" y="8576082"/>
              <a:ext cx="2436690" cy="184483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2350" y="8586553"/>
              <a:ext cx="2373864" cy="1782009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824919" y="4645257"/>
            <a:ext cx="1115643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5" dirty="0">
                <a:solidFill>
                  <a:srgbClr val="FFFFFF"/>
                </a:solidFill>
                <a:latin typeface="Arial"/>
                <a:cs typeface="Arial"/>
              </a:rPr>
              <a:t>Discriminator2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053513" y="4720019"/>
            <a:ext cx="518978" cy="88513"/>
            <a:chOff x="4092008" y="9413610"/>
            <a:chExt cx="1035050" cy="176530"/>
          </a:xfrm>
        </p:grpSpPr>
        <p:sp>
          <p:nvSpPr>
            <p:cNvPr id="74" name="object 74"/>
            <p:cNvSpPr/>
            <p:nvPr/>
          </p:nvSpPr>
          <p:spPr>
            <a:xfrm>
              <a:off x="4246977" y="9501566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10">
                  <a:moveTo>
                    <a:pt x="0" y="0"/>
                  </a:moveTo>
                  <a:lnTo>
                    <a:pt x="20941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75" name="object 75"/>
            <p:cNvSpPr/>
            <p:nvPr/>
          </p:nvSpPr>
          <p:spPr>
            <a:xfrm>
              <a:off x="4092008" y="941361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188167" y="4745634"/>
            <a:ext cx="518978" cy="88513"/>
            <a:chOff x="371761" y="9464697"/>
            <a:chExt cx="1035050" cy="176530"/>
          </a:xfrm>
        </p:grpSpPr>
        <p:sp>
          <p:nvSpPr>
            <p:cNvPr id="77" name="object 77"/>
            <p:cNvSpPr/>
            <p:nvPr/>
          </p:nvSpPr>
          <p:spPr>
            <a:xfrm>
              <a:off x="526730" y="9552652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10">
                  <a:moveTo>
                    <a:pt x="0" y="0"/>
                  </a:moveTo>
                  <a:lnTo>
                    <a:pt x="20941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78" name="object 78"/>
            <p:cNvSpPr/>
            <p:nvPr/>
          </p:nvSpPr>
          <p:spPr>
            <a:xfrm>
              <a:off x="371761" y="946469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97468" y="3753990"/>
            <a:ext cx="554001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i="1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28" dirty="0">
                <a:latin typeface="Times New Roman"/>
                <a:cs typeface="Times New Roman"/>
              </a:rPr>
              <a:t> </a:t>
            </a:r>
            <a:r>
              <a:rPr sz="1028" i="1" spc="28" dirty="0">
                <a:latin typeface="Times New Roman"/>
                <a:cs typeface="Times New Roman"/>
              </a:rPr>
              <a:t>G</a:t>
            </a:r>
            <a:r>
              <a:rPr sz="1028" spc="28" dirty="0">
                <a:latin typeface="Times New Roman"/>
                <a:cs typeface="Times New Roman"/>
              </a:rPr>
              <a:t>2(</a:t>
            </a:r>
            <a:r>
              <a:rPr sz="1028" i="1" spc="28" dirty="0">
                <a:latin typeface="Times New Roman"/>
                <a:cs typeface="Times New Roman"/>
              </a:rPr>
              <a:t>Z</a:t>
            </a:r>
            <a:r>
              <a:rPr sz="1028" i="1" spc="-148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8713" y="3715346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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35977" y="3753990"/>
            <a:ext cx="529803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  <a:tabLst>
                <a:tab pos="438103" algn="l"/>
              </a:tabLst>
            </a:pPr>
            <a:r>
              <a:rPr sz="1542" baseline="-20325" dirty="0">
                <a:latin typeface="Symbol"/>
                <a:cs typeface="Symbol"/>
              </a:rPr>
              <a:t></a:t>
            </a:r>
            <a:r>
              <a:rPr sz="1542" spc="-192" baseline="-2032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0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13" dirty="0">
                <a:latin typeface="Times New Roman"/>
                <a:cs typeface="Times New Roman"/>
              </a:rPr>
              <a:t>if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23241" y="3901389"/>
            <a:ext cx="1442950" cy="289202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31839">
              <a:lnSpc>
                <a:spcPts val="1091"/>
              </a:lnSpc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</a:t>
            </a:r>
            <a:endParaRPr sz="1028">
              <a:latin typeface="Symbol"/>
              <a:cs typeface="Symbol"/>
            </a:endParaRPr>
          </a:p>
          <a:p>
            <a:pPr marL="31839">
              <a:lnSpc>
                <a:spcPts val="1091"/>
              </a:lnSpc>
              <a:tabLst>
                <a:tab pos="431735" algn="l"/>
                <a:tab pos="1055141" algn="l"/>
              </a:tabLst>
            </a:pPr>
            <a:r>
              <a:rPr sz="1542" spc="-384" baseline="-4065" dirty="0">
                <a:latin typeface="Symbol"/>
                <a:cs typeface="Symbol"/>
              </a:rPr>
              <a:t></a:t>
            </a:r>
            <a:r>
              <a:rPr sz="1542" spc="-384" baseline="-28455" dirty="0">
                <a:latin typeface="Symbol"/>
                <a:cs typeface="Symbol"/>
              </a:rPr>
              <a:t></a:t>
            </a:r>
            <a:r>
              <a:rPr sz="1542" spc="-192" baseline="-2845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93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1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5" dirty="0">
                <a:latin typeface="Times New Roman"/>
                <a:cs typeface="Times New Roman"/>
              </a:rPr>
              <a:t>otherwise</a:t>
            </a:r>
            <a:r>
              <a:rPr sz="1028" i="1" dirty="0">
                <a:latin typeface="Times New Roman"/>
                <a:cs typeface="Times New Roman"/>
              </a:rPr>
              <a:t>	</a:t>
            </a:r>
            <a:r>
              <a:rPr sz="1028" spc="40" dirty="0">
                <a:latin typeface="Times New Roman"/>
                <a:cs typeface="Times New Roman"/>
              </a:rPr>
              <a:t>(</a:t>
            </a:r>
            <a:r>
              <a:rPr sz="1028" i="1" spc="40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13" dirty="0">
                <a:latin typeface="Times New Roman"/>
                <a:cs typeface="Times New Roman"/>
              </a:rPr>
              <a:t> </a:t>
            </a:r>
            <a:r>
              <a:rPr sz="1028" i="1" spc="-13" dirty="0">
                <a:latin typeface="Times New Roman"/>
                <a:cs typeface="Times New Roman"/>
              </a:rPr>
              <a:t>h</a:t>
            </a:r>
            <a:r>
              <a:rPr sz="1028" spc="-13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25167" y="1169664"/>
            <a:ext cx="649518" cy="648981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-13" dirty="0">
                <a:solidFill>
                  <a:srgbClr val="773F9B"/>
                </a:solidFill>
                <a:latin typeface="Arial"/>
                <a:cs typeface="Arial"/>
              </a:rPr>
              <a:t>H2Z</a:t>
            </a:r>
            <a:endParaRPr sz="2056">
              <a:latin typeface="Arial"/>
              <a:cs typeface="Arial"/>
            </a:endParaRPr>
          </a:p>
          <a:p>
            <a:pPr marL="101566">
              <a:spcBef>
                <a:spcPts val="1316"/>
              </a:spcBef>
            </a:pPr>
            <a:r>
              <a:rPr sz="1028" i="1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28" dirty="0">
                <a:latin typeface="Times New Roman"/>
                <a:cs typeface="Times New Roman"/>
              </a:rPr>
              <a:t> </a:t>
            </a:r>
            <a:r>
              <a:rPr sz="1028" i="1" spc="28" dirty="0">
                <a:latin typeface="Times New Roman"/>
                <a:cs typeface="Times New Roman"/>
              </a:rPr>
              <a:t>G</a:t>
            </a:r>
            <a:r>
              <a:rPr sz="1028" spc="28" dirty="0">
                <a:latin typeface="Times New Roman"/>
                <a:cs typeface="Times New Roman"/>
              </a:rPr>
              <a:t>2(</a:t>
            </a:r>
            <a:r>
              <a:rPr sz="1028" i="1" spc="28" dirty="0">
                <a:latin typeface="Times New Roman"/>
                <a:cs typeface="Times New Roman"/>
              </a:rPr>
              <a:t>Z</a:t>
            </a:r>
            <a:r>
              <a:rPr sz="1028" i="1" spc="-148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610878" y="4624256"/>
            <a:ext cx="50878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-13" dirty="0">
                <a:solidFill>
                  <a:srgbClr val="773F9B"/>
                </a:solidFill>
                <a:latin typeface="Arial"/>
                <a:cs typeface="Arial"/>
              </a:rPr>
              <a:t>Z2H</a:t>
            </a:r>
            <a:endParaRPr sz="2056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802768" y="2257724"/>
            <a:ext cx="1221986" cy="925245"/>
            <a:chOff x="1597522" y="4502806"/>
            <a:chExt cx="2437130" cy="1845310"/>
          </a:xfrm>
        </p:grpSpPr>
        <p:pic>
          <p:nvPicPr>
            <p:cNvPr id="86" name="object 8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7522" y="4502806"/>
              <a:ext cx="2436690" cy="184483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28934" y="4513278"/>
              <a:ext cx="2373864" cy="1782008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856420" y="2602953"/>
            <a:ext cx="1115643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5" dirty="0">
                <a:solidFill>
                  <a:srgbClr val="FFFFFF"/>
                </a:solidFill>
                <a:latin typeface="Arial"/>
                <a:cs typeface="Arial"/>
              </a:rPr>
              <a:t>Discriminator2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086898" y="2677664"/>
            <a:ext cx="518978" cy="88513"/>
            <a:chOff x="4158592" y="5340336"/>
            <a:chExt cx="1035050" cy="176530"/>
          </a:xfrm>
        </p:grpSpPr>
        <p:sp>
          <p:nvSpPr>
            <p:cNvPr id="90" name="object 90"/>
            <p:cNvSpPr/>
            <p:nvPr/>
          </p:nvSpPr>
          <p:spPr>
            <a:xfrm>
              <a:off x="4313561" y="5428291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10">
                  <a:moveTo>
                    <a:pt x="0" y="0"/>
                  </a:moveTo>
                  <a:lnTo>
                    <a:pt x="20941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1" name="object 91"/>
            <p:cNvSpPr/>
            <p:nvPr/>
          </p:nvSpPr>
          <p:spPr>
            <a:xfrm>
              <a:off x="4158592" y="5340336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221553" y="2703278"/>
            <a:ext cx="518978" cy="88513"/>
            <a:chOff x="438345" y="5391421"/>
            <a:chExt cx="1035050" cy="176530"/>
          </a:xfrm>
        </p:grpSpPr>
        <p:sp>
          <p:nvSpPr>
            <p:cNvPr id="93" name="object 93"/>
            <p:cNvSpPr/>
            <p:nvPr/>
          </p:nvSpPr>
          <p:spPr>
            <a:xfrm>
              <a:off x="593314" y="5479376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10">
                  <a:moveTo>
                    <a:pt x="0" y="0"/>
                  </a:moveTo>
                  <a:lnTo>
                    <a:pt x="20941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94" name="object 94"/>
            <p:cNvSpPr/>
            <p:nvPr/>
          </p:nvSpPr>
          <p:spPr>
            <a:xfrm>
              <a:off x="438345" y="5391421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59180" y="1650543"/>
            <a:ext cx="529803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  <a:tabLst>
                <a:tab pos="438103" algn="l"/>
              </a:tabLst>
            </a:pPr>
            <a:r>
              <a:rPr sz="1542" baseline="16260" dirty="0">
                <a:latin typeface="Symbol"/>
                <a:cs typeface="Symbol"/>
              </a:rPr>
              <a:t></a:t>
            </a:r>
            <a:r>
              <a:rPr sz="1542" spc="-192" baseline="16260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0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13" dirty="0">
                <a:latin typeface="Times New Roman"/>
                <a:cs typeface="Times New Roman"/>
              </a:rPr>
              <a:t>if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71916" y="1797940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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71916" y="1698079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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52812" y="1917979"/>
            <a:ext cx="1430214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25471">
              <a:spcBef>
                <a:spcPts val="55"/>
              </a:spcBef>
              <a:tabLst>
                <a:tab pos="425368" algn="l"/>
                <a:tab pos="1048773" algn="l"/>
              </a:tabLst>
            </a:pPr>
            <a:r>
              <a:rPr sz="1542" spc="-384" baseline="-4065" dirty="0">
                <a:latin typeface="Symbol"/>
                <a:cs typeface="Symbol"/>
              </a:rPr>
              <a:t></a:t>
            </a:r>
            <a:r>
              <a:rPr sz="1542" spc="-384" baseline="-28455" dirty="0">
                <a:latin typeface="Symbol"/>
                <a:cs typeface="Symbol"/>
              </a:rPr>
              <a:t></a:t>
            </a:r>
            <a:r>
              <a:rPr sz="1542" spc="-192" baseline="-2845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93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1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5" dirty="0">
                <a:latin typeface="Times New Roman"/>
                <a:cs typeface="Times New Roman"/>
              </a:rPr>
              <a:t>otherwise</a:t>
            </a:r>
            <a:r>
              <a:rPr sz="1028" i="1" dirty="0">
                <a:latin typeface="Times New Roman"/>
                <a:cs typeface="Times New Roman"/>
              </a:rPr>
              <a:t>	</a:t>
            </a:r>
            <a:r>
              <a:rPr sz="1028" spc="40" dirty="0">
                <a:latin typeface="Times New Roman"/>
                <a:cs typeface="Times New Roman"/>
              </a:rPr>
              <a:t>(</a:t>
            </a:r>
            <a:r>
              <a:rPr sz="1028" i="1" spc="40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13" dirty="0">
                <a:latin typeface="Times New Roman"/>
                <a:cs typeface="Times New Roman"/>
              </a:rPr>
              <a:t> </a:t>
            </a:r>
            <a:r>
              <a:rPr sz="1028" i="1" spc="-13" dirty="0">
                <a:latin typeface="Times New Roman"/>
                <a:cs typeface="Times New Roman"/>
              </a:rPr>
              <a:t>h</a:t>
            </a:r>
            <a:r>
              <a:rPr sz="1028" spc="-13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982551" y="3256459"/>
            <a:ext cx="1221986" cy="925245"/>
            <a:chOff x="15916887" y="6494684"/>
            <a:chExt cx="2437130" cy="1845310"/>
          </a:xfrm>
        </p:grpSpPr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16887" y="6494684"/>
              <a:ext cx="2436690" cy="184483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48300" y="6505155"/>
              <a:ext cx="2373864" cy="1782009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8033362" y="3600479"/>
            <a:ext cx="1115643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5" dirty="0">
                <a:solidFill>
                  <a:srgbClr val="FFFFFF"/>
                </a:solidFill>
                <a:latin typeface="Arial"/>
                <a:cs typeface="Arial"/>
              </a:rPr>
              <a:t>Discriminator1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7383568" y="3693723"/>
            <a:ext cx="518978" cy="88513"/>
            <a:chOff x="14722275" y="7366764"/>
            <a:chExt cx="1035050" cy="176530"/>
          </a:xfrm>
        </p:grpSpPr>
        <p:sp>
          <p:nvSpPr>
            <p:cNvPr id="104" name="object 104"/>
            <p:cNvSpPr/>
            <p:nvPr/>
          </p:nvSpPr>
          <p:spPr>
            <a:xfrm>
              <a:off x="14722275" y="7454719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09">
                  <a:moveTo>
                    <a:pt x="0" y="0"/>
                  </a:moveTo>
                  <a:lnTo>
                    <a:pt x="858884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5581159" y="736676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9298861" y="3664361"/>
            <a:ext cx="518978" cy="88513"/>
            <a:chOff x="18542136" y="7308205"/>
            <a:chExt cx="1035050" cy="176530"/>
          </a:xfrm>
        </p:grpSpPr>
        <p:sp>
          <p:nvSpPr>
            <p:cNvPr id="107" name="object 107"/>
            <p:cNvSpPr/>
            <p:nvPr/>
          </p:nvSpPr>
          <p:spPr>
            <a:xfrm>
              <a:off x="18542136" y="7396160"/>
              <a:ext cx="880110" cy="0"/>
            </a:xfrm>
            <a:custGeom>
              <a:avLst/>
              <a:gdLst/>
              <a:ahLst/>
              <a:cxnLst/>
              <a:rect l="l" t="t" r="r" b="b"/>
              <a:pathLst>
                <a:path w="880109">
                  <a:moveTo>
                    <a:pt x="0" y="0"/>
                  </a:moveTo>
                  <a:lnTo>
                    <a:pt x="858884" y="0"/>
                  </a:lnTo>
                  <a:lnTo>
                    <a:pt x="879826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9401021" y="730820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615215" y="2590863"/>
            <a:ext cx="529803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19103">
              <a:spcBef>
                <a:spcPts val="55"/>
              </a:spcBef>
              <a:tabLst>
                <a:tab pos="438103" algn="l"/>
              </a:tabLst>
            </a:pPr>
            <a:r>
              <a:rPr sz="1542" baseline="16260" dirty="0">
                <a:latin typeface="Symbol"/>
                <a:cs typeface="Symbol"/>
              </a:rPr>
              <a:t></a:t>
            </a:r>
            <a:r>
              <a:rPr sz="1542" spc="-192" baseline="16260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0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13" dirty="0">
                <a:latin typeface="Times New Roman"/>
                <a:cs typeface="Times New Roman"/>
              </a:rPr>
              <a:t>if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9276707" y="2590863"/>
            <a:ext cx="561961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i="1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30" dirty="0">
                <a:latin typeface="Times New Roman"/>
                <a:cs typeface="Times New Roman"/>
              </a:rPr>
              <a:t> </a:t>
            </a:r>
            <a:r>
              <a:rPr sz="1028" i="1" spc="-38" dirty="0">
                <a:latin typeface="Times New Roman"/>
                <a:cs typeface="Times New Roman"/>
              </a:rPr>
              <a:t>G</a:t>
            </a:r>
            <a:r>
              <a:rPr sz="1028" spc="-38" dirty="0">
                <a:latin typeface="Times New Roman"/>
                <a:cs typeface="Times New Roman"/>
              </a:rPr>
              <a:t>1(</a:t>
            </a:r>
            <a:r>
              <a:rPr sz="1028" spc="-15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H</a:t>
            </a:r>
            <a:r>
              <a:rPr sz="1028" i="1" spc="-127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627951" y="2738262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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627951" y="2638400"/>
            <a:ext cx="77687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6368">
              <a:spcBef>
                <a:spcPts val="55"/>
              </a:spcBef>
            </a:pPr>
            <a:r>
              <a:rPr sz="1028" spc="3" dirty="0">
                <a:latin typeface="Symbol"/>
                <a:cs typeface="Symbol"/>
              </a:rPr>
              <a:t></a:t>
            </a:r>
            <a:endParaRPr sz="1028">
              <a:latin typeface="Symbol"/>
              <a:cs typeface="Symbo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608847" y="2858300"/>
            <a:ext cx="1424483" cy="165258"/>
          </a:xfrm>
          <a:prstGeom prst="rect">
            <a:avLst/>
          </a:prstGeom>
        </p:spPr>
        <p:txBody>
          <a:bodyPr vert="horz" wrap="square" lIns="0" tIns="7005" rIns="0" bIns="0" rtlCol="0">
            <a:spAutoFit/>
          </a:bodyPr>
          <a:lstStyle/>
          <a:p>
            <a:pPr marL="25471">
              <a:spcBef>
                <a:spcPts val="55"/>
              </a:spcBef>
              <a:tabLst>
                <a:tab pos="425368" algn="l"/>
                <a:tab pos="1048773" algn="l"/>
              </a:tabLst>
            </a:pPr>
            <a:r>
              <a:rPr sz="1542" spc="-384" baseline="-4065" dirty="0">
                <a:latin typeface="Symbol"/>
                <a:cs typeface="Symbol"/>
              </a:rPr>
              <a:t></a:t>
            </a:r>
            <a:r>
              <a:rPr sz="1542" spc="-384" baseline="-28455" dirty="0">
                <a:latin typeface="Symbol"/>
                <a:cs typeface="Symbol"/>
              </a:rPr>
              <a:t></a:t>
            </a:r>
            <a:r>
              <a:rPr sz="1542" spc="-192" baseline="-28455" dirty="0">
                <a:latin typeface="Times New Roman"/>
                <a:cs typeface="Times New Roman"/>
              </a:rPr>
              <a:t> </a:t>
            </a:r>
            <a:r>
              <a:rPr sz="1028" i="1" dirty="0">
                <a:latin typeface="Times New Roman"/>
                <a:cs typeface="Times New Roman"/>
              </a:rPr>
              <a:t>y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-93" dirty="0">
                <a:latin typeface="Times New Roman"/>
                <a:cs typeface="Times New Roman"/>
              </a:rPr>
              <a:t> </a:t>
            </a:r>
            <a:r>
              <a:rPr sz="1028" spc="-25" dirty="0">
                <a:latin typeface="Times New Roman"/>
                <a:cs typeface="Times New Roman"/>
              </a:rPr>
              <a:t>1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1028" i="1" spc="-5" dirty="0">
                <a:latin typeface="Times New Roman"/>
                <a:cs typeface="Times New Roman"/>
              </a:rPr>
              <a:t>otherwise</a:t>
            </a:r>
            <a:r>
              <a:rPr sz="1028" i="1" dirty="0">
                <a:latin typeface="Times New Roman"/>
                <a:cs typeface="Times New Roman"/>
              </a:rPr>
              <a:t>	</a:t>
            </a:r>
            <a:r>
              <a:rPr sz="1028" spc="40" dirty="0">
                <a:latin typeface="Times New Roman"/>
                <a:cs typeface="Times New Roman"/>
              </a:rPr>
              <a:t>(</a:t>
            </a:r>
            <a:r>
              <a:rPr sz="1028" i="1" spc="40" dirty="0">
                <a:latin typeface="Times New Roman"/>
                <a:cs typeface="Times New Roman"/>
              </a:rPr>
              <a:t>x</a:t>
            </a:r>
            <a:r>
              <a:rPr sz="1028" i="1" spc="-10" dirty="0">
                <a:latin typeface="Times New Roman"/>
                <a:cs typeface="Times New Roman"/>
              </a:rPr>
              <a:t> </a:t>
            </a:r>
            <a:r>
              <a:rPr sz="1028" dirty="0">
                <a:latin typeface="Symbol"/>
                <a:cs typeface="Symbol"/>
              </a:rPr>
              <a:t></a:t>
            </a:r>
            <a:r>
              <a:rPr sz="1028" spc="33" dirty="0">
                <a:latin typeface="Times New Roman"/>
                <a:cs typeface="Times New Roman"/>
              </a:rPr>
              <a:t> </a:t>
            </a:r>
            <a:r>
              <a:rPr sz="1028" i="1" spc="20" dirty="0">
                <a:latin typeface="Times New Roman"/>
                <a:cs typeface="Times New Roman"/>
              </a:rPr>
              <a:t>z</a:t>
            </a:r>
            <a:r>
              <a:rPr sz="1028" spc="20" dirty="0">
                <a:latin typeface="Times New Roman"/>
                <a:cs typeface="Times New Roman"/>
              </a:rPr>
              <a:t>)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>
            <a:spLocks noGrp="1"/>
          </p:cNvSpPr>
          <p:nvPr>
            <p:ph type="title"/>
          </p:nvPr>
        </p:nvSpPr>
        <p:spPr>
          <a:xfrm>
            <a:off x="78337" y="118858"/>
            <a:ext cx="78929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  <p:sp>
        <p:nvSpPr>
          <p:cNvPr id="116" name="object 116"/>
          <p:cNvSpPr txBox="1"/>
          <p:nvPr/>
        </p:nvSpPr>
        <p:spPr>
          <a:xfrm>
            <a:off x="105650" y="5473466"/>
            <a:ext cx="62446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8">
              <a:lnSpc>
                <a:spcPts val="1108"/>
              </a:lnSpc>
            </a:pPr>
            <a:r>
              <a:rPr sz="1103" dirty="0">
                <a:latin typeface="Times New Roman"/>
                <a:cs typeface="Times New Roman"/>
              </a:rPr>
              <a:t>[Zhu,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Park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(2017):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Unpaired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Image-to-Image</a:t>
            </a:r>
            <a:r>
              <a:rPr sz="1103" spc="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Translation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Cycle-Consistent</a:t>
            </a:r>
            <a:r>
              <a:rPr sz="1103" spc="-3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Adversarial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Networks]</a:t>
            </a:r>
            <a:endParaRPr sz="1103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239262" y="740551"/>
            <a:ext cx="463578" cy="398308"/>
            <a:chOff x="14434470" y="1476955"/>
            <a:chExt cx="924560" cy="794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34470" y="1476955"/>
              <a:ext cx="924517" cy="7939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5883" y="1487426"/>
              <a:ext cx="861690" cy="73111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350844" y="817904"/>
            <a:ext cx="237202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spc="-13" dirty="0">
                <a:solidFill>
                  <a:srgbClr val="FFFFFF"/>
                </a:solidFill>
                <a:latin typeface="Arial"/>
                <a:cs typeface="Arial"/>
              </a:rPr>
              <a:t>G1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237315" y="1150170"/>
            <a:ext cx="463578" cy="398308"/>
            <a:chOff x="14430587" y="2293899"/>
            <a:chExt cx="924560" cy="79438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30587" y="2293899"/>
              <a:ext cx="924517" cy="7939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000" y="2304369"/>
              <a:ext cx="861690" cy="7311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50844" y="1227415"/>
            <a:ext cx="237202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spc="-13" dirty="0">
                <a:solidFill>
                  <a:srgbClr val="FFFFFF"/>
                </a:solidFill>
                <a:latin typeface="Arial"/>
                <a:cs typeface="Arial"/>
              </a:rPr>
              <a:t>G2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40577" y="897038"/>
            <a:ext cx="1069158" cy="490959"/>
            <a:chOff x="13838772" y="1789053"/>
            <a:chExt cx="2132330" cy="979169"/>
          </a:xfrm>
        </p:grpSpPr>
        <p:sp>
          <p:nvSpPr>
            <p:cNvPr id="12" name="object 12"/>
            <p:cNvSpPr/>
            <p:nvPr/>
          </p:nvSpPr>
          <p:spPr>
            <a:xfrm>
              <a:off x="13838835" y="1877008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387221" y="0"/>
                  </a:lnTo>
                  <a:lnTo>
                    <a:pt x="40816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3" name="object 13"/>
            <p:cNvSpPr/>
            <p:nvPr/>
          </p:nvSpPr>
          <p:spPr>
            <a:xfrm>
              <a:off x="14226058" y="178905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93741" y="2679778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20941" y="0"/>
                  </a:lnTo>
                  <a:lnTo>
                    <a:pt x="40816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13838772" y="2591822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91489" y="1879174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387221" y="0"/>
                  </a:lnTo>
                  <a:lnTo>
                    <a:pt x="40816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7" name="object 17"/>
            <p:cNvSpPr/>
            <p:nvPr/>
          </p:nvSpPr>
          <p:spPr>
            <a:xfrm>
              <a:off x="15778713" y="179121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8" name="object 18"/>
            <p:cNvSpPr/>
            <p:nvPr/>
          </p:nvSpPr>
          <p:spPr>
            <a:xfrm>
              <a:off x="15520844" y="2214481"/>
              <a:ext cx="429259" cy="284480"/>
            </a:xfrm>
            <a:custGeom>
              <a:avLst/>
              <a:gdLst/>
              <a:ahLst/>
              <a:cxnLst/>
              <a:rect l="l" t="t" r="r" b="b"/>
              <a:pathLst>
                <a:path w="429259" h="284480">
                  <a:moveTo>
                    <a:pt x="429057" y="0"/>
                  </a:moveTo>
                  <a:lnTo>
                    <a:pt x="17458" y="272638"/>
                  </a:lnTo>
                  <a:lnTo>
                    <a:pt x="0" y="284203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91646" y="2413791"/>
              <a:ext cx="195580" cy="170815"/>
            </a:xfrm>
            <a:custGeom>
              <a:avLst/>
              <a:gdLst/>
              <a:ahLst/>
              <a:cxnLst/>
              <a:rect l="l" t="t" r="r" b="b"/>
              <a:pathLst>
                <a:path w="195580" h="170814">
                  <a:moveTo>
                    <a:pt x="98080" y="0"/>
                  </a:moveTo>
                  <a:lnTo>
                    <a:pt x="0" y="170471"/>
                  </a:lnTo>
                  <a:lnTo>
                    <a:pt x="195229" y="146655"/>
                  </a:lnTo>
                  <a:lnTo>
                    <a:pt x="98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8098" y="808641"/>
            <a:ext cx="374243" cy="26716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31622" y="795509"/>
            <a:ext cx="376934" cy="2671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31591" y="1210067"/>
            <a:ext cx="376934" cy="267167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8698140" y="740551"/>
            <a:ext cx="519933" cy="398308"/>
            <a:chOff x="17344057" y="1476955"/>
            <a:chExt cx="1036955" cy="79438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344057" y="1476955"/>
              <a:ext cx="1036765" cy="7939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75470" y="1487426"/>
              <a:ext cx="973938" cy="73111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852385" y="823154"/>
            <a:ext cx="214277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13" dirty="0">
                <a:solidFill>
                  <a:srgbClr val="FFFFFF"/>
                </a:solidFill>
                <a:latin typeface="Arial"/>
                <a:cs typeface="Arial"/>
              </a:rPr>
              <a:t>D1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61684" y="897038"/>
            <a:ext cx="213004" cy="88513"/>
            <a:chOff x="16872470" y="1789053"/>
            <a:chExt cx="424815" cy="176530"/>
          </a:xfrm>
        </p:grpSpPr>
        <p:sp>
          <p:nvSpPr>
            <p:cNvPr id="28" name="object 28"/>
            <p:cNvSpPr/>
            <p:nvPr/>
          </p:nvSpPr>
          <p:spPr>
            <a:xfrm>
              <a:off x="16872470" y="1877008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48640" y="0"/>
                  </a:lnTo>
                  <a:lnTo>
                    <a:pt x="269582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21112" y="178905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247483" y="884992"/>
            <a:ext cx="213004" cy="88513"/>
            <a:chOff x="18439668" y="1765029"/>
            <a:chExt cx="424815" cy="176530"/>
          </a:xfrm>
        </p:grpSpPr>
        <p:sp>
          <p:nvSpPr>
            <p:cNvPr id="31" name="object 31"/>
            <p:cNvSpPr/>
            <p:nvPr/>
          </p:nvSpPr>
          <p:spPr>
            <a:xfrm>
              <a:off x="18439668" y="1852984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48640" y="0"/>
                  </a:lnTo>
                  <a:lnTo>
                    <a:pt x="269582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32" name="object 32"/>
            <p:cNvSpPr/>
            <p:nvPr/>
          </p:nvSpPr>
          <p:spPr>
            <a:xfrm>
              <a:off x="18688299" y="176502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283312" y="651993"/>
            <a:ext cx="529803" cy="71639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  <a:tabLst>
                <a:tab pos="284958" algn="l"/>
              </a:tabLst>
            </a:pPr>
            <a:r>
              <a:rPr sz="639" spc="-165" baseline="16339" dirty="0">
                <a:latin typeface="Symbol"/>
                <a:cs typeface="Symbol"/>
              </a:rPr>
              <a:t></a:t>
            </a:r>
            <a:r>
              <a:rPr sz="639" spc="-165" baseline="-13071" dirty="0">
                <a:latin typeface="Symbol"/>
                <a:cs typeface="Symbol"/>
              </a:rPr>
              <a:t></a:t>
            </a:r>
            <a:r>
              <a:rPr sz="639" spc="-83" baseline="-13071" dirty="0">
                <a:latin typeface="Times New Roman"/>
                <a:cs typeface="Times New Roman"/>
              </a:rPr>
              <a:t> </a:t>
            </a:r>
            <a:r>
              <a:rPr sz="426" i="1" dirty="0">
                <a:latin typeface="Times New Roman"/>
                <a:cs typeface="Times New Roman"/>
              </a:rPr>
              <a:t>y</a:t>
            </a:r>
            <a:r>
              <a:rPr sz="426" i="1" spc="-5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Symbol"/>
                <a:cs typeface="Symbol"/>
              </a:rPr>
              <a:t></a:t>
            </a:r>
            <a:r>
              <a:rPr sz="426" spc="-15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Times New Roman"/>
                <a:cs typeface="Times New Roman"/>
              </a:rPr>
              <a:t>0</a:t>
            </a:r>
            <a:r>
              <a:rPr sz="426" spc="153" dirty="0">
                <a:latin typeface="Times New Roman"/>
                <a:cs typeface="Times New Roman"/>
              </a:rPr>
              <a:t> </a:t>
            </a:r>
            <a:r>
              <a:rPr sz="426" i="1" spc="-13" dirty="0">
                <a:latin typeface="Times New Roman"/>
                <a:cs typeface="Times New Roman"/>
              </a:rPr>
              <a:t>if</a:t>
            </a:r>
            <a:r>
              <a:rPr sz="426" i="1" dirty="0">
                <a:latin typeface="Times New Roman"/>
                <a:cs typeface="Times New Roman"/>
              </a:rPr>
              <a:t>	x</a:t>
            </a:r>
            <a:r>
              <a:rPr sz="426" i="1" spc="-3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Symbol"/>
                <a:cs typeface="Symbol"/>
              </a:rPr>
              <a:t></a:t>
            </a:r>
            <a:r>
              <a:rPr sz="426" spc="-10" dirty="0">
                <a:latin typeface="Times New Roman"/>
                <a:cs typeface="Times New Roman"/>
              </a:rPr>
              <a:t> </a:t>
            </a:r>
            <a:r>
              <a:rPr sz="426" i="1" spc="-23" dirty="0">
                <a:latin typeface="Times New Roman"/>
                <a:cs typeface="Times New Roman"/>
              </a:rPr>
              <a:t>G</a:t>
            </a:r>
            <a:r>
              <a:rPr sz="426" spc="-23" dirty="0">
                <a:latin typeface="Times New Roman"/>
                <a:cs typeface="Times New Roman"/>
              </a:rPr>
              <a:t>1(</a:t>
            </a:r>
            <a:r>
              <a:rPr sz="426" spc="-65" dirty="0">
                <a:latin typeface="Times New Roman"/>
                <a:cs typeface="Times New Roman"/>
              </a:rPr>
              <a:t> </a:t>
            </a:r>
            <a:r>
              <a:rPr sz="426" i="1" spc="-5" dirty="0">
                <a:latin typeface="Times New Roman"/>
                <a:cs typeface="Times New Roman"/>
              </a:rPr>
              <a:t>H</a:t>
            </a:r>
            <a:r>
              <a:rPr sz="426" i="1" spc="-53" dirty="0">
                <a:latin typeface="Times New Roman"/>
                <a:cs typeface="Times New Roman"/>
              </a:rPr>
              <a:t> </a:t>
            </a:r>
            <a:r>
              <a:rPr sz="426" spc="-25" dirty="0">
                <a:latin typeface="Times New Roman"/>
                <a:cs typeface="Times New Roman"/>
              </a:rPr>
              <a:t>)</a:t>
            </a:r>
            <a:endParaRPr sz="426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83312" y="706293"/>
            <a:ext cx="409451" cy="13434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lnSpc>
                <a:spcPts val="473"/>
              </a:lnSpc>
              <a:spcBef>
                <a:spcPts val="48"/>
              </a:spcBef>
            </a:pPr>
            <a:r>
              <a:rPr sz="426" spc="-3" dirty="0">
                <a:latin typeface="Symbol"/>
                <a:cs typeface="Symbol"/>
              </a:rPr>
              <a:t></a:t>
            </a:r>
            <a:endParaRPr sz="426">
              <a:latin typeface="Symbol"/>
              <a:cs typeface="Symbol"/>
            </a:endParaRPr>
          </a:p>
          <a:p>
            <a:pPr marL="19103">
              <a:lnSpc>
                <a:spcPts val="473"/>
              </a:lnSpc>
            </a:pPr>
            <a:r>
              <a:rPr sz="639" spc="-165" baseline="3267" dirty="0">
                <a:latin typeface="Symbol"/>
                <a:cs typeface="Symbol"/>
              </a:rPr>
              <a:t></a:t>
            </a:r>
            <a:r>
              <a:rPr sz="639" spc="-165" baseline="-16339" dirty="0">
                <a:latin typeface="Symbol"/>
                <a:cs typeface="Symbol"/>
              </a:rPr>
              <a:t></a:t>
            </a:r>
            <a:r>
              <a:rPr sz="639" spc="-83" baseline="-16339" dirty="0">
                <a:latin typeface="Times New Roman"/>
                <a:cs typeface="Times New Roman"/>
              </a:rPr>
              <a:t> </a:t>
            </a:r>
            <a:r>
              <a:rPr sz="426" i="1" dirty="0">
                <a:latin typeface="Times New Roman"/>
                <a:cs typeface="Times New Roman"/>
              </a:rPr>
              <a:t>y</a:t>
            </a:r>
            <a:r>
              <a:rPr sz="426" i="1" spc="-5" dirty="0">
                <a:latin typeface="Times New Roman"/>
                <a:cs typeface="Times New Roman"/>
              </a:rPr>
              <a:t> </a:t>
            </a:r>
            <a:r>
              <a:rPr sz="426" spc="-5" dirty="0">
                <a:latin typeface="Symbol"/>
                <a:cs typeface="Symbol"/>
              </a:rPr>
              <a:t></a:t>
            </a:r>
            <a:r>
              <a:rPr sz="426" spc="-38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Times New Roman"/>
                <a:cs typeface="Times New Roman"/>
              </a:rPr>
              <a:t>1</a:t>
            </a:r>
            <a:r>
              <a:rPr sz="426" spc="120" dirty="0">
                <a:latin typeface="Times New Roman"/>
                <a:cs typeface="Times New Roman"/>
              </a:rPr>
              <a:t> </a:t>
            </a:r>
            <a:r>
              <a:rPr sz="426" i="1" spc="-5" dirty="0">
                <a:latin typeface="Times New Roman"/>
                <a:cs typeface="Times New Roman"/>
              </a:rPr>
              <a:t>otherwise</a:t>
            </a:r>
            <a:endParaRPr sz="426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559993" y="1611422"/>
            <a:ext cx="463578" cy="398308"/>
            <a:chOff x="17068538" y="3213821"/>
            <a:chExt cx="924560" cy="79438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8538" y="3213821"/>
              <a:ext cx="924517" cy="79394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99950" y="3224292"/>
              <a:ext cx="861690" cy="73111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673879" y="1689428"/>
            <a:ext cx="237202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spc="-13" dirty="0">
                <a:solidFill>
                  <a:srgbClr val="FFFFFF"/>
                </a:solidFill>
                <a:latin typeface="Arial"/>
                <a:cs typeface="Arial"/>
              </a:rPr>
              <a:t>G1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558045" y="2021041"/>
            <a:ext cx="463578" cy="398308"/>
            <a:chOff x="17064652" y="4030765"/>
            <a:chExt cx="924560" cy="79438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64652" y="4030765"/>
              <a:ext cx="924517" cy="79394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96065" y="4041236"/>
              <a:ext cx="861690" cy="73111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673879" y="2098938"/>
            <a:ext cx="237202" cy="209377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6368">
              <a:spcBef>
                <a:spcPts val="68"/>
              </a:spcBef>
            </a:pPr>
            <a:r>
              <a:rPr sz="1304" b="1" spc="-13" dirty="0">
                <a:solidFill>
                  <a:srgbClr val="FFFFFF"/>
                </a:solidFill>
                <a:latin typeface="Arial"/>
                <a:cs typeface="Arial"/>
              </a:rPr>
              <a:t>G2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243892" y="1755863"/>
            <a:ext cx="1078392" cy="503058"/>
            <a:chOff x="16438106" y="3501894"/>
            <a:chExt cx="2150745" cy="1003300"/>
          </a:xfrm>
        </p:grpSpPr>
        <p:sp>
          <p:nvSpPr>
            <p:cNvPr id="44" name="object 44"/>
            <p:cNvSpPr/>
            <p:nvPr/>
          </p:nvSpPr>
          <p:spPr>
            <a:xfrm>
              <a:off x="16459048" y="3734972"/>
              <a:ext cx="462915" cy="422275"/>
            </a:xfrm>
            <a:custGeom>
              <a:avLst/>
              <a:gdLst/>
              <a:ahLst/>
              <a:cxnLst/>
              <a:rect l="l" t="t" r="r" b="b"/>
              <a:pathLst>
                <a:path w="462915" h="422275">
                  <a:moveTo>
                    <a:pt x="0" y="421789"/>
                  </a:moveTo>
                  <a:lnTo>
                    <a:pt x="446951" y="14112"/>
                  </a:lnTo>
                  <a:lnTo>
                    <a:pt x="46242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5" name="object 45"/>
            <p:cNvSpPr/>
            <p:nvPr/>
          </p:nvSpPr>
          <p:spPr>
            <a:xfrm>
              <a:off x="16846732" y="3630538"/>
              <a:ext cx="189865" cy="184150"/>
            </a:xfrm>
            <a:custGeom>
              <a:avLst/>
              <a:gdLst/>
              <a:ahLst/>
              <a:cxnLst/>
              <a:rect l="l" t="t" r="r" b="b"/>
              <a:pathLst>
                <a:path w="189865" h="184150">
                  <a:moveTo>
                    <a:pt x="189240" y="0"/>
                  </a:moveTo>
                  <a:lnTo>
                    <a:pt x="0" y="53562"/>
                  </a:lnTo>
                  <a:lnTo>
                    <a:pt x="118540" y="183529"/>
                  </a:lnTo>
                  <a:lnTo>
                    <a:pt x="1892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6" name="object 46"/>
            <p:cNvSpPr/>
            <p:nvPr/>
          </p:nvSpPr>
          <p:spPr>
            <a:xfrm>
              <a:off x="16627807" y="4416643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20941" y="0"/>
                  </a:lnTo>
                  <a:lnTo>
                    <a:pt x="40816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7" name="object 47"/>
            <p:cNvSpPr/>
            <p:nvPr/>
          </p:nvSpPr>
          <p:spPr>
            <a:xfrm>
              <a:off x="16472838" y="432868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8" name="object 48"/>
            <p:cNvSpPr/>
            <p:nvPr/>
          </p:nvSpPr>
          <p:spPr>
            <a:xfrm>
              <a:off x="18172832" y="4406793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355263" y="0"/>
                  </a:moveTo>
                  <a:lnTo>
                    <a:pt x="20941" y="0"/>
                  </a:lnTo>
                  <a:lnTo>
                    <a:pt x="0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49" name="object 49"/>
            <p:cNvSpPr/>
            <p:nvPr/>
          </p:nvSpPr>
          <p:spPr>
            <a:xfrm>
              <a:off x="18017859" y="431883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025566" y="3589849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5">
                  <a:moveTo>
                    <a:pt x="0" y="0"/>
                  </a:moveTo>
                  <a:lnTo>
                    <a:pt x="387221" y="0"/>
                  </a:lnTo>
                  <a:lnTo>
                    <a:pt x="408163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51" name="object 51"/>
            <p:cNvSpPr/>
            <p:nvPr/>
          </p:nvSpPr>
          <p:spPr>
            <a:xfrm>
              <a:off x="18412779" y="350189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1338" y="2078795"/>
            <a:ext cx="376934" cy="292471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44068" y="2080122"/>
            <a:ext cx="374243" cy="289817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6142" y="1653729"/>
            <a:ext cx="376934" cy="292471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7063009" y="2021041"/>
            <a:ext cx="519933" cy="398308"/>
            <a:chOff x="14082952" y="4030765"/>
            <a:chExt cx="1036955" cy="794385"/>
          </a:xfrm>
        </p:grpSpPr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2952" y="4030765"/>
              <a:ext cx="1036765" cy="79394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14365" y="4041236"/>
              <a:ext cx="973938" cy="731115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214340" y="2104189"/>
            <a:ext cx="214277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1228" b="1" spc="-13" dirty="0">
                <a:solidFill>
                  <a:srgbClr val="FFFFFF"/>
                </a:solidFill>
                <a:latin typeface="Arial"/>
                <a:cs typeface="Arial"/>
              </a:rPr>
              <a:t>D2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33841" y="2170420"/>
            <a:ext cx="978417" cy="99020"/>
            <a:chOff x="13625898" y="4328688"/>
            <a:chExt cx="1951355" cy="197485"/>
          </a:xfrm>
        </p:grpSpPr>
        <p:sp>
          <p:nvSpPr>
            <p:cNvPr id="60" name="object 60"/>
            <p:cNvSpPr/>
            <p:nvPr/>
          </p:nvSpPr>
          <p:spPr>
            <a:xfrm>
              <a:off x="15307187" y="4416643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0941" y="0"/>
                  </a:lnTo>
                  <a:lnTo>
                    <a:pt x="269582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1" name="object 61"/>
            <p:cNvSpPr/>
            <p:nvPr/>
          </p:nvSpPr>
          <p:spPr>
            <a:xfrm>
              <a:off x="15152218" y="4328688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2" name="object 62"/>
            <p:cNvSpPr/>
            <p:nvPr/>
          </p:nvSpPr>
          <p:spPr>
            <a:xfrm>
              <a:off x="13780867" y="4437603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0941" y="0"/>
                  </a:lnTo>
                  <a:lnTo>
                    <a:pt x="269582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63" name="object 63"/>
            <p:cNvSpPr/>
            <p:nvPr/>
          </p:nvSpPr>
          <p:spPr>
            <a:xfrm>
              <a:off x="13625898" y="4349647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175910" y="0"/>
                  </a:moveTo>
                  <a:lnTo>
                    <a:pt x="0" y="87955"/>
                  </a:lnTo>
                  <a:lnTo>
                    <a:pt x="175910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481937" y="1968981"/>
            <a:ext cx="526619" cy="71639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spcBef>
                <a:spcPts val="48"/>
              </a:spcBef>
              <a:tabLst>
                <a:tab pos="284958" algn="l"/>
              </a:tabLst>
            </a:pPr>
            <a:r>
              <a:rPr sz="639" spc="-165" baseline="16339" dirty="0">
                <a:latin typeface="Symbol"/>
                <a:cs typeface="Symbol"/>
              </a:rPr>
              <a:t></a:t>
            </a:r>
            <a:r>
              <a:rPr sz="639" spc="-165" baseline="-13071" dirty="0">
                <a:latin typeface="Symbol"/>
                <a:cs typeface="Symbol"/>
              </a:rPr>
              <a:t></a:t>
            </a:r>
            <a:r>
              <a:rPr sz="639" spc="-83" baseline="-13071" dirty="0">
                <a:latin typeface="Times New Roman"/>
                <a:cs typeface="Times New Roman"/>
              </a:rPr>
              <a:t> </a:t>
            </a:r>
            <a:r>
              <a:rPr sz="426" i="1" dirty="0">
                <a:latin typeface="Times New Roman"/>
                <a:cs typeface="Times New Roman"/>
              </a:rPr>
              <a:t>y</a:t>
            </a:r>
            <a:r>
              <a:rPr sz="426" i="1" spc="-5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Symbol"/>
                <a:cs typeface="Symbol"/>
              </a:rPr>
              <a:t></a:t>
            </a:r>
            <a:r>
              <a:rPr sz="426" spc="-15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Times New Roman"/>
                <a:cs typeface="Times New Roman"/>
              </a:rPr>
              <a:t>0</a:t>
            </a:r>
            <a:r>
              <a:rPr sz="426" spc="153" dirty="0">
                <a:latin typeface="Times New Roman"/>
                <a:cs typeface="Times New Roman"/>
              </a:rPr>
              <a:t> </a:t>
            </a:r>
            <a:r>
              <a:rPr sz="426" i="1" spc="-13" dirty="0">
                <a:latin typeface="Times New Roman"/>
                <a:cs typeface="Times New Roman"/>
              </a:rPr>
              <a:t>if</a:t>
            </a:r>
            <a:r>
              <a:rPr sz="426" i="1" dirty="0">
                <a:latin typeface="Times New Roman"/>
                <a:cs typeface="Times New Roman"/>
              </a:rPr>
              <a:t>	x</a:t>
            </a:r>
            <a:r>
              <a:rPr sz="426" i="1" spc="8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Symbol"/>
                <a:cs typeface="Symbol"/>
              </a:rPr>
              <a:t></a:t>
            </a:r>
            <a:r>
              <a:rPr sz="426" spc="-3" dirty="0">
                <a:latin typeface="Times New Roman"/>
                <a:cs typeface="Times New Roman"/>
              </a:rPr>
              <a:t> </a:t>
            </a:r>
            <a:r>
              <a:rPr sz="426" i="1" dirty="0">
                <a:latin typeface="Times New Roman"/>
                <a:cs typeface="Times New Roman"/>
              </a:rPr>
              <a:t>G</a:t>
            </a:r>
            <a:r>
              <a:rPr sz="426" dirty="0">
                <a:latin typeface="Times New Roman"/>
                <a:cs typeface="Times New Roman"/>
              </a:rPr>
              <a:t>2(</a:t>
            </a:r>
            <a:r>
              <a:rPr sz="426" i="1" dirty="0">
                <a:latin typeface="Times New Roman"/>
                <a:cs typeface="Times New Roman"/>
              </a:rPr>
              <a:t>Z</a:t>
            </a:r>
            <a:r>
              <a:rPr sz="426" i="1" spc="-57" dirty="0">
                <a:latin typeface="Times New Roman"/>
                <a:cs typeface="Times New Roman"/>
              </a:rPr>
              <a:t> </a:t>
            </a:r>
            <a:r>
              <a:rPr sz="426" spc="-25" dirty="0">
                <a:latin typeface="Times New Roman"/>
                <a:cs typeface="Times New Roman"/>
              </a:rPr>
              <a:t>)</a:t>
            </a:r>
            <a:endParaRPr sz="426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481937" y="2023282"/>
            <a:ext cx="409451" cy="134348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19103">
              <a:lnSpc>
                <a:spcPts val="473"/>
              </a:lnSpc>
              <a:spcBef>
                <a:spcPts val="48"/>
              </a:spcBef>
            </a:pPr>
            <a:r>
              <a:rPr sz="426" spc="-3" dirty="0">
                <a:latin typeface="Symbol"/>
                <a:cs typeface="Symbol"/>
              </a:rPr>
              <a:t></a:t>
            </a:r>
            <a:endParaRPr sz="426">
              <a:latin typeface="Symbol"/>
              <a:cs typeface="Symbol"/>
            </a:endParaRPr>
          </a:p>
          <a:p>
            <a:pPr marL="19103">
              <a:lnSpc>
                <a:spcPts val="473"/>
              </a:lnSpc>
            </a:pPr>
            <a:r>
              <a:rPr sz="639" spc="-165" baseline="3267" dirty="0">
                <a:latin typeface="Symbol"/>
                <a:cs typeface="Symbol"/>
              </a:rPr>
              <a:t></a:t>
            </a:r>
            <a:r>
              <a:rPr sz="639" spc="-165" baseline="-16339" dirty="0">
                <a:latin typeface="Symbol"/>
                <a:cs typeface="Symbol"/>
              </a:rPr>
              <a:t></a:t>
            </a:r>
            <a:r>
              <a:rPr sz="639" spc="-83" baseline="-16339" dirty="0">
                <a:latin typeface="Times New Roman"/>
                <a:cs typeface="Times New Roman"/>
              </a:rPr>
              <a:t> </a:t>
            </a:r>
            <a:r>
              <a:rPr sz="426" i="1" dirty="0">
                <a:latin typeface="Times New Roman"/>
                <a:cs typeface="Times New Roman"/>
              </a:rPr>
              <a:t>y</a:t>
            </a:r>
            <a:r>
              <a:rPr sz="426" i="1" spc="-5" dirty="0">
                <a:latin typeface="Times New Roman"/>
                <a:cs typeface="Times New Roman"/>
              </a:rPr>
              <a:t> </a:t>
            </a:r>
            <a:r>
              <a:rPr sz="426" spc="-5" dirty="0">
                <a:latin typeface="Symbol"/>
                <a:cs typeface="Symbol"/>
              </a:rPr>
              <a:t></a:t>
            </a:r>
            <a:r>
              <a:rPr sz="426" spc="-38" dirty="0">
                <a:latin typeface="Times New Roman"/>
                <a:cs typeface="Times New Roman"/>
              </a:rPr>
              <a:t> </a:t>
            </a:r>
            <a:r>
              <a:rPr sz="426" dirty="0">
                <a:latin typeface="Times New Roman"/>
                <a:cs typeface="Times New Roman"/>
              </a:rPr>
              <a:t>1</a:t>
            </a:r>
            <a:r>
              <a:rPr sz="426" spc="120" dirty="0">
                <a:latin typeface="Times New Roman"/>
                <a:cs typeface="Times New Roman"/>
              </a:rPr>
              <a:t> </a:t>
            </a:r>
            <a:r>
              <a:rPr sz="426" i="1" spc="-5" dirty="0">
                <a:latin typeface="Times New Roman"/>
                <a:cs typeface="Times New Roman"/>
              </a:rPr>
              <a:t>otherwise</a:t>
            </a:r>
            <a:endParaRPr sz="426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14115" y="568728"/>
            <a:ext cx="2027835" cy="28580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805" b="1" dirty="0">
                <a:latin typeface="Arial"/>
                <a:cs typeface="Arial"/>
              </a:rPr>
              <a:t>Loss to </a:t>
            </a:r>
            <a:r>
              <a:rPr sz="1805" b="1" spc="-5" dirty="0">
                <a:latin typeface="Arial"/>
                <a:cs typeface="Arial"/>
              </a:rPr>
              <a:t>minimize?</a:t>
            </a:r>
            <a:endParaRPr sz="1805" dirty="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31605" y="2038918"/>
            <a:ext cx="806804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  <a:tabLst>
                <a:tab pos="481404" algn="l"/>
              </a:tabLst>
            </a:pPr>
            <a:r>
              <a:rPr sz="2670" i="1" baseline="-25039" dirty="0">
                <a:latin typeface="Times New Roman"/>
                <a:cs typeface="Times New Roman"/>
              </a:rPr>
              <a:t>J</a:t>
            </a:r>
            <a:r>
              <a:rPr sz="2670" i="1" spc="-301" baseline="-25039" dirty="0">
                <a:latin typeface="Times New Roman"/>
                <a:cs typeface="Times New Roman"/>
              </a:rPr>
              <a:t> </a:t>
            </a:r>
            <a:r>
              <a:rPr sz="1028" spc="18" dirty="0">
                <a:latin typeface="Times New Roman"/>
                <a:cs typeface="Times New Roman"/>
              </a:rPr>
              <a:t>(</a:t>
            </a:r>
            <a:r>
              <a:rPr sz="1028" i="1" spc="18" dirty="0">
                <a:latin typeface="Times New Roman"/>
                <a:cs typeface="Times New Roman"/>
              </a:rPr>
              <a:t>G</a:t>
            </a:r>
            <a:r>
              <a:rPr sz="1028" spc="18" dirty="0">
                <a:latin typeface="Times New Roman"/>
                <a:cs typeface="Times New Roman"/>
              </a:rPr>
              <a:t>1)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2670" baseline="-25039" dirty="0">
                <a:latin typeface="Symbol"/>
                <a:cs typeface="Symbol"/>
              </a:rPr>
              <a:t></a:t>
            </a:r>
            <a:r>
              <a:rPr sz="2670" spc="-11" baseline="-25039" dirty="0">
                <a:latin typeface="Times New Roman"/>
                <a:cs typeface="Times New Roman"/>
              </a:rPr>
              <a:t> </a:t>
            </a:r>
            <a:r>
              <a:rPr sz="2670" spc="-38" baseline="-25039" dirty="0">
                <a:latin typeface="Symbol"/>
                <a:cs typeface="Symbol"/>
              </a:rPr>
              <a:t></a:t>
            </a:r>
            <a:endParaRPr sz="2670" baseline="-25039">
              <a:latin typeface="Symbol"/>
              <a:cs typeface="Symbo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90806" y="1994273"/>
            <a:ext cx="127038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6368">
              <a:spcBef>
                <a:spcPts val="70"/>
              </a:spcBef>
            </a:pPr>
            <a:r>
              <a:rPr sz="1780" spc="8" dirty="0">
                <a:latin typeface="Times New Roman"/>
                <a:cs typeface="Times New Roman"/>
              </a:rPr>
              <a:t>1</a:t>
            </a:r>
            <a:endParaRPr sz="178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52470" y="2387741"/>
            <a:ext cx="387801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</a:pPr>
            <a:r>
              <a:rPr sz="2670" i="1" spc="-15" baseline="17996" dirty="0">
                <a:latin typeface="Times New Roman"/>
                <a:cs typeface="Times New Roman"/>
              </a:rPr>
              <a:t>m</a:t>
            </a:r>
            <a:r>
              <a:rPr sz="1028" i="1" spc="-10" dirty="0">
                <a:latin typeface="Times New Roman"/>
                <a:cs typeface="Times New Roman"/>
              </a:rPr>
              <a:t>gen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253716" y="2308986"/>
            <a:ext cx="397352" cy="11462"/>
          </a:xfrm>
          <a:custGeom>
            <a:avLst/>
            <a:gdLst/>
            <a:ahLst/>
            <a:cxnLst/>
            <a:rect l="l" t="t" r="r" b="b"/>
            <a:pathLst>
              <a:path w="792479" h="22860">
                <a:moveTo>
                  <a:pt x="791855" y="0"/>
                </a:moveTo>
                <a:lnTo>
                  <a:pt x="0" y="0"/>
                </a:lnTo>
                <a:lnTo>
                  <a:pt x="0" y="22556"/>
                </a:lnTo>
                <a:lnTo>
                  <a:pt x="791855" y="22556"/>
                </a:lnTo>
                <a:lnTo>
                  <a:pt x="791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1" name="object 71"/>
          <p:cNvSpPr txBox="1"/>
          <p:nvPr/>
        </p:nvSpPr>
        <p:spPr>
          <a:xfrm>
            <a:off x="1718794" y="2457982"/>
            <a:ext cx="187214" cy="16622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028" i="1" spc="-13" dirty="0">
                <a:latin typeface="Times New Roman"/>
                <a:cs typeface="Times New Roman"/>
              </a:rPr>
              <a:t>i</a:t>
            </a:r>
            <a:r>
              <a:rPr sz="1028" spc="-13" dirty="0">
                <a:latin typeface="Symbol"/>
                <a:cs typeface="Symbol"/>
              </a:rPr>
              <a:t></a:t>
            </a:r>
            <a:r>
              <a:rPr sz="1028" spc="-13" dirty="0">
                <a:latin typeface="Times New Roman"/>
                <a:cs typeface="Times New Roman"/>
              </a:rPr>
              <a:t>1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67962" y="1996058"/>
            <a:ext cx="268404" cy="16622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542" i="1" spc="-15" baseline="18970" dirty="0">
                <a:latin typeface="Times New Roman"/>
                <a:cs typeface="Times New Roman"/>
              </a:rPr>
              <a:t>m</a:t>
            </a:r>
            <a:r>
              <a:rPr sz="752" i="1" spc="-10" dirty="0">
                <a:latin typeface="Times New Roman"/>
                <a:cs typeface="Times New Roman"/>
              </a:rPr>
              <a:t>gen</a:t>
            </a:r>
            <a:endParaRPr sz="752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64391" y="2027012"/>
            <a:ext cx="1967977" cy="421486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4024" spc="64" baseline="-7268" dirty="0">
                <a:latin typeface="Symbol"/>
                <a:cs typeface="Symbol"/>
              </a:rPr>
              <a:t></a:t>
            </a:r>
            <a:r>
              <a:rPr sz="1780" spc="43" dirty="0">
                <a:latin typeface="Times New Roman"/>
                <a:cs typeface="Times New Roman"/>
              </a:rPr>
              <a:t>log(</a:t>
            </a:r>
            <a:r>
              <a:rPr sz="1780" spc="-261" dirty="0">
                <a:latin typeface="Times New Roman"/>
                <a:cs typeface="Times New Roman"/>
              </a:rPr>
              <a:t> </a:t>
            </a:r>
            <a:r>
              <a:rPr sz="1780" i="1" spc="-60" dirty="0">
                <a:latin typeface="Times New Roman"/>
                <a:cs typeface="Times New Roman"/>
              </a:rPr>
              <a:t>D</a:t>
            </a:r>
            <a:r>
              <a:rPr sz="1780" spc="-60" dirty="0">
                <a:latin typeface="Times New Roman"/>
                <a:cs typeface="Times New Roman"/>
              </a:rPr>
              <a:t>1(</a:t>
            </a:r>
            <a:r>
              <a:rPr sz="1780" i="1" spc="-60" dirty="0">
                <a:latin typeface="Times New Roman"/>
                <a:cs typeface="Times New Roman"/>
              </a:rPr>
              <a:t>G</a:t>
            </a:r>
            <a:r>
              <a:rPr sz="1780" spc="-60" dirty="0">
                <a:latin typeface="Times New Roman"/>
                <a:cs typeface="Times New Roman"/>
              </a:rPr>
              <a:t>1(</a:t>
            </a:r>
            <a:r>
              <a:rPr sz="1780" spc="-261" dirty="0">
                <a:latin typeface="Times New Roman"/>
                <a:cs typeface="Times New Roman"/>
              </a:rPr>
              <a:t> </a:t>
            </a:r>
            <a:r>
              <a:rPr sz="1780" i="1" dirty="0">
                <a:latin typeface="Times New Roman"/>
                <a:cs typeface="Times New Roman"/>
              </a:rPr>
              <a:t>H</a:t>
            </a:r>
            <a:r>
              <a:rPr sz="1780" i="1" spc="-213" dirty="0">
                <a:latin typeface="Times New Roman"/>
                <a:cs typeface="Times New Roman"/>
              </a:rPr>
              <a:t> </a:t>
            </a:r>
            <a:r>
              <a:rPr sz="1542" baseline="43360" dirty="0">
                <a:latin typeface="Times New Roman"/>
                <a:cs typeface="Times New Roman"/>
              </a:rPr>
              <a:t>(</a:t>
            </a:r>
            <a:r>
              <a:rPr sz="1542" spc="-233" baseline="43360" dirty="0">
                <a:latin typeface="Times New Roman"/>
                <a:cs typeface="Times New Roman"/>
              </a:rPr>
              <a:t> </a:t>
            </a:r>
            <a:r>
              <a:rPr sz="1542" i="1" baseline="43360" dirty="0">
                <a:latin typeface="Times New Roman"/>
                <a:cs typeface="Times New Roman"/>
              </a:rPr>
              <a:t>i</a:t>
            </a:r>
            <a:r>
              <a:rPr sz="1542" i="1" spc="-248" baseline="43360" dirty="0">
                <a:latin typeface="Times New Roman"/>
                <a:cs typeface="Times New Roman"/>
              </a:rPr>
              <a:t> </a:t>
            </a:r>
            <a:r>
              <a:rPr sz="1542" baseline="43360" dirty="0">
                <a:latin typeface="Times New Roman"/>
                <a:cs typeface="Times New Roman"/>
              </a:rPr>
              <a:t>)</a:t>
            </a:r>
            <a:r>
              <a:rPr sz="1542" spc="-75" baseline="43360" dirty="0">
                <a:latin typeface="Times New Roman"/>
                <a:cs typeface="Times New Roman"/>
              </a:rPr>
              <a:t> </a:t>
            </a:r>
            <a:r>
              <a:rPr sz="1780" spc="-13" dirty="0">
                <a:latin typeface="Times New Roman"/>
                <a:cs typeface="Times New Roman"/>
              </a:rPr>
              <a:t>)))</a:t>
            </a:r>
            <a:endParaRPr sz="178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25816" y="1240413"/>
            <a:ext cx="720520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baseline="-24691" dirty="0">
                <a:latin typeface="Times New Roman"/>
                <a:cs typeface="Times New Roman"/>
              </a:rPr>
              <a:t>J</a:t>
            </a:r>
            <a:r>
              <a:rPr sz="2369" i="1" spc="-278" baseline="-24691" dirty="0">
                <a:latin typeface="Times New Roman"/>
                <a:cs typeface="Times New Roman"/>
              </a:rPr>
              <a:t> </a:t>
            </a: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85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D</a:t>
            </a:r>
            <a:r>
              <a:rPr sz="903" dirty="0">
                <a:latin typeface="Times New Roman"/>
                <a:cs typeface="Times New Roman"/>
              </a:rPr>
              <a:t>1)</a:t>
            </a:r>
            <a:r>
              <a:rPr sz="903" spc="15" dirty="0">
                <a:latin typeface="Times New Roman"/>
                <a:cs typeface="Times New Roman"/>
              </a:rPr>
              <a:t>  </a:t>
            </a:r>
            <a:r>
              <a:rPr sz="2369" baseline="-24691" dirty="0">
                <a:latin typeface="Symbol"/>
                <a:cs typeface="Symbol"/>
              </a:rPr>
              <a:t></a:t>
            </a:r>
            <a:r>
              <a:rPr sz="2369" spc="-15" baseline="-24691" dirty="0">
                <a:latin typeface="Times New Roman"/>
                <a:cs typeface="Times New Roman"/>
              </a:rPr>
              <a:t> </a:t>
            </a:r>
            <a:r>
              <a:rPr sz="2369" spc="-38" baseline="-24691" dirty="0">
                <a:latin typeface="Symbol"/>
                <a:cs typeface="Symbol"/>
              </a:rPr>
              <a:t></a:t>
            </a:r>
            <a:endParaRPr sz="2369" baseline="-24691">
              <a:latin typeface="Symbol"/>
              <a:cs typeface="Symbo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87208" y="1201196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54207" y="1546828"/>
            <a:ext cx="358827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spc="-8" baseline="17636" dirty="0">
                <a:latin typeface="Times New Roman"/>
                <a:cs typeface="Times New Roman"/>
              </a:rPr>
              <a:t>m</a:t>
            </a:r>
            <a:r>
              <a:rPr sz="903" i="1" spc="-5" dirty="0">
                <a:latin typeface="Times New Roman"/>
                <a:cs typeface="Times New Roman"/>
              </a:rPr>
              <a:t>real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1157624" y="1478422"/>
            <a:ext cx="368697" cy="10189"/>
          </a:xfrm>
          <a:custGeom>
            <a:avLst/>
            <a:gdLst/>
            <a:ahLst/>
            <a:cxnLst/>
            <a:rect l="l" t="t" r="r" b="b"/>
            <a:pathLst>
              <a:path w="735330" h="20319">
                <a:moveTo>
                  <a:pt x="735216" y="0"/>
                </a:moveTo>
                <a:lnTo>
                  <a:pt x="0" y="0"/>
                </a:lnTo>
                <a:lnTo>
                  <a:pt x="0" y="19814"/>
                </a:lnTo>
                <a:lnTo>
                  <a:pt x="735216" y="19814"/>
                </a:lnTo>
                <a:lnTo>
                  <a:pt x="735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78" name="object 78"/>
          <p:cNvSpPr txBox="1"/>
          <p:nvPr/>
        </p:nvSpPr>
        <p:spPr>
          <a:xfrm>
            <a:off x="1592055" y="1608529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39057" y="1220020"/>
            <a:ext cx="249937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8" baseline="18518" dirty="0">
                <a:latin typeface="Times New Roman"/>
                <a:cs typeface="Times New Roman"/>
              </a:rPr>
              <a:t>m</a:t>
            </a:r>
            <a:r>
              <a:rPr sz="652" i="1" spc="-5" dirty="0">
                <a:latin typeface="Times New Roman"/>
                <a:cs typeface="Times New Roman"/>
              </a:rPr>
              <a:t>real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42717" y="1229955"/>
            <a:ext cx="1442313" cy="371022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3535" spc="68" baseline="-7092" dirty="0">
                <a:latin typeface="Symbol"/>
                <a:cs typeface="Symbol"/>
              </a:rPr>
              <a:t></a:t>
            </a:r>
            <a:r>
              <a:rPr sz="1579" spc="45" dirty="0">
                <a:latin typeface="Times New Roman"/>
                <a:cs typeface="Times New Roman"/>
              </a:rPr>
              <a:t>log(</a:t>
            </a:r>
            <a:r>
              <a:rPr sz="1579" spc="-233" dirty="0">
                <a:latin typeface="Times New Roman"/>
                <a:cs typeface="Times New Roman"/>
              </a:rPr>
              <a:t> </a:t>
            </a:r>
            <a:r>
              <a:rPr sz="1579" i="1" spc="-68" dirty="0">
                <a:latin typeface="Times New Roman"/>
                <a:cs typeface="Times New Roman"/>
              </a:rPr>
              <a:t>D</a:t>
            </a:r>
            <a:r>
              <a:rPr sz="1579" spc="-143" dirty="0">
                <a:latin typeface="Times New Roman"/>
                <a:cs typeface="Times New Roman"/>
              </a:rPr>
              <a:t>1</a:t>
            </a:r>
            <a:r>
              <a:rPr sz="1579" spc="120" dirty="0">
                <a:latin typeface="Times New Roman"/>
                <a:cs typeface="Times New Roman"/>
              </a:rPr>
              <a:t>(</a:t>
            </a:r>
            <a:r>
              <a:rPr sz="1579" i="1" spc="93" dirty="0">
                <a:latin typeface="Times New Roman"/>
                <a:cs typeface="Times New Roman"/>
              </a:rPr>
              <a:t>z</a:t>
            </a:r>
            <a:r>
              <a:rPr sz="1354" spc="-4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68" baseline="43209" dirty="0">
                <a:latin typeface="Times New Roman"/>
                <a:cs typeface="Times New Roman"/>
              </a:rPr>
              <a:t> </a:t>
            </a:r>
            <a:r>
              <a:rPr sz="1579" spc="-20" dirty="0">
                <a:latin typeface="Times New Roman"/>
                <a:cs typeface="Times New Roman"/>
              </a:rPr>
              <a:t>))</a:t>
            </a:r>
            <a:r>
              <a:rPr sz="1579" spc="-138" dirty="0">
                <a:latin typeface="Times New Roman"/>
                <a:cs typeface="Times New Roman"/>
              </a:rPr>
              <a:t> </a:t>
            </a:r>
            <a:r>
              <a:rPr sz="1579" spc="-25" dirty="0">
                <a:latin typeface="Symbol"/>
                <a:cs typeface="Symbol"/>
              </a:rPr>
              <a:t></a:t>
            </a:r>
            <a:endParaRPr sz="1579">
              <a:latin typeface="Symbol"/>
              <a:cs typeface="Symbo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127795" y="1201196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004728" y="1546828"/>
            <a:ext cx="345455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spc="-15" baseline="17636" dirty="0">
                <a:latin typeface="Times New Roman"/>
                <a:cs typeface="Times New Roman"/>
              </a:rPr>
              <a:t>m</a:t>
            </a:r>
            <a:r>
              <a:rPr sz="903" i="1" spc="-10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008145" y="1478422"/>
            <a:ext cx="348957" cy="10189"/>
          </a:xfrm>
          <a:custGeom>
            <a:avLst/>
            <a:gdLst/>
            <a:ahLst/>
            <a:cxnLst/>
            <a:rect l="l" t="t" r="r" b="b"/>
            <a:pathLst>
              <a:path w="695959" h="20319">
                <a:moveTo>
                  <a:pt x="695587" y="0"/>
                </a:moveTo>
                <a:lnTo>
                  <a:pt x="0" y="0"/>
                </a:lnTo>
                <a:lnTo>
                  <a:pt x="0" y="19814"/>
                </a:lnTo>
                <a:lnTo>
                  <a:pt x="695587" y="19814"/>
                </a:lnTo>
                <a:lnTo>
                  <a:pt x="695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84" name="object 84"/>
          <p:cNvSpPr txBox="1"/>
          <p:nvPr/>
        </p:nvSpPr>
        <p:spPr>
          <a:xfrm>
            <a:off x="3415909" y="1608529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369709" y="1202764"/>
            <a:ext cx="240385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366571" y="1229955"/>
            <a:ext cx="1980394" cy="371022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3535" spc="41" baseline="-7092" dirty="0">
                <a:latin typeface="Symbol"/>
                <a:cs typeface="Symbol"/>
              </a:rPr>
              <a:t></a:t>
            </a:r>
            <a:r>
              <a:rPr sz="1579" spc="28" dirty="0">
                <a:latin typeface="Times New Roman"/>
                <a:cs typeface="Times New Roman"/>
              </a:rPr>
              <a:t>log(1</a:t>
            </a:r>
            <a:r>
              <a:rPr sz="1579" spc="28" dirty="0">
                <a:latin typeface="Symbol"/>
                <a:cs typeface="Symbol"/>
              </a:rPr>
              <a:t></a:t>
            </a:r>
            <a:r>
              <a:rPr sz="1579" spc="20" dirty="0">
                <a:latin typeface="Times New Roman"/>
                <a:cs typeface="Times New Roman"/>
              </a:rPr>
              <a:t> </a:t>
            </a:r>
            <a:r>
              <a:rPr sz="1579" i="1" spc="-63" dirty="0">
                <a:latin typeface="Times New Roman"/>
                <a:cs typeface="Times New Roman"/>
              </a:rPr>
              <a:t>D</a:t>
            </a:r>
            <a:r>
              <a:rPr sz="1579" spc="-63" dirty="0">
                <a:latin typeface="Times New Roman"/>
                <a:cs typeface="Times New Roman"/>
              </a:rPr>
              <a:t>1(</a:t>
            </a:r>
            <a:r>
              <a:rPr sz="1579" i="1" spc="-63" dirty="0">
                <a:latin typeface="Times New Roman"/>
                <a:cs typeface="Times New Roman"/>
              </a:rPr>
              <a:t>G</a:t>
            </a:r>
            <a:r>
              <a:rPr sz="1579" spc="-63" dirty="0">
                <a:latin typeface="Times New Roman"/>
                <a:cs typeface="Times New Roman"/>
              </a:rPr>
              <a:t>1(</a:t>
            </a:r>
            <a:r>
              <a:rPr sz="1579" spc="-230" dirty="0">
                <a:latin typeface="Times New Roman"/>
                <a:cs typeface="Times New Roman"/>
              </a:rPr>
              <a:t> </a:t>
            </a:r>
            <a:r>
              <a:rPr sz="1579" i="1" dirty="0">
                <a:latin typeface="Times New Roman"/>
                <a:cs typeface="Times New Roman"/>
              </a:rPr>
              <a:t>H</a:t>
            </a:r>
            <a:r>
              <a:rPr sz="1579" i="1" spc="-193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(</a:t>
            </a:r>
            <a:r>
              <a:rPr sz="1354" spc="-203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68" baseline="43209" dirty="0">
                <a:latin typeface="Times New Roman"/>
                <a:cs typeface="Times New Roman"/>
              </a:rPr>
              <a:t> </a:t>
            </a:r>
            <a:r>
              <a:rPr sz="1579" spc="-13" dirty="0">
                <a:latin typeface="Times New Roman"/>
                <a:cs typeface="Times New Roman"/>
              </a:rPr>
              <a:t>)))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25816" y="4562956"/>
            <a:ext cx="719564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baseline="-24691" dirty="0">
                <a:latin typeface="Times New Roman"/>
                <a:cs typeface="Times New Roman"/>
              </a:rPr>
              <a:t>J</a:t>
            </a:r>
            <a:r>
              <a:rPr sz="2369" i="1" spc="-252" baseline="-24691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cycle</a:t>
            </a:r>
            <a:r>
              <a:rPr sz="903" i="1" spc="233" dirty="0">
                <a:latin typeface="Times New Roman"/>
                <a:cs typeface="Times New Roman"/>
              </a:rPr>
              <a:t> </a:t>
            </a:r>
            <a:r>
              <a:rPr sz="2369" baseline="-24691" dirty="0">
                <a:latin typeface="Symbol"/>
                <a:cs typeface="Symbol"/>
              </a:rPr>
              <a:t></a:t>
            </a:r>
            <a:r>
              <a:rPr sz="2369" spc="-30" baseline="-24691" dirty="0">
                <a:latin typeface="Times New Roman"/>
                <a:cs typeface="Times New Roman"/>
              </a:rPr>
              <a:t> </a:t>
            </a:r>
            <a:r>
              <a:rPr sz="2369" spc="-38" baseline="-24691" dirty="0">
                <a:latin typeface="Symbol"/>
                <a:cs typeface="Symbol"/>
              </a:rPr>
              <a:t></a:t>
            </a:r>
            <a:endParaRPr sz="2369" baseline="-24691">
              <a:latin typeface="Symbol"/>
              <a:cs typeface="Symbo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76227" y="4523739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165896" y="4804533"/>
            <a:ext cx="157922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i="1" dirty="0">
                <a:latin typeface="Times New Roman"/>
                <a:cs typeface="Times New Roman"/>
              </a:rPr>
              <a:t>m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06032" y="4954081"/>
            <a:ext cx="179573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56578" y="4800965"/>
            <a:ext cx="348957" cy="10189"/>
          </a:xfrm>
          <a:custGeom>
            <a:avLst/>
            <a:gdLst/>
            <a:ahLst/>
            <a:cxnLst/>
            <a:rect l="l" t="t" r="r" b="b"/>
            <a:pathLst>
              <a:path w="695960" h="20320">
                <a:moveTo>
                  <a:pt x="695587" y="0"/>
                </a:moveTo>
                <a:lnTo>
                  <a:pt x="0" y="0"/>
                </a:lnTo>
                <a:lnTo>
                  <a:pt x="0" y="19814"/>
                </a:lnTo>
                <a:lnTo>
                  <a:pt x="695587" y="19814"/>
                </a:lnTo>
                <a:lnTo>
                  <a:pt x="695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92" name="object 92"/>
          <p:cNvSpPr txBox="1"/>
          <p:nvPr/>
        </p:nvSpPr>
        <p:spPr>
          <a:xfrm>
            <a:off x="1757290" y="4652894"/>
            <a:ext cx="899774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spc="-10" dirty="0">
                <a:latin typeface="Times New Roman"/>
                <a:cs typeface="Times New Roman"/>
              </a:rPr>
              <a:t>||</a:t>
            </a:r>
            <a:r>
              <a:rPr sz="1579" spc="-181" dirty="0">
                <a:latin typeface="Times New Roman"/>
                <a:cs typeface="Times New Roman"/>
              </a:rPr>
              <a:t> </a:t>
            </a:r>
            <a:r>
              <a:rPr sz="1579" i="1" spc="-13" dirty="0">
                <a:latin typeface="Times New Roman"/>
                <a:cs typeface="Times New Roman"/>
              </a:rPr>
              <a:t>G</a:t>
            </a:r>
            <a:r>
              <a:rPr sz="1579" spc="-13" dirty="0">
                <a:latin typeface="Times New Roman"/>
                <a:cs typeface="Times New Roman"/>
              </a:rPr>
              <a:t>2(</a:t>
            </a:r>
            <a:r>
              <a:rPr sz="1579" i="1" spc="-13" dirty="0">
                <a:latin typeface="Times New Roman"/>
                <a:cs typeface="Times New Roman"/>
              </a:rPr>
              <a:t>G</a:t>
            </a:r>
            <a:r>
              <a:rPr sz="1579" spc="-13" dirty="0">
                <a:latin typeface="Times New Roman"/>
                <a:cs typeface="Times New Roman"/>
              </a:rPr>
              <a:t>1(</a:t>
            </a:r>
            <a:r>
              <a:rPr sz="1579" spc="-228" dirty="0">
                <a:latin typeface="Times New Roman"/>
                <a:cs typeface="Times New Roman"/>
              </a:rPr>
              <a:t> </a:t>
            </a:r>
            <a:r>
              <a:rPr sz="1579" i="1" spc="-30" dirty="0">
                <a:latin typeface="Times New Roman"/>
                <a:cs typeface="Times New Roman"/>
              </a:rPr>
              <a:t>H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669216" y="4647665"/>
            <a:ext cx="143595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138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i</a:t>
            </a:r>
            <a:r>
              <a:rPr sz="903" i="1" spc="-145" dirty="0">
                <a:latin typeface="Times New Roman"/>
                <a:cs typeface="Times New Roman"/>
              </a:rPr>
              <a:t> </a:t>
            </a:r>
            <a:r>
              <a:rPr sz="903" spc="-25" dirty="0">
                <a:latin typeface="Times New Roman"/>
                <a:cs typeface="Times New Roman"/>
              </a:rPr>
              <a:t>)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251197" y="4647665"/>
            <a:ext cx="143595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138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i</a:t>
            </a:r>
            <a:r>
              <a:rPr sz="903" i="1" spc="-145" dirty="0">
                <a:latin typeface="Times New Roman"/>
                <a:cs typeface="Times New Roman"/>
              </a:rPr>
              <a:t> </a:t>
            </a:r>
            <a:r>
              <a:rPr sz="903" spc="-25" dirty="0">
                <a:latin typeface="Times New Roman"/>
                <a:cs typeface="Times New Roman"/>
              </a:rPr>
              <a:t>)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95912" y="4802441"/>
            <a:ext cx="71001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spc="5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821902" y="4652894"/>
            <a:ext cx="895953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  <a:tabLst>
                <a:tab pos="617993" algn="l"/>
                <a:tab pos="779098" algn="l"/>
              </a:tabLst>
            </a:pPr>
            <a:r>
              <a:rPr sz="1579" dirty="0">
                <a:latin typeface="Times New Roman"/>
                <a:cs typeface="Times New Roman"/>
              </a:rPr>
              <a:t>)</a:t>
            </a:r>
            <a:r>
              <a:rPr sz="1579" spc="-148" dirty="0">
                <a:latin typeface="Times New Roman"/>
                <a:cs typeface="Times New Roman"/>
              </a:rPr>
              <a:t> </a:t>
            </a:r>
            <a:r>
              <a:rPr sz="1579" dirty="0">
                <a:latin typeface="Symbol"/>
                <a:cs typeface="Symbol"/>
              </a:rPr>
              <a:t></a:t>
            </a:r>
            <a:r>
              <a:rPr sz="1579" spc="5" dirty="0">
                <a:latin typeface="Times New Roman"/>
                <a:cs typeface="Times New Roman"/>
              </a:rPr>
              <a:t> </a:t>
            </a:r>
            <a:r>
              <a:rPr sz="1579" i="1" spc="-25" dirty="0">
                <a:latin typeface="Times New Roman"/>
                <a:cs typeface="Times New Roman"/>
              </a:rPr>
              <a:t>H</a:t>
            </a:r>
            <a:r>
              <a:rPr sz="1579" i="1" dirty="0">
                <a:latin typeface="Times New Roman"/>
                <a:cs typeface="Times New Roman"/>
              </a:rPr>
              <a:t>	</a:t>
            </a:r>
            <a:r>
              <a:rPr sz="1579" spc="-13" dirty="0">
                <a:latin typeface="Times New Roman"/>
                <a:cs typeface="Times New Roman"/>
              </a:rPr>
              <a:t>||</a:t>
            </a:r>
            <a:r>
              <a:rPr sz="1579" dirty="0">
                <a:latin typeface="Times New Roman"/>
                <a:cs typeface="Times New Roman"/>
              </a:rPr>
              <a:t>	</a:t>
            </a:r>
            <a:r>
              <a:rPr sz="1579" spc="-25" dirty="0">
                <a:latin typeface="Symbol"/>
                <a:cs typeface="Symbol"/>
              </a:rPr>
              <a:t></a:t>
            </a:r>
            <a:endParaRPr sz="1579">
              <a:latin typeface="Symbol"/>
              <a:cs typeface="Symbo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564342" y="4931073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518141" y="4525308"/>
            <a:ext cx="240385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527739" y="4592238"/>
            <a:ext cx="227650" cy="371087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2357" spc="10" dirty="0">
                <a:latin typeface="Symbol"/>
                <a:cs typeface="Symbol"/>
              </a:rPr>
              <a:t></a:t>
            </a:r>
            <a:endParaRPr sz="2357">
              <a:latin typeface="Symbol"/>
              <a:cs typeface="Symbo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873441" y="4523739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763111" y="4804533"/>
            <a:ext cx="157922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i="1" dirty="0">
                <a:latin typeface="Times New Roman"/>
                <a:cs typeface="Times New Roman"/>
              </a:rPr>
              <a:t>m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903246" y="4954081"/>
            <a:ext cx="179573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3753791" y="4800965"/>
            <a:ext cx="348957" cy="10189"/>
          </a:xfrm>
          <a:custGeom>
            <a:avLst/>
            <a:gdLst/>
            <a:ahLst/>
            <a:cxnLst/>
            <a:rect l="l" t="t" r="r" b="b"/>
            <a:pathLst>
              <a:path w="695959" h="20320">
                <a:moveTo>
                  <a:pt x="695587" y="0"/>
                </a:moveTo>
                <a:lnTo>
                  <a:pt x="0" y="0"/>
                </a:lnTo>
                <a:lnTo>
                  <a:pt x="0" y="19814"/>
                </a:lnTo>
                <a:lnTo>
                  <a:pt x="695587" y="19814"/>
                </a:lnTo>
                <a:lnTo>
                  <a:pt x="695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04" name="object 104"/>
          <p:cNvSpPr txBox="1"/>
          <p:nvPr/>
        </p:nvSpPr>
        <p:spPr>
          <a:xfrm>
            <a:off x="4354503" y="4652894"/>
            <a:ext cx="858065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spc="-10" dirty="0">
                <a:latin typeface="Times New Roman"/>
                <a:cs typeface="Times New Roman"/>
              </a:rPr>
              <a:t>||</a:t>
            </a:r>
            <a:r>
              <a:rPr sz="1579" spc="-191" dirty="0">
                <a:latin typeface="Times New Roman"/>
                <a:cs typeface="Times New Roman"/>
              </a:rPr>
              <a:t> </a:t>
            </a:r>
            <a:r>
              <a:rPr sz="1579" i="1" spc="-5" dirty="0">
                <a:latin typeface="Times New Roman"/>
                <a:cs typeface="Times New Roman"/>
              </a:rPr>
              <a:t>G</a:t>
            </a:r>
            <a:r>
              <a:rPr sz="1579" spc="-5" dirty="0">
                <a:latin typeface="Times New Roman"/>
                <a:cs typeface="Times New Roman"/>
              </a:rPr>
              <a:t>1(</a:t>
            </a:r>
            <a:r>
              <a:rPr sz="1579" i="1" spc="-5" dirty="0">
                <a:latin typeface="Times New Roman"/>
                <a:cs typeface="Times New Roman"/>
              </a:rPr>
              <a:t>G</a:t>
            </a:r>
            <a:r>
              <a:rPr sz="1579" spc="-5" dirty="0">
                <a:latin typeface="Times New Roman"/>
                <a:cs typeface="Times New Roman"/>
              </a:rPr>
              <a:t>2(</a:t>
            </a:r>
            <a:r>
              <a:rPr sz="1579" i="1" spc="-5" dirty="0">
                <a:latin typeface="Times New Roman"/>
                <a:cs typeface="Times New Roman"/>
              </a:rPr>
              <a:t>Z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220415" y="4647665"/>
            <a:ext cx="143595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138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i</a:t>
            </a:r>
            <a:r>
              <a:rPr sz="903" i="1" spc="-145" dirty="0">
                <a:latin typeface="Times New Roman"/>
                <a:cs typeface="Times New Roman"/>
              </a:rPr>
              <a:t> </a:t>
            </a:r>
            <a:r>
              <a:rPr sz="903" spc="-25" dirty="0">
                <a:latin typeface="Times New Roman"/>
                <a:cs typeface="Times New Roman"/>
              </a:rPr>
              <a:t>)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756382" y="4647665"/>
            <a:ext cx="143595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138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i</a:t>
            </a:r>
            <a:r>
              <a:rPr sz="903" i="1" spc="-145" dirty="0">
                <a:latin typeface="Times New Roman"/>
                <a:cs typeface="Times New Roman"/>
              </a:rPr>
              <a:t> </a:t>
            </a:r>
            <a:r>
              <a:rPr sz="903" spc="-25" dirty="0">
                <a:latin typeface="Times New Roman"/>
                <a:cs typeface="Times New Roman"/>
              </a:rPr>
              <a:t>)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5373101" y="4652894"/>
            <a:ext cx="656523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  <a:tabLst>
                <a:tab pos="571827" algn="l"/>
              </a:tabLst>
            </a:pPr>
            <a:r>
              <a:rPr sz="1579" dirty="0">
                <a:latin typeface="Times New Roman"/>
                <a:cs typeface="Times New Roman"/>
              </a:rPr>
              <a:t>)</a:t>
            </a:r>
            <a:r>
              <a:rPr sz="1579" spc="-148" dirty="0">
                <a:latin typeface="Times New Roman"/>
                <a:cs typeface="Times New Roman"/>
              </a:rPr>
              <a:t> </a:t>
            </a:r>
            <a:r>
              <a:rPr sz="1579" dirty="0">
                <a:latin typeface="Symbol"/>
                <a:cs typeface="Symbol"/>
              </a:rPr>
              <a:t></a:t>
            </a:r>
            <a:r>
              <a:rPr sz="1579" spc="-63" dirty="0">
                <a:latin typeface="Times New Roman"/>
                <a:cs typeface="Times New Roman"/>
              </a:rPr>
              <a:t> </a:t>
            </a:r>
            <a:r>
              <a:rPr sz="1579" i="1" spc="-25" dirty="0">
                <a:latin typeface="Times New Roman"/>
                <a:cs typeface="Times New Roman"/>
              </a:rPr>
              <a:t>Z</a:t>
            </a:r>
            <a:r>
              <a:rPr sz="1579" i="1" dirty="0">
                <a:latin typeface="Times New Roman"/>
                <a:cs typeface="Times New Roman"/>
              </a:rPr>
              <a:t>	</a:t>
            </a:r>
            <a:r>
              <a:rPr sz="1579" spc="-13" dirty="0">
                <a:latin typeface="Times New Roman"/>
                <a:cs typeface="Times New Roman"/>
              </a:rPr>
              <a:t>||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001096" y="4802441"/>
            <a:ext cx="71001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spc="5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161556" y="4931073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115355" y="4525308"/>
            <a:ext cx="240385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124953" y="4592238"/>
            <a:ext cx="227650" cy="371087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2357" spc="10" dirty="0">
                <a:latin typeface="Symbol"/>
                <a:cs typeface="Symbol"/>
              </a:rPr>
              <a:t></a:t>
            </a:r>
            <a:endParaRPr sz="2357">
              <a:latin typeface="Symbol"/>
              <a:cs typeface="Symbo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31605" y="3700190"/>
            <a:ext cx="828773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  <a:tabLst>
                <a:tab pos="503373" algn="l"/>
              </a:tabLst>
            </a:pPr>
            <a:r>
              <a:rPr sz="2670" i="1" baseline="-25039" dirty="0">
                <a:latin typeface="Times New Roman"/>
                <a:cs typeface="Times New Roman"/>
              </a:rPr>
              <a:t>J</a:t>
            </a:r>
            <a:r>
              <a:rPr sz="2670" i="1" spc="-304" baseline="-25039" dirty="0">
                <a:latin typeface="Times New Roman"/>
                <a:cs typeface="Times New Roman"/>
              </a:rPr>
              <a:t> </a:t>
            </a:r>
            <a:r>
              <a:rPr sz="1028" spc="43" dirty="0">
                <a:latin typeface="Times New Roman"/>
                <a:cs typeface="Times New Roman"/>
              </a:rPr>
              <a:t>(</a:t>
            </a:r>
            <a:r>
              <a:rPr sz="1028" i="1" spc="43" dirty="0">
                <a:latin typeface="Times New Roman"/>
                <a:cs typeface="Times New Roman"/>
              </a:rPr>
              <a:t>G</a:t>
            </a:r>
            <a:r>
              <a:rPr sz="1028" i="1" spc="-130" dirty="0">
                <a:latin typeface="Times New Roman"/>
                <a:cs typeface="Times New Roman"/>
              </a:rPr>
              <a:t> </a:t>
            </a:r>
            <a:r>
              <a:rPr sz="1028" spc="23" dirty="0">
                <a:latin typeface="Times New Roman"/>
                <a:cs typeface="Times New Roman"/>
              </a:rPr>
              <a:t>2)</a:t>
            </a:r>
            <a:r>
              <a:rPr sz="1028" dirty="0">
                <a:latin typeface="Times New Roman"/>
                <a:cs typeface="Times New Roman"/>
              </a:rPr>
              <a:t>	</a:t>
            </a:r>
            <a:r>
              <a:rPr sz="2670" baseline="-25039" dirty="0">
                <a:latin typeface="Symbol"/>
                <a:cs typeface="Symbol"/>
              </a:rPr>
              <a:t></a:t>
            </a:r>
            <a:r>
              <a:rPr sz="2670" spc="-11" baseline="-25039" dirty="0">
                <a:latin typeface="Times New Roman"/>
                <a:cs typeface="Times New Roman"/>
              </a:rPr>
              <a:t> </a:t>
            </a:r>
            <a:r>
              <a:rPr sz="2670" spc="-38" baseline="-25039" dirty="0">
                <a:latin typeface="Symbol"/>
                <a:cs typeface="Symbol"/>
              </a:rPr>
              <a:t></a:t>
            </a:r>
            <a:endParaRPr sz="2670" baseline="-25039">
              <a:latin typeface="Symbol"/>
              <a:cs typeface="Symbo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412831" y="3655545"/>
            <a:ext cx="127038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6368">
              <a:spcBef>
                <a:spcPts val="70"/>
              </a:spcBef>
            </a:pPr>
            <a:r>
              <a:rPr sz="1780" spc="8" dirty="0">
                <a:latin typeface="Times New Roman"/>
                <a:cs typeface="Times New Roman"/>
              </a:rPr>
              <a:t>1</a:t>
            </a:r>
            <a:endParaRPr sz="178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274494" y="4049013"/>
            <a:ext cx="387801" cy="282923"/>
          </a:xfrm>
          <a:prstGeom prst="rect">
            <a:avLst/>
          </a:prstGeom>
        </p:spPr>
        <p:txBody>
          <a:bodyPr vert="horz" wrap="square" lIns="0" tIns="8915" rIns="0" bIns="0" rtlCol="0">
            <a:spAutoFit/>
          </a:bodyPr>
          <a:lstStyle/>
          <a:p>
            <a:pPr marL="19103">
              <a:spcBef>
                <a:spcPts val="70"/>
              </a:spcBef>
            </a:pPr>
            <a:r>
              <a:rPr sz="2670" i="1" spc="-15" baseline="17996" dirty="0">
                <a:latin typeface="Times New Roman"/>
                <a:cs typeface="Times New Roman"/>
              </a:rPr>
              <a:t>m</a:t>
            </a:r>
            <a:r>
              <a:rPr sz="1028" i="1" spc="-10" dirty="0">
                <a:latin typeface="Times New Roman"/>
                <a:cs typeface="Times New Roman"/>
              </a:rPr>
              <a:t>gen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75740" y="3970257"/>
            <a:ext cx="397352" cy="11462"/>
          </a:xfrm>
          <a:custGeom>
            <a:avLst/>
            <a:gdLst/>
            <a:ahLst/>
            <a:cxnLst/>
            <a:rect l="l" t="t" r="r" b="b"/>
            <a:pathLst>
              <a:path w="792479" h="22859">
                <a:moveTo>
                  <a:pt x="791855" y="0"/>
                </a:moveTo>
                <a:lnTo>
                  <a:pt x="0" y="0"/>
                </a:lnTo>
                <a:lnTo>
                  <a:pt x="0" y="22556"/>
                </a:lnTo>
                <a:lnTo>
                  <a:pt x="791855" y="22556"/>
                </a:lnTo>
                <a:lnTo>
                  <a:pt x="7918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16" name="object 116"/>
          <p:cNvSpPr txBox="1"/>
          <p:nvPr/>
        </p:nvSpPr>
        <p:spPr>
          <a:xfrm>
            <a:off x="1740819" y="4119253"/>
            <a:ext cx="187214" cy="16622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028" i="1" spc="-13" dirty="0">
                <a:latin typeface="Times New Roman"/>
                <a:cs typeface="Times New Roman"/>
              </a:rPr>
              <a:t>i</a:t>
            </a:r>
            <a:r>
              <a:rPr sz="1028" spc="-13" dirty="0">
                <a:latin typeface="Symbol"/>
                <a:cs typeface="Symbol"/>
              </a:rPr>
              <a:t></a:t>
            </a:r>
            <a:r>
              <a:rPr sz="1028" spc="-13" dirty="0">
                <a:latin typeface="Times New Roman"/>
                <a:cs typeface="Times New Roman"/>
              </a:rPr>
              <a:t>1</a:t>
            </a:r>
            <a:endParaRPr sz="1028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689987" y="3657331"/>
            <a:ext cx="268404" cy="166223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19103">
              <a:spcBef>
                <a:spcPts val="63"/>
              </a:spcBef>
            </a:pPr>
            <a:r>
              <a:rPr sz="1542" i="1" spc="-15" baseline="18970" dirty="0">
                <a:latin typeface="Times New Roman"/>
                <a:cs typeface="Times New Roman"/>
              </a:rPr>
              <a:t>m</a:t>
            </a:r>
            <a:r>
              <a:rPr sz="752" i="1" spc="-10" dirty="0">
                <a:latin typeface="Times New Roman"/>
                <a:cs typeface="Times New Roman"/>
              </a:rPr>
              <a:t>gen</a:t>
            </a:r>
            <a:endParaRPr sz="752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686415" y="3688284"/>
            <a:ext cx="1991856" cy="421486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4024" spc="64" baseline="-7268" dirty="0">
                <a:latin typeface="Symbol"/>
                <a:cs typeface="Symbol"/>
              </a:rPr>
              <a:t></a:t>
            </a:r>
            <a:r>
              <a:rPr sz="1780" spc="43" dirty="0">
                <a:latin typeface="Times New Roman"/>
                <a:cs typeface="Times New Roman"/>
              </a:rPr>
              <a:t>log(</a:t>
            </a:r>
            <a:r>
              <a:rPr sz="1780" spc="-266" dirty="0">
                <a:latin typeface="Times New Roman"/>
                <a:cs typeface="Times New Roman"/>
              </a:rPr>
              <a:t> </a:t>
            </a:r>
            <a:r>
              <a:rPr sz="1780" i="1" spc="53" dirty="0">
                <a:latin typeface="Times New Roman"/>
                <a:cs typeface="Times New Roman"/>
              </a:rPr>
              <a:t>D</a:t>
            </a:r>
            <a:r>
              <a:rPr sz="1780" spc="53" dirty="0">
                <a:latin typeface="Times New Roman"/>
                <a:cs typeface="Times New Roman"/>
              </a:rPr>
              <a:t>2(</a:t>
            </a:r>
            <a:r>
              <a:rPr sz="1780" i="1" spc="53" dirty="0">
                <a:latin typeface="Times New Roman"/>
                <a:cs typeface="Times New Roman"/>
              </a:rPr>
              <a:t>G</a:t>
            </a:r>
            <a:r>
              <a:rPr sz="1780" spc="53" dirty="0">
                <a:latin typeface="Times New Roman"/>
                <a:cs typeface="Times New Roman"/>
              </a:rPr>
              <a:t>2(</a:t>
            </a:r>
            <a:r>
              <a:rPr sz="1780" i="1" spc="53" dirty="0">
                <a:latin typeface="Times New Roman"/>
                <a:cs typeface="Times New Roman"/>
              </a:rPr>
              <a:t>Z</a:t>
            </a:r>
            <a:r>
              <a:rPr sz="1780" i="1" spc="-255" dirty="0">
                <a:latin typeface="Times New Roman"/>
                <a:cs typeface="Times New Roman"/>
              </a:rPr>
              <a:t> </a:t>
            </a:r>
            <a:r>
              <a:rPr sz="1542" baseline="43360" dirty="0">
                <a:latin typeface="Times New Roman"/>
                <a:cs typeface="Times New Roman"/>
              </a:rPr>
              <a:t>(</a:t>
            </a:r>
            <a:r>
              <a:rPr sz="1542" spc="-241" baseline="43360" dirty="0">
                <a:latin typeface="Times New Roman"/>
                <a:cs typeface="Times New Roman"/>
              </a:rPr>
              <a:t> </a:t>
            </a:r>
            <a:r>
              <a:rPr sz="1542" i="1" baseline="43360" dirty="0">
                <a:latin typeface="Times New Roman"/>
                <a:cs typeface="Times New Roman"/>
              </a:rPr>
              <a:t>i</a:t>
            </a:r>
            <a:r>
              <a:rPr sz="1542" i="1" spc="-248" baseline="43360" dirty="0">
                <a:latin typeface="Times New Roman"/>
                <a:cs typeface="Times New Roman"/>
              </a:rPr>
              <a:t> </a:t>
            </a:r>
            <a:r>
              <a:rPr sz="1542" baseline="43360" dirty="0">
                <a:latin typeface="Times New Roman"/>
                <a:cs typeface="Times New Roman"/>
              </a:rPr>
              <a:t>)</a:t>
            </a:r>
            <a:r>
              <a:rPr sz="1542" spc="-83" baseline="43360" dirty="0">
                <a:latin typeface="Times New Roman"/>
                <a:cs typeface="Times New Roman"/>
              </a:rPr>
              <a:t> </a:t>
            </a:r>
            <a:r>
              <a:rPr sz="1780" spc="-13" dirty="0">
                <a:latin typeface="Times New Roman"/>
                <a:cs typeface="Times New Roman"/>
              </a:rPr>
              <a:t>)))</a:t>
            </a:r>
            <a:endParaRPr sz="178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25815" y="2901685"/>
            <a:ext cx="739942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baseline="-24691" dirty="0">
                <a:latin typeface="Times New Roman"/>
                <a:cs typeface="Times New Roman"/>
              </a:rPr>
              <a:t>J</a:t>
            </a:r>
            <a:r>
              <a:rPr sz="2369" i="1" spc="-282" baseline="-24691" dirty="0">
                <a:latin typeface="Times New Roman"/>
                <a:cs typeface="Times New Roman"/>
              </a:rPr>
              <a:t> </a:t>
            </a:r>
            <a:r>
              <a:rPr sz="903" dirty="0">
                <a:latin typeface="Times New Roman"/>
                <a:cs typeface="Times New Roman"/>
              </a:rPr>
              <a:t>(</a:t>
            </a:r>
            <a:r>
              <a:rPr sz="903" spc="-85" dirty="0">
                <a:latin typeface="Times New Roman"/>
                <a:cs typeface="Times New Roman"/>
              </a:rPr>
              <a:t> </a:t>
            </a:r>
            <a:r>
              <a:rPr sz="903" i="1" dirty="0">
                <a:latin typeface="Times New Roman"/>
                <a:cs typeface="Times New Roman"/>
              </a:rPr>
              <a:t>D</a:t>
            </a:r>
            <a:r>
              <a:rPr sz="903" i="1" spc="-133" dirty="0">
                <a:latin typeface="Times New Roman"/>
                <a:cs typeface="Times New Roman"/>
              </a:rPr>
              <a:t> </a:t>
            </a:r>
            <a:r>
              <a:rPr sz="903" spc="35" dirty="0">
                <a:latin typeface="Times New Roman"/>
                <a:cs typeface="Times New Roman"/>
              </a:rPr>
              <a:t>2)</a:t>
            </a:r>
            <a:r>
              <a:rPr sz="903" spc="13" dirty="0">
                <a:latin typeface="Times New Roman"/>
                <a:cs typeface="Times New Roman"/>
              </a:rPr>
              <a:t>  </a:t>
            </a:r>
            <a:r>
              <a:rPr sz="2369" baseline="-24691" dirty="0">
                <a:latin typeface="Symbol"/>
                <a:cs typeface="Symbol"/>
              </a:rPr>
              <a:t></a:t>
            </a:r>
            <a:r>
              <a:rPr sz="2369" spc="-19" baseline="-24691" dirty="0">
                <a:latin typeface="Times New Roman"/>
                <a:cs typeface="Times New Roman"/>
              </a:rPr>
              <a:t> </a:t>
            </a:r>
            <a:r>
              <a:rPr sz="2369" spc="-38" baseline="-24691" dirty="0">
                <a:latin typeface="Symbol"/>
                <a:cs typeface="Symbol"/>
              </a:rPr>
              <a:t></a:t>
            </a:r>
            <a:endParaRPr sz="2369" baseline="-24691">
              <a:latin typeface="Symbol"/>
              <a:cs typeface="Symbo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306555" y="2862467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173554" y="3208100"/>
            <a:ext cx="358827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spc="-8" baseline="17636" dirty="0">
                <a:latin typeface="Times New Roman"/>
                <a:cs typeface="Times New Roman"/>
              </a:rPr>
              <a:t>m</a:t>
            </a:r>
            <a:r>
              <a:rPr sz="903" i="1" spc="-5" dirty="0">
                <a:latin typeface="Times New Roman"/>
                <a:cs typeface="Times New Roman"/>
              </a:rPr>
              <a:t>real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1176971" y="3139694"/>
            <a:ext cx="368697" cy="10189"/>
          </a:xfrm>
          <a:custGeom>
            <a:avLst/>
            <a:gdLst/>
            <a:ahLst/>
            <a:cxnLst/>
            <a:rect l="l" t="t" r="r" b="b"/>
            <a:pathLst>
              <a:path w="735330" h="20320">
                <a:moveTo>
                  <a:pt x="735216" y="0"/>
                </a:moveTo>
                <a:lnTo>
                  <a:pt x="0" y="0"/>
                </a:lnTo>
                <a:lnTo>
                  <a:pt x="0" y="19814"/>
                </a:lnTo>
                <a:lnTo>
                  <a:pt x="735216" y="19814"/>
                </a:lnTo>
                <a:lnTo>
                  <a:pt x="735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23" name="object 123"/>
          <p:cNvSpPr txBox="1"/>
          <p:nvPr/>
        </p:nvSpPr>
        <p:spPr>
          <a:xfrm>
            <a:off x="1611402" y="3269801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558404" y="2881292"/>
            <a:ext cx="249937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8" baseline="18518" dirty="0">
                <a:latin typeface="Times New Roman"/>
                <a:cs typeface="Times New Roman"/>
              </a:rPr>
              <a:t>m</a:t>
            </a:r>
            <a:r>
              <a:rPr sz="652" i="1" spc="-5" dirty="0">
                <a:latin typeface="Times New Roman"/>
                <a:cs typeface="Times New Roman"/>
              </a:rPr>
              <a:t>real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562064" y="2891226"/>
            <a:ext cx="1484022" cy="371022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3535" spc="68" baseline="-7092" dirty="0">
                <a:latin typeface="Symbol"/>
                <a:cs typeface="Symbol"/>
              </a:rPr>
              <a:t></a:t>
            </a:r>
            <a:r>
              <a:rPr sz="1579" spc="45" dirty="0">
                <a:latin typeface="Times New Roman"/>
                <a:cs typeface="Times New Roman"/>
              </a:rPr>
              <a:t>log(</a:t>
            </a:r>
            <a:r>
              <a:rPr sz="1579" spc="-236" dirty="0">
                <a:latin typeface="Times New Roman"/>
                <a:cs typeface="Times New Roman"/>
              </a:rPr>
              <a:t> </a:t>
            </a:r>
            <a:r>
              <a:rPr sz="1579" i="1" spc="33" dirty="0">
                <a:latin typeface="Times New Roman"/>
                <a:cs typeface="Times New Roman"/>
              </a:rPr>
              <a:t>D</a:t>
            </a:r>
            <a:r>
              <a:rPr sz="1579" spc="33" dirty="0">
                <a:latin typeface="Times New Roman"/>
                <a:cs typeface="Times New Roman"/>
              </a:rPr>
              <a:t>2(</a:t>
            </a:r>
            <a:r>
              <a:rPr sz="1579" i="1" spc="33" dirty="0">
                <a:latin typeface="Times New Roman"/>
                <a:cs typeface="Times New Roman"/>
              </a:rPr>
              <a:t>h</a:t>
            </a:r>
            <a:r>
              <a:rPr sz="1354" spc="49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18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71" baseline="43209" dirty="0">
                <a:latin typeface="Times New Roman"/>
                <a:cs typeface="Times New Roman"/>
              </a:rPr>
              <a:t> </a:t>
            </a:r>
            <a:r>
              <a:rPr sz="1579" spc="-20" dirty="0">
                <a:latin typeface="Times New Roman"/>
                <a:cs typeface="Times New Roman"/>
              </a:rPr>
              <a:t>))</a:t>
            </a:r>
            <a:r>
              <a:rPr sz="1579" spc="-140" dirty="0">
                <a:latin typeface="Times New Roman"/>
                <a:cs typeface="Times New Roman"/>
              </a:rPr>
              <a:t> </a:t>
            </a:r>
            <a:r>
              <a:rPr sz="1579" spc="-25" dirty="0">
                <a:latin typeface="Symbol"/>
                <a:cs typeface="Symbol"/>
              </a:rPr>
              <a:t></a:t>
            </a:r>
            <a:endParaRPr sz="1579">
              <a:latin typeface="Symbol"/>
              <a:cs typeface="Symbo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188973" y="2862467"/>
            <a:ext cx="113347" cy="24944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579" dirty="0">
                <a:latin typeface="Times New Roman"/>
                <a:cs typeface="Times New Roman"/>
              </a:rPr>
              <a:t>1</a:t>
            </a:r>
            <a:endParaRPr sz="1579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065907" y="3208100"/>
            <a:ext cx="345455" cy="249510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2369" i="1" spc="-15" baseline="17636" dirty="0">
                <a:latin typeface="Times New Roman"/>
                <a:cs typeface="Times New Roman"/>
              </a:rPr>
              <a:t>m</a:t>
            </a:r>
            <a:r>
              <a:rPr sz="903" i="1" spc="-10" dirty="0">
                <a:latin typeface="Times New Roman"/>
                <a:cs typeface="Times New Roman"/>
              </a:rPr>
              <a:t>gen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069324" y="3139694"/>
            <a:ext cx="348957" cy="10189"/>
          </a:xfrm>
          <a:custGeom>
            <a:avLst/>
            <a:gdLst/>
            <a:ahLst/>
            <a:cxnLst/>
            <a:rect l="l" t="t" r="r" b="b"/>
            <a:pathLst>
              <a:path w="695959" h="20320">
                <a:moveTo>
                  <a:pt x="695587" y="0"/>
                </a:moveTo>
                <a:lnTo>
                  <a:pt x="0" y="0"/>
                </a:lnTo>
                <a:lnTo>
                  <a:pt x="0" y="19814"/>
                </a:lnTo>
                <a:lnTo>
                  <a:pt x="695587" y="19814"/>
                </a:lnTo>
                <a:lnTo>
                  <a:pt x="695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129" name="object 129"/>
          <p:cNvSpPr txBox="1"/>
          <p:nvPr/>
        </p:nvSpPr>
        <p:spPr>
          <a:xfrm>
            <a:off x="3477088" y="3269801"/>
            <a:ext cx="166200" cy="14666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903" i="1" spc="-13" dirty="0">
                <a:latin typeface="Times New Roman"/>
                <a:cs typeface="Times New Roman"/>
              </a:rPr>
              <a:t>i</a:t>
            </a:r>
            <a:r>
              <a:rPr sz="903" spc="-13" dirty="0">
                <a:latin typeface="Symbol"/>
                <a:cs typeface="Symbol"/>
              </a:rPr>
              <a:t></a:t>
            </a:r>
            <a:r>
              <a:rPr sz="903" spc="-13" dirty="0">
                <a:latin typeface="Times New Roman"/>
                <a:cs typeface="Times New Roman"/>
              </a:rPr>
              <a:t>1</a:t>
            </a:r>
            <a:endParaRPr sz="903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430887" y="2864036"/>
            <a:ext cx="240385" cy="146600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1354" i="1" spc="-15" baseline="18518" dirty="0">
                <a:latin typeface="Times New Roman"/>
                <a:cs typeface="Times New Roman"/>
              </a:rPr>
              <a:t>m</a:t>
            </a:r>
            <a:r>
              <a:rPr sz="652" i="1" spc="-10" dirty="0">
                <a:latin typeface="Times New Roman"/>
                <a:cs typeface="Times New Roman"/>
              </a:rPr>
              <a:t>gen</a:t>
            </a:r>
            <a:endParaRPr sz="652">
              <a:latin typeface="Times New Roman"/>
              <a:cs typeface="Times New Roman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427749" y="2891226"/>
            <a:ext cx="2001090" cy="371022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3535" spc="41" baseline="-7092" dirty="0">
                <a:latin typeface="Symbol"/>
                <a:cs typeface="Symbol"/>
              </a:rPr>
              <a:t></a:t>
            </a:r>
            <a:r>
              <a:rPr sz="1579" spc="28" dirty="0">
                <a:latin typeface="Times New Roman"/>
                <a:cs typeface="Times New Roman"/>
              </a:rPr>
              <a:t>log(1</a:t>
            </a:r>
            <a:r>
              <a:rPr sz="1579" spc="28" dirty="0">
                <a:latin typeface="Symbol"/>
                <a:cs typeface="Symbol"/>
              </a:rPr>
              <a:t></a:t>
            </a:r>
            <a:r>
              <a:rPr sz="1579" spc="13" dirty="0">
                <a:latin typeface="Times New Roman"/>
                <a:cs typeface="Times New Roman"/>
              </a:rPr>
              <a:t> </a:t>
            </a:r>
            <a:r>
              <a:rPr sz="1579" i="1" spc="38" dirty="0">
                <a:latin typeface="Times New Roman"/>
                <a:cs typeface="Times New Roman"/>
              </a:rPr>
              <a:t>D</a:t>
            </a:r>
            <a:r>
              <a:rPr sz="1579" spc="38" dirty="0">
                <a:latin typeface="Times New Roman"/>
                <a:cs typeface="Times New Roman"/>
              </a:rPr>
              <a:t>2(</a:t>
            </a:r>
            <a:r>
              <a:rPr sz="1579" i="1" spc="38" dirty="0">
                <a:latin typeface="Times New Roman"/>
                <a:cs typeface="Times New Roman"/>
              </a:rPr>
              <a:t>G</a:t>
            </a:r>
            <a:r>
              <a:rPr sz="1579" spc="38" dirty="0">
                <a:latin typeface="Times New Roman"/>
                <a:cs typeface="Times New Roman"/>
              </a:rPr>
              <a:t>2(</a:t>
            </a:r>
            <a:r>
              <a:rPr sz="1579" i="1" spc="38" dirty="0">
                <a:latin typeface="Times New Roman"/>
                <a:cs typeface="Times New Roman"/>
              </a:rPr>
              <a:t>Z</a:t>
            </a:r>
            <a:r>
              <a:rPr sz="1579" i="1" spc="-228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(</a:t>
            </a:r>
            <a:r>
              <a:rPr sz="1354" spc="-207" baseline="43209" dirty="0">
                <a:latin typeface="Times New Roman"/>
                <a:cs typeface="Times New Roman"/>
              </a:rPr>
              <a:t> </a:t>
            </a:r>
            <a:r>
              <a:rPr sz="1354" i="1" baseline="43209" dirty="0">
                <a:latin typeface="Times New Roman"/>
                <a:cs typeface="Times New Roman"/>
              </a:rPr>
              <a:t>i</a:t>
            </a:r>
            <a:r>
              <a:rPr sz="1354" i="1" spc="-222" baseline="43209" dirty="0">
                <a:latin typeface="Times New Roman"/>
                <a:cs typeface="Times New Roman"/>
              </a:rPr>
              <a:t> </a:t>
            </a:r>
            <a:r>
              <a:rPr sz="1354" baseline="43209" dirty="0">
                <a:latin typeface="Times New Roman"/>
                <a:cs typeface="Times New Roman"/>
              </a:rPr>
              <a:t>)</a:t>
            </a:r>
            <a:r>
              <a:rPr sz="1354" spc="-71" baseline="43209" dirty="0">
                <a:latin typeface="Times New Roman"/>
                <a:cs typeface="Times New Roman"/>
              </a:rPr>
              <a:t> </a:t>
            </a:r>
            <a:r>
              <a:rPr sz="1579" spc="-13" dirty="0">
                <a:latin typeface="Times New Roman"/>
                <a:cs typeface="Times New Roman"/>
              </a:rPr>
              <a:t>)))</a:t>
            </a:r>
            <a:endParaRPr sz="1579">
              <a:latin typeface="Times New Roman"/>
              <a:cs typeface="Times New Roman"/>
            </a:endParaRPr>
          </a:p>
        </p:txBody>
      </p:sp>
      <p:pic>
        <p:nvPicPr>
          <p:cNvPr id="132" name="object 1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73648" y="3628393"/>
            <a:ext cx="3919230" cy="400323"/>
          </a:xfrm>
          <a:prstGeom prst="rect">
            <a:avLst/>
          </a:prstGeom>
        </p:spPr>
      </p:pic>
      <p:sp>
        <p:nvSpPr>
          <p:cNvPr id="133" name="object 133"/>
          <p:cNvSpPr txBox="1"/>
          <p:nvPr/>
        </p:nvSpPr>
        <p:spPr>
          <a:xfrm>
            <a:off x="5994649" y="3645550"/>
            <a:ext cx="3866863" cy="231666"/>
          </a:xfrm>
          <a:prstGeom prst="rect">
            <a:avLst/>
          </a:prstGeom>
          <a:ln w="20941">
            <a:solidFill>
              <a:srgbClr val="F3F7F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942">
              <a:lnSpc>
                <a:spcPts val="1785"/>
              </a:lnSpc>
            </a:pP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222" baseline="-25252" dirty="0">
                <a:latin typeface="Times New Roman"/>
                <a:cs typeface="Times New Roman"/>
              </a:rPr>
              <a:t> </a:t>
            </a:r>
            <a:r>
              <a:rPr sz="2896" baseline="-25252" dirty="0">
                <a:latin typeface="Symbol"/>
                <a:cs typeface="Symbol"/>
              </a:rPr>
              <a:t></a:t>
            </a:r>
            <a:r>
              <a:rPr sz="2896" spc="158" baseline="-25252" dirty="0">
                <a:latin typeface="Times New Roman"/>
                <a:cs typeface="Times New Roman"/>
              </a:rPr>
              <a:t> </a:t>
            </a: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-342" baseline="-25252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</a:t>
            </a:r>
            <a:r>
              <a:rPr sz="1103" spc="-102" dirty="0">
                <a:latin typeface="Times New Roman"/>
                <a:cs typeface="Times New Roman"/>
              </a:rPr>
              <a:t> </a:t>
            </a:r>
            <a:r>
              <a:rPr sz="1103" i="1" dirty="0">
                <a:latin typeface="Times New Roman"/>
                <a:cs typeface="Times New Roman"/>
              </a:rPr>
              <a:t>D</a:t>
            </a:r>
            <a:r>
              <a:rPr sz="1103" dirty="0">
                <a:latin typeface="Times New Roman"/>
                <a:cs typeface="Times New Roman"/>
              </a:rPr>
              <a:t>1)</a:t>
            </a:r>
            <a:r>
              <a:rPr sz="1103" spc="208" dirty="0">
                <a:latin typeface="Times New Roman"/>
                <a:cs typeface="Times New Roman"/>
              </a:rPr>
              <a:t> </a:t>
            </a:r>
            <a:r>
              <a:rPr sz="2896" baseline="-25252" dirty="0">
                <a:latin typeface="Symbol"/>
                <a:cs typeface="Symbol"/>
              </a:rPr>
              <a:t></a:t>
            </a:r>
            <a:r>
              <a:rPr sz="2896" spc="19" baseline="-25252" dirty="0">
                <a:latin typeface="Times New Roman"/>
                <a:cs typeface="Times New Roman"/>
              </a:rPr>
              <a:t> </a:t>
            </a: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-342" baseline="-25252" dirty="0">
                <a:latin typeface="Times New Roman"/>
                <a:cs typeface="Times New Roman"/>
              </a:rPr>
              <a:t> </a:t>
            </a:r>
            <a:r>
              <a:rPr sz="1103" spc="30" dirty="0">
                <a:latin typeface="Times New Roman"/>
                <a:cs typeface="Times New Roman"/>
              </a:rPr>
              <a:t>(</a:t>
            </a:r>
            <a:r>
              <a:rPr sz="1103" i="1" spc="30" dirty="0">
                <a:latin typeface="Times New Roman"/>
                <a:cs typeface="Times New Roman"/>
              </a:rPr>
              <a:t>G</a:t>
            </a:r>
            <a:r>
              <a:rPr sz="1103" spc="30" dirty="0">
                <a:latin typeface="Times New Roman"/>
                <a:cs typeface="Times New Roman"/>
              </a:rPr>
              <a:t>1)</a:t>
            </a:r>
            <a:r>
              <a:rPr sz="1103" spc="208" dirty="0">
                <a:latin typeface="Times New Roman"/>
                <a:cs typeface="Times New Roman"/>
              </a:rPr>
              <a:t> </a:t>
            </a:r>
            <a:r>
              <a:rPr sz="2896" baseline="-25252" dirty="0">
                <a:latin typeface="Symbol"/>
                <a:cs typeface="Symbol"/>
              </a:rPr>
              <a:t></a:t>
            </a:r>
            <a:r>
              <a:rPr sz="2896" spc="19" baseline="-25252" dirty="0">
                <a:latin typeface="Times New Roman"/>
                <a:cs typeface="Times New Roman"/>
              </a:rPr>
              <a:t> </a:t>
            </a: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-342" baseline="-25252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</a:t>
            </a:r>
            <a:r>
              <a:rPr sz="1103" spc="-105" dirty="0">
                <a:latin typeface="Times New Roman"/>
                <a:cs typeface="Times New Roman"/>
              </a:rPr>
              <a:t> </a:t>
            </a:r>
            <a:r>
              <a:rPr sz="1103" i="1" dirty="0">
                <a:latin typeface="Times New Roman"/>
                <a:cs typeface="Times New Roman"/>
              </a:rPr>
              <a:t>D</a:t>
            </a:r>
            <a:r>
              <a:rPr sz="1103" i="1" spc="-160" dirty="0">
                <a:latin typeface="Times New Roman"/>
                <a:cs typeface="Times New Roman"/>
              </a:rPr>
              <a:t> </a:t>
            </a:r>
            <a:r>
              <a:rPr sz="1103" spc="43" dirty="0">
                <a:latin typeface="Times New Roman"/>
                <a:cs typeface="Times New Roman"/>
              </a:rPr>
              <a:t>2)</a:t>
            </a:r>
            <a:r>
              <a:rPr sz="1103" spc="208" dirty="0">
                <a:latin typeface="Times New Roman"/>
                <a:cs typeface="Times New Roman"/>
              </a:rPr>
              <a:t> </a:t>
            </a:r>
            <a:r>
              <a:rPr sz="2896" baseline="-25252" dirty="0">
                <a:latin typeface="Symbol"/>
                <a:cs typeface="Symbol"/>
              </a:rPr>
              <a:t></a:t>
            </a:r>
            <a:r>
              <a:rPr sz="2896" spc="19" baseline="-25252" dirty="0">
                <a:latin typeface="Times New Roman"/>
                <a:cs typeface="Times New Roman"/>
              </a:rPr>
              <a:t> </a:t>
            </a: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-342" baseline="-25252" dirty="0">
                <a:latin typeface="Times New Roman"/>
                <a:cs typeface="Times New Roman"/>
              </a:rPr>
              <a:t> </a:t>
            </a:r>
            <a:r>
              <a:rPr sz="1103" spc="45" dirty="0">
                <a:latin typeface="Times New Roman"/>
                <a:cs typeface="Times New Roman"/>
              </a:rPr>
              <a:t>(</a:t>
            </a:r>
            <a:r>
              <a:rPr sz="1103" i="1" spc="45" dirty="0">
                <a:latin typeface="Times New Roman"/>
                <a:cs typeface="Times New Roman"/>
              </a:rPr>
              <a:t>G</a:t>
            </a:r>
            <a:r>
              <a:rPr sz="1103" i="1" spc="-143" dirty="0">
                <a:latin typeface="Times New Roman"/>
                <a:cs typeface="Times New Roman"/>
              </a:rPr>
              <a:t> </a:t>
            </a:r>
            <a:r>
              <a:rPr sz="1103" spc="43" dirty="0">
                <a:latin typeface="Times New Roman"/>
                <a:cs typeface="Times New Roman"/>
              </a:rPr>
              <a:t>2)</a:t>
            </a:r>
            <a:r>
              <a:rPr sz="1103" spc="211" dirty="0">
                <a:latin typeface="Times New Roman"/>
                <a:cs typeface="Times New Roman"/>
              </a:rPr>
              <a:t> </a:t>
            </a:r>
            <a:r>
              <a:rPr sz="2896" baseline="-25252" dirty="0">
                <a:latin typeface="Symbol"/>
                <a:cs typeface="Symbol"/>
              </a:rPr>
              <a:t></a:t>
            </a:r>
            <a:r>
              <a:rPr sz="2896" spc="-169" baseline="-25252" dirty="0">
                <a:latin typeface="Times New Roman"/>
                <a:cs typeface="Times New Roman"/>
              </a:rPr>
              <a:t> </a:t>
            </a:r>
            <a:r>
              <a:rPr sz="2971" i="1" spc="-56" baseline="-24613" dirty="0">
                <a:latin typeface="Symbol"/>
                <a:cs typeface="Symbol"/>
              </a:rPr>
              <a:t></a:t>
            </a:r>
            <a:r>
              <a:rPr sz="2971" spc="-406" baseline="-24613" dirty="0">
                <a:latin typeface="Times New Roman"/>
                <a:cs typeface="Times New Roman"/>
              </a:rPr>
              <a:t> </a:t>
            </a:r>
            <a:r>
              <a:rPr sz="2896" i="1" baseline="-25252" dirty="0">
                <a:latin typeface="Times New Roman"/>
                <a:cs typeface="Times New Roman"/>
              </a:rPr>
              <a:t>J</a:t>
            </a:r>
            <a:r>
              <a:rPr sz="2896" i="1" spc="-301" baseline="-25252" dirty="0">
                <a:latin typeface="Times New Roman"/>
                <a:cs typeface="Times New Roman"/>
              </a:rPr>
              <a:t> </a:t>
            </a:r>
            <a:r>
              <a:rPr sz="1103" i="1" spc="-5" dirty="0">
                <a:latin typeface="Times New Roman"/>
                <a:cs typeface="Times New Roman"/>
              </a:rPr>
              <a:t>cycle</a:t>
            </a:r>
            <a:endParaRPr sz="1103">
              <a:latin typeface="Times New Roman"/>
              <a:cs typeface="Times New Roman"/>
            </a:endParaRPr>
          </a:p>
        </p:txBody>
      </p:sp>
      <p:pic>
        <p:nvPicPr>
          <p:cNvPr id="134" name="object 1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135" name="object 135"/>
          <p:cNvSpPr txBox="1"/>
          <p:nvPr/>
        </p:nvSpPr>
        <p:spPr>
          <a:xfrm>
            <a:off x="4043255" y="172557"/>
            <a:ext cx="1997906" cy="304398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6368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II.E</a:t>
            </a:r>
            <a:r>
              <a:rPr sz="1930" b="1" spc="-8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3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Nice 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results</a:t>
            </a:r>
            <a:endParaRPr sz="193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6414" y="970158"/>
            <a:ext cx="145695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CycleGANs:</a:t>
            </a:r>
            <a:endParaRPr sz="2056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12607" y="889961"/>
            <a:ext cx="2677034" cy="4414496"/>
            <a:chOff x="6204266" y="1774938"/>
            <a:chExt cx="5339080" cy="8804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4266" y="1774938"/>
              <a:ext cx="5338842" cy="88037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6150" y="1809156"/>
              <a:ext cx="5234107" cy="86990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46150" y="1809156"/>
              <a:ext cx="5234305" cy="8699500"/>
            </a:xfrm>
            <a:custGeom>
              <a:avLst/>
              <a:gdLst/>
              <a:ahLst/>
              <a:cxnLst/>
              <a:rect l="l" t="t" r="r" b="b"/>
              <a:pathLst>
                <a:path w="5234305" h="8699500">
                  <a:moveTo>
                    <a:pt x="0" y="0"/>
                  </a:moveTo>
                  <a:lnTo>
                    <a:pt x="0" y="8699014"/>
                  </a:lnTo>
                  <a:lnTo>
                    <a:pt x="5234133" y="8699014"/>
                  </a:lnTo>
                  <a:lnTo>
                    <a:pt x="5234133" y="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80940" y="2917961"/>
            <a:ext cx="1486569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-5" dirty="0">
                <a:latin typeface="Arial"/>
                <a:cs typeface="Arial"/>
              </a:rPr>
              <a:t>Face2ramen</a:t>
            </a:r>
            <a:endParaRPr sz="205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50" y="5438028"/>
            <a:ext cx="6244610" cy="177764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103" dirty="0">
                <a:latin typeface="Times New Roman"/>
                <a:cs typeface="Times New Roman"/>
              </a:rPr>
              <a:t>[Zhu,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Park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(2017):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Unpaired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Image-to-Image</a:t>
            </a:r>
            <a:r>
              <a:rPr sz="1103" spc="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Translation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Cycle-Consistent</a:t>
            </a:r>
            <a:r>
              <a:rPr sz="1103" spc="-3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Adversarial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Networks]</a:t>
            </a:r>
            <a:endParaRPr sz="110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50" y="5117769"/>
            <a:ext cx="2667164" cy="344476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lnSpc>
                <a:spcPts val="1324"/>
              </a:lnSpc>
              <a:spcBef>
                <a:spcPts val="63"/>
              </a:spcBef>
            </a:pPr>
            <a:r>
              <a:rPr sz="1103" dirty="0">
                <a:latin typeface="Times New Roman"/>
                <a:cs typeface="Times New Roman"/>
              </a:rPr>
              <a:t>[Shu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Naritomi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2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al.:</a:t>
            </a:r>
            <a:r>
              <a:rPr sz="1103" spc="18" dirty="0">
                <a:latin typeface="Times New Roman"/>
                <a:cs typeface="Times New Roman"/>
              </a:rPr>
              <a:t> </a:t>
            </a:r>
            <a:r>
              <a:rPr sz="1103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Face2Ramen</a:t>
            </a:r>
            <a:r>
              <a:rPr sz="1103" spc="-5" dirty="0">
                <a:latin typeface="Times New Roman"/>
                <a:cs typeface="Times New Roman"/>
              </a:rPr>
              <a:t>]</a:t>
            </a:r>
            <a:endParaRPr sz="1103">
              <a:latin typeface="Times New Roman"/>
              <a:cs typeface="Times New Roman"/>
            </a:endParaRPr>
          </a:p>
          <a:p>
            <a:pPr marL="6368"/>
            <a:r>
              <a:rPr sz="1103" dirty="0">
                <a:latin typeface="Times New Roman"/>
                <a:cs typeface="Times New Roman"/>
              </a:rPr>
              <a:t>[Takuya</a:t>
            </a:r>
            <a:r>
              <a:rPr sz="1103" spc="-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Tako:</a:t>
            </a:r>
            <a:r>
              <a:rPr sz="1103" spc="-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Face2Ramen</a:t>
            </a:r>
            <a:r>
              <a:rPr sz="1103" spc="-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-8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CycleGAN]</a:t>
            </a:r>
            <a:endParaRPr sz="1103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8572" y="1758395"/>
            <a:ext cx="3574069" cy="22038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072587" y="4009990"/>
            <a:ext cx="2010323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spc="155" dirty="0">
                <a:latin typeface="Arial"/>
                <a:cs typeface="Arial"/>
              </a:rPr>
              <a:t>+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Face</a:t>
            </a:r>
            <a:r>
              <a:rPr sz="2056" spc="3" dirty="0">
                <a:latin typeface="Arial"/>
                <a:cs typeface="Arial"/>
              </a:rPr>
              <a:t> </a:t>
            </a:r>
            <a:r>
              <a:rPr sz="2056" spc="23" dirty="0">
                <a:latin typeface="Arial"/>
                <a:cs typeface="Arial"/>
              </a:rPr>
              <a:t>detection</a:t>
            </a:r>
            <a:endParaRPr sz="2056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8426" y="186344"/>
            <a:ext cx="873354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658" y="2765707"/>
            <a:ext cx="1919263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u="sng" spc="-23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Super-</a:t>
            </a:r>
            <a:r>
              <a:rPr sz="2056" u="sng" spc="-5" dirty="0">
                <a:solidFill>
                  <a:srgbClr val="00882B"/>
                </a:solidFill>
                <a:uFill>
                  <a:solidFill>
                    <a:srgbClr val="00882B"/>
                  </a:solidFill>
                </a:uFill>
                <a:latin typeface="Arial"/>
                <a:cs typeface="Arial"/>
              </a:rPr>
              <a:t>resolution</a:t>
            </a:r>
            <a:endParaRPr sz="205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50" y="5438028"/>
            <a:ext cx="6272628" cy="177764"/>
          </a:xfrm>
          <a:prstGeom prst="rect">
            <a:avLst/>
          </a:prstGeom>
        </p:spPr>
        <p:txBody>
          <a:bodyPr vert="horz" wrap="square" lIns="0" tIns="7960" rIns="0" bIns="0" rtlCol="0">
            <a:spAutoFit/>
          </a:bodyPr>
          <a:lstStyle/>
          <a:p>
            <a:pPr marL="6368">
              <a:spcBef>
                <a:spcPts val="63"/>
              </a:spcBef>
            </a:pPr>
            <a:r>
              <a:rPr sz="1103" dirty="0">
                <a:latin typeface="Times New Roman"/>
                <a:cs typeface="Times New Roman"/>
              </a:rPr>
              <a:t>[Ledig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(2016):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Photo-Realistic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Single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Image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Super-Resolution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Using</a:t>
            </a:r>
            <a:r>
              <a:rPr sz="1103" spc="3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Generative</a:t>
            </a:r>
            <a:r>
              <a:rPr sz="1103" spc="-3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Adversarial</a:t>
            </a:r>
            <a:r>
              <a:rPr sz="1103" spc="28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Network]</a:t>
            </a:r>
            <a:endParaRPr sz="1103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49369" y="151376"/>
            <a:ext cx="7359531" cy="567227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888425">
              <a:lnSpc>
                <a:spcPct val="100000"/>
              </a:lnSpc>
              <a:spcBef>
                <a:spcPts val="57"/>
              </a:spcBef>
            </a:pPr>
            <a:r>
              <a:rPr dirty="0"/>
              <a:t>II.E</a:t>
            </a:r>
            <a:r>
              <a:rPr spc="-8" dirty="0"/>
              <a:t> </a:t>
            </a:r>
            <a:r>
              <a:rPr dirty="0"/>
              <a:t>-</a:t>
            </a:r>
            <a:r>
              <a:rPr spc="-3" dirty="0"/>
              <a:t> </a:t>
            </a:r>
            <a:r>
              <a:rPr dirty="0"/>
              <a:t>Nice </a:t>
            </a:r>
            <a:r>
              <a:rPr spc="-5" dirty="0"/>
              <a:t>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03B960-9FDA-D1B0-C646-0B70507C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00" y="1367740"/>
            <a:ext cx="5067560" cy="309260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10AA4C9-AC25-AB67-4266-C6C25967F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" y="301905"/>
            <a:ext cx="8697278" cy="10960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756117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38" b="1" i="0" u="none" strike="noStrike" kern="1200" cap="none" normalizeH="0" baseline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Summary</a:t>
            </a:r>
          </a:p>
          <a:p>
            <a:pPr marL="0" marR="0" lvl="0" indent="0" defTabSz="756117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638" b="0" i="0" u="none" strike="noStrike" kern="1200" cap="none" normalizeH="0" baseline="0">
              <a:ln>
                <a:noFill/>
              </a:ln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D8BC1D-15DE-E3DB-D57C-D5041ED1F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50462"/>
              </p:ext>
            </p:extLst>
          </p:nvPr>
        </p:nvGraphicFramePr>
        <p:xfrm>
          <a:off x="693261" y="1736685"/>
          <a:ext cx="8697278" cy="3143588"/>
        </p:xfrm>
        <a:graphic>
          <a:graphicData uri="http://schemas.openxmlformats.org/drawingml/2006/table">
            <a:tbl>
              <a:tblPr/>
              <a:tblGrid>
                <a:gridCol w="2925698">
                  <a:extLst>
                    <a:ext uri="{9D8B030D-6E8A-4147-A177-3AD203B41FA5}">
                      <a16:colId xmlns:a16="http://schemas.microsoft.com/office/drawing/2014/main" val="2256795694"/>
                    </a:ext>
                  </a:extLst>
                </a:gridCol>
                <a:gridCol w="5771580">
                  <a:extLst>
                    <a:ext uri="{9D8B030D-6E8A-4147-A177-3AD203B41FA5}">
                      <a16:colId xmlns:a16="http://schemas.microsoft.com/office/drawing/2014/main" val="2678549785"/>
                    </a:ext>
                  </a:extLst>
                </a:gridCol>
              </a:tblGrid>
              <a:tr h="47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Component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Description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60435"/>
                  </a:ext>
                </a:extLst>
              </a:tr>
              <a:tr h="47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Generator</a:t>
                      </a:r>
                      <a:endParaRPr lang="en-US" sz="2000"/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Simple 2-layer MLP: noise → 28×28 image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36815"/>
                  </a:ext>
                </a:extLst>
              </a:tr>
              <a:tr h="47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Discriminator</a:t>
                      </a:r>
                      <a:endParaRPr lang="en-US" sz="2000"/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2-layer binary classifier: real/fake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167480"/>
                  </a:ext>
                </a:extLst>
              </a:tr>
              <a:tr h="47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Dataset</a:t>
                      </a:r>
                      <a:endParaRPr lang="en-US" sz="2000"/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Fashion-MNIST (28×28 grayscale)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933317"/>
                  </a:ext>
                </a:extLst>
              </a:tr>
              <a:tr h="473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Training time</a:t>
                      </a:r>
                      <a:endParaRPr lang="en-US" sz="2000"/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≈ 2–3 minutes on CPU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176412"/>
                  </a:ext>
                </a:extLst>
              </a:tr>
              <a:tr h="776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Result</a:t>
                      </a:r>
                      <a:endParaRPr lang="en-US" sz="2000"/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After ~1500–2000 epochs, you'll see the generator producing rough clothing-like textures</a:t>
                      </a:r>
                    </a:p>
                  </a:txBody>
                  <a:tcPr marL="121374" marR="121374" marT="60687" marB="606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665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115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D2678-E81B-4B79-2F19-188BBC23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413" y="268900"/>
            <a:ext cx="5540974" cy="51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B650F-B902-6E92-555F-FD7D3A38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41" y="459405"/>
            <a:ext cx="6673117" cy="475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00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EE908-B2E1-2F48-36FF-76388D85A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100" y="1349336"/>
            <a:ext cx="6531599" cy="297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99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78235-5D1F-D375-380B-5ACC8F216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396875"/>
            <a:ext cx="3418204" cy="3352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865E64-E139-A58F-AF39-EE17294D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07" y="1213261"/>
            <a:ext cx="3238585" cy="32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031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7CC32-25E6-5F62-F5B2-C661F3D8B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92075"/>
            <a:ext cx="2999093" cy="3244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35326D-9BFF-284B-149A-944FCB92C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854075"/>
            <a:ext cx="3178712" cy="32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149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4545FFD-A37F-CF82-29A4-B9C7A18CB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" y="301905"/>
            <a:ext cx="8697278" cy="10960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756117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38" b="1" i="0" u="none" strike="noStrike" kern="1200" cap="none" normalizeH="0" baseline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Key Notes</a:t>
            </a:r>
          </a:p>
          <a:p>
            <a:pPr marL="0" marR="0" lvl="0" indent="0" defTabSz="756117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638" b="0" i="0" u="none" strike="noStrike" kern="1200" cap="none" normalizeH="0" baseline="0">
              <a:ln>
                <a:noFill/>
              </a:ln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D3C9AE-D706-F4CE-00E4-52DC48DF8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20309"/>
              </p:ext>
            </p:extLst>
          </p:nvPr>
        </p:nvGraphicFramePr>
        <p:xfrm>
          <a:off x="870131" y="1509521"/>
          <a:ext cx="8343537" cy="3597915"/>
        </p:xfrm>
        <a:graphic>
          <a:graphicData uri="http://schemas.openxmlformats.org/drawingml/2006/table">
            <a:tbl>
              <a:tblPr/>
              <a:tblGrid>
                <a:gridCol w="2806702">
                  <a:extLst>
                    <a:ext uri="{9D8B030D-6E8A-4147-A177-3AD203B41FA5}">
                      <a16:colId xmlns:a16="http://schemas.microsoft.com/office/drawing/2014/main" val="2355003494"/>
                    </a:ext>
                  </a:extLst>
                </a:gridCol>
                <a:gridCol w="5536835">
                  <a:extLst>
                    <a:ext uri="{9D8B030D-6E8A-4147-A177-3AD203B41FA5}">
                      <a16:colId xmlns:a16="http://schemas.microsoft.com/office/drawing/2014/main" val="961120551"/>
                    </a:ext>
                  </a:extLst>
                </a:gridCol>
              </a:tblGrid>
              <a:tr h="45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Component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Description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250461"/>
                  </a:ext>
                </a:extLst>
              </a:tr>
              <a:tr h="745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Dataset</a:t>
                      </a:r>
                      <a:endParaRPr lang="en-US" sz="1900"/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CIFAR-10 (32×32 RGB images of animals, vehicles, etc.)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830253"/>
                  </a:ext>
                </a:extLst>
              </a:tr>
              <a:tr h="745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Generator</a:t>
                      </a:r>
                      <a:endParaRPr lang="en-US" sz="1900"/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Fully connected network → reshaped to (32, 32, 3)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03657"/>
                  </a:ext>
                </a:extLst>
              </a:tr>
              <a:tr h="45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Discriminator</a:t>
                      </a:r>
                      <a:endParaRPr lang="en-US" sz="1900"/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2 hidden layers, binary classifier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050502"/>
                  </a:ext>
                </a:extLst>
              </a:tr>
              <a:tr h="454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Training time</a:t>
                      </a:r>
                      <a:endParaRPr lang="en-US" sz="1900"/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900"/>
                        <a:t>~5–8 min on CPU / &lt;2 min on GPU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949934"/>
                  </a:ext>
                </a:extLst>
              </a:tr>
              <a:tr h="745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Result</a:t>
                      </a:r>
                      <a:endParaRPr lang="en-US" sz="1900"/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Generates coarse colored blobs that gradually resemble CIFAR objects after ~2000 epochs</a:t>
                      </a:r>
                    </a:p>
                  </a:txBody>
                  <a:tcPr marL="116437" marR="116437" marT="58219" marB="582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90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871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7358E-4F9C-6935-DE1F-DF7F8CE85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68" y="108332"/>
            <a:ext cx="4615664" cy="545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556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606D2-3694-595C-7290-ED6EF675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56" y="135547"/>
            <a:ext cx="6112488" cy="539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43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24DA71-9C9E-11A0-250D-F0ADEA98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930275"/>
            <a:ext cx="4343514" cy="2710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90EF07-6A78-8B76-EA57-E9D5D567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700" y="735980"/>
            <a:ext cx="2873904" cy="29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57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3B206E-8EBE-3E02-B74D-555F59CF9309}"/>
              </a:ext>
            </a:extLst>
          </p:cNvPr>
          <p:cNvSpPr txBox="1"/>
          <p:nvPr/>
        </p:nvSpPr>
        <p:spPr>
          <a:xfrm>
            <a:off x="1231900" y="1387475"/>
            <a:ext cx="7239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Generator: </a:t>
            </a:r>
            <a:r>
              <a:rPr lang="en-US" dirty="0"/>
              <a:t>Learns to map random noise → fake clothing images.</a:t>
            </a:r>
          </a:p>
          <a:p>
            <a:endParaRPr lang="en-US" dirty="0"/>
          </a:p>
          <a:p>
            <a:r>
              <a:rPr lang="en-US" b="1" dirty="0"/>
              <a:t>Discriminator: </a:t>
            </a:r>
            <a:r>
              <a:rPr lang="en-US" dirty="0"/>
              <a:t>Learns to distinguish real Fashion-MNIST samples from generated ones.</a:t>
            </a:r>
          </a:p>
          <a:p>
            <a:endParaRPr lang="en-US" dirty="0"/>
          </a:p>
          <a:p>
            <a:r>
              <a:rPr lang="en-US" b="1" dirty="0"/>
              <a:t>Training: </a:t>
            </a:r>
            <a:r>
              <a:rPr lang="en-US" dirty="0"/>
              <a:t>Alternates between training the discriminator on real and fake images, and training the generator to fool the discriminator.</a:t>
            </a:r>
          </a:p>
          <a:p>
            <a:endParaRPr lang="en-US" dirty="0"/>
          </a:p>
          <a:p>
            <a:r>
              <a:rPr lang="en-US" b="1" dirty="0"/>
              <a:t>Visualization: </a:t>
            </a:r>
            <a:r>
              <a:rPr lang="en-US" dirty="0"/>
              <a:t>Every 1000 epochs, you’ll see samples of generated “clothing” evolve from random noise to realistic shapes.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52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27237-3348-C2C1-82FB-58D0777A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64" y="156791"/>
            <a:ext cx="4953130" cy="5513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32064F-7B9B-A144-FF39-E7F9F7156C16}"/>
              </a:ext>
            </a:extLst>
          </p:cNvPr>
          <p:cNvSpPr txBox="1"/>
          <p:nvPr/>
        </p:nvSpPr>
        <p:spPr>
          <a:xfrm>
            <a:off x="88900" y="1616075"/>
            <a:ext cx="52098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Conditional GAN (</a:t>
            </a:r>
            <a:r>
              <a:rPr lang="en-US" b="1" dirty="0" err="1"/>
              <a:t>cGAN</a:t>
            </a:r>
            <a:r>
              <a:rPr lang="en-US" b="1" dirty="0"/>
              <a:t>)</a:t>
            </a:r>
            <a:r>
              <a:rPr lang="en-US" dirty="0"/>
              <a:t> using </a:t>
            </a:r>
            <a:r>
              <a:rPr lang="en-US" b="1" dirty="0"/>
              <a:t>Fashion-MNIST</a:t>
            </a:r>
            <a:r>
              <a:rPr lang="en-US" dirty="0"/>
              <a:t>, where the generator learns </a:t>
            </a:r>
            <a:r>
              <a:rPr lang="en-US" b="1" dirty="0"/>
              <a:t>to produce specific clothing items</a:t>
            </a:r>
            <a:r>
              <a:rPr lang="en-US" dirty="0"/>
              <a:t> (like shirts, shoes, or bags) based on a </a:t>
            </a:r>
            <a:r>
              <a:rPr lang="en-US" b="1" dirty="0"/>
              <a:t>class label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example conditions both the </a:t>
            </a:r>
            <a:r>
              <a:rPr lang="en-US" b="1" dirty="0"/>
              <a:t>generator</a:t>
            </a:r>
            <a:r>
              <a:rPr lang="en-US" dirty="0"/>
              <a:t> and </a:t>
            </a:r>
            <a:r>
              <a:rPr lang="en-US" b="1" dirty="0"/>
              <a:t>discriminator</a:t>
            </a:r>
            <a:r>
              <a:rPr lang="en-US" dirty="0"/>
              <a:t> on a class label (0–9) from Fashion-MNIST.</a:t>
            </a:r>
          </a:p>
        </p:txBody>
      </p:sp>
    </p:spTree>
    <p:extLst>
      <p:ext uri="{BB962C8B-B14F-4D97-AF65-F5344CB8AC3E}">
        <p14:creationId xmlns:p14="http://schemas.microsoft.com/office/powerpoint/2010/main" val="2681230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8E6FE-767B-6F10-641C-A1EE9FFE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16" y="1499018"/>
            <a:ext cx="5312368" cy="267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940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FB4CB-9E3D-4A3E-A173-70D921451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03" y="845858"/>
            <a:ext cx="6302993" cy="39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639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4089E-C656-D388-ACCB-565D27467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49" y="625475"/>
            <a:ext cx="6788583" cy="384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300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29540" y="5002266"/>
            <a:ext cx="4699775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b="1" dirty="0">
                <a:latin typeface="Arial"/>
                <a:cs typeface="Arial"/>
              </a:rPr>
              <a:t>Also</a:t>
            </a:r>
            <a:r>
              <a:rPr sz="2056" dirty="0">
                <a:latin typeface="Arial"/>
                <a:cs typeface="Arial"/>
              </a:rPr>
              <a:t>:</a:t>
            </a:r>
            <a:r>
              <a:rPr sz="2056" spc="8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Fréchet</a:t>
            </a:r>
            <a:r>
              <a:rPr sz="2056" spc="10" dirty="0">
                <a:latin typeface="Arial"/>
                <a:cs typeface="Arial"/>
              </a:rPr>
              <a:t> </a:t>
            </a:r>
            <a:r>
              <a:rPr sz="2056" spc="28" dirty="0">
                <a:latin typeface="Arial"/>
                <a:cs typeface="Arial"/>
              </a:rPr>
              <a:t>Inception</a:t>
            </a:r>
            <a:r>
              <a:rPr sz="2056" spc="8" dirty="0">
                <a:latin typeface="Arial"/>
                <a:cs typeface="Arial"/>
              </a:rPr>
              <a:t> </a:t>
            </a:r>
            <a:r>
              <a:rPr sz="2056" dirty="0">
                <a:latin typeface="Arial"/>
                <a:cs typeface="Arial"/>
              </a:rPr>
              <a:t>Distance</a:t>
            </a:r>
            <a:r>
              <a:rPr sz="2056" spc="10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(FID)</a:t>
            </a:r>
            <a:endParaRPr sz="2056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73" y="105002"/>
            <a:ext cx="9408252" cy="4608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3491" y="172557"/>
            <a:ext cx="2820311" cy="1067812"/>
          </a:xfrm>
          <a:prstGeom prst="rect">
            <a:avLst/>
          </a:prstGeom>
        </p:spPr>
        <p:txBody>
          <a:bodyPr vert="horz" wrap="square" lIns="0" tIns="7322" rIns="0" bIns="0" rtlCol="0">
            <a:spAutoFit/>
          </a:bodyPr>
          <a:lstStyle/>
          <a:p>
            <a:pPr marL="226693">
              <a:spcBef>
                <a:spcPts val="57"/>
              </a:spcBef>
            </a:pP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II.E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-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dirty="0">
                <a:solidFill>
                  <a:srgbClr val="C82506"/>
                </a:solidFill>
                <a:latin typeface="Arial"/>
                <a:cs typeface="Arial"/>
              </a:rPr>
              <a:t>Evaluating</a:t>
            </a:r>
            <a:r>
              <a:rPr sz="1930" b="1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1930" b="1" spc="-10" dirty="0">
                <a:solidFill>
                  <a:srgbClr val="C82506"/>
                </a:solidFill>
                <a:latin typeface="Arial"/>
                <a:cs typeface="Arial"/>
              </a:rPr>
              <a:t>GANs</a:t>
            </a:r>
            <a:endParaRPr sz="193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5">
              <a:latin typeface="Arial"/>
              <a:cs typeface="Arial"/>
            </a:endParaRPr>
          </a:p>
          <a:p>
            <a:pPr marL="6368">
              <a:spcBef>
                <a:spcPts val="1196"/>
              </a:spcBef>
            </a:pP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How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to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dirty="0">
                <a:solidFill>
                  <a:srgbClr val="00882B"/>
                </a:solidFill>
                <a:latin typeface="Arial"/>
                <a:cs typeface="Arial"/>
              </a:rPr>
              <a:t>evaluate</a:t>
            </a:r>
            <a:r>
              <a:rPr sz="2056" spc="3" dirty="0">
                <a:solidFill>
                  <a:srgbClr val="00882B"/>
                </a:solidFill>
                <a:latin typeface="Arial"/>
                <a:cs typeface="Arial"/>
              </a:rPr>
              <a:t> </a:t>
            </a:r>
            <a:r>
              <a:rPr sz="2056" spc="-5" dirty="0">
                <a:solidFill>
                  <a:srgbClr val="00882B"/>
                </a:solidFill>
                <a:latin typeface="Arial"/>
                <a:cs typeface="Arial"/>
              </a:rPr>
              <a:t>GANs?</a:t>
            </a:r>
            <a:endParaRPr sz="2056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3564" y="1579175"/>
            <a:ext cx="2477722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b="1" dirty="0">
                <a:latin typeface="Arial"/>
                <a:cs typeface="Arial"/>
              </a:rPr>
              <a:t>Inception</a:t>
            </a:r>
            <a:r>
              <a:rPr sz="2056" b="1" spc="-5" dirty="0">
                <a:latin typeface="Arial"/>
                <a:cs typeface="Arial"/>
              </a:rPr>
              <a:t> </a:t>
            </a:r>
            <a:r>
              <a:rPr sz="2056" b="1" dirty="0">
                <a:latin typeface="Arial"/>
                <a:cs typeface="Arial"/>
              </a:rPr>
              <a:t>Score</a:t>
            </a:r>
            <a:r>
              <a:rPr sz="2056" b="1" spc="-5" dirty="0">
                <a:latin typeface="Arial"/>
                <a:cs typeface="Arial"/>
              </a:rPr>
              <a:t> </a:t>
            </a:r>
            <a:r>
              <a:rPr sz="2056" b="1" spc="-10" dirty="0">
                <a:latin typeface="Arial"/>
                <a:cs typeface="Arial"/>
              </a:rPr>
              <a:t>(IS)</a:t>
            </a:r>
            <a:endParaRPr sz="205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678" y="1579175"/>
            <a:ext cx="2331898" cy="324084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056" b="1" dirty="0">
                <a:latin typeface="Arial"/>
                <a:cs typeface="Arial"/>
              </a:rPr>
              <a:t>Human </a:t>
            </a:r>
            <a:r>
              <a:rPr sz="2056" b="1" spc="-5" dirty="0">
                <a:latin typeface="Arial"/>
                <a:cs typeface="Arial"/>
              </a:rPr>
              <a:t>annotators</a:t>
            </a:r>
            <a:endParaRPr sz="2056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50" y="5230122"/>
            <a:ext cx="4430734" cy="371977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 marR="2547">
              <a:lnSpc>
                <a:spcPct val="112400"/>
              </a:lnSpc>
              <a:spcBef>
                <a:spcPts val="48"/>
              </a:spcBef>
            </a:pPr>
            <a:r>
              <a:rPr sz="1103" dirty="0">
                <a:latin typeface="Times New Roman"/>
                <a:cs typeface="Times New Roman"/>
              </a:rPr>
              <a:t>[Lucic,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Kurach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(2018):</a:t>
            </a:r>
            <a:r>
              <a:rPr sz="1103" spc="-45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Are</a:t>
            </a:r>
            <a:r>
              <a:rPr sz="1103" spc="25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GANs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Created</a:t>
            </a:r>
            <a:r>
              <a:rPr sz="1103" spc="2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Equal?</a:t>
            </a:r>
            <a:r>
              <a:rPr sz="1103" spc="-45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</a:t>
            </a:r>
            <a:r>
              <a:rPr sz="1103" spc="-45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Large-Scale</a:t>
            </a:r>
            <a:r>
              <a:rPr sz="1103" spc="25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Study] </a:t>
            </a:r>
            <a:r>
              <a:rPr sz="1103" dirty="0">
                <a:latin typeface="Times New Roman"/>
                <a:cs typeface="Times New Roman"/>
              </a:rPr>
              <a:t>[Salimans</a:t>
            </a:r>
            <a:r>
              <a:rPr sz="1103" spc="1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et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al.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(2016):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Improved</a:t>
            </a:r>
            <a:r>
              <a:rPr sz="1103" spc="-8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Techniques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for</a:t>
            </a:r>
            <a:r>
              <a:rPr sz="1103" spc="-10" dirty="0">
                <a:latin typeface="Times New Roman"/>
                <a:cs typeface="Times New Roman"/>
              </a:rPr>
              <a:t> </a:t>
            </a:r>
            <a:r>
              <a:rPr sz="1103" dirty="0">
                <a:latin typeface="Times New Roman"/>
                <a:cs typeface="Times New Roman"/>
              </a:rPr>
              <a:t>Training</a:t>
            </a:r>
            <a:r>
              <a:rPr sz="1103" spc="13" dirty="0">
                <a:latin typeface="Times New Roman"/>
                <a:cs typeface="Times New Roman"/>
              </a:rPr>
              <a:t> </a:t>
            </a:r>
            <a:r>
              <a:rPr sz="1103" spc="-5" dirty="0">
                <a:latin typeface="Times New Roman"/>
                <a:cs typeface="Times New Roman"/>
              </a:rPr>
              <a:t>GANs]</a:t>
            </a:r>
            <a:endParaRPr sz="1103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4814" y="2911869"/>
            <a:ext cx="1834253" cy="556548"/>
            <a:chOff x="2798242" y="5807435"/>
            <a:chExt cx="3658235" cy="11099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8242" y="5807435"/>
              <a:ext cx="1109913" cy="11099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9655" y="5817906"/>
              <a:ext cx="1047088" cy="10470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2260" y="5807435"/>
              <a:ext cx="1109913" cy="11099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3672" y="5817906"/>
              <a:ext cx="1047088" cy="10470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6278" y="5807435"/>
              <a:ext cx="1109913" cy="11099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7690" y="5817906"/>
              <a:ext cx="1047088" cy="104708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445553" y="2965212"/>
            <a:ext cx="1758475" cy="41007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>
              <a:spcBef>
                <a:spcPts val="68"/>
              </a:spcBef>
              <a:tabLst>
                <a:tab pos="640280" algn="l"/>
                <a:tab pos="1275466" algn="l"/>
              </a:tabLst>
            </a:pP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endParaRPr sz="1304">
              <a:latin typeface="Arial"/>
              <a:cs typeface="Arial"/>
            </a:endParaRPr>
          </a:p>
          <a:p>
            <a:pPr marL="188805">
              <a:spcBef>
                <a:spcPts val="8"/>
              </a:spcBef>
              <a:tabLst>
                <a:tab pos="829403" algn="l"/>
                <a:tab pos="1469684" algn="l"/>
              </a:tabLst>
            </a:pP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4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04814" y="3550667"/>
            <a:ext cx="1834253" cy="556548"/>
            <a:chOff x="2798242" y="7081453"/>
            <a:chExt cx="3658235" cy="110998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8242" y="7081453"/>
              <a:ext cx="1109913" cy="11099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9655" y="7091924"/>
              <a:ext cx="1047088" cy="10470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2260" y="7081453"/>
              <a:ext cx="1109913" cy="11099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3672" y="7091924"/>
              <a:ext cx="1047088" cy="10470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6278" y="7081453"/>
              <a:ext cx="1109913" cy="110991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7690" y="7091924"/>
              <a:ext cx="1047088" cy="104708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45553" y="3605728"/>
            <a:ext cx="1758475" cy="410073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>
              <a:spcBef>
                <a:spcPts val="68"/>
              </a:spcBef>
              <a:tabLst>
                <a:tab pos="640280" algn="l"/>
                <a:tab pos="1275466" algn="l"/>
              </a:tabLst>
            </a:pP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5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endParaRPr sz="1304">
              <a:latin typeface="Arial"/>
              <a:cs typeface="Arial"/>
            </a:endParaRPr>
          </a:p>
          <a:p>
            <a:pPr marL="188805">
              <a:spcBef>
                <a:spcPts val="8"/>
              </a:spcBef>
              <a:tabLst>
                <a:tab pos="829403" algn="l"/>
                <a:tab pos="1469684" algn="l"/>
              </a:tabLst>
            </a:pP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4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4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56548" y="2581952"/>
            <a:ext cx="2165698" cy="196678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>
              <a:spcBef>
                <a:spcPts val="60"/>
              </a:spcBef>
            </a:pPr>
            <a:r>
              <a:rPr sz="1228" dirty="0">
                <a:latin typeface="Arial"/>
                <a:cs typeface="Arial"/>
              </a:rPr>
              <a:t>Indicate</a:t>
            </a:r>
            <a:r>
              <a:rPr sz="1228" spc="4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if</a:t>
            </a:r>
            <a:r>
              <a:rPr sz="1228" spc="4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image</a:t>
            </a:r>
            <a:r>
              <a:rPr sz="1228" spc="4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is</a:t>
            </a:r>
            <a:r>
              <a:rPr sz="1228" spc="43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fake</a:t>
            </a:r>
            <a:r>
              <a:rPr sz="1228" spc="40" dirty="0">
                <a:latin typeface="Arial"/>
                <a:cs typeface="Arial"/>
              </a:rPr>
              <a:t> </a:t>
            </a:r>
            <a:r>
              <a:rPr sz="1228" dirty="0">
                <a:latin typeface="Arial"/>
                <a:cs typeface="Arial"/>
              </a:rPr>
              <a:t>or</a:t>
            </a:r>
            <a:r>
              <a:rPr sz="1228" spc="43" dirty="0">
                <a:latin typeface="Arial"/>
                <a:cs typeface="Arial"/>
              </a:rPr>
              <a:t> </a:t>
            </a:r>
            <a:r>
              <a:rPr sz="1228" spc="-10" dirty="0">
                <a:latin typeface="Arial"/>
                <a:cs typeface="Arial"/>
              </a:rPr>
              <a:t>real</a:t>
            </a:r>
            <a:endParaRPr sz="1228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89181" y="2231689"/>
            <a:ext cx="2265673" cy="1935819"/>
            <a:chOff x="2368184" y="4450883"/>
            <a:chExt cx="4518660" cy="3860800"/>
          </a:xfrm>
        </p:grpSpPr>
        <p:sp>
          <p:nvSpPr>
            <p:cNvPr id="26" name="object 26"/>
            <p:cNvSpPr/>
            <p:nvPr/>
          </p:nvSpPr>
          <p:spPr>
            <a:xfrm>
              <a:off x="2378655" y="4463129"/>
              <a:ext cx="4497705" cy="3837940"/>
            </a:xfrm>
            <a:custGeom>
              <a:avLst/>
              <a:gdLst/>
              <a:ahLst/>
              <a:cxnLst/>
              <a:rect l="l" t="t" r="r" b="b"/>
              <a:pathLst>
                <a:path w="4497705" h="3837940">
                  <a:moveTo>
                    <a:pt x="0" y="0"/>
                  </a:moveTo>
                  <a:lnTo>
                    <a:pt x="4497123" y="0"/>
                  </a:lnTo>
                  <a:lnTo>
                    <a:pt x="4497123" y="3837581"/>
                  </a:lnTo>
                  <a:lnTo>
                    <a:pt x="0" y="3837581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  <p:sp>
          <p:nvSpPr>
            <p:cNvPr id="27" name="object 27"/>
            <p:cNvSpPr/>
            <p:nvPr/>
          </p:nvSpPr>
          <p:spPr>
            <a:xfrm>
              <a:off x="2378655" y="4461354"/>
              <a:ext cx="4497705" cy="538480"/>
            </a:xfrm>
            <a:custGeom>
              <a:avLst/>
              <a:gdLst/>
              <a:ahLst/>
              <a:cxnLst/>
              <a:rect l="l" t="t" r="r" b="b"/>
              <a:pathLst>
                <a:path w="4497705" h="538479">
                  <a:moveTo>
                    <a:pt x="0" y="0"/>
                  </a:moveTo>
                  <a:lnTo>
                    <a:pt x="4497123" y="0"/>
                  </a:lnTo>
                  <a:lnTo>
                    <a:pt x="4497123" y="537959"/>
                  </a:lnTo>
                  <a:lnTo>
                    <a:pt x="0" y="537959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 sz="903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94432" y="2237384"/>
            <a:ext cx="2255166" cy="226578"/>
          </a:xfrm>
          <a:prstGeom prst="rect">
            <a:avLst/>
          </a:prstGeom>
          <a:ln w="20941">
            <a:solidFill>
              <a:srgbClr val="85888D"/>
            </a:solidFill>
          </a:ln>
        </p:spPr>
        <p:txBody>
          <a:bodyPr vert="horz" wrap="square" lIns="0" tIns="37252" rIns="0" bIns="0" rtlCol="0">
            <a:spAutoFit/>
          </a:bodyPr>
          <a:lstStyle/>
          <a:p>
            <a:pPr marL="560683">
              <a:spcBef>
                <a:spcPts val="293"/>
              </a:spcBef>
            </a:pPr>
            <a:r>
              <a:rPr sz="1228" spc="25" dirty="0">
                <a:latin typeface="Arial"/>
                <a:cs typeface="Arial"/>
              </a:rPr>
              <a:t>web-</a:t>
            </a:r>
            <a:r>
              <a:rPr sz="1228" spc="-5" dirty="0">
                <a:latin typeface="Arial"/>
                <a:cs typeface="Arial"/>
              </a:rPr>
              <a:t>application</a:t>
            </a:r>
            <a:endParaRPr sz="1228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50447" y="2524673"/>
            <a:ext cx="379204" cy="205530"/>
          </a:xfrm>
          <a:prstGeom prst="rect">
            <a:avLst/>
          </a:prstGeom>
        </p:spPr>
        <p:txBody>
          <a:bodyPr vert="horz" wrap="square" lIns="0" tIns="8597" rIns="0" bIns="0" rtlCol="0">
            <a:spAutoFit/>
          </a:bodyPr>
          <a:lstStyle/>
          <a:p>
            <a:pPr marL="19103">
              <a:spcBef>
                <a:spcPts val="68"/>
              </a:spcBef>
            </a:pPr>
            <a:r>
              <a:rPr sz="1279" i="1" dirty="0">
                <a:latin typeface="Times New Roman"/>
                <a:cs typeface="Times New Roman"/>
              </a:rPr>
              <a:t>x</a:t>
            </a:r>
            <a:r>
              <a:rPr sz="1279" dirty="0">
                <a:latin typeface="Arial Unicode MS"/>
                <a:cs typeface="Arial Unicode MS"/>
              </a:rPr>
              <a:t>∼</a:t>
            </a:r>
            <a:r>
              <a:rPr sz="1279" spc="-130" dirty="0">
                <a:latin typeface="Arial Unicode MS"/>
                <a:cs typeface="Arial Unicode MS"/>
              </a:rPr>
              <a:t> </a:t>
            </a:r>
            <a:r>
              <a:rPr sz="1279" i="1" spc="-13" dirty="0">
                <a:latin typeface="Times New Roman"/>
                <a:cs typeface="Times New Roman"/>
              </a:rPr>
              <a:t>p</a:t>
            </a:r>
            <a:r>
              <a:rPr sz="1391" i="1" spc="-19" baseline="-25525" dirty="0">
                <a:latin typeface="Times New Roman"/>
                <a:cs typeface="Times New Roman"/>
              </a:rPr>
              <a:t>g</a:t>
            </a:r>
            <a:endParaRPr sz="1391" baseline="-25525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73398" y="1965053"/>
            <a:ext cx="1692250" cy="772286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19103">
              <a:spcBef>
                <a:spcPts val="65"/>
              </a:spcBef>
            </a:pPr>
            <a:r>
              <a:rPr sz="2231" i="1" spc="60" dirty="0">
                <a:latin typeface="Times New Roman"/>
                <a:cs typeface="Times New Roman"/>
              </a:rPr>
              <a:t>IS</a:t>
            </a:r>
            <a:r>
              <a:rPr sz="2231" spc="60" dirty="0">
                <a:latin typeface="Times New Roman"/>
                <a:cs typeface="Times New Roman"/>
              </a:rPr>
              <a:t>(</a:t>
            </a:r>
            <a:r>
              <a:rPr sz="2231" i="1" spc="60" dirty="0">
                <a:latin typeface="Times New Roman"/>
                <a:cs typeface="Times New Roman"/>
              </a:rPr>
              <a:t>G</a:t>
            </a:r>
            <a:r>
              <a:rPr sz="2231" spc="60" dirty="0">
                <a:latin typeface="Times New Roman"/>
                <a:cs typeface="Times New Roman"/>
              </a:rPr>
              <a:t>)</a:t>
            </a:r>
            <a:r>
              <a:rPr sz="2231" spc="-98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Symbol"/>
                <a:cs typeface="Symbol"/>
              </a:rPr>
              <a:t></a:t>
            </a:r>
            <a:r>
              <a:rPr sz="2231" spc="-65" dirty="0">
                <a:latin typeface="Times New Roman"/>
                <a:cs typeface="Times New Roman"/>
              </a:rPr>
              <a:t> </a:t>
            </a:r>
            <a:r>
              <a:rPr sz="2231" spc="-150" dirty="0">
                <a:latin typeface="Times New Roman"/>
                <a:cs typeface="Times New Roman"/>
              </a:rPr>
              <a:t>exp</a:t>
            </a:r>
            <a:r>
              <a:rPr sz="7446" spc="-226" baseline="-6734" dirty="0">
                <a:latin typeface="Symbol"/>
                <a:cs typeface="Symbol"/>
              </a:rPr>
              <a:t></a:t>
            </a:r>
            <a:r>
              <a:rPr sz="2231" spc="-150" dirty="0">
                <a:latin typeface="Symbol"/>
                <a:cs typeface="Symbol"/>
              </a:rPr>
              <a:t></a:t>
            </a:r>
            <a:endParaRPr sz="2231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73232" y="2312538"/>
            <a:ext cx="2324257" cy="351143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19103">
              <a:spcBef>
                <a:spcPts val="60"/>
              </a:spcBef>
            </a:pPr>
            <a:r>
              <a:rPr sz="3347" spc="-646" baseline="-18102" dirty="0">
                <a:latin typeface="Symbol"/>
                <a:cs typeface="Symbol"/>
              </a:rPr>
              <a:t></a:t>
            </a:r>
            <a:r>
              <a:rPr sz="2231" spc="-431" dirty="0">
                <a:latin typeface="Symbol"/>
                <a:cs typeface="Symbol"/>
              </a:rPr>
              <a:t></a:t>
            </a:r>
            <a:r>
              <a:rPr sz="2231" spc="-308" dirty="0">
                <a:latin typeface="Times New Roman"/>
                <a:cs typeface="Times New Roman"/>
              </a:rPr>
              <a:t> </a:t>
            </a:r>
            <a:r>
              <a:rPr sz="2231" i="1" dirty="0">
                <a:latin typeface="Times New Roman"/>
                <a:cs typeface="Times New Roman"/>
              </a:rPr>
              <a:t>KL</a:t>
            </a:r>
            <a:r>
              <a:rPr sz="2231" dirty="0">
                <a:latin typeface="Times New Roman"/>
                <a:cs typeface="Times New Roman"/>
              </a:rPr>
              <a:t>(</a:t>
            </a:r>
            <a:r>
              <a:rPr sz="2231" spc="-191" dirty="0">
                <a:latin typeface="Times New Roman"/>
                <a:cs typeface="Times New Roman"/>
              </a:rPr>
              <a:t> </a:t>
            </a:r>
            <a:r>
              <a:rPr sz="2231" i="1" dirty="0">
                <a:latin typeface="Times New Roman"/>
                <a:cs typeface="Times New Roman"/>
              </a:rPr>
              <a:t>p</a:t>
            </a:r>
            <a:r>
              <a:rPr sz="2231" dirty="0">
                <a:latin typeface="Times New Roman"/>
                <a:cs typeface="Times New Roman"/>
              </a:rPr>
              <a:t>(</a:t>
            </a:r>
            <a:r>
              <a:rPr sz="2231" spc="-238" dirty="0">
                <a:latin typeface="Times New Roman"/>
                <a:cs typeface="Times New Roman"/>
              </a:rPr>
              <a:t> </a:t>
            </a:r>
            <a:r>
              <a:rPr sz="2231" i="1" dirty="0">
                <a:latin typeface="Times New Roman"/>
                <a:cs typeface="Times New Roman"/>
              </a:rPr>
              <a:t>y</a:t>
            </a:r>
            <a:r>
              <a:rPr sz="2231" i="1" spc="-108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Times New Roman"/>
                <a:cs typeface="Times New Roman"/>
              </a:rPr>
              <a:t>|</a:t>
            </a:r>
            <a:r>
              <a:rPr sz="2231" spc="-118" dirty="0">
                <a:latin typeface="Times New Roman"/>
                <a:cs typeface="Times New Roman"/>
              </a:rPr>
              <a:t> </a:t>
            </a:r>
            <a:r>
              <a:rPr sz="2231" i="1" spc="55" dirty="0">
                <a:latin typeface="Times New Roman"/>
                <a:cs typeface="Times New Roman"/>
              </a:rPr>
              <a:t>x</a:t>
            </a:r>
            <a:r>
              <a:rPr sz="2231" spc="55" dirty="0">
                <a:latin typeface="Times New Roman"/>
                <a:cs typeface="Times New Roman"/>
              </a:rPr>
              <a:t>)</a:t>
            </a:r>
            <a:r>
              <a:rPr sz="2231" spc="-186" dirty="0">
                <a:latin typeface="Times New Roman"/>
                <a:cs typeface="Times New Roman"/>
              </a:rPr>
              <a:t> </a:t>
            </a:r>
            <a:r>
              <a:rPr sz="2231" dirty="0">
                <a:latin typeface="Times New Roman"/>
                <a:cs typeface="Times New Roman"/>
              </a:rPr>
              <a:t>||</a:t>
            </a:r>
            <a:r>
              <a:rPr sz="2231" spc="70" dirty="0">
                <a:latin typeface="Times New Roman"/>
                <a:cs typeface="Times New Roman"/>
              </a:rPr>
              <a:t> </a:t>
            </a:r>
            <a:r>
              <a:rPr sz="2231" i="1" dirty="0">
                <a:latin typeface="Times New Roman"/>
                <a:cs typeface="Times New Roman"/>
              </a:rPr>
              <a:t>p</a:t>
            </a:r>
            <a:r>
              <a:rPr sz="2231" dirty="0">
                <a:latin typeface="Times New Roman"/>
                <a:cs typeface="Times New Roman"/>
              </a:rPr>
              <a:t>(</a:t>
            </a:r>
            <a:r>
              <a:rPr sz="2231" spc="-241" dirty="0">
                <a:latin typeface="Times New Roman"/>
                <a:cs typeface="Times New Roman"/>
              </a:rPr>
              <a:t> </a:t>
            </a:r>
            <a:r>
              <a:rPr sz="2231" i="1" spc="-13" dirty="0">
                <a:latin typeface="Times New Roman"/>
                <a:cs typeface="Times New Roman"/>
              </a:rPr>
              <a:t>y</a:t>
            </a:r>
            <a:r>
              <a:rPr sz="2231" spc="-13" dirty="0">
                <a:latin typeface="Times New Roman"/>
                <a:cs typeface="Times New Roman"/>
              </a:rPr>
              <a:t>))</a:t>
            </a:r>
            <a:endParaRPr sz="2231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88294" y="2308088"/>
            <a:ext cx="122262" cy="351015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231" spc="3" dirty="0">
                <a:latin typeface="Symbol"/>
                <a:cs typeface="Symbol"/>
              </a:rPr>
              <a:t></a:t>
            </a:r>
            <a:endParaRPr sz="2231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88294" y="2405996"/>
            <a:ext cx="122262" cy="351015"/>
          </a:xfrm>
          <a:prstGeom prst="rect">
            <a:avLst/>
          </a:prstGeom>
        </p:spPr>
        <p:txBody>
          <a:bodyPr vert="horz" wrap="square" lIns="0" tIns="7641" rIns="0" bIns="0" rtlCol="0">
            <a:spAutoFit/>
          </a:bodyPr>
          <a:lstStyle/>
          <a:p>
            <a:pPr marL="6368">
              <a:spcBef>
                <a:spcPts val="60"/>
              </a:spcBef>
            </a:pPr>
            <a:r>
              <a:rPr sz="2231" spc="3" dirty="0">
                <a:latin typeface="Symbol"/>
                <a:cs typeface="Symbol"/>
              </a:rPr>
              <a:t></a:t>
            </a:r>
            <a:endParaRPr sz="2231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711421" y="2042193"/>
            <a:ext cx="107616" cy="772286"/>
          </a:xfrm>
          <a:prstGeom prst="rect">
            <a:avLst/>
          </a:prstGeom>
        </p:spPr>
        <p:txBody>
          <a:bodyPr vert="horz" wrap="square" lIns="0" tIns="8278" rIns="0" bIns="0" rtlCol="0">
            <a:spAutoFit/>
          </a:bodyPr>
          <a:lstStyle/>
          <a:p>
            <a:pPr marL="6368">
              <a:spcBef>
                <a:spcPts val="65"/>
              </a:spcBef>
            </a:pPr>
            <a:r>
              <a:rPr sz="4964" spc="-908" dirty="0">
                <a:latin typeface="Symbol"/>
                <a:cs typeface="Symbol"/>
              </a:rPr>
              <a:t></a:t>
            </a:r>
            <a:endParaRPr sz="4964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29102" y="2949461"/>
            <a:ext cx="1792225" cy="63884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 marR="2547" indent="236245">
              <a:lnSpc>
                <a:spcPct val="100499"/>
              </a:lnSpc>
              <a:spcBef>
                <a:spcPts val="48"/>
              </a:spcBef>
            </a:pPr>
            <a:r>
              <a:rPr sz="2056" dirty="0">
                <a:latin typeface="Arial"/>
                <a:cs typeface="Arial"/>
              </a:rPr>
              <a:t>Measure</a:t>
            </a:r>
            <a:r>
              <a:rPr sz="2056" spc="-35" dirty="0">
                <a:latin typeface="Arial"/>
                <a:cs typeface="Arial"/>
              </a:rPr>
              <a:t> </a:t>
            </a:r>
            <a:r>
              <a:rPr sz="2056" spc="-13" dirty="0">
                <a:latin typeface="Arial"/>
                <a:cs typeface="Arial"/>
              </a:rPr>
              <a:t>of </a:t>
            </a:r>
            <a:r>
              <a:rPr sz="2056" dirty="0">
                <a:latin typeface="Arial"/>
                <a:cs typeface="Arial"/>
              </a:rPr>
              <a:t>image</a:t>
            </a:r>
            <a:r>
              <a:rPr sz="2056" spc="113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diversity</a:t>
            </a:r>
            <a:endParaRPr sz="2056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39546" y="2949461"/>
            <a:ext cx="1588136" cy="638845"/>
          </a:xfrm>
          <a:prstGeom prst="rect">
            <a:avLst/>
          </a:prstGeom>
        </p:spPr>
        <p:txBody>
          <a:bodyPr vert="horz" wrap="square" lIns="0" tIns="6049" rIns="0" bIns="0" rtlCol="0">
            <a:spAutoFit/>
          </a:bodyPr>
          <a:lstStyle/>
          <a:p>
            <a:pPr marL="6368" marR="2547" indent="131176">
              <a:lnSpc>
                <a:spcPct val="100499"/>
              </a:lnSpc>
              <a:spcBef>
                <a:spcPts val="48"/>
              </a:spcBef>
            </a:pPr>
            <a:r>
              <a:rPr sz="2056" dirty="0">
                <a:latin typeface="Arial"/>
                <a:cs typeface="Arial"/>
              </a:rPr>
              <a:t>Measure</a:t>
            </a:r>
            <a:r>
              <a:rPr sz="2056" spc="-35" dirty="0">
                <a:latin typeface="Arial"/>
                <a:cs typeface="Arial"/>
              </a:rPr>
              <a:t> </a:t>
            </a:r>
            <a:r>
              <a:rPr sz="2056" spc="-13" dirty="0">
                <a:latin typeface="Arial"/>
                <a:cs typeface="Arial"/>
              </a:rPr>
              <a:t>of </a:t>
            </a:r>
            <a:r>
              <a:rPr sz="2056" dirty="0">
                <a:latin typeface="Arial"/>
                <a:cs typeface="Arial"/>
              </a:rPr>
              <a:t>image</a:t>
            </a:r>
            <a:r>
              <a:rPr sz="2056" spc="113" dirty="0">
                <a:latin typeface="Arial"/>
                <a:cs typeface="Arial"/>
              </a:rPr>
              <a:t> </a:t>
            </a:r>
            <a:r>
              <a:rPr sz="2056" spc="-5" dirty="0">
                <a:latin typeface="Arial"/>
                <a:cs typeface="Arial"/>
              </a:rPr>
              <a:t>quality</a:t>
            </a:r>
            <a:endParaRPr sz="2056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07863" y="3914340"/>
            <a:ext cx="368060" cy="291958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  <a:tabLst>
                <a:tab pos="230832" algn="l"/>
              </a:tabLst>
            </a:pPr>
            <a:r>
              <a:rPr sz="1855" spc="-25" dirty="0">
                <a:latin typeface="Symbol"/>
                <a:cs typeface="Symbol"/>
              </a:rPr>
              <a:t>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2783" spc="-38" baseline="-15015" dirty="0">
                <a:latin typeface="Times New Roman"/>
                <a:cs typeface="Times New Roman"/>
              </a:rPr>
              <a:t>1</a:t>
            </a:r>
            <a:endParaRPr sz="2783" baseline="-15015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70381" y="4309055"/>
            <a:ext cx="183075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i="1" dirty="0">
                <a:latin typeface="Times New Roman"/>
                <a:cs typeface="Times New Roman"/>
              </a:rPr>
              <a:t>m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29986" y="4484620"/>
            <a:ext cx="81190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078" i="1" spc="-3" dirty="0">
                <a:latin typeface="Times New Roman"/>
                <a:cs typeface="Times New Roman"/>
              </a:rPr>
              <a:t>b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858333" y="4303760"/>
            <a:ext cx="274453" cy="11780"/>
          </a:xfrm>
          <a:custGeom>
            <a:avLst/>
            <a:gdLst/>
            <a:ahLst/>
            <a:cxnLst/>
            <a:rect l="l" t="t" r="r" b="b"/>
            <a:pathLst>
              <a:path w="547370" h="23495">
                <a:moveTo>
                  <a:pt x="547258" y="0"/>
                </a:moveTo>
                <a:lnTo>
                  <a:pt x="0" y="0"/>
                </a:lnTo>
                <a:lnTo>
                  <a:pt x="0" y="23261"/>
                </a:lnTo>
                <a:lnTo>
                  <a:pt x="547258" y="23261"/>
                </a:lnTo>
                <a:lnTo>
                  <a:pt x="5472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41" name="object 41"/>
          <p:cNvSpPr txBox="1"/>
          <p:nvPr/>
        </p:nvSpPr>
        <p:spPr>
          <a:xfrm>
            <a:off x="6748207" y="4121212"/>
            <a:ext cx="91378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ˆ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729791" y="4131034"/>
            <a:ext cx="111119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i="1" spc="-679" dirty="0">
                <a:latin typeface="Times New Roman"/>
                <a:cs typeface="Times New Roman"/>
              </a:rPr>
              <a:t>y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45812" y="4106725"/>
            <a:ext cx="166200" cy="368694"/>
          </a:xfrm>
          <a:prstGeom prst="rect">
            <a:avLst/>
          </a:prstGeom>
        </p:spPr>
        <p:txBody>
          <a:bodyPr vert="horz" wrap="square" lIns="0" tIns="23879" rIns="0" bIns="0" rtlCol="0">
            <a:spAutoFit/>
          </a:bodyPr>
          <a:lstStyle/>
          <a:p>
            <a:pPr marL="6368">
              <a:spcBef>
                <a:spcPts val="188"/>
              </a:spcBef>
            </a:pPr>
            <a:r>
              <a:rPr sz="1078" spc="-5" dirty="0">
                <a:latin typeface="Times New Roman"/>
                <a:cs typeface="Times New Roman"/>
              </a:rPr>
              <a:t>(</a:t>
            </a:r>
            <a:r>
              <a:rPr sz="1078" spc="-168" dirty="0">
                <a:latin typeface="Times New Roman"/>
                <a:cs typeface="Times New Roman"/>
              </a:rPr>
              <a:t> </a:t>
            </a:r>
            <a:r>
              <a:rPr sz="1078" i="1" spc="-5" dirty="0">
                <a:latin typeface="Times New Roman"/>
                <a:cs typeface="Times New Roman"/>
              </a:rPr>
              <a:t>i</a:t>
            </a:r>
            <a:r>
              <a:rPr sz="1078" i="1" spc="-175" dirty="0">
                <a:latin typeface="Times New Roman"/>
                <a:cs typeface="Times New Roman"/>
              </a:rPr>
              <a:t> </a:t>
            </a:r>
            <a:r>
              <a:rPr sz="1078" spc="-25" dirty="0">
                <a:latin typeface="Times New Roman"/>
                <a:cs typeface="Times New Roman"/>
              </a:rPr>
              <a:t>)</a:t>
            </a:r>
            <a:endParaRPr sz="1078">
              <a:latin typeface="Times New Roman"/>
              <a:cs typeface="Times New Roman"/>
            </a:endParaRPr>
          </a:p>
          <a:p>
            <a:pPr marL="21014">
              <a:spcBef>
                <a:spcPts val="135"/>
              </a:spcBef>
            </a:pPr>
            <a:r>
              <a:rPr sz="1078" i="1" spc="-3" dirty="0">
                <a:latin typeface="Times New Roman"/>
                <a:cs typeface="Times New Roman"/>
              </a:rPr>
              <a:t>j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35795" y="4121212"/>
            <a:ext cx="91378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ˆ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65635" y="4131034"/>
            <a:ext cx="462941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log</a:t>
            </a:r>
            <a:r>
              <a:rPr sz="1855" spc="-70" dirty="0">
                <a:latin typeface="Times New Roman"/>
                <a:cs typeface="Times New Roman"/>
              </a:rPr>
              <a:t> </a:t>
            </a:r>
            <a:r>
              <a:rPr sz="1855" i="1" spc="-704" dirty="0">
                <a:latin typeface="Times New Roman"/>
                <a:cs typeface="Times New Roman"/>
              </a:rPr>
              <a:t>y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33400" y="4106725"/>
            <a:ext cx="166200" cy="368694"/>
          </a:xfrm>
          <a:prstGeom prst="rect">
            <a:avLst/>
          </a:prstGeom>
        </p:spPr>
        <p:txBody>
          <a:bodyPr vert="horz" wrap="square" lIns="0" tIns="23879" rIns="0" bIns="0" rtlCol="0">
            <a:spAutoFit/>
          </a:bodyPr>
          <a:lstStyle/>
          <a:p>
            <a:pPr marL="6368">
              <a:spcBef>
                <a:spcPts val="188"/>
              </a:spcBef>
            </a:pPr>
            <a:r>
              <a:rPr sz="1078" spc="-5" dirty="0">
                <a:latin typeface="Times New Roman"/>
                <a:cs typeface="Times New Roman"/>
              </a:rPr>
              <a:t>(</a:t>
            </a:r>
            <a:r>
              <a:rPr sz="1078" spc="-168" dirty="0">
                <a:latin typeface="Times New Roman"/>
                <a:cs typeface="Times New Roman"/>
              </a:rPr>
              <a:t> </a:t>
            </a:r>
            <a:r>
              <a:rPr sz="1078" i="1" spc="-5" dirty="0">
                <a:latin typeface="Times New Roman"/>
                <a:cs typeface="Times New Roman"/>
              </a:rPr>
              <a:t>i</a:t>
            </a:r>
            <a:r>
              <a:rPr sz="1078" i="1" spc="-175" dirty="0">
                <a:latin typeface="Times New Roman"/>
                <a:cs typeface="Times New Roman"/>
              </a:rPr>
              <a:t> </a:t>
            </a:r>
            <a:r>
              <a:rPr sz="1078" spc="-25" dirty="0">
                <a:latin typeface="Times New Roman"/>
                <a:cs typeface="Times New Roman"/>
              </a:rPr>
              <a:t>)</a:t>
            </a:r>
            <a:endParaRPr sz="1078">
              <a:latin typeface="Times New Roman"/>
              <a:cs typeface="Times New Roman"/>
            </a:endParaRPr>
          </a:p>
          <a:p>
            <a:pPr marL="21014">
              <a:spcBef>
                <a:spcPts val="135"/>
              </a:spcBef>
            </a:pPr>
            <a:r>
              <a:rPr sz="1078" i="1" spc="-3" dirty="0">
                <a:latin typeface="Times New Roman"/>
                <a:cs typeface="Times New Roman"/>
              </a:rPr>
              <a:t>j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845797" y="4131034"/>
            <a:ext cx="565145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</a:t>
            </a:r>
            <a:r>
              <a:rPr sz="1855" spc="-110" dirty="0">
                <a:latin typeface="Times New Roman"/>
                <a:cs typeface="Times New Roman"/>
              </a:rPr>
              <a:t> </a:t>
            </a:r>
            <a:r>
              <a:rPr sz="1855" spc="-10" dirty="0">
                <a:latin typeface="Times New Roman"/>
                <a:cs typeface="Times New Roman"/>
              </a:rPr>
              <a:t>log(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92195" y="3979410"/>
            <a:ext cx="130859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1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30196" y="4309055"/>
            <a:ext cx="183075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i="1" dirty="0">
                <a:latin typeface="Times New Roman"/>
                <a:cs typeface="Times New Roman"/>
              </a:rPr>
              <a:t>m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418145" y="4303760"/>
            <a:ext cx="274453" cy="11780"/>
          </a:xfrm>
          <a:custGeom>
            <a:avLst/>
            <a:gdLst/>
            <a:ahLst/>
            <a:cxnLst/>
            <a:rect l="l" t="t" r="r" b="b"/>
            <a:pathLst>
              <a:path w="547369" h="23495">
                <a:moveTo>
                  <a:pt x="547258" y="0"/>
                </a:moveTo>
                <a:lnTo>
                  <a:pt x="0" y="0"/>
                </a:lnTo>
                <a:lnTo>
                  <a:pt x="0" y="23261"/>
                </a:lnTo>
                <a:lnTo>
                  <a:pt x="547258" y="23261"/>
                </a:lnTo>
                <a:lnTo>
                  <a:pt x="5472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3"/>
          </a:p>
        </p:txBody>
      </p:sp>
      <p:sp>
        <p:nvSpPr>
          <p:cNvPr id="51" name="object 51"/>
          <p:cNvSpPr txBox="1"/>
          <p:nvPr/>
        </p:nvSpPr>
        <p:spPr>
          <a:xfrm>
            <a:off x="9034852" y="4121212"/>
            <a:ext cx="91378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ˆ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016436" y="4131034"/>
            <a:ext cx="111119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i="1" spc="-679" dirty="0">
                <a:latin typeface="Times New Roman"/>
                <a:cs typeface="Times New Roman"/>
              </a:rPr>
              <a:t>y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32456" y="4106725"/>
            <a:ext cx="199950" cy="368694"/>
          </a:xfrm>
          <a:prstGeom prst="rect">
            <a:avLst/>
          </a:prstGeom>
        </p:spPr>
        <p:txBody>
          <a:bodyPr vert="horz" wrap="square" lIns="0" tIns="23879" rIns="0" bIns="0" rtlCol="0">
            <a:spAutoFit/>
          </a:bodyPr>
          <a:lstStyle/>
          <a:p>
            <a:pPr marL="6368">
              <a:spcBef>
                <a:spcPts val="188"/>
              </a:spcBef>
            </a:pPr>
            <a:r>
              <a:rPr sz="1078" spc="-5" dirty="0">
                <a:latin typeface="Times New Roman"/>
                <a:cs typeface="Times New Roman"/>
              </a:rPr>
              <a:t>(</a:t>
            </a:r>
            <a:r>
              <a:rPr sz="1078" spc="-150" dirty="0">
                <a:latin typeface="Times New Roman"/>
                <a:cs typeface="Times New Roman"/>
              </a:rPr>
              <a:t> </a:t>
            </a:r>
            <a:r>
              <a:rPr sz="1078" i="1" spc="-5" dirty="0">
                <a:latin typeface="Times New Roman"/>
                <a:cs typeface="Times New Roman"/>
              </a:rPr>
              <a:t>k</a:t>
            </a:r>
            <a:r>
              <a:rPr sz="1078" i="1" spc="-108" dirty="0">
                <a:latin typeface="Times New Roman"/>
                <a:cs typeface="Times New Roman"/>
              </a:rPr>
              <a:t> </a:t>
            </a:r>
            <a:r>
              <a:rPr sz="1078" spc="-25" dirty="0">
                <a:latin typeface="Times New Roman"/>
                <a:cs typeface="Times New Roman"/>
              </a:rPr>
              <a:t>)</a:t>
            </a:r>
            <a:endParaRPr sz="1078">
              <a:latin typeface="Times New Roman"/>
              <a:cs typeface="Times New Roman"/>
            </a:endParaRPr>
          </a:p>
          <a:p>
            <a:pPr marL="21014">
              <a:spcBef>
                <a:spcPts val="135"/>
              </a:spcBef>
            </a:pPr>
            <a:r>
              <a:rPr sz="1078" i="1" spc="-3" dirty="0">
                <a:latin typeface="Times New Roman"/>
                <a:cs typeface="Times New Roman"/>
              </a:rPr>
              <a:t>j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345467" y="4131034"/>
            <a:ext cx="91378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Times New Roman"/>
                <a:cs typeface="Times New Roman"/>
              </a:rPr>
              <a:t>)</a:t>
            </a:r>
            <a:endParaRPr sz="1855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577064" y="4457610"/>
            <a:ext cx="404357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19103">
              <a:spcBef>
                <a:spcPts val="45"/>
              </a:spcBef>
              <a:tabLst>
                <a:tab pos="173522" algn="l"/>
              </a:tabLst>
            </a:pPr>
            <a:r>
              <a:rPr sz="1617" i="1" spc="-38" baseline="-10335" dirty="0">
                <a:latin typeface="Times New Roman"/>
                <a:cs typeface="Times New Roman"/>
              </a:rPr>
              <a:t>b</a:t>
            </a:r>
            <a:r>
              <a:rPr sz="1617" i="1" baseline="-10335" dirty="0">
                <a:latin typeface="Times New Roman"/>
                <a:cs typeface="Times New Roman"/>
              </a:rPr>
              <a:t>	</a:t>
            </a:r>
            <a:r>
              <a:rPr sz="1078" i="1" spc="-5" dirty="0">
                <a:latin typeface="Times New Roman"/>
                <a:cs typeface="Times New Roman"/>
              </a:rPr>
              <a:t>k</a:t>
            </a:r>
            <a:r>
              <a:rPr sz="1078" i="1" spc="-173" dirty="0">
                <a:latin typeface="Times New Roman"/>
                <a:cs typeface="Times New Roman"/>
              </a:rPr>
              <a:t> </a:t>
            </a:r>
            <a:r>
              <a:rPr sz="1078" spc="-13" dirty="0">
                <a:latin typeface="Symbol"/>
                <a:cs typeface="Symbol"/>
              </a:rPr>
              <a:t></a:t>
            </a:r>
            <a:r>
              <a:rPr sz="1078" spc="-13" dirty="0">
                <a:latin typeface="Times New Roman"/>
                <a:cs typeface="Times New Roman"/>
              </a:rPr>
              <a:t>1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769048" y="3955469"/>
            <a:ext cx="111437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078" i="1" spc="-5" dirty="0">
                <a:latin typeface="Times New Roman"/>
                <a:cs typeface="Times New Roman"/>
              </a:rPr>
              <a:t>m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61128" y="4038955"/>
            <a:ext cx="62405" cy="12601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77" i="1" dirty="0">
                <a:latin typeface="Times New Roman"/>
                <a:cs typeface="Times New Roman"/>
              </a:rPr>
              <a:t>b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16255" y="4059826"/>
            <a:ext cx="264902" cy="434689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2783" dirty="0">
                <a:latin typeface="Symbol"/>
                <a:cs typeface="Symbol"/>
              </a:rPr>
              <a:t></a:t>
            </a:r>
            <a:endParaRPr sz="2783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39179" y="3934597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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39179" y="4199787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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39179" y="4347115"/>
            <a:ext cx="2492049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  <a:tabLst>
                <a:tab pos="2394604" algn="l"/>
              </a:tabLst>
            </a:pPr>
            <a:r>
              <a:rPr sz="1855" spc="-25" dirty="0">
                <a:latin typeface="Symbol"/>
                <a:cs typeface="Symbol"/>
              </a:rPr>
              <a:t></a:t>
            </a:r>
            <a:r>
              <a:rPr sz="1855" dirty="0">
                <a:latin typeface="Times New Roman"/>
                <a:cs typeface="Times New Roman"/>
              </a:rPr>
              <a:t>	</a:t>
            </a:r>
            <a:r>
              <a:rPr sz="1855" spc="-25" dirty="0">
                <a:latin typeface="Symbol"/>
                <a:cs typeface="Symbol"/>
              </a:rPr>
              <a:t>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427725" y="4199787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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427725" y="3914340"/>
            <a:ext cx="224784" cy="291958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2783" baseline="-4504" dirty="0">
                <a:latin typeface="Symbol"/>
                <a:cs typeface="Symbol"/>
              </a:rPr>
              <a:t></a:t>
            </a:r>
            <a:r>
              <a:rPr sz="2783" spc="-331" baseline="-4504" dirty="0">
                <a:latin typeface="Times New Roman"/>
                <a:cs typeface="Times New Roman"/>
              </a:rPr>
              <a:t> </a:t>
            </a:r>
            <a:r>
              <a:rPr sz="1855" spc="-25" dirty="0">
                <a:latin typeface="Symbol"/>
                <a:cs typeface="Symbol"/>
              </a:rPr>
              <a:t>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491612" y="3935211"/>
            <a:ext cx="81190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078" i="1" spc="-3" dirty="0">
                <a:latin typeface="Times New Roman"/>
                <a:cs typeface="Times New Roman"/>
              </a:rPr>
              <a:t>n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64661" y="4018697"/>
            <a:ext cx="56674" cy="12601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77" i="1" dirty="0">
                <a:latin typeface="Times New Roman"/>
                <a:cs typeface="Times New Roman"/>
              </a:rPr>
              <a:t>y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99413" y="4457610"/>
            <a:ext cx="480134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  <a:tabLst>
                <a:tab pos="290371" algn="l"/>
              </a:tabLst>
            </a:pPr>
            <a:r>
              <a:rPr sz="1078" i="1" spc="-13" dirty="0">
                <a:latin typeface="Times New Roman"/>
                <a:cs typeface="Times New Roman"/>
              </a:rPr>
              <a:t>i</a:t>
            </a:r>
            <a:r>
              <a:rPr sz="1078" spc="-13" dirty="0">
                <a:latin typeface="Symbol"/>
                <a:cs typeface="Symbol"/>
              </a:rPr>
              <a:t></a:t>
            </a:r>
            <a:r>
              <a:rPr sz="1078" spc="-13" dirty="0">
                <a:latin typeface="Times New Roman"/>
                <a:cs typeface="Times New Roman"/>
              </a:rPr>
              <a:t>1</a:t>
            </a:r>
            <a:r>
              <a:rPr sz="1078" dirty="0">
                <a:latin typeface="Times New Roman"/>
                <a:cs typeface="Times New Roman"/>
              </a:rPr>
              <a:t>	</a:t>
            </a:r>
            <a:r>
              <a:rPr sz="1078" i="1" spc="-13" dirty="0">
                <a:latin typeface="Times New Roman"/>
                <a:cs typeface="Times New Roman"/>
              </a:rPr>
              <a:t>j</a:t>
            </a:r>
            <a:r>
              <a:rPr sz="1078" spc="-13" dirty="0">
                <a:latin typeface="Symbol"/>
                <a:cs typeface="Symbol"/>
              </a:rPr>
              <a:t></a:t>
            </a:r>
            <a:r>
              <a:rPr sz="1078" spc="-13" dirty="0">
                <a:latin typeface="Times New Roman"/>
                <a:cs typeface="Times New Roman"/>
              </a:rPr>
              <a:t>1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209235" y="3955469"/>
            <a:ext cx="111437" cy="171666"/>
          </a:xfrm>
          <a:prstGeom prst="rect">
            <a:avLst/>
          </a:prstGeom>
        </p:spPr>
        <p:txBody>
          <a:bodyPr vert="horz" wrap="square" lIns="0" tIns="5731" rIns="0" bIns="0" rtlCol="0">
            <a:spAutoFit/>
          </a:bodyPr>
          <a:lstStyle/>
          <a:p>
            <a:pPr marL="6368">
              <a:spcBef>
                <a:spcPts val="45"/>
              </a:spcBef>
            </a:pPr>
            <a:r>
              <a:rPr sz="1078" i="1" spc="-5" dirty="0">
                <a:latin typeface="Times New Roman"/>
                <a:cs typeface="Times New Roman"/>
              </a:rPr>
              <a:t>m</a:t>
            </a:r>
            <a:endParaRPr sz="1078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301314" y="4038955"/>
            <a:ext cx="62405" cy="126015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777" i="1" dirty="0">
                <a:latin typeface="Times New Roman"/>
                <a:cs typeface="Times New Roman"/>
              </a:rPr>
              <a:t>b</a:t>
            </a:r>
            <a:endParaRPr sz="777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156442" y="4059826"/>
            <a:ext cx="538081" cy="434689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2783" spc="70" dirty="0">
                <a:latin typeface="Symbol"/>
                <a:cs typeface="Symbol"/>
              </a:rPr>
              <a:t></a:t>
            </a:r>
            <a:endParaRPr sz="2783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720599" y="4367372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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565461" y="4131034"/>
            <a:ext cx="1271337" cy="291958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19103">
              <a:spcBef>
                <a:spcPts val="50"/>
              </a:spcBef>
            </a:pPr>
            <a:r>
              <a:rPr sz="1855" i="1" spc="48" dirty="0">
                <a:latin typeface="Times New Roman"/>
                <a:cs typeface="Times New Roman"/>
              </a:rPr>
              <a:t>IS</a:t>
            </a:r>
            <a:r>
              <a:rPr sz="1855" spc="48" dirty="0">
                <a:latin typeface="Times New Roman"/>
                <a:cs typeface="Times New Roman"/>
              </a:rPr>
              <a:t>(</a:t>
            </a:r>
            <a:r>
              <a:rPr sz="1855" i="1" spc="48" dirty="0">
                <a:latin typeface="Times New Roman"/>
                <a:cs typeface="Times New Roman"/>
              </a:rPr>
              <a:t>G</a:t>
            </a:r>
            <a:r>
              <a:rPr sz="1855" spc="48" dirty="0">
                <a:latin typeface="Times New Roman"/>
                <a:cs typeface="Times New Roman"/>
              </a:rPr>
              <a:t>)</a:t>
            </a:r>
            <a:r>
              <a:rPr sz="1855" spc="-80" dirty="0">
                <a:latin typeface="Times New Roman"/>
                <a:cs typeface="Times New Roman"/>
              </a:rPr>
              <a:t> </a:t>
            </a:r>
            <a:r>
              <a:rPr sz="1855" dirty="0">
                <a:latin typeface="Symbol"/>
                <a:cs typeface="Symbol"/>
              </a:rPr>
              <a:t></a:t>
            </a:r>
            <a:r>
              <a:rPr sz="1855" spc="-50" dirty="0">
                <a:latin typeface="Times New Roman"/>
                <a:cs typeface="Times New Roman"/>
              </a:rPr>
              <a:t> </a:t>
            </a:r>
            <a:r>
              <a:rPr sz="1855" spc="20" dirty="0">
                <a:latin typeface="Times New Roman"/>
                <a:cs typeface="Times New Roman"/>
              </a:rPr>
              <a:t>exp</a:t>
            </a:r>
            <a:r>
              <a:rPr sz="2783" spc="30" baseline="-11261" dirty="0">
                <a:latin typeface="Symbol"/>
                <a:cs typeface="Symbol"/>
              </a:rPr>
              <a:t></a:t>
            </a:r>
            <a:endParaRPr sz="2783" baseline="-11261">
              <a:latin typeface="Symbol"/>
              <a:cs typeface="Symbo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549270" y="4367372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</a:t>
            </a:r>
            <a:endParaRPr sz="1855">
              <a:latin typeface="Symbol"/>
              <a:cs typeface="Symbo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549270" y="4179530"/>
            <a:ext cx="103477" cy="291893"/>
          </a:xfrm>
          <a:prstGeom prst="rect">
            <a:avLst/>
          </a:prstGeom>
        </p:spPr>
        <p:txBody>
          <a:bodyPr vert="horz" wrap="square" lIns="0" tIns="6368" rIns="0" bIns="0" rtlCol="0">
            <a:spAutoFit/>
          </a:bodyPr>
          <a:lstStyle/>
          <a:p>
            <a:pPr marL="6368">
              <a:spcBef>
                <a:spcPts val="50"/>
              </a:spcBef>
            </a:pPr>
            <a:r>
              <a:rPr sz="1855" dirty="0">
                <a:latin typeface="Symbol"/>
                <a:cs typeface="Symbol"/>
              </a:rPr>
              <a:t></a:t>
            </a:r>
            <a:endParaRPr sz="1855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69295-A84B-EDF9-0C48-48267DCD8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006475"/>
            <a:ext cx="3570608" cy="3472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32FD3A-6256-871B-E143-B5C1374B2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00" y="1006475"/>
            <a:ext cx="3510735" cy="351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039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8D803-595E-F605-3938-ECDE8F27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777875"/>
            <a:ext cx="3750227" cy="3570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43029-AF3C-B384-2022-8834C38A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854077"/>
            <a:ext cx="3739341" cy="349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659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BBE64-121F-36D5-4B27-F50EA4FA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635" y="1082629"/>
            <a:ext cx="3864530" cy="350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547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EEB0A-7E52-4BF9-A7D7-C7216D7F14A6}"/>
              </a:ext>
            </a:extLst>
          </p:cNvPr>
          <p:cNvSpPr txBox="1"/>
          <p:nvPr/>
        </p:nvSpPr>
        <p:spPr>
          <a:xfrm>
            <a:off x="1231900" y="320675"/>
            <a:ext cx="5209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DCGAN (Deep Convolutional GAN)</a:t>
            </a:r>
            <a:r>
              <a:rPr lang="en-US" dirty="0"/>
              <a:t> using </a:t>
            </a:r>
            <a:r>
              <a:rPr lang="en-US" b="1" dirty="0"/>
              <a:t>CIFAR-10</a:t>
            </a:r>
            <a:r>
              <a:rPr lang="en-US" dirty="0"/>
              <a:t> — this is the </a:t>
            </a:r>
            <a:r>
              <a:rPr lang="en-US" b="1" dirty="0"/>
              <a:t>standard architecture</a:t>
            </a:r>
            <a:r>
              <a:rPr lang="en-US" dirty="0"/>
              <a:t> that produces </a:t>
            </a:r>
            <a:r>
              <a:rPr lang="en-US" i="1" dirty="0"/>
              <a:t>realistic-looking</a:t>
            </a:r>
            <a:r>
              <a:rPr lang="en-US" dirty="0"/>
              <a:t> small color images (dogs, airplanes, cars, etc.) using convolutional layers.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AAD5-6193-5A8F-196C-E28076AE90B6}"/>
              </a:ext>
            </a:extLst>
          </p:cNvPr>
          <p:cNvGraphicFramePr>
            <a:graphicFrameLocks noGrp="1"/>
          </p:cNvGraphicFramePr>
          <p:nvPr/>
        </p:nvGraphicFramePr>
        <p:xfrm>
          <a:off x="693738" y="2119630"/>
          <a:ext cx="8696324" cy="2377440"/>
        </p:xfrm>
        <a:graphic>
          <a:graphicData uri="http://schemas.openxmlformats.org/drawingml/2006/table">
            <a:tbl>
              <a:tblPr/>
              <a:tblGrid>
                <a:gridCol w="4348162">
                  <a:extLst>
                    <a:ext uri="{9D8B030D-6E8A-4147-A177-3AD203B41FA5}">
                      <a16:colId xmlns:a16="http://schemas.microsoft.com/office/drawing/2014/main" val="2223400129"/>
                    </a:ext>
                  </a:extLst>
                </a:gridCol>
                <a:gridCol w="4348162">
                  <a:extLst>
                    <a:ext uri="{9D8B030D-6E8A-4147-A177-3AD203B41FA5}">
                      <a16:colId xmlns:a16="http://schemas.microsoft.com/office/drawing/2014/main" val="1483694590"/>
                    </a:ext>
                  </a:extLst>
                </a:gridCol>
              </a:tblGrid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513529"/>
                  </a:ext>
                </a:extLst>
              </a:tr>
              <a:tr h="544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Generator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Upsamples from 4×4 to 32×32 using Conv2DTranspose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832646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Discriminator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CNN that classifies real vs fake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925707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Dataset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CIFAR-10 (32×32 RGB)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082106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Training time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500"/>
                        <a:t>~5–10 min on GPU, ~20–30 min on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842541"/>
                  </a:ext>
                </a:extLst>
              </a:tr>
              <a:tr h="544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Output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Colorful 32×32 images resembling CIFAR-10 objects after ~4000–5000 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2427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EE11CDF-4CC5-97EC-F9DD-49BBCD423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8" y="2119313"/>
            <a:ext cx="1008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866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C383B-2A86-E2FF-953D-7194EC56D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665" y="745163"/>
            <a:ext cx="5350469" cy="418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35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F7F77-445F-E64A-F321-640D439D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21" y="775099"/>
            <a:ext cx="5437557" cy="412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612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ADFC4B-4A0B-9863-3CC3-43820A276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263" y="854023"/>
            <a:ext cx="6085273" cy="396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296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35F67-28B5-7643-AD07-A6F85D4D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92075"/>
            <a:ext cx="5222480" cy="363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8E96D-6255-4C3B-D1A4-474CB8B78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4567006"/>
            <a:ext cx="2933777" cy="332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D4755-E37E-54FF-9E6F-B269F39093C0}"/>
              </a:ext>
            </a:extLst>
          </p:cNvPr>
          <p:cNvSpPr txBox="1"/>
          <p:nvPr/>
        </p:nvSpPr>
        <p:spPr>
          <a:xfrm>
            <a:off x="5956300" y="4740275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44 minutes </a:t>
            </a:r>
          </a:p>
        </p:txBody>
      </p:sp>
    </p:spTree>
    <p:extLst>
      <p:ext uri="{BB962C8B-B14F-4D97-AF65-F5344CB8AC3E}">
        <p14:creationId xmlns:p14="http://schemas.microsoft.com/office/powerpoint/2010/main" val="5699240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7C070C-BFCC-7670-A0F8-6DC5B975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68275"/>
            <a:ext cx="3978833" cy="4180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B21A0A-7E07-BB7F-EAC4-2DCB9031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065" y="207326"/>
            <a:ext cx="4359843" cy="4169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9613E8-43F7-AF57-C716-618787160696}"/>
              </a:ext>
            </a:extLst>
          </p:cNvPr>
          <p:cNvSpPr txBox="1"/>
          <p:nvPr/>
        </p:nvSpPr>
        <p:spPr>
          <a:xfrm>
            <a:off x="5956300" y="4740275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20 minutes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14F92-ADEA-5FAA-9B61-B228DDD5F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" y="168275"/>
            <a:ext cx="4377307" cy="41578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DAB30D-9C21-EBF1-9FB4-44D96B7DBDAD}"/>
              </a:ext>
            </a:extLst>
          </p:cNvPr>
          <p:cNvSpPr txBox="1"/>
          <p:nvPr/>
        </p:nvSpPr>
        <p:spPr>
          <a:xfrm>
            <a:off x="1371792" y="4664075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37 minutes </a:t>
            </a:r>
          </a:p>
        </p:txBody>
      </p:sp>
    </p:spTree>
    <p:extLst>
      <p:ext uri="{BB962C8B-B14F-4D97-AF65-F5344CB8AC3E}">
        <p14:creationId xmlns:p14="http://schemas.microsoft.com/office/powerpoint/2010/main" val="426326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780A34-AD7C-BD32-80EB-EEE64A15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68275"/>
            <a:ext cx="4359843" cy="4207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B303C7-E79A-4B7C-57FB-0098F762323E}"/>
              </a:ext>
            </a:extLst>
          </p:cNvPr>
          <p:cNvSpPr txBox="1"/>
          <p:nvPr/>
        </p:nvSpPr>
        <p:spPr>
          <a:xfrm>
            <a:off x="1371792" y="4664075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54 minutes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E4DF2F-4C03-E5DE-8EFE-B40AA1DF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900" y="201356"/>
            <a:ext cx="4387058" cy="4207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806D53-3122-A695-DEB7-2A9FD0E85598}"/>
              </a:ext>
            </a:extLst>
          </p:cNvPr>
          <p:cNvSpPr txBox="1"/>
          <p:nvPr/>
        </p:nvSpPr>
        <p:spPr>
          <a:xfrm>
            <a:off x="5812711" y="4587875"/>
            <a:ext cx="181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98 minutes </a:t>
            </a:r>
          </a:p>
        </p:txBody>
      </p:sp>
    </p:spTree>
    <p:extLst>
      <p:ext uri="{BB962C8B-B14F-4D97-AF65-F5344CB8AC3E}">
        <p14:creationId xmlns:p14="http://schemas.microsoft.com/office/powerpoint/2010/main" val="31250155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0914E-BE3D-7668-6699-FA59FBFD6663}"/>
              </a:ext>
            </a:extLst>
          </p:cNvPr>
          <p:cNvSpPr txBox="1"/>
          <p:nvPr/>
        </p:nvSpPr>
        <p:spPr>
          <a:xfrm>
            <a:off x="774700" y="244475"/>
            <a:ext cx="77724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DCGANs are the first GAN architecture that made image generation “realistic enough” to be useful — they bridge the gap between toy GANs and modern image synthesis models.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BC18B1-D41E-F339-95F9-6ED358649E20}"/>
              </a:ext>
            </a:extLst>
          </p:cNvPr>
          <p:cNvGraphicFramePr>
            <a:graphicFrameLocks noGrp="1"/>
          </p:cNvGraphicFramePr>
          <p:nvPr/>
        </p:nvGraphicFramePr>
        <p:xfrm>
          <a:off x="693738" y="2188210"/>
          <a:ext cx="8696324" cy="2240280"/>
        </p:xfrm>
        <a:graphic>
          <a:graphicData uri="http://schemas.openxmlformats.org/drawingml/2006/table">
            <a:tbl>
              <a:tblPr/>
              <a:tblGrid>
                <a:gridCol w="4348162">
                  <a:extLst>
                    <a:ext uri="{9D8B030D-6E8A-4147-A177-3AD203B41FA5}">
                      <a16:colId xmlns:a16="http://schemas.microsoft.com/office/drawing/2014/main" val="3848610302"/>
                    </a:ext>
                  </a:extLst>
                </a:gridCol>
                <a:gridCol w="4348162">
                  <a:extLst>
                    <a:ext uri="{9D8B030D-6E8A-4147-A177-3AD203B41FA5}">
                      <a16:colId xmlns:a16="http://schemas.microsoft.com/office/drawing/2014/main" val="2715167913"/>
                    </a:ext>
                  </a:extLst>
                </a:gridCol>
              </a:tblGrid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585356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Higher-quality images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Learns local structure with convolutions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365616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Training stability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Less gradient instability than MLP GANs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49416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Fewer parameters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Shared convolutional 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958051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Transferable features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Discriminator learns reusable representations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544875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Scalable to large datasets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Works with higher-resolution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02948"/>
                  </a:ext>
                </a:extLst>
              </a:tr>
              <a:tr h="318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Smooth latent space</a:t>
                      </a:r>
                      <a:endParaRPr lang="en-US" sz="15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Enables realistic interpolation between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423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8219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E10D9-71B6-005D-A0D6-3B6CFA8FC3A2}"/>
              </a:ext>
            </a:extLst>
          </p:cNvPr>
          <p:cNvSpPr txBox="1"/>
          <p:nvPr/>
        </p:nvSpPr>
        <p:spPr>
          <a:xfrm>
            <a:off x="1155700" y="396875"/>
            <a:ext cx="5209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Benefits of DCGANs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17056-6738-0AF1-C788-1D336EAFCBE6}"/>
              </a:ext>
            </a:extLst>
          </p:cNvPr>
          <p:cNvSpPr txBox="1"/>
          <p:nvPr/>
        </p:nvSpPr>
        <p:spPr>
          <a:xfrm>
            <a:off x="850900" y="1006475"/>
            <a:ext cx="6963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Better Image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Convolutional layers learn </a:t>
            </a:r>
            <a:r>
              <a:rPr lang="en-US" b="1" dirty="0"/>
              <a:t>spatial hierarchies</a:t>
            </a:r>
            <a:r>
              <a:rPr lang="en-US" dirty="0"/>
              <a:t> — edges, textures, shapes — instead of treating pixels as independent.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helps the generator create </a:t>
            </a:r>
            <a:r>
              <a:rPr lang="en-US" i="1" dirty="0"/>
              <a:t>realistic, coherent images</a:t>
            </a:r>
            <a:r>
              <a:rPr lang="en-US" dirty="0"/>
              <a:t> rather than blurry blobs.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discriminator also becomes far better at distinguishing real vs. fake images.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A fully connected GAN trained on CIFAR-10 may produce colorful noise,</a:t>
            </a:r>
            <a:br>
              <a:rPr lang="en-US" dirty="0"/>
            </a:br>
            <a:r>
              <a:rPr lang="en-US" dirty="0"/>
              <a:t>while a DCGAN learns patterns resembling airplanes, dogs, or cars.</a:t>
            </a:r>
          </a:p>
        </p:txBody>
      </p:sp>
    </p:spTree>
    <p:extLst>
      <p:ext uri="{BB962C8B-B14F-4D97-AF65-F5344CB8AC3E}">
        <p14:creationId xmlns:p14="http://schemas.microsoft.com/office/powerpoint/2010/main" val="31109664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FBF95C-FE2C-AC5D-C971-D818523B2F3E}"/>
              </a:ext>
            </a:extLst>
          </p:cNvPr>
          <p:cNvSpPr txBox="1"/>
          <p:nvPr/>
        </p:nvSpPr>
        <p:spPr>
          <a:xfrm>
            <a:off x="850900" y="549274"/>
            <a:ext cx="74676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Parameter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CNNs use </a:t>
            </a:r>
            <a:r>
              <a:rPr lang="en-US" b="1" dirty="0"/>
              <a:t>shared weights</a:t>
            </a:r>
            <a:r>
              <a:rPr lang="en-US" dirty="0"/>
              <a:t> and </a:t>
            </a:r>
            <a:r>
              <a:rPr lang="en-US" b="1" dirty="0"/>
              <a:t>local receptive fields</a:t>
            </a:r>
            <a:r>
              <a:rPr lang="en-US" dirty="0"/>
              <a:t>, so they need </a:t>
            </a:r>
            <a:r>
              <a:rPr lang="en-US" b="1" dirty="0"/>
              <a:t>fewer parameters</a:t>
            </a:r>
            <a:r>
              <a:rPr lang="en-US" dirty="0"/>
              <a:t> to capture structure in 2D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reduces memory footprint and makes training more stable and efficient.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5F50D-5488-7FBC-2A2C-7B400FD96435}"/>
              </a:ext>
            </a:extLst>
          </p:cNvPr>
          <p:cNvSpPr txBox="1"/>
          <p:nvPr/>
        </p:nvSpPr>
        <p:spPr>
          <a:xfrm>
            <a:off x="927100" y="2235210"/>
            <a:ext cx="6887700" cy="147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Stability in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DCGANs typically converge faster and more reliably than dense GANs.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architectural guidelines (e.g., using </a:t>
            </a:r>
            <a:r>
              <a:rPr lang="en-US" dirty="0" err="1"/>
              <a:t>LeakyReLU</a:t>
            </a:r>
            <a:r>
              <a:rPr lang="en-US" dirty="0"/>
              <a:t>, </a:t>
            </a:r>
            <a:r>
              <a:rPr lang="en-US" dirty="0" err="1"/>
              <a:t>BatchNorm</a:t>
            </a:r>
            <a:r>
              <a:rPr lang="en-US" dirty="0"/>
              <a:t>, </a:t>
            </a:r>
            <a:r>
              <a:rPr lang="en-US" dirty="0" err="1"/>
              <a:t>strided</a:t>
            </a:r>
            <a:r>
              <a:rPr lang="en-US" dirty="0"/>
              <a:t> convolutions) help prevent </a:t>
            </a:r>
            <a:r>
              <a:rPr lang="en-US" b="1" dirty="0"/>
              <a:t>mode collapse</a:t>
            </a:r>
            <a:r>
              <a:rPr lang="en-US" dirty="0"/>
              <a:t> and </a:t>
            </a:r>
            <a:r>
              <a:rPr lang="en-US" b="1" dirty="0"/>
              <a:t>gradient explosion/vanishing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7627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1030B3-7046-F378-78FD-B18222DE28E0}"/>
              </a:ext>
            </a:extLst>
          </p:cNvPr>
          <p:cNvSpPr txBox="1"/>
          <p:nvPr/>
        </p:nvSpPr>
        <p:spPr>
          <a:xfrm>
            <a:off x="850900" y="549275"/>
            <a:ext cx="6963900" cy="31393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Learned Feature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discriminator’s convolutional layers learn useful </a:t>
            </a:r>
            <a:r>
              <a:rPr lang="en-US" b="1" dirty="0"/>
              <a:t>unsupervised visual features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learned features can be reused (fine-tuned) for </a:t>
            </a:r>
            <a:r>
              <a:rPr lang="en-US" b="1" dirty="0"/>
              <a:t>image classification</a:t>
            </a:r>
            <a:r>
              <a:rPr lang="en-US" dirty="0"/>
              <a:t> or </a:t>
            </a:r>
            <a:r>
              <a:rPr lang="en-US" b="1" dirty="0"/>
              <a:t>transfer learning</a:t>
            </a:r>
            <a:r>
              <a:rPr lang="en-US" dirty="0"/>
              <a:t> — even though no labels were used.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Example:</a:t>
            </a:r>
            <a:br>
              <a:rPr lang="en-US" dirty="0"/>
            </a:br>
            <a:r>
              <a:rPr lang="en-US" dirty="0"/>
              <a:t>Features from a DCGAN’s discriminator can help train a classifier with fewer labeled samples.</a:t>
            </a:r>
          </a:p>
        </p:txBody>
      </p:sp>
    </p:spTree>
    <p:extLst>
      <p:ext uri="{BB962C8B-B14F-4D97-AF65-F5344CB8AC3E}">
        <p14:creationId xmlns:p14="http://schemas.microsoft.com/office/powerpoint/2010/main" val="3641645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9535EF-C030-32E1-A913-E20F44FD3A21}"/>
              </a:ext>
            </a:extLst>
          </p:cNvPr>
          <p:cNvSpPr txBox="1"/>
          <p:nvPr/>
        </p:nvSpPr>
        <p:spPr>
          <a:xfrm>
            <a:off x="698500" y="168275"/>
            <a:ext cx="7696200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DCGANs scale naturally to </a:t>
            </a:r>
            <a:r>
              <a:rPr lang="en-US" b="1" dirty="0"/>
              <a:t>larger and more complex datasets</a:t>
            </a:r>
            <a:r>
              <a:rPr lang="en-US" dirty="0"/>
              <a:t> (e.g., </a:t>
            </a:r>
            <a:r>
              <a:rPr lang="en-US" dirty="0" err="1"/>
              <a:t>CelebA</a:t>
            </a:r>
            <a:r>
              <a:rPr lang="en-US" dirty="0"/>
              <a:t>, LSUN, ImageNet subsets).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are the </a:t>
            </a:r>
            <a:r>
              <a:rPr lang="en-US" b="1" dirty="0"/>
              <a:t>foundation</a:t>
            </a:r>
            <a:r>
              <a:rPr lang="en-US" dirty="0"/>
              <a:t> for most advanced GANs: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Conditional GANs (</a:t>
            </a:r>
            <a:r>
              <a:rPr lang="en-US" dirty="0" err="1"/>
              <a:t>cGANs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StyleGAN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CycleGAN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Pix2Pix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27FA5-19D0-8FA6-D41D-EE89DE8AE5D1}"/>
              </a:ext>
            </a:extLst>
          </p:cNvPr>
          <p:cNvSpPr txBox="1"/>
          <p:nvPr/>
        </p:nvSpPr>
        <p:spPr>
          <a:xfrm>
            <a:off x="850900" y="2682875"/>
            <a:ext cx="8610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Smooth Latent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Because of convolutional </a:t>
            </a:r>
            <a:r>
              <a:rPr lang="en-US" dirty="0" err="1"/>
              <a:t>upsampling</a:t>
            </a:r>
            <a:r>
              <a:rPr lang="en-US" dirty="0"/>
              <a:t>, interpolating between two random noise vectors produces </a:t>
            </a:r>
            <a:r>
              <a:rPr lang="en-US" b="1" dirty="0"/>
              <a:t>smooth transitions</a:t>
            </a:r>
            <a:r>
              <a:rPr lang="en-US" dirty="0"/>
              <a:t> in the generated images (e.g., a shoe slowly morphing into a shirt).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shows the generator learned a continuous and meaningful data manifold.</a:t>
            </a:r>
          </a:p>
        </p:txBody>
      </p:sp>
    </p:spTree>
    <p:extLst>
      <p:ext uri="{BB962C8B-B14F-4D97-AF65-F5344CB8AC3E}">
        <p14:creationId xmlns:p14="http://schemas.microsoft.com/office/powerpoint/2010/main" val="15524520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8311</TotalTime>
  <Words>4085</Words>
  <Application>Microsoft Office PowerPoint</Application>
  <PresentationFormat>Custom</PresentationFormat>
  <Paragraphs>963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Malgun Gothic</vt:lpstr>
      <vt:lpstr>Arial</vt:lpstr>
      <vt:lpstr>Arial Unicode MS</vt:lpstr>
      <vt:lpstr>Calibri</vt:lpstr>
      <vt:lpstr>Calibri Light</vt:lpstr>
      <vt:lpstr>Symbol</vt:lpstr>
      <vt:lpstr>Times New Roman</vt:lpstr>
      <vt:lpstr>1_Office Theme</vt:lpstr>
      <vt:lpstr>PowerPoint Presentation</vt:lpstr>
      <vt:lpstr>I. Adversarial examples</vt:lpstr>
      <vt:lpstr>PowerPoint Presentation</vt:lpstr>
      <vt:lpstr>PowerPoint Presentation</vt:lpstr>
      <vt:lpstr>PowerPoint Presentation</vt:lpstr>
      <vt:lpstr>I. A. Attacking a network with adversarial examples</vt:lpstr>
      <vt:lpstr>I. A. Attacking a network with adversarial examples</vt:lpstr>
      <vt:lpstr>Menti</vt:lpstr>
      <vt:lpstr>PowerPoint Presentation</vt:lpstr>
      <vt:lpstr>II. Generative Adversarial Networks (GANs)</vt:lpstr>
      <vt:lpstr>II.A - Motivation</vt:lpstr>
      <vt:lpstr>II.A - Motivation</vt:lpstr>
      <vt:lpstr>II. Generative Adversarial Networks (GANs)</vt:lpstr>
      <vt:lpstr>PowerPoint Presentation</vt:lpstr>
      <vt:lpstr>II.B - G/D Game</vt:lpstr>
      <vt:lpstr>II.B - G/D Game</vt:lpstr>
      <vt:lpstr>PowerPoint Presentation</vt:lpstr>
      <vt:lpstr>II. Generative Adversarial Networks (GANs)</vt:lpstr>
      <vt:lpstr>PowerPoint Presentation</vt:lpstr>
      <vt:lpstr>PowerPoint Presentation</vt:lpstr>
      <vt:lpstr>PowerPoint Presentation</vt:lpstr>
      <vt:lpstr>PowerPoint Presentation</vt:lpstr>
      <vt:lpstr>II.C - Training GANs</vt:lpstr>
      <vt:lpstr>II. Generative Adversarial Networks (GANs)</vt:lpstr>
      <vt:lpstr>II. D. In terms of code</vt:lpstr>
      <vt:lpstr>II. D. In terms of code</vt:lpstr>
      <vt:lpstr>II. D. In terms of code</vt:lpstr>
      <vt:lpstr>II. Generative Adversarial Networks (GANs)</vt:lpstr>
      <vt:lpstr>II.E - Nice results</vt:lpstr>
      <vt:lpstr>II.E - Nice results</vt:lpstr>
      <vt:lpstr>II.E - Nice results</vt:lpstr>
      <vt:lpstr>II.E - Nice results</vt:lpstr>
      <vt:lpstr>II.E - Nice results</vt:lpstr>
      <vt:lpstr>II.E - Nice results</vt:lpstr>
      <vt:lpstr>PowerPoint Presentation</vt:lpstr>
      <vt:lpstr>II.E - Nice results</vt:lpstr>
      <vt:lpstr>II.E - Nice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cp:lastModifiedBy>Dr. Nouhad Rizk</cp:lastModifiedBy>
  <cp:revision>42</cp:revision>
  <dcterms:created xsi:type="dcterms:W3CDTF">2021-05-31T22:46:47Z</dcterms:created>
  <dcterms:modified xsi:type="dcterms:W3CDTF">2025-10-16T00:53:51Z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2020-01-27T00:00:00Z</vt:filetime>
  </property>
  <property fmtid="{D5CDD505-2E9C-101B-9397-08002B2CF9AE}" pid="3" name="Creator">
    <vt:lpwstr>Impress</vt:lpwstr>
  </property>
  <property fmtid="{D5CDD505-2E9C-101B-9397-08002B2CF9AE}" pid="4" name="LastSaved">
    <vt:filetime>2020-01-27T00:00:00Z</vt:filetime>
  </property>
</Properties>
</file>